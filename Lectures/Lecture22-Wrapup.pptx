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tiff" ContentType="image/tiff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  <Override PartName="/ppt/metadata" ContentType="application/binary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648" r:id="rId1"/>
  </p:sldMasterIdLst>
  <p:notesMasterIdLst>
    <p:notesMasterId r:id="rId25"/>
  </p:notesMasterIdLst>
  <p:sldIdLst>
    <p:sldId id="256" r:id="rId2"/>
    <p:sldId id="498" r:id="rId3"/>
    <p:sldId id="606" r:id="rId4"/>
    <p:sldId id="257" r:id="rId5"/>
    <p:sldId id="607" r:id="rId6"/>
    <p:sldId id="621" r:id="rId7"/>
    <p:sldId id="608" r:id="rId8"/>
    <p:sldId id="610" r:id="rId9"/>
    <p:sldId id="612" r:id="rId10"/>
    <p:sldId id="609" r:id="rId11"/>
    <p:sldId id="613" r:id="rId12"/>
    <p:sldId id="614" r:id="rId13"/>
    <p:sldId id="611" r:id="rId14"/>
    <p:sldId id="258" r:id="rId15"/>
    <p:sldId id="505" r:id="rId16"/>
    <p:sldId id="547" r:id="rId17"/>
    <p:sldId id="428" r:id="rId18"/>
    <p:sldId id="263" r:id="rId19"/>
    <p:sldId id="474" r:id="rId20"/>
    <p:sldId id="620" r:id="rId21"/>
    <p:sldId id="619" r:id="rId22"/>
    <p:sldId id="604" r:id="rId23"/>
    <p:sldId id="605" r:id="rId24"/>
  </p:sldIdLst>
  <p:sldSz cx="12192000" cy="6858000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  <p:ext uri="http://customooxmlschemas.google.com/">
      <go:slidesCustomData xmlns:go="http://customooxmlschemas.google.com/" xmlns:p15="http://schemas.microsoft.com/office/powerpoint/2012/main" xmlns:p14="http://schemas.microsoft.com/office/powerpoint/2010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:mc="http://schemas.openxmlformats.org/markup-compatibility/2006" xmlns="" r:id="rId39" roundtripDataSignature="AMtx7mgWqGpmJnm2LhSO/E7EgiMMs26KqA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90E14D"/>
    <a:srgbClr val="62BD8F"/>
    <a:srgbClr val="A61B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FABFCF23-3B69-468F-B69F-88F6DE6A72F2}" styleName="Medium Style 1 - Accent 5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5">
              <a:tint val="20000"/>
            </a:schemeClr>
          </a:solidFill>
        </a:fill>
      </a:tcStyle>
    </a:band1H>
    <a:band1V>
      <a:tcStyle>
        <a:tcBdr/>
        <a:fill>
          <a:solidFill>
            <a:schemeClr val="accent5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5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8652"/>
    <p:restoredTop sz="93151"/>
  </p:normalViewPr>
  <p:slideViewPr>
    <p:cSldViewPr snapToGrid="0" snapToObjects="1">
      <p:cViewPr varScale="1">
        <p:scale>
          <a:sx n="115" d="100"/>
          <a:sy n="115" d="100"/>
        </p:scale>
        <p:origin x="224" y="26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customschemas.google.com/relationships/presentationmetadata" Target="metadata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42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41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40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43" Type="http://schemas.openxmlformats.org/officeDocument/2006/relationships/tableStyles" Target="tableStyles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colorful2">
  <dgm:title val=""/>
  <dgm:desc val=""/>
  <dgm:catLst>
    <dgm:cat type="colorful" pri="10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2"/>
      <a:schemeClr val="accent3"/>
    </dgm:fillClrLst>
    <dgm:linClrLst>
      <a:schemeClr val="accent2"/>
      <a:schemeClr val="accent3"/>
    </dgm:linClrLst>
    <dgm:effectClrLst/>
    <dgm:txLinClrLst/>
    <dgm:txFillClrLst/>
    <dgm:txEffectClrLst/>
  </dgm:styleLbl>
  <dgm:styleLbl name="ln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2">
        <a:alpha val="50000"/>
      </a:schemeClr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2">
        <a:tint val="50000"/>
      </a:schemeClr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2"/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>
        <a:tint val="5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5C579582-F224-9249-B50B-7D4855CA5E6E}" type="doc">
      <dgm:prSet loTypeId="urn:microsoft.com/office/officeart/2005/8/layout/default" loCatId="" qsTypeId="urn:microsoft.com/office/officeart/2005/8/quickstyle/simple1" qsCatId="simple" csTypeId="urn:microsoft.com/office/officeart/2005/8/colors/colorful2" csCatId="colorful" phldr="1"/>
      <dgm:spPr/>
      <dgm:t>
        <a:bodyPr/>
        <a:lstStyle/>
        <a:p>
          <a:endParaRPr lang="en-US"/>
        </a:p>
      </dgm:t>
    </dgm:pt>
    <dgm:pt modelId="{63C6227A-CA9D-DB4E-8C83-FE635D4B8B92}">
      <dgm:prSet phldrT="[Text]" custT="1"/>
      <dgm:spPr>
        <a:xfrm>
          <a:off x="0" y="98739"/>
          <a:ext cx="2630283" cy="1578170"/>
        </a:xfrm>
        <a:prstGeom prst="rect">
          <a:avLst/>
        </a:prstGeom>
        <a:solidFill>
          <a:srgbClr val="C0504D">
            <a:hueOff val="0"/>
            <a:satOff val="0"/>
            <a:lumOff val="0"/>
            <a:alphaOff val="0"/>
          </a:srgbClr>
        </a:solidFill>
        <a:ln w="25400" cap="flat" cmpd="sng" algn="ctr">
          <a:solidFill>
            <a:sysClr val="window" lastClr="FFFFFF">
              <a:hueOff val="0"/>
              <a:satOff val="0"/>
              <a:lumOff val="0"/>
              <a:alphaOff val="0"/>
            </a:sysClr>
          </a:solidFill>
          <a:prstDash val="solid"/>
        </a:ln>
        <a:effectLst/>
      </dgm:spPr>
      <dgm:t>
        <a:bodyPr vert="horz"/>
        <a:lstStyle/>
        <a:p>
          <a:pPr>
            <a:buNone/>
          </a:pPr>
          <a:r>
            <a:rPr lang="en-US" sz="2000" dirty="0">
              <a:solidFill>
                <a:sysClr val="window" lastClr="FFFFFF"/>
              </a:solidFill>
              <a:latin typeface="Calibri"/>
              <a:ea typeface="+mn-ea"/>
              <a:cs typeface="+mn-cs"/>
            </a:rPr>
            <a:t>Privacy</a:t>
          </a:r>
        </a:p>
      </dgm:t>
    </dgm:pt>
    <dgm:pt modelId="{4387115A-EBD8-474A-9FE3-7D304E866D0D}" type="parTrans" cxnId="{C64BF992-E95D-864F-BC0E-6DCD7A5174E0}">
      <dgm:prSet/>
      <dgm:spPr/>
      <dgm:t>
        <a:bodyPr/>
        <a:lstStyle/>
        <a:p>
          <a:endParaRPr lang="en-US"/>
        </a:p>
      </dgm:t>
    </dgm:pt>
    <dgm:pt modelId="{ECFE99F0-3EA6-AE44-BB32-F705CFC04B42}" type="sibTrans" cxnId="{C64BF992-E95D-864F-BC0E-6DCD7A5174E0}">
      <dgm:prSet/>
      <dgm:spPr/>
      <dgm:t>
        <a:bodyPr/>
        <a:lstStyle/>
        <a:p>
          <a:endParaRPr lang="en-US"/>
        </a:p>
      </dgm:t>
    </dgm:pt>
    <dgm:pt modelId="{FDCD6ACD-B077-454D-944E-86E7E3350F79}">
      <dgm:prSet phldrT="[Text]" custT="1"/>
      <dgm:spPr>
        <a:xfrm>
          <a:off x="2893312" y="98739"/>
          <a:ext cx="2630283" cy="1578170"/>
        </a:xfrm>
        <a:prstGeom prst="rect">
          <a:avLst/>
        </a:prstGeom>
        <a:solidFill>
          <a:srgbClr val="C0504D">
            <a:hueOff val="1170380"/>
            <a:satOff val="-1460"/>
            <a:lumOff val="343"/>
            <a:alphaOff val="0"/>
          </a:srgbClr>
        </a:solidFill>
        <a:ln w="25400" cap="flat" cmpd="sng" algn="ctr">
          <a:solidFill>
            <a:sysClr val="window" lastClr="FFFFFF">
              <a:hueOff val="0"/>
              <a:satOff val="0"/>
              <a:lumOff val="0"/>
              <a:alphaOff val="0"/>
            </a:sysClr>
          </a:solidFill>
          <a:prstDash val="solid"/>
        </a:ln>
        <a:effectLst/>
      </dgm:spPr>
      <dgm:t>
        <a:bodyPr vert="horz"/>
        <a:lstStyle/>
        <a:p>
          <a:pPr>
            <a:buNone/>
          </a:pPr>
          <a:r>
            <a:rPr lang="en-US" sz="2000" dirty="0">
              <a:solidFill>
                <a:sysClr val="window" lastClr="FFFFFF"/>
              </a:solidFill>
              <a:latin typeface="Calibri"/>
              <a:ea typeface="+mn-ea"/>
              <a:cs typeface="+mn-cs"/>
            </a:rPr>
            <a:t>Data Ownership</a:t>
          </a:r>
        </a:p>
      </dgm:t>
    </dgm:pt>
    <dgm:pt modelId="{5C5116C5-DFE3-4246-8B21-8683F07147AB}" type="parTrans" cxnId="{AD661072-6B96-4044-B298-8A087555795C}">
      <dgm:prSet/>
      <dgm:spPr/>
      <dgm:t>
        <a:bodyPr/>
        <a:lstStyle/>
        <a:p>
          <a:endParaRPr lang="en-US"/>
        </a:p>
      </dgm:t>
    </dgm:pt>
    <dgm:pt modelId="{88F5AB8F-4ED6-134A-97F4-933723876EF5}" type="sibTrans" cxnId="{AD661072-6B96-4044-B298-8A087555795C}">
      <dgm:prSet/>
      <dgm:spPr/>
      <dgm:t>
        <a:bodyPr/>
        <a:lstStyle/>
        <a:p>
          <a:endParaRPr lang="en-US"/>
        </a:p>
      </dgm:t>
    </dgm:pt>
    <dgm:pt modelId="{1A161DD2-BA9A-1F41-AAB0-05E72D64E065}">
      <dgm:prSet phldrT="[Text]" custT="1"/>
      <dgm:spPr>
        <a:xfrm>
          <a:off x="5786624" y="98739"/>
          <a:ext cx="2630283" cy="1578170"/>
        </a:xfrm>
        <a:prstGeom prst="rect">
          <a:avLst/>
        </a:prstGeom>
        <a:solidFill>
          <a:srgbClr val="C0504D">
            <a:hueOff val="2340759"/>
            <a:satOff val="-2919"/>
            <a:lumOff val="686"/>
            <a:alphaOff val="0"/>
          </a:srgbClr>
        </a:solidFill>
        <a:ln w="25400" cap="flat" cmpd="sng" algn="ctr">
          <a:solidFill>
            <a:sysClr val="window" lastClr="FFFFFF">
              <a:hueOff val="0"/>
              <a:satOff val="0"/>
              <a:lumOff val="0"/>
              <a:alphaOff val="0"/>
            </a:sysClr>
          </a:solidFill>
          <a:prstDash val="solid"/>
        </a:ln>
        <a:effectLst/>
      </dgm:spPr>
      <dgm:t>
        <a:bodyPr vert="horz"/>
        <a:lstStyle/>
        <a:p>
          <a:pPr>
            <a:buNone/>
          </a:pPr>
          <a:r>
            <a:rPr lang="en-US" sz="2000" dirty="0">
              <a:solidFill>
                <a:sysClr val="window" lastClr="FFFFFF"/>
              </a:solidFill>
              <a:latin typeface="Calibri"/>
              <a:ea typeface="+mn-ea"/>
              <a:cs typeface="+mn-cs"/>
            </a:rPr>
            <a:t>Bias, Equity, &amp; Fairness</a:t>
          </a:r>
        </a:p>
      </dgm:t>
    </dgm:pt>
    <dgm:pt modelId="{249F4864-D1F2-2040-B2D9-70E1F329184F}" type="parTrans" cxnId="{9BCE4FF1-6E9A-7F46-B647-F45414868204}">
      <dgm:prSet/>
      <dgm:spPr/>
      <dgm:t>
        <a:bodyPr/>
        <a:lstStyle/>
        <a:p>
          <a:endParaRPr lang="en-US"/>
        </a:p>
      </dgm:t>
    </dgm:pt>
    <dgm:pt modelId="{D0DCE181-6F11-834E-9404-5B76BEA7F348}" type="sibTrans" cxnId="{9BCE4FF1-6E9A-7F46-B647-F45414868204}">
      <dgm:prSet/>
      <dgm:spPr/>
      <dgm:t>
        <a:bodyPr/>
        <a:lstStyle/>
        <a:p>
          <a:endParaRPr lang="en-US"/>
        </a:p>
      </dgm:t>
    </dgm:pt>
    <dgm:pt modelId="{03CB7B9E-D47A-BF4B-8BD0-A43768780FB3}">
      <dgm:prSet phldrT="[Text]" custT="1"/>
      <dgm:spPr>
        <a:xfrm>
          <a:off x="1446656" y="1939937"/>
          <a:ext cx="2630283" cy="1578170"/>
        </a:xfrm>
        <a:prstGeom prst="rect">
          <a:avLst/>
        </a:prstGeom>
        <a:solidFill>
          <a:srgbClr val="C0504D">
            <a:hueOff val="3511139"/>
            <a:satOff val="-4379"/>
            <a:lumOff val="1030"/>
            <a:alphaOff val="0"/>
          </a:srgbClr>
        </a:solidFill>
        <a:ln w="25400" cap="flat" cmpd="sng" algn="ctr">
          <a:solidFill>
            <a:sysClr val="window" lastClr="FFFFFF">
              <a:hueOff val="0"/>
              <a:satOff val="0"/>
              <a:lumOff val="0"/>
              <a:alphaOff val="0"/>
            </a:sysClr>
          </a:solidFill>
          <a:prstDash val="solid"/>
        </a:ln>
        <a:effectLst/>
      </dgm:spPr>
      <dgm:t>
        <a:bodyPr vert="horz"/>
        <a:lstStyle/>
        <a:p>
          <a:pPr>
            <a:buNone/>
          </a:pPr>
          <a:r>
            <a:rPr lang="en-US" sz="2000" dirty="0">
              <a:solidFill>
                <a:sysClr val="window" lastClr="FFFFFF"/>
              </a:solidFill>
              <a:latin typeface="Calibri"/>
              <a:ea typeface="+mn-ea"/>
              <a:cs typeface="+mn-cs"/>
            </a:rPr>
            <a:t>Transparency</a:t>
          </a:r>
        </a:p>
      </dgm:t>
    </dgm:pt>
    <dgm:pt modelId="{F40C0003-FB17-DD49-841B-811AE9B278F4}" type="parTrans" cxnId="{056DE792-C45E-0C4F-B746-40FD5FE6ECA3}">
      <dgm:prSet/>
      <dgm:spPr/>
      <dgm:t>
        <a:bodyPr/>
        <a:lstStyle/>
        <a:p>
          <a:endParaRPr lang="en-US"/>
        </a:p>
      </dgm:t>
    </dgm:pt>
    <dgm:pt modelId="{70980FD5-DAA3-A143-A71B-92CC869748E4}" type="sibTrans" cxnId="{056DE792-C45E-0C4F-B746-40FD5FE6ECA3}">
      <dgm:prSet/>
      <dgm:spPr/>
      <dgm:t>
        <a:bodyPr/>
        <a:lstStyle/>
        <a:p>
          <a:endParaRPr lang="en-US"/>
        </a:p>
      </dgm:t>
    </dgm:pt>
    <dgm:pt modelId="{97F13F62-187A-004F-8568-BDAB70D363F0}">
      <dgm:prSet phldrT="[Text]" custT="1"/>
      <dgm:spPr>
        <a:xfrm>
          <a:off x="4339968" y="1939937"/>
          <a:ext cx="2630283" cy="1578170"/>
        </a:xfrm>
        <a:prstGeom prst="rect">
          <a:avLst/>
        </a:prstGeom>
        <a:solidFill>
          <a:srgbClr val="C0504D">
            <a:hueOff val="4681519"/>
            <a:satOff val="-5839"/>
            <a:lumOff val="1373"/>
            <a:alphaOff val="0"/>
          </a:srgbClr>
        </a:solidFill>
        <a:ln w="25400" cap="flat" cmpd="sng" algn="ctr">
          <a:solidFill>
            <a:sysClr val="window" lastClr="FFFFFF">
              <a:hueOff val="0"/>
              <a:satOff val="0"/>
              <a:lumOff val="0"/>
              <a:alphaOff val="0"/>
            </a:sysClr>
          </a:solidFill>
          <a:prstDash val="solid"/>
        </a:ln>
        <a:effectLst/>
      </dgm:spPr>
      <dgm:t>
        <a:bodyPr vert="horz"/>
        <a:lstStyle/>
        <a:p>
          <a:pPr>
            <a:buNone/>
          </a:pPr>
          <a:r>
            <a:rPr lang="en-US" sz="2000" dirty="0">
              <a:solidFill>
                <a:sysClr val="window" lastClr="FFFFFF"/>
              </a:solidFill>
              <a:latin typeface="Calibri"/>
              <a:ea typeface="+mn-ea"/>
              <a:cs typeface="+mn-cs"/>
            </a:rPr>
            <a:t>Trustworthiness and Accountability</a:t>
          </a:r>
        </a:p>
      </dgm:t>
    </dgm:pt>
    <dgm:pt modelId="{52306423-6E35-DE43-821A-00A55D36BB28}" type="parTrans" cxnId="{B61AFEA1-29D3-2E43-B0B6-3ED4B8DCF23F}">
      <dgm:prSet/>
      <dgm:spPr/>
      <dgm:t>
        <a:bodyPr/>
        <a:lstStyle/>
        <a:p>
          <a:endParaRPr lang="en-US"/>
        </a:p>
      </dgm:t>
    </dgm:pt>
    <dgm:pt modelId="{9509CBFD-D73F-3B46-8605-DC590288199D}" type="sibTrans" cxnId="{B61AFEA1-29D3-2E43-B0B6-3ED4B8DCF23F}">
      <dgm:prSet/>
      <dgm:spPr/>
      <dgm:t>
        <a:bodyPr/>
        <a:lstStyle/>
        <a:p>
          <a:endParaRPr lang="en-US"/>
        </a:p>
      </dgm:t>
    </dgm:pt>
    <dgm:pt modelId="{9CB038ED-3A36-754A-8726-7115A9798D9F}" type="pres">
      <dgm:prSet presAssocID="{5C579582-F224-9249-B50B-7D4855CA5E6E}" presName="diagram" presStyleCnt="0">
        <dgm:presLayoutVars>
          <dgm:dir/>
          <dgm:resizeHandles val="exact"/>
        </dgm:presLayoutVars>
      </dgm:prSet>
      <dgm:spPr/>
    </dgm:pt>
    <dgm:pt modelId="{791EAD40-A10E-2C44-88BB-E254D1FEED2A}" type="pres">
      <dgm:prSet presAssocID="{63C6227A-CA9D-DB4E-8C83-FE635D4B8B92}" presName="node" presStyleLbl="node1" presStyleIdx="0" presStyleCnt="5">
        <dgm:presLayoutVars>
          <dgm:bulletEnabled val="1"/>
        </dgm:presLayoutVars>
      </dgm:prSet>
      <dgm:spPr/>
    </dgm:pt>
    <dgm:pt modelId="{08B34DEE-75D2-7047-8F76-0202887FE396}" type="pres">
      <dgm:prSet presAssocID="{ECFE99F0-3EA6-AE44-BB32-F705CFC04B42}" presName="sibTrans" presStyleCnt="0"/>
      <dgm:spPr/>
    </dgm:pt>
    <dgm:pt modelId="{5DF36080-AA5F-044B-9B2D-18470035B1FB}" type="pres">
      <dgm:prSet presAssocID="{FDCD6ACD-B077-454D-944E-86E7E3350F79}" presName="node" presStyleLbl="node1" presStyleIdx="1" presStyleCnt="5">
        <dgm:presLayoutVars>
          <dgm:bulletEnabled val="1"/>
        </dgm:presLayoutVars>
      </dgm:prSet>
      <dgm:spPr/>
    </dgm:pt>
    <dgm:pt modelId="{6963F5FC-04A1-6A43-B31E-10B7B12BF0DE}" type="pres">
      <dgm:prSet presAssocID="{88F5AB8F-4ED6-134A-97F4-933723876EF5}" presName="sibTrans" presStyleCnt="0"/>
      <dgm:spPr/>
    </dgm:pt>
    <dgm:pt modelId="{73313321-B089-6142-89C3-6254719B2389}" type="pres">
      <dgm:prSet presAssocID="{1A161DD2-BA9A-1F41-AAB0-05E72D64E065}" presName="node" presStyleLbl="node1" presStyleIdx="2" presStyleCnt="5">
        <dgm:presLayoutVars>
          <dgm:bulletEnabled val="1"/>
        </dgm:presLayoutVars>
      </dgm:prSet>
      <dgm:spPr/>
    </dgm:pt>
    <dgm:pt modelId="{60A9DBD8-E73E-FC44-B7B3-C40A7E9D9A77}" type="pres">
      <dgm:prSet presAssocID="{D0DCE181-6F11-834E-9404-5B76BEA7F348}" presName="sibTrans" presStyleCnt="0"/>
      <dgm:spPr/>
    </dgm:pt>
    <dgm:pt modelId="{EF08E376-4E26-284A-B04A-2272E2B37BE4}" type="pres">
      <dgm:prSet presAssocID="{03CB7B9E-D47A-BF4B-8BD0-A43768780FB3}" presName="node" presStyleLbl="node1" presStyleIdx="3" presStyleCnt="5">
        <dgm:presLayoutVars>
          <dgm:bulletEnabled val="1"/>
        </dgm:presLayoutVars>
      </dgm:prSet>
      <dgm:spPr/>
    </dgm:pt>
    <dgm:pt modelId="{ACCFA2FA-3F6D-C647-A96E-5BBE8D7E70AD}" type="pres">
      <dgm:prSet presAssocID="{70980FD5-DAA3-A143-A71B-92CC869748E4}" presName="sibTrans" presStyleCnt="0"/>
      <dgm:spPr/>
    </dgm:pt>
    <dgm:pt modelId="{6716D9F6-4AA6-A540-8569-2BA0DEE70F42}" type="pres">
      <dgm:prSet presAssocID="{97F13F62-187A-004F-8568-BDAB70D363F0}" presName="node" presStyleLbl="node1" presStyleIdx="4" presStyleCnt="5">
        <dgm:presLayoutVars>
          <dgm:bulletEnabled val="1"/>
        </dgm:presLayoutVars>
      </dgm:prSet>
      <dgm:spPr/>
    </dgm:pt>
  </dgm:ptLst>
  <dgm:cxnLst>
    <dgm:cxn modelId="{AC9D0668-3DB7-784C-A02A-59653F4D58CC}" type="presOf" srcId="{97F13F62-187A-004F-8568-BDAB70D363F0}" destId="{6716D9F6-4AA6-A540-8569-2BA0DEE70F42}" srcOrd="0" destOrd="0" presId="urn:microsoft.com/office/officeart/2005/8/layout/default"/>
    <dgm:cxn modelId="{AD661072-6B96-4044-B298-8A087555795C}" srcId="{5C579582-F224-9249-B50B-7D4855CA5E6E}" destId="{FDCD6ACD-B077-454D-944E-86E7E3350F79}" srcOrd="1" destOrd="0" parTransId="{5C5116C5-DFE3-4246-8B21-8683F07147AB}" sibTransId="{88F5AB8F-4ED6-134A-97F4-933723876EF5}"/>
    <dgm:cxn modelId="{4DB2F58B-01BC-D844-A4CB-3CBC54FF0225}" type="presOf" srcId="{1A161DD2-BA9A-1F41-AAB0-05E72D64E065}" destId="{73313321-B089-6142-89C3-6254719B2389}" srcOrd="0" destOrd="0" presId="urn:microsoft.com/office/officeart/2005/8/layout/default"/>
    <dgm:cxn modelId="{C6506E8F-6D52-9148-A9D1-21B40907EC00}" type="presOf" srcId="{FDCD6ACD-B077-454D-944E-86E7E3350F79}" destId="{5DF36080-AA5F-044B-9B2D-18470035B1FB}" srcOrd="0" destOrd="0" presId="urn:microsoft.com/office/officeart/2005/8/layout/default"/>
    <dgm:cxn modelId="{056DE792-C45E-0C4F-B746-40FD5FE6ECA3}" srcId="{5C579582-F224-9249-B50B-7D4855CA5E6E}" destId="{03CB7B9E-D47A-BF4B-8BD0-A43768780FB3}" srcOrd="3" destOrd="0" parTransId="{F40C0003-FB17-DD49-841B-811AE9B278F4}" sibTransId="{70980FD5-DAA3-A143-A71B-92CC869748E4}"/>
    <dgm:cxn modelId="{C64BF992-E95D-864F-BC0E-6DCD7A5174E0}" srcId="{5C579582-F224-9249-B50B-7D4855CA5E6E}" destId="{63C6227A-CA9D-DB4E-8C83-FE635D4B8B92}" srcOrd="0" destOrd="0" parTransId="{4387115A-EBD8-474A-9FE3-7D304E866D0D}" sibTransId="{ECFE99F0-3EA6-AE44-BB32-F705CFC04B42}"/>
    <dgm:cxn modelId="{B61AFEA1-29D3-2E43-B0B6-3ED4B8DCF23F}" srcId="{5C579582-F224-9249-B50B-7D4855CA5E6E}" destId="{97F13F62-187A-004F-8568-BDAB70D363F0}" srcOrd="4" destOrd="0" parTransId="{52306423-6E35-DE43-821A-00A55D36BB28}" sibTransId="{9509CBFD-D73F-3B46-8605-DC590288199D}"/>
    <dgm:cxn modelId="{D84315A8-006D-DA41-97BE-4C21FE6823B2}" type="presOf" srcId="{5C579582-F224-9249-B50B-7D4855CA5E6E}" destId="{9CB038ED-3A36-754A-8726-7115A9798D9F}" srcOrd="0" destOrd="0" presId="urn:microsoft.com/office/officeart/2005/8/layout/default"/>
    <dgm:cxn modelId="{CDA80CCB-0378-264F-80E4-8D590F923F27}" type="presOf" srcId="{03CB7B9E-D47A-BF4B-8BD0-A43768780FB3}" destId="{EF08E376-4E26-284A-B04A-2272E2B37BE4}" srcOrd="0" destOrd="0" presId="urn:microsoft.com/office/officeart/2005/8/layout/default"/>
    <dgm:cxn modelId="{732391E5-2946-7944-AC24-D3D096B91CD3}" type="presOf" srcId="{63C6227A-CA9D-DB4E-8C83-FE635D4B8B92}" destId="{791EAD40-A10E-2C44-88BB-E254D1FEED2A}" srcOrd="0" destOrd="0" presId="urn:microsoft.com/office/officeart/2005/8/layout/default"/>
    <dgm:cxn modelId="{9BCE4FF1-6E9A-7F46-B647-F45414868204}" srcId="{5C579582-F224-9249-B50B-7D4855CA5E6E}" destId="{1A161DD2-BA9A-1F41-AAB0-05E72D64E065}" srcOrd="2" destOrd="0" parTransId="{249F4864-D1F2-2040-B2D9-70E1F329184F}" sibTransId="{D0DCE181-6F11-834E-9404-5B76BEA7F348}"/>
    <dgm:cxn modelId="{B12CEA2B-6334-4D40-BDB5-FAC888658397}" type="presParOf" srcId="{9CB038ED-3A36-754A-8726-7115A9798D9F}" destId="{791EAD40-A10E-2C44-88BB-E254D1FEED2A}" srcOrd="0" destOrd="0" presId="urn:microsoft.com/office/officeart/2005/8/layout/default"/>
    <dgm:cxn modelId="{EC02AFC4-2AC0-5B4E-8A36-A6AF238B71F9}" type="presParOf" srcId="{9CB038ED-3A36-754A-8726-7115A9798D9F}" destId="{08B34DEE-75D2-7047-8F76-0202887FE396}" srcOrd="1" destOrd="0" presId="urn:microsoft.com/office/officeart/2005/8/layout/default"/>
    <dgm:cxn modelId="{26D4B414-95EB-D440-B12D-9D97C0B59013}" type="presParOf" srcId="{9CB038ED-3A36-754A-8726-7115A9798D9F}" destId="{5DF36080-AA5F-044B-9B2D-18470035B1FB}" srcOrd="2" destOrd="0" presId="urn:microsoft.com/office/officeart/2005/8/layout/default"/>
    <dgm:cxn modelId="{A29377B6-301C-AB43-84FE-37803A747EAC}" type="presParOf" srcId="{9CB038ED-3A36-754A-8726-7115A9798D9F}" destId="{6963F5FC-04A1-6A43-B31E-10B7B12BF0DE}" srcOrd="3" destOrd="0" presId="urn:microsoft.com/office/officeart/2005/8/layout/default"/>
    <dgm:cxn modelId="{6D59BA24-0C86-AA44-8C1A-8F34235D1DCC}" type="presParOf" srcId="{9CB038ED-3A36-754A-8726-7115A9798D9F}" destId="{73313321-B089-6142-89C3-6254719B2389}" srcOrd="4" destOrd="0" presId="urn:microsoft.com/office/officeart/2005/8/layout/default"/>
    <dgm:cxn modelId="{4911F024-468A-8B4D-A41C-F8BCC13E6CB7}" type="presParOf" srcId="{9CB038ED-3A36-754A-8726-7115A9798D9F}" destId="{60A9DBD8-E73E-FC44-B7B3-C40A7E9D9A77}" srcOrd="5" destOrd="0" presId="urn:microsoft.com/office/officeart/2005/8/layout/default"/>
    <dgm:cxn modelId="{3CDAFCD7-783B-E54D-AB72-50BC54D14C78}" type="presParOf" srcId="{9CB038ED-3A36-754A-8726-7115A9798D9F}" destId="{EF08E376-4E26-284A-B04A-2272E2B37BE4}" srcOrd="6" destOrd="0" presId="urn:microsoft.com/office/officeart/2005/8/layout/default"/>
    <dgm:cxn modelId="{46B4496F-C613-5843-9286-30423178D958}" type="presParOf" srcId="{9CB038ED-3A36-754A-8726-7115A9798D9F}" destId="{ACCFA2FA-3F6D-C647-A96E-5BBE8D7E70AD}" srcOrd="7" destOrd="0" presId="urn:microsoft.com/office/officeart/2005/8/layout/default"/>
    <dgm:cxn modelId="{4C162F1D-4E9E-764D-93E3-FC3BCCC637B5}" type="presParOf" srcId="{9CB038ED-3A36-754A-8726-7115A9798D9F}" destId="{6716D9F6-4AA6-A540-8569-2BA0DEE70F42}" srcOrd="8" destOrd="0" presId="urn:microsoft.com/office/officeart/2005/8/layout/default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791EAD40-A10E-2C44-88BB-E254D1FEED2A}">
      <dsp:nvSpPr>
        <dsp:cNvPr id="0" name=""/>
        <dsp:cNvSpPr/>
      </dsp:nvSpPr>
      <dsp:spPr>
        <a:xfrm>
          <a:off x="0" y="210549"/>
          <a:ext cx="3520454" cy="2112272"/>
        </a:xfrm>
        <a:prstGeom prst="rect">
          <a:avLst/>
        </a:prstGeom>
        <a:solidFill>
          <a:srgbClr val="C0504D">
            <a:hueOff val="0"/>
            <a:satOff val="0"/>
            <a:lumOff val="0"/>
            <a:alphaOff val="0"/>
          </a:srgbClr>
        </a:solidFill>
        <a:ln w="25400" cap="flat" cmpd="sng" algn="ctr">
          <a:solidFill>
            <a:sysClr val="window" lastClr="FFFFFF">
              <a:hueOff val="0"/>
              <a:satOff val="0"/>
              <a:lumOff val="0"/>
              <a:alphaOff val="0"/>
            </a:sys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000" kern="1200" dirty="0">
              <a:solidFill>
                <a:sysClr val="window" lastClr="FFFFFF"/>
              </a:solidFill>
              <a:latin typeface="Calibri"/>
              <a:ea typeface="+mn-ea"/>
              <a:cs typeface="+mn-cs"/>
            </a:rPr>
            <a:t>Privacy</a:t>
          </a:r>
        </a:p>
      </dsp:txBody>
      <dsp:txXfrm>
        <a:off x="0" y="210549"/>
        <a:ext cx="3520454" cy="2112272"/>
      </dsp:txXfrm>
    </dsp:sp>
    <dsp:sp modelId="{5DF36080-AA5F-044B-9B2D-18470035B1FB}">
      <dsp:nvSpPr>
        <dsp:cNvPr id="0" name=""/>
        <dsp:cNvSpPr/>
      </dsp:nvSpPr>
      <dsp:spPr>
        <a:xfrm>
          <a:off x="3872500" y="210549"/>
          <a:ext cx="3520454" cy="2112272"/>
        </a:xfrm>
        <a:prstGeom prst="rect">
          <a:avLst/>
        </a:prstGeom>
        <a:solidFill>
          <a:srgbClr val="C0504D">
            <a:hueOff val="1170380"/>
            <a:satOff val="-1460"/>
            <a:lumOff val="343"/>
            <a:alphaOff val="0"/>
          </a:srgbClr>
        </a:solidFill>
        <a:ln w="25400" cap="flat" cmpd="sng" algn="ctr">
          <a:solidFill>
            <a:sysClr val="window" lastClr="FFFFFF">
              <a:hueOff val="0"/>
              <a:satOff val="0"/>
              <a:lumOff val="0"/>
              <a:alphaOff val="0"/>
            </a:sys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000" kern="1200" dirty="0">
              <a:solidFill>
                <a:sysClr val="window" lastClr="FFFFFF"/>
              </a:solidFill>
              <a:latin typeface="Calibri"/>
              <a:ea typeface="+mn-ea"/>
              <a:cs typeface="+mn-cs"/>
            </a:rPr>
            <a:t>Data Ownership</a:t>
          </a:r>
        </a:p>
      </dsp:txBody>
      <dsp:txXfrm>
        <a:off x="3872500" y="210549"/>
        <a:ext cx="3520454" cy="2112272"/>
      </dsp:txXfrm>
    </dsp:sp>
    <dsp:sp modelId="{73313321-B089-6142-89C3-6254719B2389}">
      <dsp:nvSpPr>
        <dsp:cNvPr id="0" name=""/>
        <dsp:cNvSpPr/>
      </dsp:nvSpPr>
      <dsp:spPr>
        <a:xfrm>
          <a:off x="7745001" y="210549"/>
          <a:ext cx="3520454" cy="2112272"/>
        </a:xfrm>
        <a:prstGeom prst="rect">
          <a:avLst/>
        </a:prstGeom>
        <a:solidFill>
          <a:srgbClr val="C0504D">
            <a:hueOff val="2340759"/>
            <a:satOff val="-2919"/>
            <a:lumOff val="686"/>
            <a:alphaOff val="0"/>
          </a:srgbClr>
        </a:solidFill>
        <a:ln w="25400" cap="flat" cmpd="sng" algn="ctr">
          <a:solidFill>
            <a:sysClr val="window" lastClr="FFFFFF">
              <a:hueOff val="0"/>
              <a:satOff val="0"/>
              <a:lumOff val="0"/>
              <a:alphaOff val="0"/>
            </a:sys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000" kern="1200" dirty="0">
              <a:solidFill>
                <a:sysClr val="window" lastClr="FFFFFF"/>
              </a:solidFill>
              <a:latin typeface="Calibri"/>
              <a:ea typeface="+mn-ea"/>
              <a:cs typeface="+mn-cs"/>
            </a:rPr>
            <a:t>Bias, Equity, &amp; Fairness</a:t>
          </a:r>
        </a:p>
      </dsp:txBody>
      <dsp:txXfrm>
        <a:off x="7745001" y="210549"/>
        <a:ext cx="3520454" cy="2112272"/>
      </dsp:txXfrm>
    </dsp:sp>
    <dsp:sp modelId="{EF08E376-4E26-284A-B04A-2272E2B37BE4}">
      <dsp:nvSpPr>
        <dsp:cNvPr id="0" name=""/>
        <dsp:cNvSpPr/>
      </dsp:nvSpPr>
      <dsp:spPr>
        <a:xfrm>
          <a:off x="1936250" y="2674867"/>
          <a:ext cx="3520454" cy="2112272"/>
        </a:xfrm>
        <a:prstGeom prst="rect">
          <a:avLst/>
        </a:prstGeom>
        <a:solidFill>
          <a:srgbClr val="C0504D">
            <a:hueOff val="3511139"/>
            <a:satOff val="-4379"/>
            <a:lumOff val="1030"/>
            <a:alphaOff val="0"/>
          </a:srgbClr>
        </a:solidFill>
        <a:ln w="25400" cap="flat" cmpd="sng" algn="ctr">
          <a:solidFill>
            <a:sysClr val="window" lastClr="FFFFFF">
              <a:hueOff val="0"/>
              <a:satOff val="0"/>
              <a:lumOff val="0"/>
              <a:alphaOff val="0"/>
            </a:sys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000" kern="1200" dirty="0">
              <a:solidFill>
                <a:sysClr val="window" lastClr="FFFFFF"/>
              </a:solidFill>
              <a:latin typeface="Calibri"/>
              <a:ea typeface="+mn-ea"/>
              <a:cs typeface="+mn-cs"/>
            </a:rPr>
            <a:t>Transparency</a:t>
          </a:r>
        </a:p>
      </dsp:txBody>
      <dsp:txXfrm>
        <a:off x="1936250" y="2674867"/>
        <a:ext cx="3520454" cy="2112272"/>
      </dsp:txXfrm>
    </dsp:sp>
    <dsp:sp modelId="{6716D9F6-4AA6-A540-8569-2BA0DEE70F42}">
      <dsp:nvSpPr>
        <dsp:cNvPr id="0" name=""/>
        <dsp:cNvSpPr/>
      </dsp:nvSpPr>
      <dsp:spPr>
        <a:xfrm>
          <a:off x="5808750" y="2674867"/>
          <a:ext cx="3520454" cy="2112272"/>
        </a:xfrm>
        <a:prstGeom prst="rect">
          <a:avLst/>
        </a:prstGeom>
        <a:solidFill>
          <a:srgbClr val="C0504D">
            <a:hueOff val="4681519"/>
            <a:satOff val="-5839"/>
            <a:lumOff val="1373"/>
            <a:alphaOff val="0"/>
          </a:srgbClr>
        </a:solidFill>
        <a:ln w="25400" cap="flat" cmpd="sng" algn="ctr">
          <a:solidFill>
            <a:sysClr val="window" lastClr="FFFFFF">
              <a:hueOff val="0"/>
              <a:satOff val="0"/>
              <a:lumOff val="0"/>
              <a:alphaOff val="0"/>
            </a:sys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000" kern="1200" dirty="0">
              <a:solidFill>
                <a:sysClr val="window" lastClr="FFFFFF"/>
              </a:solidFill>
              <a:latin typeface="Calibri"/>
              <a:ea typeface="+mn-ea"/>
              <a:cs typeface="+mn-cs"/>
            </a:rPr>
            <a:t>Trustworthiness and Accountability</a:t>
          </a:r>
        </a:p>
      </dsp:txBody>
      <dsp:txXfrm>
        <a:off x="5808750" y="2674867"/>
        <a:ext cx="3520454" cy="2112272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default">
  <dgm:title val=""/>
  <dgm:desc val=""/>
  <dgm:catLst>
    <dgm:cat type="list" pri="4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  <dgm:pt modelId="5">
          <dgm:prSet phldr="1"/>
        </dgm:pt>
      </dgm:ptLst>
      <dgm:cxnLst>
        <dgm:cxn modelId="6" srcId="0" destId="1" srcOrd="0" destOrd="0"/>
        <dgm:cxn modelId="7" srcId="0" destId="2" srcOrd="1" destOrd="0"/>
        <dgm:cxn modelId="8" srcId="0" destId="3" srcOrd="2" destOrd="0"/>
        <dgm:cxn modelId="9" srcId="0" destId="4" srcOrd="3" destOrd="0"/>
        <dgm:cxn modelId="10" srcId="0" destId="5" srcOrd="4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  <dgm:pt modelId="5"/>
        <dgm:pt modelId="6"/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  <dgm:cxn modelId="11" srcId="0" destId="5" srcOrd="4" destOrd="0"/>
        <dgm:cxn modelId="12" srcId="0" destId="6" srcOrd="5" destOrd="0"/>
      </dgm:cxnLst>
      <dgm:bg/>
      <dgm:whole/>
    </dgm:dataModel>
  </dgm:clrData>
  <dgm:layoutNode name="diagram">
    <dgm:varLst>
      <dgm:dir/>
      <dgm:resizeHandles val="exact"/>
    </dgm:varLst>
    <dgm:choose name="Name0">
      <dgm:if name="Name1" func="var" arg="dir" op="equ" val="norm">
        <dgm:alg type="snake">
          <dgm:param type="grDir" val="tL"/>
          <dgm:param type="flowDir" val="row"/>
          <dgm:param type="contDir" val="sameDir"/>
          <dgm:param type="off" val="ctr"/>
        </dgm:alg>
      </dgm:if>
      <dgm:else name="Name2">
        <dgm:alg type="snake">
          <dgm:param type="grDir" val="tR"/>
          <dgm:param type="flowDir" val="row"/>
          <dgm:param type="contDir" val="sameDir"/>
          <dgm:param type="off" val="ct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node" refType="w"/>
      <dgm:constr type="h" for="ch" forName="node" refType="w" refFor="ch" refForName="node" fact="0.6"/>
      <dgm:constr type="w" for="ch" forName="sibTrans" refType="w" refFor="ch" refForName="node" fact="0.1"/>
      <dgm:constr type="sp" refType="w" refFor="ch" refForName="sibTrans"/>
      <dgm:constr type="primFontSz" for="ch" forName="node" op="equ" val="65"/>
    </dgm:constrLst>
    <dgm:ruleLst/>
    <dgm:forEach name="Name3" axis="ch" ptType="node">
      <dgm:layoutNode name="node">
        <dgm:varLst>
          <dgm:bulletEnabled val="1"/>
        </dgm:varLst>
        <dgm:alg type="tx"/>
        <dgm:shape xmlns:r="http://schemas.openxmlformats.org/officeDocument/2006/relationships" type="rect" r:blip="">
          <dgm:adjLst/>
        </dgm:shape>
        <dgm:presOf axis="desOrSelf" ptType="node"/>
        <dgm:constrLst>
          <dgm:constr type="lMarg" refType="primFontSz" fact="0.3"/>
          <dgm:constr type="rMarg" refType="primFontSz" fact="0.3"/>
          <dgm:constr type="tMarg" refType="primFontSz" fact="0.3"/>
          <dgm:constr type="bMarg" refType="primFontSz" fact="0.3"/>
        </dgm:constrLst>
        <dgm:ruleLst>
          <dgm:rule type="primFontSz" val="5" fact="NaN" max="NaN"/>
        </dgm:ruleLst>
      </dgm:layoutNode>
      <dgm:forEach name="Name4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" name="Google Shape;4;n"/>
          <p:cNvSpPr txBox="1">
            <a:spLocks noGrp="1"/>
          </p:cNvSpPr>
          <p:nvPr>
            <p:ph type="dt" idx="10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" name="Google Shape;5;n"/>
          <p:cNvSpPr>
            <a:spLocks noGrp="1" noRot="1" noChangeAspect="1"/>
          </p:cNvSpPr>
          <p:nvPr>
            <p:ph type="sldImg" idx="3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" name="Google Shape;6;n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" name="Google Shape;7;n"/>
          <p:cNvSpPr txBox="1">
            <a:spLocks noGrp="1"/>
          </p:cNvSpPr>
          <p:nvPr>
            <p:ph type="ftr" idx="11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n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-US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39" name="Google Shape;39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Google Shape;61;g6d8ed670a8_0_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2" name="Google Shape;62;g6d8ed670a8_0_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24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2" name="Google Shape;52;p24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Google Shape;80;g71c82016f7_0_5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1" name="Google Shape;81;g71c82016f7_0_5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20CBC395-CF3C-A24F-8682-006CE1DBC2D7}" type="slidenum">
              <a:rPr lang="en-US" smtClean="0"/>
              <a:pPr>
                <a:defRPr/>
              </a:pPr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5732851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g6dad9273e7_0_4"/>
          <p:cNvSpPr txBox="1">
            <a:spLocks noGrp="1"/>
          </p:cNvSpPr>
          <p:nvPr>
            <p:ph type="ctrTitle"/>
          </p:nvPr>
        </p:nvSpPr>
        <p:spPr>
          <a:xfrm>
            <a:off x="415611" y="992767"/>
            <a:ext cx="11360700" cy="2736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b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900"/>
              <a:buNone/>
              <a:defRPr sz="69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900"/>
              <a:buNone/>
              <a:defRPr sz="69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900"/>
              <a:buNone/>
              <a:defRPr sz="69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900"/>
              <a:buNone/>
              <a:defRPr sz="69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900"/>
              <a:buNone/>
              <a:defRPr sz="69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900"/>
              <a:buNone/>
              <a:defRPr sz="69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900"/>
              <a:buNone/>
              <a:defRPr sz="69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900"/>
              <a:buNone/>
              <a:defRPr sz="69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900"/>
              <a:buNone/>
              <a:defRPr sz="6900"/>
            </a:lvl9pPr>
          </a:lstStyle>
          <a:p>
            <a:endParaRPr/>
          </a:p>
        </p:txBody>
      </p:sp>
      <p:sp>
        <p:nvSpPr>
          <p:cNvPr id="15" name="Google Shape;15;g6dad9273e7_0_4"/>
          <p:cNvSpPr txBox="1">
            <a:spLocks noGrp="1"/>
          </p:cNvSpPr>
          <p:nvPr>
            <p:ph type="subTitle" idx="1"/>
          </p:nvPr>
        </p:nvSpPr>
        <p:spPr>
          <a:xfrm>
            <a:off x="415600" y="3778833"/>
            <a:ext cx="11360700" cy="1056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 sz="37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 sz="37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 sz="37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 sz="37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 sz="37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 sz="37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 sz="37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 sz="37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 sz="3700"/>
            </a:lvl9pPr>
          </a:lstStyle>
          <a:p>
            <a:endParaRPr/>
          </a:p>
        </p:txBody>
      </p:sp>
      <p:sp>
        <p:nvSpPr>
          <p:cNvPr id="16" name="Google Shape;16;g6dad9273e7_0_4"/>
          <p:cNvSpPr txBox="1">
            <a:spLocks noGrp="1"/>
          </p:cNvSpPr>
          <p:nvPr>
            <p:ph type="sldNum" idx="12"/>
          </p:nvPr>
        </p:nvSpPr>
        <p:spPr>
          <a:xfrm>
            <a:off x="11296610" y="6217622"/>
            <a:ext cx="731700" cy="524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g6dad9273e7_0_11"/>
          <p:cNvSpPr txBox="1">
            <a:spLocks noGrp="1"/>
          </p:cNvSpPr>
          <p:nvPr>
            <p:ph type="title"/>
          </p:nvPr>
        </p:nvSpPr>
        <p:spPr>
          <a:xfrm>
            <a:off x="415600" y="86563"/>
            <a:ext cx="11360700" cy="76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700"/>
              <a:buNone/>
              <a:defRPr>
                <a:solidFill>
                  <a:srgbClr val="FFFFFF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9pPr>
          </a:lstStyle>
          <a:p>
            <a:endParaRPr/>
          </a:p>
        </p:txBody>
      </p:sp>
      <p:sp>
        <p:nvSpPr>
          <p:cNvPr id="19" name="Google Shape;19;g6dad9273e7_0_11"/>
          <p:cNvSpPr txBox="1">
            <a:spLocks noGrp="1"/>
          </p:cNvSpPr>
          <p:nvPr>
            <p:ph type="body" idx="1"/>
          </p:nvPr>
        </p:nvSpPr>
        <p:spPr>
          <a:xfrm>
            <a:off x="415600" y="1536633"/>
            <a:ext cx="11360700" cy="4555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noAutofit/>
          </a:bodyPr>
          <a:lstStyle>
            <a:lvl1pPr marL="457200" lvl="0" indent="-381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400"/>
              <a:buChar char="●"/>
              <a:defRPr>
                <a:solidFill>
                  <a:srgbClr val="434343"/>
                </a:solidFill>
              </a:defRPr>
            </a:lvl1pPr>
            <a:lvl2pPr marL="914400" lvl="1" indent="-349250" algn="l">
              <a:lnSpc>
                <a:spcPct val="115000"/>
              </a:lnSpc>
              <a:spcBef>
                <a:spcPts val="2100"/>
              </a:spcBef>
              <a:spcAft>
                <a:spcPts val="0"/>
              </a:spcAft>
              <a:buClr>
                <a:srgbClr val="434343"/>
              </a:buClr>
              <a:buSzPts val="1900"/>
              <a:buChar char="○"/>
              <a:defRPr>
                <a:solidFill>
                  <a:srgbClr val="434343"/>
                </a:solidFill>
              </a:defRPr>
            </a:lvl2pPr>
            <a:lvl3pPr marL="1371600" lvl="2" indent="-349250" algn="l">
              <a:lnSpc>
                <a:spcPct val="115000"/>
              </a:lnSpc>
              <a:spcBef>
                <a:spcPts val="2100"/>
              </a:spcBef>
              <a:spcAft>
                <a:spcPts val="0"/>
              </a:spcAft>
              <a:buClr>
                <a:srgbClr val="434343"/>
              </a:buClr>
              <a:buSzPts val="1900"/>
              <a:buChar char="■"/>
              <a:defRPr>
                <a:solidFill>
                  <a:srgbClr val="434343"/>
                </a:solidFill>
              </a:defRPr>
            </a:lvl3pPr>
            <a:lvl4pPr marL="1828800" lvl="3" indent="-349250" algn="l">
              <a:lnSpc>
                <a:spcPct val="115000"/>
              </a:lnSpc>
              <a:spcBef>
                <a:spcPts val="2100"/>
              </a:spcBef>
              <a:spcAft>
                <a:spcPts val="0"/>
              </a:spcAft>
              <a:buClr>
                <a:srgbClr val="434343"/>
              </a:buClr>
              <a:buSzPts val="1900"/>
              <a:buChar char="●"/>
              <a:defRPr>
                <a:solidFill>
                  <a:srgbClr val="434343"/>
                </a:solidFill>
              </a:defRPr>
            </a:lvl4pPr>
            <a:lvl5pPr marL="2286000" lvl="4" indent="-349250" algn="l">
              <a:lnSpc>
                <a:spcPct val="115000"/>
              </a:lnSpc>
              <a:spcBef>
                <a:spcPts val="2100"/>
              </a:spcBef>
              <a:spcAft>
                <a:spcPts val="0"/>
              </a:spcAft>
              <a:buClr>
                <a:srgbClr val="434343"/>
              </a:buClr>
              <a:buSzPts val="1900"/>
              <a:buChar char="○"/>
              <a:defRPr>
                <a:solidFill>
                  <a:srgbClr val="434343"/>
                </a:solidFill>
              </a:defRPr>
            </a:lvl5pPr>
            <a:lvl6pPr marL="2743200" lvl="5" indent="-349250" algn="l">
              <a:lnSpc>
                <a:spcPct val="115000"/>
              </a:lnSpc>
              <a:spcBef>
                <a:spcPts val="2100"/>
              </a:spcBef>
              <a:spcAft>
                <a:spcPts val="0"/>
              </a:spcAft>
              <a:buClr>
                <a:srgbClr val="434343"/>
              </a:buClr>
              <a:buSzPts val="1900"/>
              <a:buChar char="■"/>
              <a:defRPr>
                <a:solidFill>
                  <a:srgbClr val="434343"/>
                </a:solidFill>
              </a:defRPr>
            </a:lvl6pPr>
            <a:lvl7pPr marL="3200400" lvl="6" indent="-349250" algn="l">
              <a:lnSpc>
                <a:spcPct val="115000"/>
              </a:lnSpc>
              <a:spcBef>
                <a:spcPts val="2100"/>
              </a:spcBef>
              <a:spcAft>
                <a:spcPts val="0"/>
              </a:spcAft>
              <a:buClr>
                <a:srgbClr val="434343"/>
              </a:buClr>
              <a:buSzPts val="1900"/>
              <a:buChar char="●"/>
              <a:defRPr>
                <a:solidFill>
                  <a:srgbClr val="434343"/>
                </a:solidFill>
              </a:defRPr>
            </a:lvl7pPr>
            <a:lvl8pPr marL="3657600" lvl="7" indent="-349250" algn="l">
              <a:lnSpc>
                <a:spcPct val="115000"/>
              </a:lnSpc>
              <a:spcBef>
                <a:spcPts val="2100"/>
              </a:spcBef>
              <a:spcAft>
                <a:spcPts val="0"/>
              </a:spcAft>
              <a:buClr>
                <a:srgbClr val="434343"/>
              </a:buClr>
              <a:buSzPts val="1900"/>
              <a:buChar char="○"/>
              <a:defRPr>
                <a:solidFill>
                  <a:srgbClr val="434343"/>
                </a:solidFill>
              </a:defRPr>
            </a:lvl8pPr>
            <a:lvl9pPr marL="4114800" lvl="8" indent="-349250" algn="l">
              <a:lnSpc>
                <a:spcPct val="115000"/>
              </a:lnSpc>
              <a:spcBef>
                <a:spcPts val="2100"/>
              </a:spcBef>
              <a:spcAft>
                <a:spcPts val="2100"/>
              </a:spcAft>
              <a:buClr>
                <a:srgbClr val="434343"/>
              </a:buClr>
              <a:buSzPts val="1900"/>
              <a:buChar char="■"/>
              <a:defRPr>
                <a:solidFill>
                  <a:srgbClr val="434343"/>
                </a:solidFill>
              </a:defRPr>
            </a:lvl9pPr>
          </a:lstStyle>
          <a:p>
            <a:endParaRPr/>
          </a:p>
        </p:txBody>
      </p:sp>
      <p:sp>
        <p:nvSpPr>
          <p:cNvPr id="20" name="Google Shape;20;g6dad9273e7_0_11"/>
          <p:cNvSpPr txBox="1">
            <a:spLocks noGrp="1"/>
          </p:cNvSpPr>
          <p:nvPr>
            <p:ph type="sldNum" idx="12"/>
          </p:nvPr>
        </p:nvSpPr>
        <p:spPr>
          <a:xfrm>
            <a:off x="11296610" y="6217622"/>
            <a:ext cx="731700" cy="524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21" name="Google Shape;21;g6dad9273e7_0_11"/>
          <p:cNvSpPr/>
          <p:nvPr/>
        </p:nvSpPr>
        <p:spPr>
          <a:xfrm>
            <a:off x="-14200" y="-36767"/>
            <a:ext cx="12220500" cy="1010161"/>
          </a:xfrm>
          <a:prstGeom prst="rect">
            <a:avLst/>
          </a:prstGeom>
          <a:solidFill>
            <a:srgbClr val="A61C00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g6dad9273e7_0_16"/>
          <p:cNvSpPr txBox="1">
            <a:spLocks noGrp="1"/>
          </p:cNvSpPr>
          <p:nvPr>
            <p:ph type="title"/>
          </p:nvPr>
        </p:nvSpPr>
        <p:spPr>
          <a:xfrm>
            <a:off x="415600" y="593367"/>
            <a:ext cx="11360700" cy="76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g6dad9273e7_0_16"/>
          <p:cNvSpPr txBox="1">
            <a:spLocks noGrp="1"/>
          </p:cNvSpPr>
          <p:nvPr>
            <p:ph type="body" idx="1"/>
          </p:nvPr>
        </p:nvSpPr>
        <p:spPr>
          <a:xfrm>
            <a:off x="415600" y="1536633"/>
            <a:ext cx="5333100" cy="4555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noAutofit/>
          </a:bodyPr>
          <a:lstStyle>
            <a:lvl1pPr marL="457200" lvl="0" indent="-3492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900"/>
              <a:buChar char="●"/>
              <a:defRPr sz="1900"/>
            </a:lvl1pPr>
            <a:lvl2pPr marL="914400" lvl="1" indent="-330200" algn="l">
              <a:lnSpc>
                <a:spcPct val="115000"/>
              </a:lnSpc>
              <a:spcBef>
                <a:spcPts val="2100"/>
              </a:spcBef>
              <a:spcAft>
                <a:spcPts val="0"/>
              </a:spcAft>
              <a:buSzPts val="1600"/>
              <a:buChar char="○"/>
              <a:defRPr sz="1600"/>
            </a:lvl2pPr>
            <a:lvl3pPr marL="1371600" lvl="2" indent="-330200" algn="l">
              <a:lnSpc>
                <a:spcPct val="115000"/>
              </a:lnSpc>
              <a:spcBef>
                <a:spcPts val="2100"/>
              </a:spcBef>
              <a:spcAft>
                <a:spcPts val="0"/>
              </a:spcAft>
              <a:buSzPts val="1600"/>
              <a:buChar char="■"/>
              <a:defRPr sz="1600"/>
            </a:lvl3pPr>
            <a:lvl4pPr marL="1828800" lvl="3" indent="-330200" algn="l">
              <a:lnSpc>
                <a:spcPct val="115000"/>
              </a:lnSpc>
              <a:spcBef>
                <a:spcPts val="2100"/>
              </a:spcBef>
              <a:spcAft>
                <a:spcPts val="0"/>
              </a:spcAft>
              <a:buSzPts val="1600"/>
              <a:buChar char="●"/>
              <a:defRPr sz="1600"/>
            </a:lvl4pPr>
            <a:lvl5pPr marL="2286000" lvl="4" indent="-330200" algn="l">
              <a:lnSpc>
                <a:spcPct val="115000"/>
              </a:lnSpc>
              <a:spcBef>
                <a:spcPts val="2100"/>
              </a:spcBef>
              <a:spcAft>
                <a:spcPts val="0"/>
              </a:spcAft>
              <a:buSzPts val="1600"/>
              <a:buChar char="○"/>
              <a:defRPr sz="1600"/>
            </a:lvl5pPr>
            <a:lvl6pPr marL="2743200" lvl="5" indent="-330200" algn="l">
              <a:lnSpc>
                <a:spcPct val="115000"/>
              </a:lnSpc>
              <a:spcBef>
                <a:spcPts val="2100"/>
              </a:spcBef>
              <a:spcAft>
                <a:spcPts val="0"/>
              </a:spcAft>
              <a:buSzPts val="1600"/>
              <a:buChar char="■"/>
              <a:defRPr sz="1600"/>
            </a:lvl6pPr>
            <a:lvl7pPr marL="3200400" lvl="6" indent="-330200" algn="l">
              <a:lnSpc>
                <a:spcPct val="115000"/>
              </a:lnSpc>
              <a:spcBef>
                <a:spcPts val="2100"/>
              </a:spcBef>
              <a:spcAft>
                <a:spcPts val="0"/>
              </a:spcAft>
              <a:buSzPts val="1600"/>
              <a:buChar char="●"/>
              <a:defRPr sz="1600"/>
            </a:lvl7pPr>
            <a:lvl8pPr marL="3657600" lvl="7" indent="-330200" algn="l">
              <a:lnSpc>
                <a:spcPct val="115000"/>
              </a:lnSpc>
              <a:spcBef>
                <a:spcPts val="2100"/>
              </a:spcBef>
              <a:spcAft>
                <a:spcPts val="0"/>
              </a:spcAft>
              <a:buSzPts val="1600"/>
              <a:buChar char="○"/>
              <a:defRPr sz="1600"/>
            </a:lvl8pPr>
            <a:lvl9pPr marL="4114800" lvl="8" indent="-330200" algn="l">
              <a:lnSpc>
                <a:spcPct val="115000"/>
              </a:lnSpc>
              <a:spcBef>
                <a:spcPts val="2100"/>
              </a:spcBef>
              <a:spcAft>
                <a:spcPts val="2100"/>
              </a:spcAft>
              <a:buSzPts val="1600"/>
              <a:buChar char="■"/>
              <a:defRPr sz="1600"/>
            </a:lvl9pPr>
          </a:lstStyle>
          <a:p>
            <a:endParaRPr/>
          </a:p>
        </p:txBody>
      </p:sp>
      <p:sp>
        <p:nvSpPr>
          <p:cNvPr id="28" name="Google Shape;28;g6dad9273e7_0_16"/>
          <p:cNvSpPr txBox="1">
            <a:spLocks noGrp="1"/>
          </p:cNvSpPr>
          <p:nvPr>
            <p:ph type="body" idx="2"/>
          </p:nvPr>
        </p:nvSpPr>
        <p:spPr>
          <a:xfrm>
            <a:off x="6443200" y="1536633"/>
            <a:ext cx="5333100" cy="4555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noAutofit/>
          </a:bodyPr>
          <a:lstStyle>
            <a:lvl1pPr marL="457200" lvl="0" indent="-3492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900"/>
              <a:buChar char="●"/>
              <a:defRPr sz="1900"/>
            </a:lvl1pPr>
            <a:lvl2pPr marL="914400" lvl="1" indent="-330200" algn="l">
              <a:lnSpc>
                <a:spcPct val="115000"/>
              </a:lnSpc>
              <a:spcBef>
                <a:spcPts val="2100"/>
              </a:spcBef>
              <a:spcAft>
                <a:spcPts val="0"/>
              </a:spcAft>
              <a:buSzPts val="1600"/>
              <a:buChar char="○"/>
              <a:defRPr sz="1600"/>
            </a:lvl2pPr>
            <a:lvl3pPr marL="1371600" lvl="2" indent="-330200" algn="l">
              <a:lnSpc>
                <a:spcPct val="115000"/>
              </a:lnSpc>
              <a:spcBef>
                <a:spcPts val="2100"/>
              </a:spcBef>
              <a:spcAft>
                <a:spcPts val="0"/>
              </a:spcAft>
              <a:buSzPts val="1600"/>
              <a:buChar char="■"/>
              <a:defRPr sz="1600"/>
            </a:lvl3pPr>
            <a:lvl4pPr marL="1828800" lvl="3" indent="-330200" algn="l">
              <a:lnSpc>
                <a:spcPct val="115000"/>
              </a:lnSpc>
              <a:spcBef>
                <a:spcPts val="2100"/>
              </a:spcBef>
              <a:spcAft>
                <a:spcPts val="0"/>
              </a:spcAft>
              <a:buSzPts val="1600"/>
              <a:buChar char="●"/>
              <a:defRPr sz="1600"/>
            </a:lvl4pPr>
            <a:lvl5pPr marL="2286000" lvl="4" indent="-330200" algn="l">
              <a:lnSpc>
                <a:spcPct val="115000"/>
              </a:lnSpc>
              <a:spcBef>
                <a:spcPts val="2100"/>
              </a:spcBef>
              <a:spcAft>
                <a:spcPts val="0"/>
              </a:spcAft>
              <a:buSzPts val="1600"/>
              <a:buChar char="○"/>
              <a:defRPr sz="1600"/>
            </a:lvl5pPr>
            <a:lvl6pPr marL="2743200" lvl="5" indent="-330200" algn="l">
              <a:lnSpc>
                <a:spcPct val="115000"/>
              </a:lnSpc>
              <a:spcBef>
                <a:spcPts val="2100"/>
              </a:spcBef>
              <a:spcAft>
                <a:spcPts val="0"/>
              </a:spcAft>
              <a:buSzPts val="1600"/>
              <a:buChar char="■"/>
              <a:defRPr sz="1600"/>
            </a:lvl6pPr>
            <a:lvl7pPr marL="3200400" lvl="6" indent="-330200" algn="l">
              <a:lnSpc>
                <a:spcPct val="115000"/>
              </a:lnSpc>
              <a:spcBef>
                <a:spcPts val="2100"/>
              </a:spcBef>
              <a:spcAft>
                <a:spcPts val="0"/>
              </a:spcAft>
              <a:buSzPts val="1600"/>
              <a:buChar char="●"/>
              <a:defRPr sz="1600"/>
            </a:lvl7pPr>
            <a:lvl8pPr marL="3657600" lvl="7" indent="-330200" algn="l">
              <a:lnSpc>
                <a:spcPct val="115000"/>
              </a:lnSpc>
              <a:spcBef>
                <a:spcPts val="2100"/>
              </a:spcBef>
              <a:spcAft>
                <a:spcPts val="0"/>
              </a:spcAft>
              <a:buSzPts val="1600"/>
              <a:buChar char="○"/>
              <a:defRPr sz="1600"/>
            </a:lvl8pPr>
            <a:lvl9pPr marL="4114800" lvl="8" indent="-330200" algn="l">
              <a:lnSpc>
                <a:spcPct val="115000"/>
              </a:lnSpc>
              <a:spcBef>
                <a:spcPts val="2100"/>
              </a:spcBef>
              <a:spcAft>
                <a:spcPts val="2100"/>
              </a:spcAft>
              <a:buSzPts val="1600"/>
              <a:buChar char="■"/>
              <a:defRPr sz="1600"/>
            </a:lvl9pPr>
          </a:lstStyle>
          <a:p>
            <a:endParaRPr/>
          </a:p>
        </p:txBody>
      </p:sp>
      <p:sp>
        <p:nvSpPr>
          <p:cNvPr id="29" name="Google Shape;29;g6dad9273e7_0_16"/>
          <p:cNvSpPr txBox="1">
            <a:spLocks noGrp="1"/>
          </p:cNvSpPr>
          <p:nvPr>
            <p:ph type="sldNum" idx="12"/>
          </p:nvPr>
        </p:nvSpPr>
        <p:spPr>
          <a:xfrm>
            <a:off x="11296610" y="6217622"/>
            <a:ext cx="731700" cy="524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 type="obj">
  <p:cSld name="OBJECT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40"/>
          <p:cNvSpPr txBox="1">
            <a:spLocks noGrp="1"/>
          </p:cNvSpPr>
          <p:nvPr>
            <p:ph type="body" idx="1"/>
          </p:nvPr>
        </p:nvSpPr>
        <p:spPr>
          <a:xfrm>
            <a:off x="297706" y="1353806"/>
            <a:ext cx="11666363" cy="495464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noAutofit/>
          </a:bodyPr>
          <a:lstStyle>
            <a:lvl1pPr marL="457200" lvl="0" indent="-381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Char char="●"/>
              <a:defRPr/>
            </a:lvl1pPr>
            <a:lvl2pPr marL="914400" lvl="1" indent="-349250" algn="l">
              <a:lnSpc>
                <a:spcPct val="115000"/>
              </a:lnSpc>
              <a:spcBef>
                <a:spcPts val="2100"/>
              </a:spcBef>
              <a:spcAft>
                <a:spcPts val="0"/>
              </a:spcAft>
              <a:buSzPts val="1900"/>
              <a:buChar char="○"/>
              <a:defRPr/>
            </a:lvl2pPr>
            <a:lvl3pPr marL="1371600" lvl="2" indent="-349250" algn="l">
              <a:lnSpc>
                <a:spcPct val="115000"/>
              </a:lnSpc>
              <a:spcBef>
                <a:spcPts val="2100"/>
              </a:spcBef>
              <a:spcAft>
                <a:spcPts val="0"/>
              </a:spcAft>
              <a:buSzPts val="1900"/>
              <a:buChar char="■"/>
              <a:defRPr/>
            </a:lvl3pPr>
            <a:lvl4pPr marL="1828800" lvl="3" indent="-349250" algn="l">
              <a:lnSpc>
                <a:spcPct val="115000"/>
              </a:lnSpc>
              <a:spcBef>
                <a:spcPts val="2100"/>
              </a:spcBef>
              <a:spcAft>
                <a:spcPts val="0"/>
              </a:spcAft>
              <a:buSzPts val="1900"/>
              <a:buChar char="●"/>
              <a:defRPr/>
            </a:lvl4pPr>
            <a:lvl5pPr marL="2286000" lvl="4" indent="-349250" algn="l">
              <a:lnSpc>
                <a:spcPct val="115000"/>
              </a:lnSpc>
              <a:spcBef>
                <a:spcPts val="2100"/>
              </a:spcBef>
              <a:spcAft>
                <a:spcPts val="0"/>
              </a:spcAft>
              <a:buSzPts val="1900"/>
              <a:buChar char="○"/>
              <a:defRPr/>
            </a:lvl5pPr>
            <a:lvl6pPr marL="2743200" lvl="5" indent="-349250" algn="l">
              <a:lnSpc>
                <a:spcPct val="115000"/>
              </a:lnSpc>
              <a:spcBef>
                <a:spcPts val="2100"/>
              </a:spcBef>
              <a:spcAft>
                <a:spcPts val="0"/>
              </a:spcAft>
              <a:buSzPts val="1900"/>
              <a:buChar char="■"/>
              <a:defRPr/>
            </a:lvl6pPr>
            <a:lvl7pPr marL="3200400" lvl="6" indent="-349250" algn="l">
              <a:lnSpc>
                <a:spcPct val="115000"/>
              </a:lnSpc>
              <a:spcBef>
                <a:spcPts val="2100"/>
              </a:spcBef>
              <a:spcAft>
                <a:spcPts val="0"/>
              </a:spcAft>
              <a:buSzPts val="1900"/>
              <a:buChar char="●"/>
              <a:defRPr/>
            </a:lvl7pPr>
            <a:lvl8pPr marL="3657600" lvl="7" indent="-349250" algn="l">
              <a:lnSpc>
                <a:spcPct val="115000"/>
              </a:lnSpc>
              <a:spcBef>
                <a:spcPts val="2100"/>
              </a:spcBef>
              <a:spcAft>
                <a:spcPts val="0"/>
              </a:spcAft>
              <a:buSzPts val="1900"/>
              <a:buChar char="○"/>
              <a:defRPr/>
            </a:lvl8pPr>
            <a:lvl9pPr marL="4114800" lvl="8" indent="-349250" algn="l">
              <a:lnSpc>
                <a:spcPct val="115000"/>
              </a:lnSpc>
              <a:spcBef>
                <a:spcPts val="2100"/>
              </a:spcBef>
              <a:spcAft>
                <a:spcPts val="2100"/>
              </a:spcAft>
              <a:buSzPts val="1900"/>
              <a:buChar char="■"/>
              <a:defRPr/>
            </a:lvl9pPr>
          </a:lstStyle>
          <a:p>
            <a:endParaRPr/>
          </a:p>
        </p:txBody>
      </p:sp>
      <p:sp>
        <p:nvSpPr>
          <p:cNvPr id="34" name="Google Shape;34;p40"/>
          <p:cNvSpPr/>
          <p:nvPr/>
        </p:nvSpPr>
        <p:spPr>
          <a:xfrm>
            <a:off x="0" y="6434064"/>
            <a:ext cx="12192000" cy="423936"/>
          </a:xfrm>
          <a:prstGeom prst="rect">
            <a:avLst/>
          </a:prstGeom>
          <a:solidFill>
            <a:schemeClr val="lt2"/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867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67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Rayid Ghani															@rayidghani				</a:t>
            </a:r>
            <a:endParaRPr sz="1867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5" name="Google Shape;35;p40"/>
          <p:cNvSpPr/>
          <p:nvPr/>
        </p:nvSpPr>
        <p:spPr>
          <a:xfrm>
            <a:off x="0" y="1"/>
            <a:ext cx="12192000" cy="1206639"/>
          </a:xfrm>
          <a:prstGeom prst="rect">
            <a:avLst/>
          </a:prstGeom>
          <a:solidFill>
            <a:schemeClr val="lt2"/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867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6" name="Google Shape;36;p40"/>
          <p:cNvSpPr txBox="1">
            <a:spLocks noGrp="1"/>
          </p:cNvSpPr>
          <p:nvPr>
            <p:ph type="title"/>
          </p:nvPr>
        </p:nvSpPr>
        <p:spPr>
          <a:xfrm>
            <a:off x="0" y="23412"/>
            <a:ext cx="121920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>
                <a:solidFill>
                  <a:srgbClr val="F2F2F2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1_Title and Content">
  <p:cSld name="1_Title and Content">
    <p:spTree>
      <p:nvGrpSpPr>
        <p:cNvPr id="1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g6dad9273e7_0_53"/>
          <p:cNvSpPr txBox="1">
            <a:spLocks noGrp="1"/>
          </p:cNvSpPr>
          <p:nvPr>
            <p:ph type="body" idx="1"/>
          </p:nvPr>
        </p:nvSpPr>
        <p:spPr>
          <a:xfrm>
            <a:off x="268210" y="1588503"/>
            <a:ext cx="11666400" cy="4954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342900" algn="l" rtl="0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●"/>
              <a:defRPr/>
            </a:lvl1pPr>
            <a:lvl2pPr marL="914400" lvl="1" indent="-342900" algn="l" rtl="0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○"/>
              <a:defRPr/>
            </a:lvl2pPr>
            <a:lvl3pPr marL="1371600" lvl="2" indent="-342900" algn="l" rtl="0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■"/>
              <a:defRPr/>
            </a:lvl3pPr>
            <a:lvl4pPr marL="1828800" lvl="3" indent="-342900" algn="l" rtl="0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●"/>
              <a:defRPr/>
            </a:lvl4pPr>
            <a:lvl5pPr marL="2286000" lvl="4" indent="-342900" algn="l" rtl="0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○"/>
              <a:defRPr/>
            </a:lvl5pPr>
            <a:lvl6pPr marL="2743200" lvl="5" indent="-342900" algn="l" rtl="0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■"/>
              <a:defRPr/>
            </a:lvl6pPr>
            <a:lvl7pPr marL="3200400" lvl="6" indent="-342900" algn="l" rtl="0">
              <a:spcBef>
                <a:spcPts val="2100"/>
              </a:spcBef>
              <a:spcAft>
                <a:spcPts val="0"/>
              </a:spcAft>
              <a:buClr>
                <a:schemeClr val="dk1"/>
              </a:buClr>
              <a:buSzPts val="1800"/>
              <a:buChar char="●"/>
              <a:defRPr/>
            </a:lvl7pPr>
            <a:lvl8pPr marL="3657600" lvl="7" indent="-342900" algn="l" rtl="0">
              <a:spcBef>
                <a:spcPts val="2100"/>
              </a:spcBef>
              <a:spcAft>
                <a:spcPts val="0"/>
              </a:spcAft>
              <a:buClr>
                <a:schemeClr val="dk1"/>
              </a:buClr>
              <a:buSzPts val="1800"/>
              <a:buChar char="○"/>
              <a:defRPr/>
            </a:lvl8pPr>
            <a:lvl9pPr marL="4114800" lvl="8" indent="-342900" algn="l" rtl="0">
              <a:spcBef>
                <a:spcPts val="2100"/>
              </a:spcBef>
              <a:spcAft>
                <a:spcPts val="2100"/>
              </a:spcAft>
              <a:buClr>
                <a:schemeClr val="dk1"/>
              </a:buClr>
              <a:buSzPts val="1800"/>
              <a:buChar char="■"/>
              <a:defRPr/>
            </a:lvl9pPr>
          </a:lstStyle>
          <a:p>
            <a:endParaRPr dirty="0"/>
          </a:p>
        </p:txBody>
      </p:sp>
      <p:sp>
        <p:nvSpPr>
          <p:cNvPr id="64" name="Google Shape;64;g6dad9273e7_0_53"/>
          <p:cNvSpPr txBox="1"/>
          <p:nvPr/>
        </p:nvSpPr>
        <p:spPr>
          <a:xfrm>
            <a:off x="5410" y="11929"/>
            <a:ext cx="12192000" cy="1353806"/>
          </a:xfrm>
          <a:prstGeom prst="rect">
            <a:avLst/>
          </a:prstGeom>
          <a:solidFill>
            <a:srgbClr val="800000"/>
          </a:solidFill>
          <a:ln>
            <a:noFill/>
          </a:ln>
        </p:spPr>
        <p:txBody>
          <a:bodyPr spcFirstLastPara="1" wrap="square" lIns="121900" tIns="60950" rIns="121900" bIns="6095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3300" b="0" i="0" u="none" strike="noStrike" cap="none" dirty="0">
              <a:solidFill>
                <a:schemeClr val="bg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B058E15-DEBE-0941-A587-4DF3467F661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0558" y="418466"/>
            <a:ext cx="11360700" cy="7635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84090829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g6dad9273e7_0_0"/>
          <p:cNvSpPr txBox="1">
            <a:spLocks noGrp="1"/>
          </p:cNvSpPr>
          <p:nvPr>
            <p:ph type="title"/>
          </p:nvPr>
        </p:nvSpPr>
        <p:spPr>
          <a:xfrm>
            <a:off x="415600" y="593367"/>
            <a:ext cx="11360700" cy="76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700"/>
              <a:buFont typeface="Arial"/>
              <a:buNone/>
              <a:defRPr sz="37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700"/>
              <a:buFont typeface="Arial"/>
              <a:buNone/>
              <a:defRPr sz="37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700"/>
              <a:buFont typeface="Arial"/>
              <a:buNone/>
              <a:defRPr sz="37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700"/>
              <a:buFont typeface="Arial"/>
              <a:buNone/>
              <a:defRPr sz="37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700"/>
              <a:buFont typeface="Arial"/>
              <a:buNone/>
              <a:defRPr sz="37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700"/>
              <a:buFont typeface="Arial"/>
              <a:buNone/>
              <a:defRPr sz="37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700"/>
              <a:buFont typeface="Arial"/>
              <a:buNone/>
              <a:defRPr sz="37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700"/>
              <a:buFont typeface="Arial"/>
              <a:buNone/>
              <a:defRPr sz="37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700"/>
              <a:buFont typeface="Arial"/>
              <a:buNone/>
              <a:defRPr sz="37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1" name="Google Shape;11;g6dad9273e7_0_0"/>
          <p:cNvSpPr txBox="1">
            <a:spLocks noGrp="1"/>
          </p:cNvSpPr>
          <p:nvPr>
            <p:ph type="body" idx="1"/>
          </p:nvPr>
        </p:nvSpPr>
        <p:spPr>
          <a:xfrm>
            <a:off x="415600" y="1536633"/>
            <a:ext cx="11360700" cy="4555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noAutofit/>
          </a:bodyPr>
          <a:lstStyle>
            <a:lvl1pPr marL="457200" marR="0" lvl="0" indent="-3810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400"/>
              <a:buFont typeface="Arial"/>
              <a:buChar char="●"/>
              <a:defRPr sz="2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49250" algn="l" rtl="0">
              <a:lnSpc>
                <a:spcPct val="115000"/>
              </a:lnSpc>
              <a:spcBef>
                <a:spcPts val="2100"/>
              </a:spcBef>
              <a:spcAft>
                <a:spcPts val="0"/>
              </a:spcAft>
              <a:buClr>
                <a:schemeClr val="dk2"/>
              </a:buClr>
              <a:buSzPts val="1900"/>
              <a:buFont typeface="Arial"/>
              <a:buChar char="○"/>
              <a:defRPr sz="19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49250" algn="l" rtl="0">
              <a:lnSpc>
                <a:spcPct val="115000"/>
              </a:lnSpc>
              <a:spcBef>
                <a:spcPts val="2100"/>
              </a:spcBef>
              <a:spcAft>
                <a:spcPts val="0"/>
              </a:spcAft>
              <a:buClr>
                <a:schemeClr val="dk2"/>
              </a:buClr>
              <a:buSzPts val="1900"/>
              <a:buFont typeface="Arial"/>
              <a:buChar char="■"/>
              <a:defRPr sz="19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49250" algn="l" rtl="0">
              <a:lnSpc>
                <a:spcPct val="115000"/>
              </a:lnSpc>
              <a:spcBef>
                <a:spcPts val="2100"/>
              </a:spcBef>
              <a:spcAft>
                <a:spcPts val="0"/>
              </a:spcAft>
              <a:buClr>
                <a:schemeClr val="dk2"/>
              </a:buClr>
              <a:buSzPts val="1900"/>
              <a:buFont typeface="Arial"/>
              <a:buChar char="●"/>
              <a:defRPr sz="19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49250" algn="l" rtl="0">
              <a:lnSpc>
                <a:spcPct val="115000"/>
              </a:lnSpc>
              <a:spcBef>
                <a:spcPts val="2100"/>
              </a:spcBef>
              <a:spcAft>
                <a:spcPts val="0"/>
              </a:spcAft>
              <a:buClr>
                <a:schemeClr val="dk2"/>
              </a:buClr>
              <a:buSzPts val="1900"/>
              <a:buFont typeface="Arial"/>
              <a:buChar char="○"/>
              <a:defRPr sz="19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49250" algn="l" rtl="0">
              <a:lnSpc>
                <a:spcPct val="115000"/>
              </a:lnSpc>
              <a:spcBef>
                <a:spcPts val="2100"/>
              </a:spcBef>
              <a:spcAft>
                <a:spcPts val="0"/>
              </a:spcAft>
              <a:buClr>
                <a:schemeClr val="dk2"/>
              </a:buClr>
              <a:buSzPts val="1900"/>
              <a:buFont typeface="Arial"/>
              <a:buChar char="■"/>
              <a:defRPr sz="19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49250" algn="l" rtl="0">
              <a:lnSpc>
                <a:spcPct val="115000"/>
              </a:lnSpc>
              <a:spcBef>
                <a:spcPts val="2100"/>
              </a:spcBef>
              <a:spcAft>
                <a:spcPts val="0"/>
              </a:spcAft>
              <a:buClr>
                <a:schemeClr val="dk2"/>
              </a:buClr>
              <a:buSzPts val="1900"/>
              <a:buFont typeface="Arial"/>
              <a:buChar char="●"/>
              <a:defRPr sz="19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49250" algn="l" rtl="0">
              <a:lnSpc>
                <a:spcPct val="115000"/>
              </a:lnSpc>
              <a:spcBef>
                <a:spcPts val="2100"/>
              </a:spcBef>
              <a:spcAft>
                <a:spcPts val="0"/>
              </a:spcAft>
              <a:buClr>
                <a:schemeClr val="dk2"/>
              </a:buClr>
              <a:buSzPts val="1900"/>
              <a:buFont typeface="Arial"/>
              <a:buChar char="○"/>
              <a:defRPr sz="19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49250" algn="l" rtl="0">
              <a:lnSpc>
                <a:spcPct val="115000"/>
              </a:lnSpc>
              <a:spcBef>
                <a:spcPts val="2100"/>
              </a:spcBef>
              <a:spcAft>
                <a:spcPts val="2100"/>
              </a:spcAft>
              <a:buClr>
                <a:schemeClr val="dk2"/>
              </a:buClr>
              <a:buSzPts val="1900"/>
              <a:buFont typeface="Arial"/>
              <a:buChar char="■"/>
              <a:defRPr sz="19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2" name="Google Shape;12;g6dad9273e7_0_0"/>
          <p:cNvSpPr txBox="1">
            <a:spLocks noGrp="1"/>
          </p:cNvSpPr>
          <p:nvPr>
            <p:ph type="sldNum" idx="12"/>
          </p:nvPr>
        </p:nvSpPr>
        <p:spPr>
          <a:xfrm>
            <a:off x="11296610" y="6217622"/>
            <a:ext cx="731700" cy="524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2" r:id="rId3"/>
    <p:sldLayoutId id="2147483654" r:id="rId4"/>
    <p:sldLayoutId id="2147483655" r:id="rId5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tiff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1.xml"/><Relationship Id="rId7" Type="http://schemas.microsoft.com/office/2007/relationships/diagramDrawing" Target="../diagrams/drawing1.xml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1.xml"/><Relationship Id="rId5" Type="http://schemas.openxmlformats.org/officeDocument/2006/relationships/diagramQuickStyle" Target="../diagrams/quickStyle1.xml"/><Relationship Id="rId4" Type="http://schemas.openxmlformats.org/officeDocument/2006/relationships/diagramLayout" Target="../diagrams/layout1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1"/>
          <p:cNvSpPr txBox="1"/>
          <p:nvPr/>
        </p:nvSpPr>
        <p:spPr>
          <a:xfrm>
            <a:off x="0" y="1014225"/>
            <a:ext cx="12192000" cy="2354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200"/>
              <a:buFont typeface="Arial"/>
              <a:buNone/>
            </a:pP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200"/>
              <a:buFont typeface="Arial"/>
              <a:buNone/>
            </a:pP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4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Wrap-Up: Key takeaways from the semester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200"/>
              <a:buFont typeface="Arial"/>
              <a:buNone/>
            </a:pP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2" name="Google Shape;42;p1"/>
          <p:cNvSpPr txBox="1"/>
          <p:nvPr/>
        </p:nvSpPr>
        <p:spPr>
          <a:xfrm>
            <a:off x="0" y="3429513"/>
            <a:ext cx="12192000" cy="130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</a:pPr>
            <a:r>
              <a:rPr lang="en-US" sz="2800" b="0" i="0" u="none" strike="noStrike" cap="none" dirty="0">
                <a:solidFill>
                  <a:srgbClr val="595959"/>
                </a:solidFill>
                <a:latin typeface="Arial"/>
                <a:ea typeface="Arial"/>
                <a:cs typeface="Arial"/>
                <a:sym typeface="Arial"/>
              </a:rPr>
              <a:t>Rayid Ghani</a:t>
            </a:r>
            <a:endParaRPr sz="2800" b="0" i="0" u="none" strike="noStrike" cap="none" dirty="0">
              <a:solidFill>
                <a:srgbClr val="595959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43" name="Google Shape;43;p1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3499638" y="4968362"/>
            <a:ext cx="5192713" cy="181343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9323871C-7CA8-1448-8FFC-1AE6E18389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Reminders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4E0A5F0-1D89-954D-91FB-596CD9E690F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76200" indent="0">
              <a:buNone/>
            </a:pPr>
            <a:r>
              <a:rPr lang="en-US" dirty="0"/>
              <a:t>Due next week:</a:t>
            </a:r>
          </a:p>
          <a:p>
            <a:r>
              <a:rPr lang="en-US" dirty="0"/>
              <a:t>Final writeup (2-3 pages)</a:t>
            </a:r>
          </a:p>
          <a:p>
            <a:r>
              <a:rPr lang="en-US" dirty="0"/>
              <a:t>Self/peer contribution survey (will post on canvas soon)</a:t>
            </a:r>
          </a:p>
          <a:p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5412341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4C430EF-FF3B-1045-8403-3C5ABE1EF4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4736339-41CF-464D-84D6-A6532DCE719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6FAEAAC3-E446-8448-ACE4-5A203ECBCF2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80533" y="-80310"/>
            <a:ext cx="12295763" cy="69383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104142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14"/>
          <p:cNvSpPr txBox="1">
            <a:spLocks noGrp="1"/>
          </p:cNvSpPr>
          <p:nvPr>
            <p:ph type="title"/>
          </p:nvPr>
        </p:nvSpPr>
        <p:spPr>
          <a:xfrm>
            <a:off x="415600" y="148520"/>
            <a:ext cx="11360800" cy="763600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noAutofit/>
          </a:bodyPr>
          <a:lstStyle/>
          <a:p>
            <a:r>
              <a:rPr lang="en" dirty="0"/>
              <a:t>What we want(ed) you to learn from this class</a:t>
            </a:r>
            <a:endParaRPr dirty="0"/>
          </a:p>
        </p:txBody>
      </p:sp>
      <p:sp>
        <p:nvSpPr>
          <p:cNvPr id="65" name="Google Shape;65;p14"/>
          <p:cNvSpPr txBox="1">
            <a:spLocks noGrp="1"/>
          </p:cNvSpPr>
          <p:nvPr>
            <p:ph type="body" idx="1"/>
          </p:nvPr>
        </p:nvSpPr>
        <p:spPr>
          <a:xfrm>
            <a:off x="415600" y="1536633"/>
            <a:ext cx="11360800" cy="4555200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noAutofit/>
          </a:bodyPr>
          <a:lstStyle/>
          <a:p>
            <a:pPr marL="609585" indent="-457189">
              <a:lnSpc>
                <a:spcPct val="150000"/>
              </a:lnSpc>
              <a:buSzPts val="1800"/>
            </a:pPr>
            <a:r>
              <a:rPr lang="en" dirty="0">
                <a:solidFill>
                  <a:schemeClr val="tx1"/>
                </a:solidFill>
              </a:rPr>
              <a:t>How to responsibly and effectively solve real-world problems using ML</a:t>
            </a:r>
          </a:p>
          <a:p>
            <a:pPr marL="1142971" lvl="1" indent="-380990">
              <a:lnSpc>
                <a:spcPct val="150000"/>
              </a:lnSpc>
              <a:spcBef>
                <a:spcPts val="0"/>
              </a:spcBef>
              <a:buSzPts val="1800"/>
            </a:pPr>
            <a:r>
              <a:rPr lang="en" sz="2133" dirty="0">
                <a:solidFill>
                  <a:schemeClr val="tx1"/>
                </a:solidFill>
              </a:rPr>
              <a:t>Understand the *entire* Machine Learning process (and get hands-on e</a:t>
            </a:r>
            <a:r>
              <a:rPr lang="en-US" sz="2133" dirty="0" err="1">
                <a:solidFill>
                  <a:schemeClr val="tx1"/>
                </a:solidFill>
              </a:rPr>
              <a:t>xp</a:t>
            </a:r>
            <a:r>
              <a:rPr lang="en" sz="2133" dirty="0" err="1">
                <a:solidFill>
                  <a:schemeClr val="tx1"/>
                </a:solidFill>
              </a:rPr>
              <a:t>erience</a:t>
            </a:r>
            <a:r>
              <a:rPr lang="en" sz="2133" dirty="0">
                <a:solidFill>
                  <a:schemeClr val="tx1"/>
                </a:solidFill>
              </a:rPr>
              <a:t> doing most of it)</a:t>
            </a:r>
          </a:p>
          <a:p>
            <a:pPr marL="1142971" lvl="1" indent="-380990">
              <a:lnSpc>
                <a:spcPct val="150000"/>
              </a:lnSpc>
              <a:spcBef>
                <a:spcPts val="0"/>
              </a:spcBef>
              <a:buSzPts val="1800"/>
            </a:pPr>
            <a:r>
              <a:rPr lang="en-US" sz="2133" dirty="0">
                <a:solidFill>
                  <a:schemeClr val="tx1"/>
                </a:solidFill>
              </a:rPr>
              <a:t>Build (and use) reusable ML pipelines</a:t>
            </a:r>
          </a:p>
          <a:p>
            <a:pPr marL="1142971" lvl="1" indent="-380990">
              <a:lnSpc>
                <a:spcPct val="150000"/>
              </a:lnSpc>
              <a:spcBef>
                <a:spcPts val="0"/>
              </a:spcBef>
              <a:buSzPts val="1800"/>
            </a:pPr>
            <a:r>
              <a:rPr lang="en-US" sz="2133" dirty="0">
                <a:solidFill>
                  <a:schemeClr val="tx1"/>
                </a:solidFill>
              </a:rPr>
              <a:t>Learn how to formulate ML problems, use, understand, evaluate, and communicate ML methods (that you have covered in earlier classes) in the context of a real problem</a:t>
            </a:r>
          </a:p>
          <a:p>
            <a:pPr lvl="1" indent="-457189">
              <a:lnSpc>
                <a:spcPct val="150000"/>
              </a:lnSpc>
              <a:spcBef>
                <a:spcPts val="0"/>
              </a:spcBef>
              <a:buSzPts val="1800"/>
            </a:pPr>
            <a:endParaRPr sz="2133" dirty="0"/>
          </a:p>
          <a:p>
            <a:pPr marL="0" indent="0">
              <a:spcBef>
                <a:spcPts val="2133"/>
              </a:spcBef>
              <a:buClr>
                <a:schemeClr val="dk1"/>
              </a:buClr>
              <a:buSzPts val="1100"/>
              <a:buNone/>
            </a:pPr>
            <a:endParaRPr dirty="0"/>
          </a:p>
          <a:p>
            <a:pPr marL="0" indent="0">
              <a:spcBef>
                <a:spcPts val="2133"/>
              </a:spcBef>
              <a:spcAft>
                <a:spcPts val="2133"/>
              </a:spcAft>
              <a:buNone/>
            </a:pPr>
            <a:endParaRPr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EB32CB03-C57A-264F-8B27-05C93E607FB2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A61B00"/>
          </a:solidFill>
          <a:ln>
            <a:solidFill>
              <a:srgbClr val="A61B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7200" dirty="0"/>
              <a:t>Seven Big Takeaways</a:t>
            </a:r>
          </a:p>
        </p:txBody>
      </p:sp>
    </p:spTree>
    <p:extLst>
      <p:ext uri="{BB962C8B-B14F-4D97-AF65-F5344CB8AC3E}">
        <p14:creationId xmlns:p14="http://schemas.microsoft.com/office/powerpoint/2010/main" val="200751525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682FAD2D-7DBC-5F88-A441-2BDE7BD6A0E4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The Data we get is conditioned on a lot of things</a:t>
            </a:r>
          </a:p>
        </p:txBody>
      </p:sp>
      <p:sp>
        <p:nvSpPr>
          <p:cNvPr id="5" name="Subtitle 4">
            <a:extLst>
              <a:ext uri="{FF2B5EF4-FFF2-40B4-BE49-F238E27FC236}">
                <a16:creationId xmlns:a16="http://schemas.microsoft.com/office/drawing/2014/main" id="{F4579DE6-8807-25D6-9FDE-886FA2130CCD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The models we build need to account for that</a:t>
            </a:r>
          </a:p>
        </p:txBody>
      </p:sp>
    </p:spTree>
    <p:extLst>
      <p:ext uri="{BB962C8B-B14F-4D97-AF65-F5344CB8AC3E}">
        <p14:creationId xmlns:p14="http://schemas.microsoft.com/office/powerpoint/2010/main" val="317922103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7DB19C05-CED6-C148-A24D-D699C2F6862F}"/>
              </a:ext>
            </a:extLst>
          </p:cNvPr>
          <p:cNvSpPr txBox="1"/>
          <p:nvPr/>
        </p:nvSpPr>
        <p:spPr>
          <a:xfrm>
            <a:off x="0" y="939113"/>
            <a:ext cx="12192000" cy="28623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6000" dirty="0"/>
              <a:t>All Your Modeling Decisions</a:t>
            </a:r>
          </a:p>
          <a:p>
            <a:pPr algn="ctr"/>
            <a:r>
              <a:rPr lang="en-US" sz="6000" dirty="0"/>
              <a:t>Should Reflect How </a:t>
            </a:r>
          </a:p>
          <a:p>
            <a:pPr algn="ctr"/>
            <a:r>
              <a:rPr lang="en-US" sz="6000" dirty="0"/>
              <a:t>It Will Be Used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9A67CE4-74EB-6347-AAAD-BA98D84CDF7A}"/>
              </a:ext>
            </a:extLst>
          </p:cNvPr>
          <p:cNvSpPr txBox="1"/>
          <p:nvPr/>
        </p:nvSpPr>
        <p:spPr>
          <a:xfrm>
            <a:off x="0" y="4485500"/>
            <a:ext cx="12191999" cy="234359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50000"/>
              </a:lnSpc>
            </a:pPr>
            <a:r>
              <a:rPr lang="en-US" sz="20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What is your goal (it’s not to build a model)? Constraints?</a:t>
            </a:r>
          </a:p>
          <a:p>
            <a:pPr algn="ctr">
              <a:lnSpc>
                <a:spcPct val="150000"/>
              </a:lnSpc>
            </a:pPr>
            <a:r>
              <a:rPr lang="en-US" sz="20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What are you trying to generalize to? </a:t>
            </a:r>
          </a:p>
          <a:p>
            <a:pPr algn="ctr">
              <a:lnSpc>
                <a:spcPct val="150000"/>
              </a:lnSpc>
            </a:pPr>
            <a:r>
              <a:rPr lang="en-US" sz="20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Who/what is this model going to be applied to? When? </a:t>
            </a:r>
          </a:p>
          <a:p>
            <a:pPr algn="ctr">
              <a:lnSpc>
                <a:spcPct val="150000"/>
              </a:lnSpc>
            </a:pPr>
            <a:r>
              <a:rPr lang="en-US" sz="20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What’s the right metric for “accuracy” (rarely is this AUC or F1)? </a:t>
            </a:r>
          </a:p>
          <a:p>
            <a:pPr algn="ctr">
              <a:lnSpc>
                <a:spcPct val="150000"/>
              </a:lnSpc>
            </a:pPr>
            <a:r>
              <a:rPr lang="en-US" sz="20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What does fairness mean in this context?</a:t>
            </a:r>
          </a:p>
        </p:txBody>
      </p:sp>
    </p:spTree>
    <p:extLst>
      <p:ext uri="{BB962C8B-B14F-4D97-AF65-F5344CB8AC3E}">
        <p14:creationId xmlns:p14="http://schemas.microsoft.com/office/powerpoint/2010/main" val="299327167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7DB19C05-CED6-C148-A24D-D699C2F6862F}"/>
              </a:ext>
            </a:extLst>
          </p:cNvPr>
          <p:cNvSpPr txBox="1"/>
          <p:nvPr/>
        </p:nvSpPr>
        <p:spPr>
          <a:xfrm>
            <a:off x="0" y="939113"/>
            <a:ext cx="12192000" cy="28623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6000" dirty="0"/>
              <a:t>Remember to Think</a:t>
            </a:r>
          </a:p>
          <a:p>
            <a:pPr algn="ctr"/>
            <a:r>
              <a:rPr lang="en-US" sz="6000" dirty="0"/>
              <a:t>4th-Dimensionally</a:t>
            </a:r>
          </a:p>
          <a:p>
            <a:pPr algn="ctr"/>
            <a:r>
              <a:rPr lang="en-US" sz="6000" dirty="0"/>
              <a:t>(Time Matters)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9A67CE4-74EB-6347-AAAD-BA98D84CDF7A}"/>
              </a:ext>
            </a:extLst>
          </p:cNvPr>
          <p:cNvSpPr txBox="1"/>
          <p:nvPr/>
        </p:nvSpPr>
        <p:spPr>
          <a:xfrm>
            <a:off x="0" y="4485500"/>
            <a:ext cx="12191999" cy="234359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50000"/>
              </a:lnSpc>
            </a:pPr>
            <a:r>
              <a:rPr lang="en-US" sz="20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When is your prediction being made?</a:t>
            </a:r>
          </a:p>
          <a:p>
            <a:pPr algn="ctr">
              <a:lnSpc>
                <a:spcPct val="150000"/>
              </a:lnSpc>
            </a:pPr>
            <a:r>
              <a:rPr lang="en-US" sz="20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What information is available for features at that time? What isn’t? </a:t>
            </a:r>
          </a:p>
          <a:p>
            <a:pPr algn="ctr">
              <a:lnSpc>
                <a:spcPct val="150000"/>
              </a:lnSpc>
            </a:pPr>
            <a:r>
              <a:rPr lang="en-US" sz="20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How frequently will the model be updated? </a:t>
            </a:r>
          </a:p>
          <a:p>
            <a:pPr algn="ctr">
              <a:lnSpc>
                <a:spcPct val="150000"/>
              </a:lnSpc>
            </a:pPr>
            <a:r>
              <a:rPr lang="en-US" sz="20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Over what time horizon is your label occurring?</a:t>
            </a:r>
          </a:p>
          <a:p>
            <a:pPr algn="ctr">
              <a:lnSpc>
                <a:spcPct val="150000"/>
              </a:lnSpc>
            </a:pPr>
            <a:r>
              <a:rPr lang="en-US" sz="20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Leave time to collect labels between training and validation</a:t>
            </a:r>
          </a:p>
        </p:txBody>
      </p:sp>
    </p:spTree>
    <p:extLst>
      <p:ext uri="{BB962C8B-B14F-4D97-AF65-F5344CB8AC3E}">
        <p14:creationId xmlns:p14="http://schemas.microsoft.com/office/powerpoint/2010/main" val="416220552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7DB19C05-CED6-C148-A24D-D699C2F6862F}"/>
              </a:ext>
            </a:extLst>
          </p:cNvPr>
          <p:cNvSpPr txBox="1"/>
          <p:nvPr/>
        </p:nvSpPr>
        <p:spPr>
          <a:xfrm>
            <a:off x="0" y="939113"/>
            <a:ext cx="12192000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6000" dirty="0"/>
              <a:t>Data != Matrix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9A67CE4-74EB-6347-AAAD-BA98D84CDF7A}"/>
              </a:ext>
            </a:extLst>
          </p:cNvPr>
          <p:cNvSpPr txBox="1"/>
          <p:nvPr/>
        </p:nvSpPr>
        <p:spPr>
          <a:xfrm>
            <a:off x="0" y="4485500"/>
            <a:ext cx="12191999" cy="142026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50000"/>
              </a:lnSpc>
            </a:pPr>
            <a:r>
              <a:rPr lang="en-US" sz="20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Data doesn’t come with labels, you have to create them</a:t>
            </a:r>
          </a:p>
          <a:p>
            <a:pPr algn="ctr">
              <a:lnSpc>
                <a:spcPct val="150000"/>
              </a:lnSpc>
            </a:pPr>
            <a:r>
              <a:rPr lang="en-US" sz="20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Data doesn’t come with features, you have to construct them</a:t>
            </a:r>
          </a:p>
          <a:p>
            <a:pPr algn="ctr">
              <a:lnSpc>
                <a:spcPct val="150000"/>
              </a:lnSpc>
            </a:pPr>
            <a:r>
              <a:rPr lang="en-US" sz="20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Rows in the raw data are rarely the rows in the training/validation matrix</a:t>
            </a:r>
          </a:p>
        </p:txBody>
      </p:sp>
    </p:spTree>
    <p:extLst>
      <p:ext uri="{BB962C8B-B14F-4D97-AF65-F5344CB8AC3E}">
        <p14:creationId xmlns:p14="http://schemas.microsoft.com/office/powerpoint/2010/main" val="41095345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7DB19C05-CED6-C148-A24D-D699C2F6862F}"/>
              </a:ext>
            </a:extLst>
          </p:cNvPr>
          <p:cNvSpPr txBox="1"/>
          <p:nvPr/>
        </p:nvSpPr>
        <p:spPr>
          <a:xfrm>
            <a:off x="0" y="939113"/>
            <a:ext cx="12192000" cy="267765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6000" dirty="0"/>
              <a:t>The Defaults Are</a:t>
            </a:r>
          </a:p>
          <a:p>
            <a:pPr algn="ctr"/>
            <a:r>
              <a:rPr lang="en-US" sz="6000" dirty="0"/>
              <a:t>Mostly Bad</a:t>
            </a:r>
          </a:p>
          <a:p>
            <a:pPr algn="ctr"/>
            <a:r>
              <a:rPr lang="en-US" sz="4800" dirty="0"/>
              <a:t>(aka Models Don’t Give 0/1 Labels)</a:t>
            </a:r>
            <a:endParaRPr lang="en-US" sz="600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9A67CE4-74EB-6347-AAAD-BA98D84CDF7A}"/>
              </a:ext>
            </a:extLst>
          </p:cNvPr>
          <p:cNvSpPr txBox="1"/>
          <p:nvPr/>
        </p:nvSpPr>
        <p:spPr>
          <a:xfrm>
            <a:off x="0" y="4609070"/>
            <a:ext cx="12191999" cy="18819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50000"/>
              </a:lnSpc>
            </a:pPr>
            <a:r>
              <a:rPr lang="en-US" sz="20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Models give scores not predicted classes, and these are rarely probabilities</a:t>
            </a:r>
          </a:p>
          <a:p>
            <a:pPr algn="ctr">
              <a:lnSpc>
                <a:spcPct val="150000"/>
              </a:lnSpc>
            </a:pPr>
            <a:r>
              <a:rPr lang="en-US" sz="20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There’s no such thing as absolute accuracy, precision, or recall </a:t>
            </a:r>
          </a:p>
          <a:p>
            <a:pPr algn="ctr">
              <a:lnSpc>
                <a:spcPct val="150000"/>
              </a:lnSpc>
            </a:pPr>
            <a:r>
              <a:rPr lang="en-US" sz="20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A 0.5 score threshold is almost never what you want</a:t>
            </a:r>
          </a:p>
          <a:p>
            <a:pPr algn="ctr">
              <a:lnSpc>
                <a:spcPct val="150000"/>
              </a:lnSpc>
            </a:pPr>
            <a:r>
              <a:rPr lang="en-US" sz="20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Hyperparameters matter and defaults in many packages aren’t great</a:t>
            </a:r>
          </a:p>
        </p:txBody>
      </p:sp>
    </p:spTree>
    <p:extLst>
      <p:ext uri="{BB962C8B-B14F-4D97-AF65-F5344CB8AC3E}">
        <p14:creationId xmlns:p14="http://schemas.microsoft.com/office/powerpoint/2010/main" val="89109752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7DB19C05-CED6-C148-A24D-D699C2F6862F}"/>
              </a:ext>
            </a:extLst>
          </p:cNvPr>
          <p:cNvSpPr txBox="1"/>
          <p:nvPr/>
        </p:nvSpPr>
        <p:spPr>
          <a:xfrm>
            <a:off x="0" y="939113"/>
            <a:ext cx="12192000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6000" dirty="0"/>
              <a:t>Compared To What?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9A67CE4-74EB-6347-AAAD-BA98D84CDF7A}"/>
              </a:ext>
            </a:extLst>
          </p:cNvPr>
          <p:cNvSpPr txBox="1"/>
          <p:nvPr/>
        </p:nvSpPr>
        <p:spPr>
          <a:xfrm>
            <a:off x="0" y="4609070"/>
            <a:ext cx="12191999" cy="18819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50000"/>
              </a:lnSpc>
            </a:pPr>
            <a:r>
              <a:rPr lang="en-US" sz="20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What is the right baseline that your model needs to beat to be useful? By how much?</a:t>
            </a:r>
          </a:p>
          <a:p>
            <a:pPr algn="ctr">
              <a:lnSpc>
                <a:spcPct val="150000"/>
              </a:lnSpc>
            </a:pPr>
            <a:r>
              <a:rPr lang="en-US" sz="20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How is this decision currently made (or what commonsense, non-ML approach could be used)? </a:t>
            </a:r>
          </a:p>
          <a:p>
            <a:pPr algn="ctr">
              <a:lnSpc>
                <a:spcPct val="150000"/>
              </a:lnSpc>
            </a:pPr>
            <a:r>
              <a:rPr lang="en-US" sz="20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What is the performance of the current, human-driven decision-making process? How fair is it?</a:t>
            </a:r>
          </a:p>
          <a:p>
            <a:pPr algn="ctr">
              <a:lnSpc>
                <a:spcPct val="150000"/>
              </a:lnSpc>
            </a:pPr>
            <a:r>
              <a:rPr lang="en-US" sz="20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Do </a:t>
            </a:r>
            <a:r>
              <a:rPr lang="en-US" sz="2000" dirty="0" err="1">
                <a:solidFill>
                  <a:schemeClr val="tx1">
                    <a:lumMod val="75000"/>
                    <a:lumOff val="25000"/>
                  </a:schemeClr>
                </a:solidFill>
              </a:rPr>
              <a:t>explainability</a:t>
            </a:r>
            <a:r>
              <a:rPr lang="en-US" sz="20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 methods give you more information than crosstabs and feature </a:t>
            </a:r>
            <a:r>
              <a:rPr lang="en-US" sz="2000" dirty="0" err="1">
                <a:solidFill>
                  <a:schemeClr val="tx1">
                    <a:lumMod val="75000"/>
                    <a:lumOff val="25000"/>
                  </a:schemeClr>
                </a:solidFill>
              </a:rPr>
              <a:t>importances</a:t>
            </a:r>
            <a:r>
              <a:rPr lang="en-US" sz="20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?</a:t>
            </a:r>
          </a:p>
        </p:txBody>
      </p:sp>
    </p:spTree>
    <p:extLst>
      <p:ext uri="{BB962C8B-B14F-4D97-AF65-F5344CB8AC3E}">
        <p14:creationId xmlns:p14="http://schemas.microsoft.com/office/powerpoint/2010/main" val="162452624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7DB19C05-CED6-C148-A24D-D699C2F6862F}"/>
              </a:ext>
            </a:extLst>
          </p:cNvPr>
          <p:cNvSpPr txBox="1"/>
          <p:nvPr/>
        </p:nvSpPr>
        <p:spPr>
          <a:xfrm>
            <a:off x="0" y="939113"/>
            <a:ext cx="12192000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6000" dirty="0"/>
              <a:t>Be Skeptical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9A67CE4-74EB-6347-AAAD-BA98D84CDF7A}"/>
              </a:ext>
            </a:extLst>
          </p:cNvPr>
          <p:cNvSpPr txBox="1"/>
          <p:nvPr/>
        </p:nvSpPr>
        <p:spPr>
          <a:xfrm>
            <a:off x="0" y="4609070"/>
            <a:ext cx="12191999" cy="18819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50000"/>
              </a:lnSpc>
            </a:pPr>
            <a:r>
              <a:rPr lang="en-US" sz="20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Many published results are overstated (at best), not tested on real-world uses</a:t>
            </a:r>
          </a:p>
          <a:p>
            <a:pPr algn="ctr">
              <a:lnSpc>
                <a:spcPct val="150000"/>
              </a:lnSpc>
            </a:pPr>
            <a:r>
              <a:rPr lang="en-US" sz="20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Try things out for yourself, understand their limitations in your context/use case</a:t>
            </a:r>
          </a:p>
          <a:p>
            <a:pPr algn="ctr">
              <a:lnSpc>
                <a:spcPct val="150000"/>
              </a:lnSpc>
            </a:pPr>
            <a:r>
              <a:rPr lang="en-US" sz="20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Interpretability is far from a solved problem. So is algorithmic fairness.</a:t>
            </a:r>
          </a:p>
          <a:p>
            <a:pPr algn="ctr">
              <a:lnSpc>
                <a:spcPct val="150000"/>
              </a:lnSpc>
            </a:pPr>
            <a:r>
              <a:rPr lang="en-US" sz="20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… or for that matter, generalizing to the future, top k classification, etc.</a:t>
            </a:r>
          </a:p>
        </p:txBody>
      </p:sp>
    </p:spTree>
    <p:extLst>
      <p:ext uri="{BB962C8B-B14F-4D97-AF65-F5344CB8AC3E}">
        <p14:creationId xmlns:p14="http://schemas.microsoft.com/office/powerpoint/2010/main" val="246341089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7DB19C05-CED6-C148-A24D-D699C2F6862F}"/>
              </a:ext>
            </a:extLst>
          </p:cNvPr>
          <p:cNvSpPr txBox="1"/>
          <p:nvPr/>
        </p:nvSpPr>
        <p:spPr>
          <a:xfrm>
            <a:off x="0" y="939113"/>
            <a:ext cx="12192000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6000" dirty="0"/>
              <a:t>Models Encode Values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9A67CE4-74EB-6347-AAAD-BA98D84CDF7A}"/>
              </a:ext>
            </a:extLst>
          </p:cNvPr>
          <p:cNvSpPr txBox="1"/>
          <p:nvPr/>
        </p:nvSpPr>
        <p:spPr>
          <a:xfrm>
            <a:off x="0" y="4485500"/>
            <a:ext cx="12191999" cy="18819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50000"/>
              </a:lnSpc>
            </a:pPr>
            <a:r>
              <a:rPr lang="en-US" sz="20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Be explicit about what you want the model to do</a:t>
            </a:r>
          </a:p>
          <a:p>
            <a:pPr algn="ctr">
              <a:lnSpc>
                <a:spcPct val="150000"/>
              </a:lnSpc>
            </a:pPr>
            <a:r>
              <a:rPr lang="en-US" sz="20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… and validate that the model actually does this</a:t>
            </a:r>
          </a:p>
          <a:p>
            <a:pPr algn="ctr">
              <a:lnSpc>
                <a:spcPct val="150000"/>
              </a:lnSpc>
            </a:pPr>
            <a:r>
              <a:rPr lang="en-US" sz="20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Understand (and seek out) the perspectives of different stakeholders, people affected by model</a:t>
            </a:r>
          </a:p>
          <a:p>
            <a:pPr algn="ctr">
              <a:lnSpc>
                <a:spcPct val="150000"/>
              </a:lnSpc>
            </a:pPr>
            <a:r>
              <a:rPr lang="en-US" sz="20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Goal is to have a fair overall system, not just a fair model</a:t>
            </a:r>
          </a:p>
        </p:txBody>
      </p:sp>
    </p:spTree>
    <p:extLst>
      <p:ext uri="{BB962C8B-B14F-4D97-AF65-F5344CB8AC3E}">
        <p14:creationId xmlns:p14="http://schemas.microsoft.com/office/powerpoint/2010/main" val="323953790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24"/>
          <p:cNvSpPr txBox="1">
            <a:spLocks noGrp="1"/>
          </p:cNvSpPr>
          <p:nvPr>
            <p:ph type="title"/>
          </p:nvPr>
        </p:nvSpPr>
        <p:spPr>
          <a:xfrm>
            <a:off x="415600" y="86563"/>
            <a:ext cx="11360700" cy="76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700"/>
              <a:buNone/>
            </a:pPr>
            <a:r>
              <a:rPr lang="en-US"/>
              <a:t>Class Recap</a:t>
            </a:r>
            <a:endParaRPr/>
          </a:p>
        </p:txBody>
      </p:sp>
      <p:grpSp>
        <p:nvGrpSpPr>
          <p:cNvPr id="55" name="Google Shape;55;p24"/>
          <p:cNvGrpSpPr/>
          <p:nvPr/>
        </p:nvGrpSpPr>
        <p:grpSpPr>
          <a:xfrm>
            <a:off x="22197" y="1601932"/>
            <a:ext cx="12126088" cy="4518413"/>
            <a:chOff x="682" y="106620"/>
            <a:chExt cx="12126088" cy="4518413"/>
          </a:xfrm>
        </p:grpSpPr>
        <p:sp>
          <p:nvSpPr>
            <p:cNvPr id="56" name="Google Shape;56;p24"/>
            <p:cNvSpPr/>
            <p:nvPr/>
          </p:nvSpPr>
          <p:spPr>
            <a:xfrm>
              <a:off x="682" y="106620"/>
              <a:ext cx="1616371" cy="1182423"/>
            </a:xfrm>
            <a:prstGeom prst="roundRect">
              <a:avLst>
                <a:gd name="adj" fmla="val 10000"/>
              </a:avLst>
            </a:prstGeom>
            <a:solidFill>
              <a:schemeClr val="accent3"/>
            </a:solidFill>
            <a:ln w="254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" name="Google Shape;57;p24"/>
            <p:cNvSpPr txBox="1"/>
            <p:nvPr/>
          </p:nvSpPr>
          <p:spPr>
            <a:xfrm>
              <a:off x="35314" y="141252"/>
              <a:ext cx="1547107" cy="1113159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64750" tIns="64750" rIns="64750" bIns="6475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700"/>
                <a:buFont typeface="Arial"/>
                <a:buNone/>
              </a:pPr>
              <a:r>
                <a:rPr lang="en-US" sz="1700" b="0" i="0" u="none" strike="noStrike" cap="none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rPr>
                <a:t>Scoping</a:t>
              </a:r>
              <a:endParaRPr/>
            </a:p>
          </p:txBody>
        </p:sp>
        <p:sp>
          <p:nvSpPr>
            <p:cNvPr id="58" name="Google Shape;58;p24"/>
            <p:cNvSpPr/>
            <p:nvPr/>
          </p:nvSpPr>
          <p:spPr>
            <a:xfrm>
              <a:off x="1750666" y="595941"/>
              <a:ext cx="203779" cy="203780"/>
            </a:xfrm>
            <a:prstGeom prst="rightArrow">
              <a:avLst>
                <a:gd name="adj1" fmla="val 60000"/>
                <a:gd name="adj2" fmla="val 50000"/>
              </a:avLst>
            </a:pr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" name="Google Shape;59;p24"/>
            <p:cNvSpPr txBox="1"/>
            <p:nvPr/>
          </p:nvSpPr>
          <p:spPr>
            <a:xfrm>
              <a:off x="1750666" y="636697"/>
              <a:ext cx="142645" cy="122268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700"/>
                <a:buFont typeface="Arial"/>
                <a:buNone/>
              </a:pPr>
              <a:endParaRPr sz="17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0" name="Google Shape;60;p24"/>
            <p:cNvSpPr/>
            <p:nvPr/>
          </p:nvSpPr>
          <p:spPr>
            <a:xfrm>
              <a:off x="2102625" y="106620"/>
              <a:ext cx="1616371" cy="1182423"/>
            </a:xfrm>
            <a:prstGeom prst="roundRect">
              <a:avLst>
                <a:gd name="adj" fmla="val 10000"/>
              </a:avLst>
            </a:prstGeom>
            <a:solidFill>
              <a:srgbClr val="7399A2"/>
            </a:solidFill>
            <a:ln w="254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" name="Google Shape;61;p24"/>
            <p:cNvSpPr txBox="1"/>
            <p:nvPr/>
          </p:nvSpPr>
          <p:spPr>
            <a:xfrm>
              <a:off x="2137257" y="141252"/>
              <a:ext cx="1547107" cy="1113159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64750" tIns="64750" rIns="64750" bIns="6475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700"/>
                <a:buFont typeface="Arial"/>
                <a:buNone/>
              </a:pPr>
              <a:r>
                <a:rPr lang="en-US" sz="1700" b="0" i="0" u="none" strike="noStrike" cap="none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rPr>
                <a:t>Data Acquisition</a:t>
              </a:r>
              <a:endParaRPr/>
            </a:p>
          </p:txBody>
        </p:sp>
        <p:sp>
          <p:nvSpPr>
            <p:cNvPr id="62" name="Google Shape;62;p24"/>
            <p:cNvSpPr/>
            <p:nvPr/>
          </p:nvSpPr>
          <p:spPr>
            <a:xfrm>
              <a:off x="3852609" y="595941"/>
              <a:ext cx="203779" cy="203780"/>
            </a:xfrm>
            <a:prstGeom prst="rightArrow">
              <a:avLst>
                <a:gd name="adj1" fmla="val 60000"/>
                <a:gd name="adj2" fmla="val 50000"/>
              </a:avLst>
            </a:prstGeom>
            <a:solidFill>
              <a:srgbClr val="729BA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" name="Google Shape;63;p24"/>
            <p:cNvSpPr txBox="1"/>
            <p:nvPr/>
          </p:nvSpPr>
          <p:spPr>
            <a:xfrm>
              <a:off x="3852609" y="636697"/>
              <a:ext cx="142645" cy="122268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700"/>
                <a:buFont typeface="Arial"/>
                <a:buNone/>
              </a:pPr>
              <a:endParaRPr sz="17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4" name="Google Shape;64;p24"/>
            <p:cNvSpPr/>
            <p:nvPr/>
          </p:nvSpPr>
          <p:spPr>
            <a:xfrm>
              <a:off x="4204569" y="106620"/>
              <a:ext cx="1616371" cy="1182423"/>
            </a:xfrm>
            <a:prstGeom prst="roundRect">
              <a:avLst>
                <a:gd name="adj" fmla="val 10000"/>
              </a:avLst>
            </a:prstGeom>
            <a:solidFill>
              <a:srgbClr val="6FA7A8"/>
            </a:solidFill>
            <a:ln w="254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" name="Google Shape;65;p24"/>
            <p:cNvSpPr txBox="1"/>
            <p:nvPr/>
          </p:nvSpPr>
          <p:spPr>
            <a:xfrm>
              <a:off x="4239201" y="141252"/>
              <a:ext cx="1547107" cy="1113159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64750" tIns="64750" rIns="64750" bIns="6475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700"/>
                <a:buFont typeface="Arial"/>
                <a:buNone/>
              </a:pPr>
              <a:r>
                <a:rPr lang="en-US" sz="1700" b="0" i="0" u="none" strike="noStrike" cap="none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rPr>
                <a:t>Data Storage</a:t>
              </a:r>
              <a:endParaRPr/>
            </a:p>
          </p:txBody>
        </p:sp>
        <p:sp>
          <p:nvSpPr>
            <p:cNvPr id="66" name="Google Shape;66;p24"/>
            <p:cNvSpPr/>
            <p:nvPr/>
          </p:nvSpPr>
          <p:spPr>
            <a:xfrm>
              <a:off x="5954552" y="595941"/>
              <a:ext cx="203779" cy="203780"/>
            </a:xfrm>
            <a:prstGeom prst="rightArrow">
              <a:avLst>
                <a:gd name="adj1" fmla="val 60000"/>
                <a:gd name="adj2" fmla="val 50000"/>
              </a:avLst>
            </a:prstGeom>
            <a:solidFill>
              <a:srgbClr val="6EA9A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" name="Google Shape;67;p24"/>
            <p:cNvSpPr txBox="1"/>
            <p:nvPr/>
          </p:nvSpPr>
          <p:spPr>
            <a:xfrm>
              <a:off x="5954552" y="636697"/>
              <a:ext cx="142645" cy="122268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700"/>
                <a:buFont typeface="Arial"/>
                <a:buNone/>
              </a:pPr>
              <a:endParaRPr sz="17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8" name="Google Shape;68;p24"/>
            <p:cNvSpPr/>
            <p:nvPr/>
          </p:nvSpPr>
          <p:spPr>
            <a:xfrm>
              <a:off x="6306512" y="106620"/>
              <a:ext cx="1616371" cy="1182423"/>
            </a:xfrm>
            <a:prstGeom prst="roundRect">
              <a:avLst>
                <a:gd name="adj" fmla="val 10000"/>
              </a:avLst>
            </a:prstGeom>
            <a:solidFill>
              <a:srgbClr val="6AAFA4"/>
            </a:solidFill>
            <a:ln w="254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" name="Google Shape;69;p24"/>
            <p:cNvSpPr txBox="1"/>
            <p:nvPr/>
          </p:nvSpPr>
          <p:spPr>
            <a:xfrm>
              <a:off x="6341144" y="141252"/>
              <a:ext cx="1547107" cy="1113159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64750" tIns="64750" rIns="64750" bIns="6475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700"/>
                <a:buFont typeface="Arial"/>
                <a:buNone/>
              </a:pPr>
              <a:r>
                <a:rPr lang="en-US" sz="1700" b="0" i="0" u="none" strike="noStrike" cap="none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rPr>
                <a:t>Data Linkage</a:t>
              </a:r>
              <a:endParaRPr/>
            </a:p>
          </p:txBody>
        </p:sp>
        <p:sp>
          <p:nvSpPr>
            <p:cNvPr id="70" name="Google Shape;70;p24"/>
            <p:cNvSpPr/>
            <p:nvPr/>
          </p:nvSpPr>
          <p:spPr>
            <a:xfrm>
              <a:off x="8056496" y="595941"/>
              <a:ext cx="203779" cy="203780"/>
            </a:xfrm>
            <a:prstGeom prst="rightArrow">
              <a:avLst>
                <a:gd name="adj1" fmla="val 60000"/>
                <a:gd name="adj2" fmla="val 50000"/>
              </a:avLst>
            </a:prstGeom>
            <a:solidFill>
              <a:srgbClr val="6AB0A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1" name="Google Shape;71;p24"/>
            <p:cNvSpPr txBox="1"/>
            <p:nvPr/>
          </p:nvSpPr>
          <p:spPr>
            <a:xfrm>
              <a:off x="8056496" y="636697"/>
              <a:ext cx="142645" cy="122268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700"/>
                <a:buFont typeface="Arial"/>
                <a:buNone/>
              </a:pPr>
              <a:endParaRPr sz="17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2" name="Google Shape;72;p24"/>
            <p:cNvSpPr/>
            <p:nvPr/>
          </p:nvSpPr>
          <p:spPr>
            <a:xfrm>
              <a:off x="8408455" y="106620"/>
              <a:ext cx="1616371" cy="1182423"/>
            </a:xfrm>
            <a:prstGeom prst="roundRect">
              <a:avLst>
                <a:gd name="adj" fmla="val 10000"/>
              </a:avLst>
            </a:prstGeom>
            <a:solidFill>
              <a:srgbClr val="66B69B"/>
            </a:solidFill>
            <a:ln w="254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" name="Google Shape;73;p24"/>
            <p:cNvSpPr txBox="1"/>
            <p:nvPr/>
          </p:nvSpPr>
          <p:spPr>
            <a:xfrm>
              <a:off x="8443087" y="141252"/>
              <a:ext cx="1547107" cy="1113159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64750" tIns="64750" rIns="64750" bIns="6475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700"/>
                <a:buFont typeface="Arial"/>
                <a:buNone/>
              </a:pPr>
              <a:r>
                <a:rPr lang="en-US" sz="1700" b="0" i="0" u="none" strike="noStrike" cap="none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rPr>
                <a:t>Data Exploration</a:t>
              </a:r>
              <a:endParaRPr/>
            </a:p>
          </p:txBody>
        </p:sp>
        <p:sp>
          <p:nvSpPr>
            <p:cNvPr id="74" name="Google Shape;74;p24"/>
            <p:cNvSpPr/>
            <p:nvPr/>
          </p:nvSpPr>
          <p:spPr>
            <a:xfrm>
              <a:off x="10158439" y="595941"/>
              <a:ext cx="203779" cy="203780"/>
            </a:xfrm>
            <a:prstGeom prst="rightArrow">
              <a:avLst>
                <a:gd name="adj1" fmla="val 60000"/>
                <a:gd name="adj2" fmla="val 50000"/>
              </a:avLst>
            </a:prstGeom>
            <a:solidFill>
              <a:srgbClr val="66B79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" name="Google Shape;75;p24"/>
            <p:cNvSpPr txBox="1"/>
            <p:nvPr/>
          </p:nvSpPr>
          <p:spPr>
            <a:xfrm>
              <a:off x="10158439" y="636697"/>
              <a:ext cx="142645" cy="122268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700"/>
                <a:buFont typeface="Arial"/>
                <a:buNone/>
              </a:pPr>
              <a:endParaRPr sz="17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6" name="Google Shape;76;p24"/>
            <p:cNvSpPr/>
            <p:nvPr/>
          </p:nvSpPr>
          <p:spPr>
            <a:xfrm>
              <a:off x="10510399" y="106620"/>
              <a:ext cx="1616371" cy="1182423"/>
            </a:xfrm>
            <a:prstGeom prst="roundRect">
              <a:avLst>
                <a:gd name="adj" fmla="val 10000"/>
              </a:avLst>
            </a:prstGeom>
            <a:solidFill>
              <a:srgbClr val="62BC8F"/>
            </a:solidFill>
            <a:ln w="254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7" name="Google Shape;77;p24"/>
            <p:cNvSpPr txBox="1"/>
            <p:nvPr/>
          </p:nvSpPr>
          <p:spPr>
            <a:xfrm>
              <a:off x="10545031" y="141252"/>
              <a:ext cx="1547107" cy="1113159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64750" tIns="64750" rIns="64750" bIns="6475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700"/>
                <a:buFont typeface="Arial"/>
                <a:buNone/>
              </a:pPr>
              <a:r>
                <a:rPr lang="en-US" sz="1700" b="0" i="0" u="none" strike="noStrike" cap="none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rPr>
                <a:t>Analytical Formulation</a:t>
              </a:r>
              <a:endParaRPr/>
            </a:p>
          </p:txBody>
        </p:sp>
        <p:sp>
          <p:nvSpPr>
            <p:cNvPr id="78" name="Google Shape;78;p24"/>
            <p:cNvSpPr/>
            <p:nvPr/>
          </p:nvSpPr>
          <p:spPr>
            <a:xfrm rot="5400000">
              <a:off x="11216695" y="1422655"/>
              <a:ext cx="203779" cy="203780"/>
            </a:xfrm>
            <a:prstGeom prst="rightArrow">
              <a:avLst>
                <a:gd name="adj1" fmla="val 60000"/>
                <a:gd name="adj2" fmla="val 50000"/>
              </a:avLst>
            </a:prstGeom>
            <a:solidFill>
              <a:srgbClr val="62BD8F"/>
            </a:solidFill>
            <a:ln>
              <a:solidFill>
                <a:srgbClr val="62BD8F"/>
              </a:solidFill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" name="Google Shape;79;p24"/>
            <p:cNvSpPr txBox="1"/>
            <p:nvPr/>
          </p:nvSpPr>
          <p:spPr>
            <a:xfrm>
              <a:off x="11257450" y="1422656"/>
              <a:ext cx="122268" cy="142645"/>
            </a:xfrm>
            <a:prstGeom prst="rect">
              <a:avLst/>
            </a:prstGeom>
            <a:solidFill>
              <a:srgbClr val="62BD8F"/>
            </a:solidFill>
            <a:ln>
              <a:solidFill>
                <a:srgbClr val="62BD8F"/>
              </a:solidFill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700"/>
                <a:buFont typeface="Arial"/>
                <a:buNone/>
              </a:pPr>
              <a:endParaRPr sz="17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0" name="Google Shape;80;p24"/>
            <p:cNvSpPr/>
            <p:nvPr/>
          </p:nvSpPr>
          <p:spPr>
            <a:xfrm>
              <a:off x="10510399" y="1774615"/>
              <a:ext cx="1616371" cy="1182423"/>
            </a:xfrm>
            <a:prstGeom prst="roundRect">
              <a:avLst>
                <a:gd name="adj" fmla="val 10000"/>
              </a:avLst>
            </a:prstGeom>
            <a:solidFill>
              <a:srgbClr val="5FC280"/>
            </a:solidFill>
            <a:ln w="254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" name="Google Shape;81;p24"/>
            <p:cNvSpPr txBox="1"/>
            <p:nvPr/>
          </p:nvSpPr>
          <p:spPr>
            <a:xfrm>
              <a:off x="10545031" y="1809247"/>
              <a:ext cx="1547107" cy="1113159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64750" tIns="64750" rIns="64750" bIns="6475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700"/>
                <a:buFont typeface="Arial"/>
                <a:buNone/>
              </a:pPr>
              <a:r>
                <a:rPr lang="en-US" sz="1700" b="0" i="0" u="none" strike="noStrike" cap="none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rPr>
                <a:t>ML Pipelines</a:t>
              </a:r>
              <a:endParaRPr/>
            </a:p>
          </p:txBody>
        </p:sp>
        <p:sp>
          <p:nvSpPr>
            <p:cNvPr id="82" name="Google Shape;82;p24"/>
            <p:cNvSpPr/>
            <p:nvPr/>
          </p:nvSpPr>
          <p:spPr>
            <a:xfrm rot="10800000">
              <a:off x="10173006" y="2263937"/>
              <a:ext cx="203779" cy="203780"/>
            </a:xfrm>
            <a:prstGeom prst="rightArrow">
              <a:avLst>
                <a:gd name="adj1" fmla="val 60000"/>
                <a:gd name="adj2" fmla="val 50000"/>
              </a:avLst>
            </a:prstGeom>
            <a:solidFill>
              <a:srgbClr val="5DC57A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3" name="Google Shape;83;p24"/>
            <p:cNvSpPr txBox="1"/>
            <p:nvPr/>
          </p:nvSpPr>
          <p:spPr>
            <a:xfrm>
              <a:off x="10234140" y="2304693"/>
              <a:ext cx="142645" cy="122268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700"/>
                <a:buFont typeface="Arial"/>
                <a:buNone/>
              </a:pPr>
              <a:endParaRPr sz="17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4" name="Google Shape;84;p24"/>
            <p:cNvSpPr/>
            <p:nvPr/>
          </p:nvSpPr>
          <p:spPr>
            <a:xfrm>
              <a:off x="8408455" y="1774615"/>
              <a:ext cx="1616371" cy="1182423"/>
            </a:xfrm>
            <a:prstGeom prst="roundRect">
              <a:avLst>
                <a:gd name="adj" fmla="val 10000"/>
              </a:avLst>
            </a:prstGeom>
            <a:solidFill>
              <a:srgbClr val="5CC86D"/>
            </a:solidFill>
            <a:ln w="254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5" name="Google Shape;85;p24"/>
            <p:cNvSpPr txBox="1"/>
            <p:nvPr/>
          </p:nvSpPr>
          <p:spPr>
            <a:xfrm>
              <a:off x="8443087" y="1809247"/>
              <a:ext cx="1547107" cy="1113159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64750" tIns="64750" rIns="64750" bIns="6475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700"/>
                <a:buFont typeface="Arial"/>
                <a:buNone/>
              </a:pPr>
              <a:r>
                <a:rPr lang="en-US" sz="1700" b="0" i="0" u="none" strike="noStrike" cap="none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rPr>
                <a:t>Baselines</a:t>
              </a:r>
              <a:endParaRPr/>
            </a:p>
          </p:txBody>
        </p:sp>
        <p:sp>
          <p:nvSpPr>
            <p:cNvPr id="86" name="Google Shape;86;p24"/>
            <p:cNvSpPr/>
            <p:nvPr/>
          </p:nvSpPr>
          <p:spPr>
            <a:xfrm rot="10800000">
              <a:off x="8071063" y="2263937"/>
              <a:ext cx="203779" cy="203780"/>
            </a:xfrm>
            <a:prstGeom prst="rightArrow">
              <a:avLst>
                <a:gd name="adj1" fmla="val 60000"/>
                <a:gd name="adj2" fmla="val 50000"/>
              </a:avLst>
            </a:prstGeom>
            <a:solidFill>
              <a:srgbClr val="5ACB67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7" name="Google Shape;87;p24"/>
            <p:cNvSpPr txBox="1"/>
            <p:nvPr/>
          </p:nvSpPr>
          <p:spPr>
            <a:xfrm>
              <a:off x="8132197" y="2304693"/>
              <a:ext cx="142645" cy="122268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700"/>
                <a:buFont typeface="Arial"/>
                <a:buNone/>
              </a:pPr>
              <a:endParaRPr sz="17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8" name="Google Shape;88;p24"/>
            <p:cNvSpPr/>
            <p:nvPr/>
          </p:nvSpPr>
          <p:spPr>
            <a:xfrm>
              <a:off x="6306512" y="1774615"/>
              <a:ext cx="1616371" cy="1182423"/>
            </a:xfrm>
            <a:prstGeom prst="roundRect">
              <a:avLst>
                <a:gd name="adj" fmla="val 10000"/>
              </a:avLst>
            </a:prstGeom>
            <a:solidFill>
              <a:srgbClr val="58CE5C"/>
            </a:solidFill>
            <a:ln w="254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9" name="Google Shape;89;p24"/>
            <p:cNvSpPr txBox="1"/>
            <p:nvPr/>
          </p:nvSpPr>
          <p:spPr>
            <a:xfrm>
              <a:off x="6341144" y="1809247"/>
              <a:ext cx="1547107" cy="1113159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64750" tIns="64750" rIns="64750" bIns="6475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700"/>
                <a:buFont typeface="Arial"/>
                <a:buNone/>
              </a:pPr>
              <a:r>
                <a:rPr lang="en-US" sz="1700" b="0" i="0" u="none" strike="noStrike" cap="none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rPr>
                <a:t>Feature Generation</a:t>
              </a:r>
              <a:endParaRPr/>
            </a:p>
          </p:txBody>
        </p:sp>
        <p:sp>
          <p:nvSpPr>
            <p:cNvPr id="90" name="Google Shape;90;p24"/>
            <p:cNvSpPr/>
            <p:nvPr/>
          </p:nvSpPr>
          <p:spPr>
            <a:xfrm rot="10800000">
              <a:off x="5969120" y="2263937"/>
              <a:ext cx="203779" cy="203780"/>
            </a:xfrm>
            <a:prstGeom prst="rightArrow">
              <a:avLst>
                <a:gd name="adj1" fmla="val 60000"/>
                <a:gd name="adj2" fmla="val 50000"/>
              </a:avLst>
            </a:prstGeom>
            <a:solidFill>
              <a:srgbClr val="5AD15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1" name="Google Shape;91;p24"/>
            <p:cNvSpPr txBox="1"/>
            <p:nvPr/>
          </p:nvSpPr>
          <p:spPr>
            <a:xfrm>
              <a:off x="6030254" y="2304693"/>
              <a:ext cx="142645" cy="122268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700"/>
                <a:buFont typeface="Arial"/>
                <a:buNone/>
              </a:pPr>
              <a:endParaRPr sz="17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2" name="Google Shape;92;p24"/>
            <p:cNvSpPr/>
            <p:nvPr/>
          </p:nvSpPr>
          <p:spPr>
            <a:xfrm>
              <a:off x="4204569" y="1774615"/>
              <a:ext cx="1616371" cy="1182423"/>
            </a:xfrm>
            <a:prstGeom prst="roundRect">
              <a:avLst>
                <a:gd name="adj" fmla="val 10000"/>
              </a:avLst>
            </a:prstGeom>
            <a:solidFill>
              <a:srgbClr val="63D455"/>
            </a:solidFill>
            <a:ln w="254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3" name="Google Shape;93;p24"/>
            <p:cNvSpPr txBox="1"/>
            <p:nvPr/>
          </p:nvSpPr>
          <p:spPr>
            <a:xfrm>
              <a:off x="4239201" y="1809247"/>
              <a:ext cx="1547107" cy="1113159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64750" tIns="64750" rIns="64750" bIns="6475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700"/>
                <a:buFont typeface="Arial"/>
                <a:buNone/>
              </a:pPr>
              <a:r>
                <a:rPr lang="en-US" sz="1700" b="0" i="0" u="none" strike="noStrike" cap="none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rPr>
                <a:t>Train Test Splits</a:t>
              </a:r>
              <a:endParaRPr/>
            </a:p>
          </p:txBody>
        </p:sp>
        <p:sp>
          <p:nvSpPr>
            <p:cNvPr id="94" name="Google Shape;94;p24"/>
            <p:cNvSpPr/>
            <p:nvPr/>
          </p:nvSpPr>
          <p:spPr>
            <a:xfrm rot="10800000">
              <a:off x="3856288" y="2290642"/>
              <a:ext cx="225557" cy="150370"/>
            </a:xfrm>
            <a:prstGeom prst="rightArrow">
              <a:avLst>
                <a:gd name="adj1" fmla="val 60000"/>
                <a:gd name="adj2" fmla="val 50000"/>
              </a:avLst>
            </a:prstGeom>
            <a:solidFill>
              <a:srgbClr val="71D75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5" name="Google Shape;95;p24"/>
            <p:cNvSpPr txBox="1"/>
            <p:nvPr/>
          </p:nvSpPr>
          <p:spPr>
            <a:xfrm>
              <a:off x="3901399" y="2320716"/>
              <a:ext cx="180446" cy="9022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700"/>
                <a:buFont typeface="Arial"/>
                <a:buNone/>
              </a:pPr>
              <a:endParaRPr sz="17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6" name="Google Shape;96;p24"/>
            <p:cNvSpPr/>
            <p:nvPr/>
          </p:nvSpPr>
          <p:spPr>
            <a:xfrm>
              <a:off x="2102625" y="1774615"/>
              <a:ext cx="1616371" cy="1182423"/>
            </a:xfrm>
            <a:prstGeom prst="roundRect">
              <a:avLst>
                <a:gd name="adj" fmla="val 10000"/>
              </a:avLst>
            </a:prstGeom>
            <a:solidFill>
              <a:srgbClr val="78DA51"/>
            </a:solidFill>
            <a:ln w="254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7" name="Google Shape;97;p24"/>
            <p:cNvSpPr txBox="1"/>
            <p:nvPr/>
          </p:nvSpPr>
          <p:spPr>
            <a:xfrm>
              <a:off x="2137257" y="1809247"/>
              <a:ext cx="1547107" cy="1113159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64750" tIns="64750" rIns="64750" bIns="6475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700"/>
                <a:buFont typeface="Arial"/>
                <a:buNone/>
              </a:pPr>
              <a:r>
                <a:rPr lang="en-US" sz="1700" b="0" i="0" u="none" strike="noStrike" cap="none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rPr>
                <a:t>Evaluation Metrics</a:t>
              </a:r>
              <a:endParaRPr/>
            </a:p>
          </p:txBody>
        </p:sp>
        <p:sp>
          <p:nvSpPr>
            <p:cNvPr id="98" name="Google Shape;98;p24"/>
            <p:cNvSpPr/>
            <p:nvPr/>
          </p:nvSpPr>
          <p:spPr>
            <a:xfrm rot="10800000">
              <a:off x="1765233" y="2263937"/>
              <a:ext cx="203779" cy="203780"/>
            </a:xfrm>
            <a:prstGeom prst="rightArrow">
              <a:avLst>
                <a:gd name="adj1" fmla="val 60000"/>
                <a:gd name="adj2" fmla="val 50000"/>
              </a:avLst>
            </a:prstGeom>
            <a:solidFill>
              <a:srgbClr val="87DD5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9" name="Google Shape;99;p24"/>
            <p:cNvSpPr txBox="1"/>
            <p:nvPr/>
          </p:nvSpPr>
          <p:spPr>
            <a:xfrm>
              <a:off x="1826367" y="2304693"/>
              <a:ext cx="142645" cy="122268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700"/>
                <a:buFont typeface="Arial"/>
                <a:buNone/>
              </a:pPr>
              <a:endParaRPr sz="17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0" name="Google Shape;100;p24"/>
            <p:cNvSpPr/>
            <p:nvPr/>
          </p:nvSpPr>
          <p:spPr>
            <a:xfrm>
              <a:off x="682" y="1774615"/>
              <a:ext cx="1616371" cy="1182423"/>
            </a:xfrm>
            <a:prstGeom prst="roundRect">
              <a:avLst>
                <a:gd name="adj" fmla="val 10000"/>
              </a:avLst>
            </a:prstGeom>
            <a:solidFill>
              <a:srgbClr val="8FE04E"/>
            </a:solidFill>
            <a:ln w="254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1" name="Google Shape;101;p24"/>
            <p:cNvSpPr txBox="1"/>
            <p:nvPr/>
          </p:nvSpPr>
          <p:spPr>
            <a:xfrm>
              <a:off x="35314" y="1809247"/>
              <a:ext cx="1547107" cy="1113159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64750" tIns="64750" rIns="64750" bIns="6475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700"/>
                <a:buFont typeface="Arial"/>
                <a:buNone/>
              </a:pPr>
              <a:r>
                <a:rPr lang="en-US" sz="1700" b="0" i="0" u="none" strike="noStrike" cap="none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rPr>
                <a:t>Modeling</a:t>
              </a:r>
              <a:endParaRPr/>
            </a:p>
          </p:txBody>
        </p:sp>
        <p:sp>
          <p:nvSpPr>
            <p:cNvPr id="102" name="Google Shape;102;p24"/>
            <p:cNvSpPr/>
            <p:nvPr/>
          </p:nvSpPr>
          <p:spPr>
            <a:xfrm rot="5400000">
              <a:off x="706978" y="3090651"/>
              <a:ext cx="203779" cy="203780"/>
            </a:xfrm>
            <a:prstGeom prst="rightArrow">
              <a:avLst>
                <a:gd name="adj1" fmla="val 60000"/>
                <a:gd name="adj2" fmla="val 50000"/>
              </a:avLst>
            </a:prstGeom>
            <a:solidFill>
              <a:srgbClr val="90E14D"/>
            </a:solidFill>
            <a:ln>
              <a:solidFill>
                <a:srgbClr val="90E14D"/>
              </a:solidFill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3" name="Google Shape;103;p24"/>
            <p:cNvSpPr txBox="1"/>
            <p:nvPr/>
          </p:nvSpPr>
          <p:spPr>
            <a:xfrm>
              <a:off x="747733" y="3090652"/>
              <a:ext cx="122268" cy="142645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700"/>
                <a:buFont typeface="Arial"/>
                <a:buNone/>
              </a:pPr>
              <a:endParaRPr sz="17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4" name="Google Shape;104;p24"/>
            <p:cNvSpPr/>
            <p:nvPr/>
          </p:nvSpPr>
          <p:spPr>
            <a:xfrm>
              <a:off x="682" y="3442610"/>
              <a:ext cx="1616371" cy="1182423"/>
            </a:xfrm>
            <a:prstGeom prst="roundRect">
              <a:avLst>
                <a:gd name="adj" fmla="val 10000"/>
              </a:avLst>
            </a:prstGeom>
            <a:solidFill>
              <a:srgbClr val="A9E44C"/>
            </a:solidFill>
            <a:ln w="254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" name="Google Shape;105;p24"/>
            <p:cNvSpPr txBox="1"/>
            <p:nvPr/>
          </p:nvSpPr>
          <p:spPr>
            <a:xfrm>
              <a:off x="35314" y="3477242"/>
              <a:ext cx="1547107" cy="1113159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64750" tIns="64750" rIns="64750" bIns="6475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700"/>
                <a:buFont typeface="Arial"/>
                <a:buNone/>
              </a:pPr>
              <a:r>
                <a:rPr lang="en-US" sz="1700" b="0" i="0" u="none" strike="noStrike" cap="none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rPr>
                <a:t>Model Selection</a:t>
              </a:r>
              <a:endParaRPr/>
            </a:p>
          </p:txBody>
        </p:sp>
        <p:sp>
          <p:nvSpPr>
            <p:cNvPr id="106" name="Google Shape;106;p24"/>
            <p:cNvSpPr/>
            <p:nvPr/>
          </p:nvSpPr>
          <p:spPr>
            <a:xfrm>
              <a:off x="1750666" y="3931932"/>
              <a:ext cx="203779" cy="203780"/>
            </a:xfrm>
            <a:prstGeom prst="rightArrow">
              <a:avLst>
                <a:gd name="adj1" fmla="val 60000"/>
                <a:gd name="adj2" fmla="val 50000"/>
              </a:avLst>
            </a:prstGeom>
            <a:solidFill>
              <a:srgbClr val="BCE94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7" name="Google Shape;107;p24"/>
            <p:cNvSpPr txBox="1"/>
            <p:nvPr/>
          </p:nvSpPr>
          <p:spPr>
            <a:xfrm>
              <a:off x="1750666" y="3972688"/>
              <a:ext cx="142645" cy="122268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700"/>
                <a:buFont typeface="Arial"/>
                <a:buNone/>
              </a:pPr>
              <a:endParaRPr sz="17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8" name="Google Shape;108;p24"/>
            <p:cNvSpPr/>
            <p:nvPr/>
          </p:nvSpPr>
          <p:spPr>
            <a:xfrm>
              <a:off x="2102625" y="3442610"/>
              <a:ext cx="1616371" cy="1182423"/>
            </a:xfrm>
            <a:prstGeom prst="roundRect">
              <a:avLst>
                <a:gd name="adj" fmla="val 10000"/>
              </a:avLst>
            </a:prstGeom>
            <a:solidFill>
              <a:srgbClr val="C7EA49"/>
            </a:solidFill>
            <a:ln w="254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9" name="Google Shape;109;p24"/>
            <p:cNvSpPr txBox="1"/>
            <p:nvPr/>
          </p:nvSpPr>
          <p:spPr>
            <a:xfrm>
              <a:off x="2137257" y="3477242"/>
              <a:ext cx="1547107" cy="1113159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64750" tIns="64750" rIns="64750" bIns="6475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700"/>
                <a:buFont typeface="Arial"/>
                <a:buNone/>
              </a:pPr>
              <a:r>
                <a:rPr lang="en-US" sz="1700" b="0" i="0" u="none" strike="noStrike" cap="none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rPr>
                <a:t>Interpretability</a:t>
              </a:r>
              <a:endParaRPr/>
            </a:p>
          </p:txBody>
        </p:sp>
        <p:sp>
          <p:nvSpPr>
            <p:cNvPr id="110" name="Google Shape;110;p24"/>
            <p:cNvSpPr/>
            <p:nvPr/>
          </p:nvSpPr>
          <p:spPr>
            <a:xfrm>
              <a:off x="3852609" y="3931932"/>
              <a:ext cx="203779" cy="203780"/>
            </a:xfrm>
            <a:prstGeom prst="rightArrow">
              <a:avLst>
                <a:gd name="adj1" fmla="val 60000"/>
                <a:gd name="adj2" fmla="val 50000"/>
              </a:avLst>
            </a:prstGeom>
            <a:solidFill>
              <a:srgbClr val="E1EE47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1" name="Google Shape;111;p24"/>
            <p:cNvSpPr txBox="1"/>
            <p:nvPr/>
          </p:nvSpPr>
          <p:spPr>
            <a:xfrm>
              <a:off x="3852609" y="3972688"/>
              <a:ext cx="142645" cy="122268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700"/>
                <a:buFont typeface="Arial"/>
                <a:buNone/>
              </a:pPr>
              <a:endParaRPr sz="17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2" name="Google Shape;112;p24"/>
            <p:cNvSpPr/>
            <p:nvPr/>
          </p:nvSpPr>
          <p:spPr>
            <a:xfrm>
              <a:off x="4204569" y="3442610"/>
              <a:ext cx="1616371" cy="1182423"/>
            </a:xfrm>
            <a:prstGeom prst="roundRect">
              <a:avLst>
                <a:gd name="adj" fmla="val 10000"/>
              </a:avLst>
            </a:prstGeom>
            <a:solidFill>
              <a:srgbClr val="E6EF46"/>
            </a:solidFill>
            <a:ln w="254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3" name="Google Shape;113;p24"/>
            <p:cNvSpPr txBox="1"/>
            <p:nvPr/>
          </p:nvSpPr>
          <p:spPr>
            <a:xfrm>
              <a:off x="4239201" y="3477242"/>
              <a:ext cx="1547107" cy="1113159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64750" tIns="64750" rIns="64750" bIns="6475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700"/>
                <a:buFont typeface="Arial"/>
                <a:buNone/>
              </a:pPr>
              <a:r>
                <a:rPr lang="en-US" sz="1700" b="0" i="0" u="none" strike="noStrike" cap="none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rPr>
                <a:t>Bias/Fairness</a:t>
              </a:r>
              <a:endParaRPr/>
            </a:p>
          </p:txBody>
        </p:sp>
        <p:sp>
          <p:nvSpPr>
            <p:cNvPr id="114" name="Google Shape;114;p24"/>
            <p:cNvSpPr/>
            <p:nvPr/>
          </p:nvSpPr>
          <p:spPr>
            <a:xfrm>
              <a:off x="5954552" y="3931932"/>
              <a:ext cx="203779" cy="203780"/>
            </a:xfrm>
            <a:prstGeom prst="rightArrow">
              <a:avLst>
                <a:gd name="adj1" fmla="val 60000"/>
                <a:gd name="adj2" fmla="val 50000"/>
              </a:avLst>
            </a:prstGeom>
            <a:solidFill>
              <a:srgbClr val="F4E04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5" name="Google Shape;115;p24"/>
            <p:cNvSpPr txBox="1"/>
            <p:nvPr/>
          </p:nvSpPr>
          <p:spPr>
            <a:xfrm>
              <a:off x="5954552" y="3972688"/>
              <a:ext cx="142645" cy="122268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700"/>
                <a:buFont typeface="Arial"/>
                <a:buNone/>
              </a:pPr>
              <a:endParaRPr sz="17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6" name="Google Shape;116;p24"/>
            <p:cNvSpPr/>
            <p:nvPr/>
          </p:nvSpPr>
          <p:spPr>
            <a:xfrm>
              <a:off x="6306512" y="3442610"/>
              <a:ext cx="1616371" cy="1182423"/>
            </a:xfrm>
            <a:prstGeom prst="roundRect">
              <a:avLst>
                <a:gd name="adj" fmla="val 10000"/>
              </a:avLst>
            </a:prstGeom>
            <a:solidFill>
              <a:srgbClr val="F4DC44"/>
            </a:solidFill>
            <a:ln w="254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7" name="Google Shape;117;p24"/>
            <p:cNvSpPr txBox="1"/>
            <p:nvPr/>
          </p:nvSpPr>
          <p:spPr>
            <a:xfrm>
              <a:off x="6341144" y="3477242"/>
              <a:ext cx="1547107" cy="1113159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64750" tIns="64750" rIns="64750" bIns="6475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700"/>
                <a:buFont typeface="Arial"/>
                <a:buNone/>
              </a:pPr>
              <a:r>
                <a:rPr lang="en-US" sz="1700" b="0" i="0" u="none" strike="noStrike" cap="none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rPr>
                <a:t>Field Trials</a:t>
              </a:r>
              <a:endParaRPr/>
            </a:p>
          </p:txBody>
        </p:sp>
        <p:sp>
          <p:nvSpPr>
            <p:cNvPr id="118" name="Google Shape;118;p24"/>
            <p:cNvSpPr/>
            <p:nvPr/>
          </p:nvSpPr>
          <p:spPr>
            <a:xfrm>
              <a:off x="8056496" y="3931932"/>
              <a:ext cx="203779" cy="203780"/>
            </a:xfrm>
            <a:prstGeom prst="rightArrow">
              <a:avLst>
                <a:gd name="adj1" fmla="val 60000"/>
                <a:gd name="adj2" fmla="val 50000"/>
              </a:avLst>
            </a:prstGeom>
            <a:solidFill>
              <a:srgbClr val="F9C64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9" name="Google Shape;119;p24"/>
            <p:cNvSpPr txBox="1"/>
            <p:nvPr/>
          </p:nvSpPr>
          <p:spPr>
            <a:xfrm>
              <a:off x="8056496" y="3972688"/>
              <a:ext cx="142645" cy="122268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700"/>
                <a:buFont typeface="Arial"/>
                <a:buNone/>
              </a:pPr>
              <a:endParaRPr sz="17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0" name="Google Shape;120;p24"/>
            <p:cNvSpPr/>
            <p:nvPr/>
          </p:nvSpPr>
          <p:spPr>
            <a:xfrm>
              <a:off x="8408455" y="3442610"/>
              <a:ext cx="1616371" cy="1182423"/>
            </a:xfrm>
            <a:prstGeom prst="roundRect">
              <a:avLst>
                <a:gd name="adj" fmla="val 10000"/>
              </a:avLst>
            </a:prstGeom>
            <a:solidFill>
              <a:schemeClr val="lt1"/>
            </a:solidFill>
            <a:ln w="254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1" name="Google Shape;121;p24"/>
            <p:cNvSpPr txBox="1"/>
            <p:nvPr/>
          </p:nvSpPr>
          <p:spPr>
            <a:xfrm>
              <a:off x="8443087" y="3477242"/>
              <a:ext cx="1547107" cy="1113159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64750" tIns="64750" rIns="64750" bIns="6475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700"/>
                <a:buFont typeface="Arial"/>
                <a:buNone/>
              </a:pPr>
              <a:r>
                <a:rPr lang="en-US" sz="1700" b="0" i="0" u="none" strike="noStrike" cap="none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rPr>
                <a:t>Deployment</a:t>
              </a:r>
              <a:endParaRPr/>
            </a:p>
          </p:txBody>
        </p:sp>
        <p:sp>
          <p:nvSpPr>
            <p:cNvPr id="122" name="Google Shape;122;p24"/>
            <p:cNvSpPr/>
            <p:nvPr/>
          </p:nvSpPr>
          <p:spPr>
            <a:xfrm>
              <a:off x="10158439" y="3931932"/>
              <a:ext cx="203779" cy="203780"/>
            </a:xfrm>
            <a:prstGeom prst="rightArrow">
              <a:avLst>
                <a:gd name="adj1" fmla="val 60000"/>
                <a:gd name="adj2" fmla="val 50000"/>
              </a:avLst>
            </a:prstGeom>
            <a:solidFill>
              <a:srgbClr val="FEA93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3" name="Google Shape;123;p24"/>
            <p:cNvSpPr txBox="1"/>
            <p:nvPr/>
          </p:nvSpPr>
          <p:spPr>
            <a:xfrm>
              <a:off x="10158439" y="3972688"/>
              <a:ext cx="142645" cy="122268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700"/>
                <a:buFont typeface="Arial"/>
                <a:buNone/>
              </a:pPr>
              <a:endParaRPr sz="17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4" name="Google Shape;124;p24"/>
            <p:cNvSpPr/>
            <p:nvPr/>
          </p:nvSpPr>
          <p:spPr>
            <a:xfrm>
              <a:off x="10510399" y="3442610"/>
              <a:ext cx="1616371" cy="1182423"/>
            </a:xfrm>
            <a:prstGeom prst="roundRect">
              <a:avLst>
                <a:gd name="adj" fmla="val 10000"/>
              </a:avLst>
            </a:prstGeom>
            <a:solidFill>
              <a:schemeClr val="lt1"/>
            </a:solidFill>
            <a:ln w="254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5" name="Google Shape;125;p24"/>
            <p:cNvSpPr txBox="1"/>
            <p:nvPr/>
          </p:nvSpPr>
          <p:spPr>
            <a:xfrm>
              <a:off x="10545031" y="3477242"/>
              <a:ext cx="1547107" cy="1113159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64750" tIns="64750" rIns="64750" bIns="6475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700"/>
                <a:buFont typeface="Arial"/>
                <a:buNone/>
              </a:pPr>
              <a:r>
                <a:rPr lang="en-US" sz="1700" b="0" i="0" u="none" strike="noStrike" cap="none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rPr>
                <a:t>Maintenance &amp; Monitoring</a:t>
              </a:r>
              <a:endParaRPr/>
            </a:p>
          </p:txBody>
        </p:sp>
      </p:grp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/>
          <p:cNvSpPr>
            <a:spLocks noGrp="1"/>
          </p:cNvSpPr>
          <p:nvPr>
            <p:ph type="body" idx="1"/>
          </p:nvPr>
        </p:nvSpPr>
        <p:spPr>
          <a:xfrm>
            <a:off x="268210" y="1632046"/>
            <a:ext cx="11666400" cy="4954500"/>
          </a:xfrm>
        </p:spPr>
        <p:txBody>
          <a:bodyPr/>
          <a:lstStyle/>
          <a:p>
            <a:r>
              <a:rPr lang="en-US" b="1" dirty="0">
                <a:solidFill>
                  <a:schemeClr val="tx1"/>
                </a:solidFill>
              </a:rPr>
              <a:t>Scope: </a:t>
            </a:r>
            <a:r>
              <a:rPr lang="en-US" dirty="0">
                <a:solidFill>
                  <a:schemeClr val="tx1"/>
                </a:solidFill>
              </a:rPr>
              <a:t>Goals, Actions, Data, Analysis, Ethics</a:t>
            </a:r>
          </a:p>
          <a:p>
            <a:r>
              <a:rPr lang="en-US" b="1" dirty="0">
                <a:solidFill>
                  <a:schemeClr val="tx1"/>
                </a:solidFill>
              </a:rPr>
              <a:t>Data: </a:t>
            </a:r>
            <a:r>
              <a:rPr lang="en-US" dirty="0">
                <a:solidFill>
                  <a:schemeClr val="tx1"/>
                </a:solidFill>
              </a:rPr>
              <a:t>Getting, storing, linking, exploring, and understanding</a:t>
            </a:r>
          </a:p>
          <a:p>
            <a:r>
              <a:rPr lang="en-US" b="1" dirty="0">
                <a:solidFill>
                  <a:schemeClr val="tx1"/>
                </a:solidFill>
              </a:rPr>
              <a:t>Formulation</a:t>
            </a:r>
            <a:r>
              <a:rPr lang="en-US" dirty="0">
                <a:solidFill>
                  <a:schemeClr val="tx1"/>
                </a:solidFill>
              </a:rPr>
              <a:t>: Rows, Labels, Time, Metric, Baselines</a:t>
            </a:r>
          </a:p>
          <a:p>
            <a:r>
              <a:rPr lang="en-US" b="1" dirty="0">
                <a:solidFill>
                  <a:schemeClr val="tx1"/>
                </a:solidFill>
              </a:rPr>
              <a:t>Pipeline</a:t>
            </a:r>
            <a:r>
              <a:rPr lang="en-US" dirty="0">
                <a:solidFill>
                  <a:schemeClr val="tx1"/>
                </a:solidFill>
              </a:rPr>
              <a:t>: Rows, Labels, Features, Train-Validation Pairs, Metrics, Models + </a:t>
            </a:r>
            <a:r>
              <a:rPr lang="en-US" dirty="0" err="1">
                <a:solidFill>
                  <a:schemeClr val="tx1"/>
                </a:solidFill>
              </a:rPr>
              <a:t>hps</a:t>
            </a:r>
            <a:endParaRPr lang="en-US" dirty="0">
              <a:solidFill>
                <a:schemeClr val="tx1"/>
              </a:solidFill>
            </a:endParaRPr>
          </a:p>
          <a:p>
            <a:r>
              <a:rPr lang="en-US" b="1" dirty="0">
                <a:solidFill>
                  <a:schemeClr val="tx1"/>
                </a:solidFill>
              </a:rPr>
              <a:t>Model Selection:</a:t>
            </a:r>
          </a:p>
          <a:p>
            <a:pPr lvl="1"/>
            <a:r>
              <a:rPr lang="en-US" dirty="0">
                <a:solidFill>
                  <a:schemeClr val="tx1"/>
                </a:solidFill>
              </a:rPr>
              <a:t>Run Experiments</a:t>
            </a:r>
          </a:p>
          <a:p>
            <a:pPr lvl="1"/>
            <a:r>
              <a:rPr lang="en-US" dirty="0">
                <a:solidFill>
                  <a:schemeClr val="tx1"/>
                </a:solidFill>
              </a:rPr>
              <a:t>Analyze results to choose best model</a:t>
            </a:r>
          </a:p>
          <a:p>
            <a:pPr lvl="1"/>
            <a:r>
              <a:rPr lang="en-US" dirty="0">
                <a:solidFill>
                  <a:schemeClr val="tx1"/>
                </a:solidFill>
              </a:rPr>
              <a:t>Iterate</a:t>
            </a:r>
            <a:br>
              <a:rPr lang="en-US" dirty="0">
                <a:solidFill>
                  <a:schemeClr val="tx1"/>
                </a:solidFill>
              </a:rPr>
            </a:br>
            <a:endParaRPr lang="en-US" dirty="0">
              <a:solidFill>
                <a:schemeClr val="tx1"/>
              </a:solidFill>
            </a:endParaRPr>
          </a:p>
          <a:p>
            <a:pPr marL="114300" indent="0">
              <a:buNone/>
            </a:pPr>
            <a:endParaRPr lang="en-US" dirty="0"/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>
          <a:xfrm>
            <a:off x="0" y="325028"/>
            <a:ext cx="12192000" cy="1143000"/>
          </a:xfrm>
        </p:spPr>
        <p:txBody>
          <a:bodyPr/>
          <a:lstStyle/>
          <a:p>
            <a:r>
              <a:rPr lang="en-US" dirty="0">
                <a:solidFill>
                  <a:schemeClr val="bg1"/>
                </a:solidFill>
              </a:rPr>
              <a:t>Recap of Module I</a:t>
            </a:r>
          </a:p>
        </p:txBody>
      </p:sp>
    </p:spTree>
    <p:extLst>
      <p:ext uri="{BB962C8B-B14F-4D97-AF65-F5344CB8AC3E}">
        <p14:creationId xmlns:p14="http://schemas.microsoft.com/office/powerpoint/2010/main" val="356481815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92E038B8-9DA1-054F-B953-838194CAC1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3200" dirty="0"/>
              <a:t>Many Bias Measures: How do we select what we care about?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0E458D6F-426F-5B4B-AF46-1F22AAE5546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101022"/>
            <a:ext cx="12192000" cy="46559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041747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Varying the Threshold – Budget Menu</a:t>
            </a:r>
          </a:p>
        </p:txBody>
      </p:sp>
      <p:grpSp>
        <p:nvGrpSpPr>
          <p:cNvPr id="5" name="Group 4"/>
          <p:cNvGrpSpPr/>
          <p:nvPr/>
        </p:nvGrpSpPr>
        <p:grpSpPr>
          <a:xfrm>
            <a:off x="2435740" y="1562635"/>
            <a:ext cx="7320520" cy="4944871"/>
            <a:chOff x="616981" y="1325057"/>
            <a:chExt cx="7320520" cy="4944871"/>
          </a:xfrm>
        </p:grpSpPr>
        <p:pic>
          <p:nvPicPr>
            <p:cNvPr id="4" name="Picture 3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16981" y="1325057"/>
              <a:ext cx="7320520" cy="4944871"/>
            </a:xfrm>
            <a:prstGeom prst="rect">
              <a:avLst/>
            </a:prstGeom>
          </p:spPr>
        </p:pic>
        <p:sp>
          <p:nvSpPr>
            <p:cNvPr id="2" name="Rectangle 1"/>
            <p:cNvSpPr/>
            <p:nvPr/>
          </p:nvSpPr>
          <p:spPr>
            <a:xfrm>
              <a:off x="4064000" y="1409700"/>
              <a:ext cx="342900" cy="2794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 defTabSz="457200">
                <a:buClrTx/>
              </a:pPr>
              <a:endParaRPr lang="en-US" sz="1800" kern="1200">
                <a:solidFill>
                  <a:prstClr val="black"/>
                </a:solidFill>
                <a:latin typeface="Calibri"/>
              </a:endParaRPr>
            </a:p>
          </p:txBody>
        </p:sp>
      </p:grpSp>
      <p:grpSp>
        <p:nvGrpSpPr>
          <p:cNvPr id="9" name="Group 8">
            <a:extLst>
              <a:ext uri="{FF2B5EF4-FFF2-40B4-BE49-F238E27FC236}">
                <a16:creationId xmlns:a16="http://schemas.microsoft.com/office/drawing/2014/main" id="{100148AF-CA57-0541-9177-560EC8D36156}"/>
              </a:ext>
            </a:extLst>
          </p:cNvPr>
          <p:cNvGrpSpPr/>
          <p:nvPr/>
        </p:nvGrpSpPr>
        <p:grpSpPr>
          <a:xfrm>
            <a:off x="3018798" y="1150982"/>
            <a:ext cx="6607802" cy="882961"/>
            <a:chOff x="1494798" y="1150981"/>
            <a:chExt cx="6607802" cy="882961"/>
          </a:xfrm>
        </p:grpSpPr>
        <p:sp>
          <p:nvSpPr>
            <p:cNvPr id="6" name="TextBox 5"/>
            <p:cNvSpPr txBox="1"/>
            <p:nvPr/>
          </p:nvSpPr>
          <p:spPr>
            <a:xfrm>
              <a:off x="1494798" y="1387611"/>
              <a:ext cx="6607802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defTabSz="457200">
                <a:buClrTx/>
              </a:pPr>
              <a:r>
                <a:rPr lang="en-US" sz="1800" b="1" kern="1200" dirty="0">
                  <a:solidFill>
                    <a:srgbClr val="C0504D">
                      <a:lumMod val="75000"/>
                    </a:srgbClr>
                  </a:solidFill>
                  <a:latin typeface="Calibri"/>
                  <a:ea typeface="+mn-ea"/>
                  <a:cs typeface="+mn-cs"/>
                </a:rPr>
                <a:t>1         .9     .8                .7        .6            .5    .4  .3.                  .2     .1 </a:t>
              </a:r>
            </a:p>
            <a:p>
              <a:pPr defTabSz="457200">
                <a:buClrTx/>
              </a:pPr>
              <a:r>
                <a:rPr lang="en-US" sz="1050" b="1" kern="1200" dirty="0">
                  <a:solidFill>
                    <a:srgbClr val="C0504D">
                      <a:lumMod val="75000"/>
                    </a:srgbClr>
                  </a:solidFill>
                  <a:latin typeface="Calibri"/>
                  <a:ea typeface="+mn-ea"/>
                  <a:cs typeface="+mn-cs"/>
                </a:rPr>
                <a:t> |                  |             |                               |                  |                        |           |        |                                    |            |</a:t>
              </a:r>
              <a:r>
                <a:rPr lang="en-US" sz="1800" b="1" kern="1200" dirty="0">
                  <a:solidFill>
                    <a:srgbClr val="C0504D">
                      <a:lumMod val="75000"/>
                    </a:srgbClr>
                  </a:solidFill>
                  <a:latin typeface="Calibri"/>
                  <a:ea typeface="+mn-ea"/>
                  <a:cs typeface="+mn-cs"/>
                </a:rPr>
                <a:t>   </a:t>
              </a:r>
              <a:r>
                <a:rPr lang="en-US" sz="1800" kern="1200" dirty="0">
                  <a:solidFill>
                    <a:srgbClr val="EEECE1">
                      <a:lumMod val="25000"/>
                    </a:srgbClr>
                  </a:solidFill>
                  <a:latin typeface="Calibri"/>
                  <a:ea typeface="+mn-ea"/>
                  <a:cs typeface="+mn-cs"/>
                </a:rPr>
                <a:t>      </a:t>
              </a:r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EFA4ED1E-FBFF-4545-BB64-FFD28CAC8A4B}"/>
                </a:ext>
              </a:extLst>
            </p:cNvPr>
            <p:cNvSpPr txBox="1"/>
            <p:nvPr/>
          </p:nvSpPr>
          <p:spPr>
            <a:xfrm>
              <a:off x="4097994" y="1150981"/>
              <a:ext cx="700705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defTabSz="457200">
                <a:buClrTx/>
              </a:pPr>
              <a:r>
                <a:rPr lang="en-US" sz="1800" b="1" kern="1200" dirty="0">
                  <a:solidFill>
                    <a:srgbClr val="C00000"/>
                  </a:solidFill>
                  <a:latin typeface="Calibri"/>
                  <a:ea typeface="+mn-ea"/>
                  <a:cs typeface="+mn-cs"/>
                </a:rPr>
                <a:t>Score</a:t>
              </a:r>
            </a:p>
          </p:txBody>
        </p:sp>
      </p:grpSp>
      <p:grpSp>
        <p:nvGrpSpPr>
          <p:cNvPr id="15" name="Group 14">
            <a:extLst>
              <a:ext uri="{FF2B5EF4-FFF2-40B4-BE49-F238E27FC236}">
                <a16:creationId xmlns:a16="http://schemas.microsoft.com/office/drawing/2014/main" id="{F79BF13E-AE77-6A46-B2C2-E1985346BF6A}"/>
              </a:ext>
            </a:extLst>
          </p:cNvPr>
          <p:cNvGrpSpPr/>
          <p:nvPr/>
        </p:nvGrpSpPr>
        <p:grpSpPr>
          <a:xfrm>
            <a:off x="1836283" y="5550212"/>
            <a:ext cx="7221578" cy="369332"/>
            <a:chOff x="312283" y="5550212"/>
            <a:chExt cx="7221578" cy="369332"/>
          </a:xfrm>
        </p:grpSpPr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91561906-EEC1-6046-905E-0E55B1D4B60D}"/>
                </a:ext>
              </a:extLst>
            </p:cNvPr>
            <p:cNvCxnSpPr/>
            <p:nvPr/>
          </p:nvCxnSpPr>
          <p:spPr>
            <a:xfrm flipH="1">
              <a:off x="1649896" y="5734878"/>
              <a:ext cx="5883965" cy="0"/>
            </a:xfrm>
            <a:prstGeom prst="line">
              <a:avLst/>
            </a:prstGeom>
            <a:ln w="28575">
              <a:solidFill>
                <a:srgbClr val="00B0F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79F59512-F15A-1445-8C8B-BFD99D51B252}"/>
                </a:ext>
              </a:extLst>
            </p:cNvPr>
            <p:cNvSpPr txBox="1"/>
            <p:nvPr/>
          </p:nvSpPr>
          <p:spPr>
            <a:xfrm>
              <a:off x="312283" y="5550212"/>
              <a:ext cx="986167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defTabSz="457200">
                <a:buClrTx/>
              </a:pPr>
              <a:r>
                <a:rPr lang="en-US" sz="1800" b="1" kern="1200" dirty="0">
                  <a:solidFill>
                    <a:srgbClr val="C00000"/>
                  </a:solidFill>
                  <a:latin typeface="Calibri"/>
                  <a:ea typeface="+mn-ea"/>
                  <a:cs typeface="+mn-cs"/>
                </a:rPr>
                <a:t>Baseline</a:t>
              </a:r>
            </a:p>
          </p:txBody>
        </p:sp>
        <p:cxnSp>
          <p:nvCxnSpPr>
            <p:cNvPr id="14" name="Straight Arrow Connector 13">
              <a:extLst>
                <a:ext uri="{FF2B5EF4-FFF2-40B4-BE49-F238E27FC236}">
                  <a16:creationId xmlns:a16="http://schemas.microsoft.com/office/drawing/2014/main" id="{E9A4A58B-B356-1E41-A6F4-EEF6E44A9AD1}"/>
                </a:ext>
              </a:extLst>
            </p:cNvPr>
            <p:cNvCxnSpPr>
              <a:stCxn id="12" idx="3"/>
            </p:cNvCxnSpPr>
            <p:nvPr/>
          </p:nvCxnSpPr>
          <p:spPr>
            <a:xfrm>
              <a:off x="1298450" y="5734878"/>
              <a:ext cx="281872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55739373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Google Shape;83;g71c82016f7_0_5"/>
          <p:cNvSpPr txBox="1">
            <a:spLocks noGrp="1"/>
          </p:cNvSpPr>
          <p:nvPr>
            <p:ph type="title"/>
          </p:nvPr>
        </p:nvSpPr>
        <p:spPr>
          <a:xfrm>
            <a:off x="415600" y="86563"/>
            <a:ext cx="11360700" cy="76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noAutofit/>
          </a:bodyPr>
          <a:lstStyle/>
          <a:p>
            <a:pPr lvl="0"/>
            <a:r>
              <a:rPr lang="en-US" dirty="0"/>
              <a:t>Interpretability Use Cases</a:t>
            </a:r>
            <a:endParaRPr dirty="0"/>
          </a:p>
        </p:txBody>
      </p:sp>
      <p:graphicFrame>
        <p:nvGraphicFramePr>
          <p:cNvPr id="84" name="Google Shape;84;g71c82016f7_0_5"/>
          <p:cNvGraphicFramePr/>
          <p:nvPr>
            <p:extLst>
              <p:ext uri="{D42A27DB-BD31-4B8C-83A1-F6EECF244321}">
                <p14:modId xmlns:p14="http://schemas.microsoft.com/office/powerpoint/2010/main" val="3882214483"/>
              </p:ext>
            </p:extLst>
          </p:nvPr>
        </p:nvGraphicFramePr>
        <p:xfrm>
          <a:off x="263476" y="1762929"/>
          <a:ext cx="11664950" cy="3875970"/>
        </p:xfrm>
        <a:graphic>
          <a:graphicData uri="http://schemas.openxmlformats.org/drawingml/2006/table">
            <a:tbl>
              <a:tblPr firstRow="1" bandRow="1">
                <a:tableStyleId>{FABFCF23-3B69-468F-B69F-88F6DE6A72F2}</a:tableStyleId>
              </a:tblPr>
              <a:tblGrid>
                <a:gridCol w="20528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657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657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2968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9445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2000" u="none" strike="noStrike" cap="none"/>
                        <a:t>Use Case</a:t>
                      </a:r>
                      <a:endParaRPr/>
                    </a:p>
                  </a:txBody>
                  <a:tcPr marL="121925" marR="121925" marT="60950" marB="60950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2000" u="none" strike="noStrike" cap="none"/>
                        <a:t>User</a:t>
                      </a:r>
                      <a:endParaRPr/>
                    </a:p>
                  </a:txBody>
                  <a:tcPr marL="121925" marR="121925" marT="60950" marB="60950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2000" u="none" strike="noStrike" cap="none" dirty="0"/>
                        <a:t>Task</a:t>
                      </a:r>
                      <a:endParaRPr dirty="0"/>
                    </a:p>
                  </a:txBody>
                  <a:tcPr marL="121925" marR="121925" marT="60950" marB="60950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2000" u="none" strike="noStrike" cap="none"/>
                        <a:t>Global or Local</a:t>
                      </a:r>
                      <a:endParaRPr/>
                    </a:p>
                  </a:txBody>
                  <a:tcPr marL="121925" marR="121925" marT="60950" marB="60950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9445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900" u="none" strike="noStrike" cap="none"/>
                        <a:t>Debugging</a:t>
                      </a:r>
                      <a:endParaRPr/>
                    </a:p>
                  </a:txBody>
                  <a:tcPr marL="121925" marR="121925" marT="60950" marB="60950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900" u="none" strike="noStrike" cap="none"/>
                        <a:t>ML Developer</a:t>
                      </a:r>
                      <a:endParaRPr/>
                    </a:p>
                  </a:txBody>
                  <a:tcPr marL="121925" marR="121925" marT="60950" marB="60950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900" u="none" strike="noStrike" cap="none" dirty="0"/>
                        <a:t>Sanity check and improve “correctness”</a:t>
                      </a:r>
                      <a:endParaRPr dirty="0"/>
                    </a:p>
                  </a:txBody>
                  <a:tcPr marL="121925" marR="121925" marT="60950" marB="60950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900" u="none" strike="noStrike" cap="none"/>
                        <a:t>Both</a:t>
                      </a:r>
                      <a:endParaRPr/>
                    </a:p>
                  </a:txBody>
                  <a:tcPr marL="121925" marR="121925" marT="60950" marB="6095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90875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900" u="none" strike="noStrike" cap="none"/>
                        <a:t>Improving performance</a:t>
                      </a:r>
                      <a:endParaRPr/>
                    </a:p>
                  </a:txBody>
                  <a:tcPr marL="121925" marR="121925" marT="60950" marB="60950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900" u="none" strike="noStrike" cap="none" dirty="0"/>
                        <a:t>Action-</a:t>
                      </a:r>
                      <a:endParaRPr dirty="0"/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900" u="none" strike="noStrike" cap="none" dirty="0"/>
                        <a:t>taker</a:t>
                      </a:r>
                      <a:endParaRPr dirty="0"/>
                    </a:p>
                  </a:txBody>
                  <a:tcPr marL="121925" marR="121925" marT="60950" marB="60950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900" u="none" strike="noStrike" cap="none"/>
                        <a:t>Decide to agree or override</a:t>
                      </a:r>
                      <a:endParaRPr/>
                    </a:p>
                  </a:txBody>
                  <a:tcPr marL="121925" marR="121925" marT="60950" marB="60950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900" u="none" strike="noStrike" cap="none"/>
                        <a:t>Local</a:t>
                      </a:r>
                      <a:endParaRPr/>
                    </a:p>
                  </a:txBody>
                  <a:tcPr marL="121925" marR="121925" marT="60950" marB="60950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9445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900" u="none" strike="noStrike" cap="none"/>
                        <a:t>Trust</a:t>
                      </a:r>
                      <a:endParaRPr/>
                    </a:p>
                  </a:txBody>
                  <a:tcPr marL="121925" marR="121925" marT="60950" marB="60950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900" u="none" strike="noStrike" cap="none" dirty="0"/>
                        <a:t>Policymaker/Action-Taker</a:t>
                      </a:r>
                      <a:endParaRPr dirty="0"/>
                    </a:p>
                  </a:txBody>
                  <a:tcPr marL="121925" marR="121925" marT="60950" marB="60950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900"/>
                        <a:t>Model use =&gt; better outcomes</a:t>
                      </a:r>
                      <a:endParaRPr sz="1900" u="none" strike="noStrike" cap="none"/>
                    </a:p>
                  </a:txBody>
                  <a:tcPr marL="121925" marR="121925" marT="60950" marB="60950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900" u="none" strike="noStrike" cap="none"/>
                        <a:t>Both</a:t>
                      </a:r>
                      <a:endParaRPr/>
                    </a:p>
                  </a:txBody>
                  <a:tcPr marL="121925" marR="121925" marT="60950" marB="60950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9445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900" u="none" strike="noStrike" cap="none"/>
                        <a:t>Interventions</a:t>
                      </a:r>
                      <a:endParaRPr/>
                    </a:p>
                  </a:txBody>
                  <a:tcPr marL="121925" marR="121925" marT="60950" marB="60950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900" u="none" strike="noStrike" cap="none" dirty="0"/>
                        <a:t>Action-Taker</a:t>
                      </a:r>
                      <a:endParaRPr dirty="0"/>
                    </a:p>
                  </a:txBody>
                  <a:tcPr marL="121925" marR="121925" marT="60950" marB="60950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900"/>
                        <a:t>Improve outcomes</a:t>
                      </a:r>
                      <a:endParaRPr sz="1900" u="none" strike="noStrike" cap="none"/>
                    </a:p>
                  </a:txBody>
                  <a:tcPr marL="121925" marR="121925" marT="60950" marB="60950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900" u="none" strike="noStrike" cap="none"/>
                        <a:t>Local</a:t>
                      </a:r>
                      <a:endParaRPr/>
                    </a:p>
                  </a:txBody>
                  <a:tcPr marL="121925" marR="121925" marT="60950" marB="60950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9445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900" u="none" strike="noStrike" cap="none"/>
                        <a:t>Recourse</a:t>
                      </a:r>
                      <a:endParaRPr/>
                    </a:p>
                  </a:txBody>
                  <a:tcPr marL="121925" marR="121925" marT="60950" marB="60950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900" u="none" strike="noStrike" cap="none" dirty="0"/>
                        <a:t>Individual(s) affected</a:t>
                      </a:r>
                      <a:endParaRPr dirty="0"/>
                    </a:p>
                  </a:txBody>
                  <a:tcPr marL="121925" marR="121925" marT="60950" marB="60950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900" u="none" strike="noStrike" cap="none" dirty="0"/>
                        <a:t>Provide information that the individual can understand and ideally change</a:t>
                      </a:r>
                      <a:endParaRPr dirty="0"/>
                    </a:p>
                  </a:txBody>
                  <a:tcPr marL="121925" marR="121925" marT="60950" marB="60950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900" u="none" strike="noStrike" cap="none" dirty="0"/>
                        <a:t>Local</a:t>
                      </a:r>
                      <a:endParaRPr dirty="0"/>
                    </a:p>
                  </a:txBody>
                  <a:tcPr marL="121925" marR="121925" marT="60950" marB="60950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4800" dirty="0"/>
              <a:t>Data and AI Ethics Issues</a:t>
            </a:r>
          </a:p>
        </p:txBody>
      </p:sp>
      <p:graphicFrame>
        <p:nvGraphicFramePr>
          <p:cNvPr id="7" name="Content Placeholder 3">
            <a:extLst>
              <a:ext uri="{FF2B5EF4-FFF2-40B4-BE49-F238E27FC236}">
                <a16:creationId xmlns:a16="http://schemas.microsoft.com/office/drawing/2014/main" id="{909E99C8-C1C9-DC4E-A00A-C3C715B7EB22}"/>
              </a:ext>
            </a:extLst>
          </p:cNvPr>
          <p:cNvGraphicFramePr>
            <a:graphicFrameLocks/>
          </p:cNvGraphicFramePr>
          <p:nvPr/>
        </p:nvGraphicFramePr>
        <p:xfrm>
          <a:off x="415600" y="1379047"/>
          <a:ext cx="11265456" cy="499769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  <p:extLst>
      <p:ext uri="{BB962C8B-B14F-4D97-AF65-F5344CB8AC3E}">
        <p14:creationId xmlns:p14="http://schemas.microsoft.com/office/powerpoint/2010/main" val="2318287402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92E038B8-9DA1-054F-B953-838194CAC1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3733" dirty="0"/>
              <a:t>Translating policy goals to fairness metrics</a:t>
            </a: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8B63C0A7-081E-3D4F-B1C8-1DEEE1091D4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4014" y="1116762"/>
            <a:ext cx="12192000" cy="56546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943044122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92E038B8-9DA1-054F-B953-838194CAC1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Dual Goals: Fairness and Accuracy</a:t>
            </a:r>
            <a:endParaRPr lang="en-US" sz="3733" dirty="0"/>
          </a:p>
        </p:txBody>
      </p:sp>
      <p:pic>
        <p:nvPicPr>
          <p:cNvPr id="4098" name="Picture 2">
            <a:extLst>
              <a:ext uri="{FF2B5EF4-FFF2-40B4-BE49-F238E27FC236}">
                <a16:creationId xmlns:a16="http://schemas.microsoft.com/office/drawing/2014/main" id="{4A9F93EC-4A67-9243-BC36-6D4D22C58CBB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4858"/>
          <a:stretch/>
        </p:blipFill>
        <p:spPr bwMode="auto">
          <a:xfrm>
            <a:off x="415600" y="1223158"/>
            <a:ext cx="7782137" cy="53938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F09D2A85-69E9-F042-8B42-DD69765B1869}"/>
              </a:ext>
            </a:extLst>
          </p:cNvPr>
          <p:cNvCxnSpPr>
            <a:cxnSpLocks/>
          </p:cNvCxnSpPr>
          <p:nvPr/>
        </p:nvCxnSpPr>
        <p:spPr>
          <a:xfrm flipH="1">
            <a:off x="7718961" y="4203865"/>
            <a:ext cx="1056904" cy="1009404"/>
          </a:xfrm>
          <a:prstGeom prst="straightConnector1">
            <a:avLst/>
          </a:prstGeom>
          <a:ln w="3810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BFBB2CFC-CF4C-DB49-944D-E01E9B2FED0C}"/>
              </a:ext>
            </a:extLst>
          </p:cNvPr>
          <p:cNvSpPr txBox="1"/>
          <p:nvPr/>
        </p:nvSpPr>
        <p:spPr>
          <a:xfrm>
            <a:off x="8714080" y="3920107"/>
            <a:ext cx="3304815" cy="193899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Our hope:</a:t>
            </a:r>
          </a:p>
          <a:p>
            <a:r>
              <a:rPr lang="en-US" sz="2400" dirty="0"/>
              <a:t>Fairness-improving</a:t>
            </a:r>
          </a:p>
          <a:p>
            <a:r>
              <a:rPr lang="en-US" sz="2400" dirty="0"/>
              <a:t>methods can expand this</a:t>
            </a:r>
          </a:p>
          <a:p>
            <a:r>
              <a:rPr lang="en-US" sz="2400" dirty="0"/>
              <a:t>frontier by adding new</a:t>
            </a:r>
          </a:p>
          <a:p>
            <a:r>
              <a:rPr lang="en-US" sz="2400" dirty="0"/>
              <a:t>points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DBF056F-D9C1-6B49-9373-699DD20844B2}"/>
              </a:ext>
            </a:extLst>
          </p:cNvPr>
          <p:cNvSpPr txBox="1"/>
          <p:nvPr/>
        </p:nvSpPr>
        <p:spPr>
          <a:xfrm>
            <a:off x="3643744" y="6155392"/>
            <a:ext cx="2258291" cy="46166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2400" dirty="0" err="1"/>
              <a:t>Precision@k</a:t>
            </a:r>
            <a:endParaRPr lang="en-US" sz="2400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D3B4FA01-8829-FC43-B8F3-DCA12744BCB6}"/>
              </a:ext>
            </a:extLst>
          </p:cNvPr>
          <p:cNvSpPr txBox="1"/>
          <p:nvPr/>
        </p:nvSpPr>
        <p:spPr>
          <a:xfrm rot="16200000">
            <a:off x="-545774" y="3306034"/>
            <a:ext cx="2258291" cy="46166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2400" dirty="0"/>
              <a:t>Disparity</a:t>
            </a:r>
          </a:p>
        </p:txBody>
      </p:sp>
      <p:sp>
        <p:nvSpPr>
          <p:cNvPr id="2" name="Freeform 1">
            <a:extLst>
              <a:ext uri="{FF2B5EF4-FFF2-40B4-BE49-F238E27FC236}">
                <a16:creationId xmlns:a16="http://schemas.microsoft.com/office/drawing/2014/main" id="{D6E6490D-DD46-654E-ABEF-3E047D2AFE79}"/>
              </a:ext>
            </a:extLst>
          </p:cNvPr>
          <p:cNvSpPr/>
          <p:nvPr/>
        </p:nvSpPr>
        <p:spPr>
          <a:xfrm>
            <a:off x="4013860" y="4203865"/>
            <a:ext cx="3740727" cy="1341912"/>
          </a:xfrm>
          <a:custGeom>
            <a:avLst/>
            <a:gdLst>
              <a:gd name="connsiteX0" fmla="*/ 3740727 w 3740727"/>
              <a:gd name="connsiteY0" fmla="*/ 0 h 1341912"/>
              <a:gd name="connsiteX1" fmla="*/ 3705101 w 3740727"/>
              <a:gd name="connsiteY1" fmla="*/ 154379 h 1341912"/>
              <a:gd name="connsiteX2" fmla="*/ 3681350 w 3740727"/>
              <a:gd name="connsiteY2" fmla="*/ 190005 h 1341912"/>
              <a:gd name="connsiteX3" fmla="*/ 3669475 w 3740727"/>
              <a:gd name="connsiteY3" fmla="*/ 225631 h 1341912"/>
              <a:gd name="connsiteX4" fmla="*/ 3657600 w 3740727"/>
              <a:gd name="connsiteY4" fmla="*/ 320634 h 1341912"/>
              <a:gd name="connsiteX5" fmla="*/ 3633849 w 3740727"/>
              <a:gd name="connsiteY5" fmla="*/ 356260 h 1341912"/>
              <a:gd name="connsiteX6" fmla="*/ 3610098 w 3740727"/>
              <a:gd name="connsiteY6" fmla="*/ 427512 h 1341912"/>
              <a:gd name="connsiteX7" fmla="*/ 3598223 w 3740727"/>
              <a:gd name="connsiteY7" fmla="*/ 463138 h 1341912"/>
              <a:gd name="connsiteX8" fmla="*/ 3562597 w 3740727"/>
              <a:gd name="connsiteY8" fmla="*/ 486888 h 1341912"/>
              <a:gd name="connsiteX9" fmla="*/ 3538846 w 3740727"/>
              <a:gd name="connsiteY9" fmla="*/ 522514 h 1341912"/>
              <a:gd name="connsiteX10" fmla="*/ 3503221 w 3740727"/>
              <a:gd name="connsiteY10" fmla="*/ 546265 h 1341912"/>
              <a:gd name="connsiteX11" fmla="*/ 3491345 w 3740727"/>
              <a:gd name="connsiteY11" fmla="*/ 581891 h 1341912"/>
              <a:gd name="connsiteX12" fmla="*/ 3443844 w 3740727"/>
              <a:gd name="connsiteY12" fmla="*/ 653143 h 1341912"/>
              <a:gd name="connsiteX13" fmla="*/ 3420093 w 3740727"/>
              <a:gd name="connsiteY13" fmla="*/ 688769 h 1341912"/>
              <a:gd name="connsiteX14" fmla="*/ 3384467 w 3740727"/>
              <a:gd name="connsiteY14" fmla="*/ 712519 h 1341912"/>
              <a:gd name="connsiteX15" fmla="*/ 3348841 w 3740727"/>
              <a:gd name="connsiteY15" fmla="*/ 748145 h 1341912"/>
              <a:gd name="connsiteX16" fmla="*/ 3277589 w 3740727"/>
              <a:gd name="connsiteY16" fmla="*/ 795647 h 1341912"/>
              <a:gd name="connsiteX17" fmla="*/ 3218213 w 3740727"/>
              <a:gd name="connsiteY17" fmla="*/ 855023 h 1341912"/>
              <a:gd name="connsiteX18" fmla="*/ 3182587 w 3740727"/>
              <a:gd name="connsiteY18" fmla="*/ 890649 h 1341912"/>
              <a:gd name="connsiteX19" fmla="*/ 3087584 w 3740727"/>
              <a:gd name="connsiteY19" fmla="*/ 914400 h 1341912"/>
              <a:gd name="connsiteX20" fmla="*/ 3004457 w 3740727"/>
              <a:gd name="connsiteY20" fmla="*/ 938151 h 1341912"/>
              <a:gd name="connsiteX21" fmla="*/ 2945080 w 3740727"/>
              <a:gd name="connsiteY21" fmla="*/ 950026 h 1341912"/>
              <a:gd name="connsiteX22" fmla="*/ 2850078 w 3740727"/>
              <a:gd name="connsiteY22" fmla="*/ 973777 h 1341912"/>
              <a:gd name="connsiteX23" fmla="*/ 2743200 w 3740727"/>
              <a:gd name="connsiteY23" fmla="*/ 1009403 h 1341912"/>
              <a:gd name="connsiteX24" fmla="*/ 2671948 w 3740727"/>
              <a:gd name="connsiteY24" fmla="*/ 1033153 h 1341912"/>
              <a:gd name="connsiteX25" fmla="*/ 2636322 w 3740727"/>
              <a:gd name="connsiteY25" fmla="*/ 1045029 h 1341912"/>
              <a:gd name="connsiteX26" fmla="*/ 2565070 w 3740727"/>
              <a:gd name="connsiteY26" fmla="*/ 1056904 h 1341912"/>
              <a:gd name="connsiteX27" fmla="*/ 2470067 w 3740727"/>
              <a:gd name="connsiteY27" fmla="*/ 1080654 h 1341912"/>
              <a:gd name="connsiteX28" fmla="*/ 2149434 w 3740727"/>
              <a:gd name="connsiteY28" fmla="*/ 1104405 h 1341912"/>
              <a:gd name="connsiteX29" fmla="*/ 1781298 w 3740727"/>
              <a:gd name="connsiteY29" fmla="*/ 1128156 h 1341912"/>
              <a:gd name="connsiteX30" fmla="*/ 1698171 w 3740727"/>
              <a:gd name="connsiteY30" fmla="*/ 1140031 h 1341912"/>
              <a:gd name="connsiteX31" fmla="*/ 1555667 w 3740727"/>
              <a:gd name="connsiteY31" fmla="*/ 1151906 h 1341912"/>
              <a:gd name="connsiteX32" fmla="*/ 1068779 w 3740727"/>
              <a:gd name="connsiteY32" fmla="*/ 1151906 h 1341912"/>
              <a:gd name="connsiteX33" fmla="*/ 997527 w 3740727"/>
              <a:gd name="connsiteY33" fmla="*/ 1175657 h 1341912"/>
              <a:gd name="connsiteX34" fmla="*/ 926275 w 3740727"/>
              <a:gd name="connsiteY34" fmla="*/ 1187532 h 1341912"/>
              <a:gd name="connsiteX35" fmla="*/ 593766 w 3740727"/>
              <a:gd name="connsiteY35" fmla="*/ 1211283 h 1341912"/>
              <a:gd name="connsiteX36" fmla="*/ 534389 w 3740727"/>
              <a:gd name="connsiteY36" fmla="*/ 1223158 h 1341912"/>
              <a:gd name="connsiteX37" fmla="*/ 463137 w 3740727"/>
              <a:gd name="connsiteY37" fmla="*/ 1235034 h 1341912"/>
              <a:gd name="connsiteX38" fmla="*/ 415636 w 3740727"/>
              <a:gd name="connsiteY38" fmla="*/ 1246909 h 1341912"/>
              <a:gd name="connsiteX39" fmla="*/ 332509 w 3740727"/>
              <a:gd name="connsiteY39" fmla="*/ 1270660 h 1341912"/>
              <a:gd name="connsiteX40" fmla="*/ 261257 w 3740727"/>
              <a:gd name="connsiteY40" fmla="*/ 1282535 h 1341912"/>
              <a:gd name="connsiteX41" fmla="*/ 225631 w 3740727"/>
              <a:gd name="connsiteY41" fmla="*/ 1294410 h 1341912"/>
              <a:gd name="connsiteX42" fmla="*/ 130628 w 3740727"/>
              <a:gd name="connsiteY42" fmla="*/ 1318161 h 1341912"/>
              <a:gd name="connsiteX43" fmla="*/ 83127 w 3740727"/>
              <a:gd name="connsiteY43" fmla="*/ 1330036 h 1341912"/>
              <a:gd name="connsiteX44" fmla="*/ 35626 w 3740727"/>
              <a:gd name="connsiteY44" fmla="*/ 1341912 h 1341912"/>
              <a:gd name="connsiteX45" fmla="*/ 0 w 3740727"/>
              <a:gd name="connsiteY45" fmla="*/ 1341912 h 134191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</a:cxnLst>
            <a:rect l="l" t="t" r="r" b="b"/>
            <a:pathLst>
              <a:path w="3740727" h="1341912">
                <a:moveTo>
                  <a:pt x="3740727" y="0"/>
                </a:moveTo>
                <a:cubicBezTo>
                  <a:pt x="3735252" y="38325"/>
                  <a:pt x="3728812" y="118813"/>
                  <a:pt x="3705101" y="154379"/>
                </a:cubicBezTo>
                <a:lnTo>
                  <a:pt x="3681350" y="190005"/>
                </a:lnTo>
                <a:cubicBezTo>
                  <a:pt x="3677392" y="201880"/>
                  <a:pt x="3671714" y="213315"/>
                  <a:pt x="3669475" y="225631"/>
                </a:cubicBezTo>
                <a:cubicBezTo>
                  <a:pt x="3663766" y="257030"/>
                  <a:pt x="3665997" y="289844"/>
                  <a:pt x="3657600" y="320634"/>
                </a:cubicBezTo>
                <a:cubicBezTo>
                  <a:pt x="3653845" y="334404"/>
                  <a:pt x="3641766" y="344385"/>
                  <a:pt x="3633849" y="356260"/>
                </a:cubicBezTo>
                <a:lnTo>
                  <a:pt x="3610098" y="427512"/>
                </a:lnTo>
                <a:cubicBezTo>
                  <a:pt x="3606140" y="439387"/>
                  <a:pt x="3608638" y="456195"/>
                  <a:pt x="3598223" y="463138"/>
                </a:cubicBezTo>
                <a:lnTo>
                  <a:pt x="3562597" y="486888"/>
                </a:lnTo>
                <a:cubicBezTo>
                  <a:pt x="3554680" y="498763"/>
                  <a:pt x="3548938" y="512422"/>
                  <a:pt x="3538846" y="522514"/>
                </a:cubicBezTo>
                <a:cubicBezTo>
                  <a:pt x="3528754" y="532606"/>
                  <a:pt x="3512137" y="535120"/>
                  <a:pt x="3503221" y="546265"/>
                </a:cubicBezTo>
                <a:cubicBezTo>
                  <a:pt x="3495401" y="556040"/>
                  <a:pt x="3497424" y="570949"/>
                  <a:pt x="3491345" y="581891"/>
                </a:cubicBezTo>
                <a:cubicBezTo>
                  <a:pt x="3477482" y="606844"/>
                  <a:pt x="3459678" y="629392"/>
                  <a:pt x="3443844" y="653143"/>
                </a:cubicBezTo>
                <a:cubicBezTo>
                  <a:pt x="3435927" y="665018"/>
                  <a:pt x="3431968" y="680852"/>
                  <a:pt x="3420093" y="688769"/>
                </a:cubicBezTo>
                <a:cubicBezTo>
                  <a:pt x="3408218" y="696686"/>
                  <a:pt x="3395431" y="703382"/>
                  <a:pt x="3384467" y="712519"/>
                </a:cubicBezTo>
                <a:cubicBezTo>
                  <a:pt x="3371565" y="723270"/>
                  <a:pt x="3362098" y="737834"/>
                  <a:pt x="3348841" y="748145"/>
                </a:cubicBezTo>
                <a:cubicBezTo>
                  <a:pt x="3326309" y="765670"/>
                  <a:pt x="3277589" y="795647"/>
                  <a:pt x="3277589" y="795647"/>
                </a:cubicBezTo>
                <a:cubicBezTo>
                  <a:pt x="3234047" y="860961"/>
                  <a:pt x="3277589" y="805543"/>
                  <a:pt x="3218213" y="855023"/>
                </a:cubicBezTo>
                <a:cubicBezTo>
                  <a:pt x="3205311" y="865774"/>
                  <a:pt x="3197876" y="883699"/>
                  <a:pt x="3182587" y="890649"/>
                </a:cubicBezTo>
                <a:cubicBezTo>
                  <a:pt x="3152871" y="904157"/>
                  <a:pt x="3118551" y="904078"/>
                  <a:pt x="3087584" y="914400"/>
                </a:cubicBezTo>
                <a:cubicBezTo>
                  <a:pt x="3047917" y="927622"/>
                  <a:pt x="3049182" y="928212"/>
                  <a:pt x="3004457" y="938151"/>
                </a:cubicBezTo>
                <a:cubicBezTo>
                  <a:pt x="2984753" y="942530"/>
                  <a:pt x="2964747" y="945487"/>
                  <a:pt x="2945080" y="950026"/>
                </a:cubicBezTo>
                <a:cubicBezTo>
                  <a:pt x="2913274" y="957366"/>
                  <a:pt x="2881045" y="963455"/>
                  <a:pt x="2850078" y="973777"/>
                </a:cubicBezTo>
                <a:lnTo>
                  <a:pt x="2743200" y="1009403"/>
                </a:lnTo>
                <a:lnTo>
                  <a:pt x="2671948" y="1033153"/>
                </a:lnTo>
                <a:cubicBezTo>
                  <a:pt x="2660073" y="1037112"/>
                  <a:pt x="2648669" y="1042971"/>
                  <a:pt x="2636322" y="1045029"/>
                </a:cubicBezTo>
                <a:cubicBezTo>
                  <a:pt x="2612571" y="1048987"/>
                  <a:pt x="2588614" y="1051859"/>
                  <a:pt x="2565070" y="1056904"/>
                </a:cubicBezTo>
                <a:cubicBezTo>
                  <a:pt x="2533152" y="1063743"/>
                  <a:pt x="2502547" y="1077406"/>
                  <a:pt x="2470067" y="1080654"/>
                </a:cubicBezTo>
                <a:cubicBezTo>
                  <a:pt x="2284239" y="1099238"/>
                  <a:pt x="2391027" y="1090194"/>
                  <a:pt x="2149434" y="1104405"/>
                </a:cubicBezTo>
                <a:cubicBezTo>
                  <a:pt x="1921542" y="1132891"/>
                  <a:pt x="2207567" y="1099738"/>
                  <a:pt x="1781298" y="1128156"/>
                </a:cubicBezTo>
                <a:cubicBezTo>
                  <a:pt x="1753370" y="1130018"/>
                  <a:pt x="1726008" y="1137101"/>
                  <a:pt x="1698171" y="1140031"/>
                </a:cubicBezTo>
                <a:cubicBezTo>
                  <a:pt x="1650767" y="1145021"/>
                  <a:pt x="1603168" y="1147948"/>
                  <a:pt x="1555667" y="1151906"/>
                </a:cubicBezTo>
                <a:cubicBezTo>
                  <a:pt x="1355226" y="1141357"/>
                  <a:pt x="1275350" y="1129773"/>
                  <a:pt x="1068779" y="1151906"/>
                </a:cubicBezTo>
                <a:cubicBezTo>
                  <a:pt x="1043886" y="1154573"/>
                  <a:pt x="1022222" y="1171541"/>
                  <a:pt x="997527" y="1175657"/>
                </a:cubicBezTo>
                <a:cubicBezTo>
                  <a:pt x="973776" y="1179615"/>
                  <a:pt x="950221" y="1185011"/>
                  <a:pt x="926275" y="1187532"/>
                </a:cubicBezTo>
                <a:cubicBezTo>
                  <a:pt x="869454" y="1193513"/>
                  <a:pt x="642497" y="1208034"/>
                  <a:pt x="593766" y="1211283"/>
                </a:cubicBezTo>
                <a:lnTo>
                  <a:pt x="534389" y="1223158"/>
                </a:lnTo>
                <a:cubicBezTo>
                  <a:pt x="510699" y="1227465"/>
                  <a:pt x="486748" y="1230312"/>
                  <a:pt x="463137" y="1235034"/>
                </a:cubicBezTo>
                <a:cubicBezTo>
                  <a:pt x="447133" y="1238235"/>
                  <a:pt x="431329" y="1242425"/>
                  <a:pt x="415636" y="1246909"/>
                </a:cubicBezTo>
                <a:cubicBezTo>
                  <a:pt x="362825" y="1261997"/>
                  <a:pt x="394372" y="1258287"/>
                  <a:pt x="332509" y="1270660"/>
                </a:cubicBezTo>
                <a:cubicBezTo>
                  <a:pt x="308898" y="1275382"/>
                  <a:pt x="284762" y="1277312"/>
                  <a:pt x="261257" y="1282535"/>
                </a:cubicBezTo>
                <a:cubicBezTo>
                  <a:pt x="249037" y="1285250"/>
                  <a:pt x="237708" y="1291116"/>
                  <a:pt x="225631" y="1294410"/>
                </a:cubicBezTo>
                <a:cubicBezTo>
                  <a:pt x="194139" y="1302999"/>
                  <a:pt x="162296" y="1310244"/>
                  <a:pt x="130628" y="1318161"/>
                </a:cubicBezTo>
                <a:lnTo>
                  <a:pt x="83127" y="1330036"/>
                </a:lnTo>
                <a:cubicBezTo>
                  <a:pt x="67293" y="1333995"/>
                  <a:pt x="51947" y="1341912"/>
                  <a:pt x="35626" y="1341912"/>
                </a:cubicBezTo>
                <a:lnTo>
                  <a:pt x="0" y="1341912"/>
                </a:lnTo>
              </a:path>
            </a:pathLst>
          </a:custGeom>
          <a:noFill/>
          <a:ln w="38100">
            <a:solidFill>
              <a:srgbClr val="80000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964D64D4-9D4E-0341-890E-56860177543E}"/>
              </a:ext>
            </a:extLst>
          </p:cNvPr>
          <p:cNvSpPr/>
          <p:nvPr/>
        </p:nvSpPr>
        <p:spPr>
          <a:xfrm>
            <a:off x="7635834" y="5213269"/>
            <a:ext cx="83127" cy="83127"/>
          </a:xfrm>
          <a:prstGeom prst="ellipse">
            <a:avLst/>
          </a:prstGeom>
          <a:solidFill>
            <a:srgbClr val="7030A0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03252998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D5C8AC73-5C76-E547-8EDC-35A71382207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Scope: what’s your goal?</a:t>
            </a:r>
          </a:p>
          <a:p>
            <a:r>
              <a:rPr lang="en-US" dirty="0"/>
              <a:t>Analytical Formulation: What are you predicting, for whom, when, how often, for and for what purpose?</a:t>
            </a:r>
          </a:p>
          <a:p>
            <a:r>
              <a:rPr lang="en-US" dirty="0"/>
              <a:t>baselines</a:t>
            </a:r>
          </a:p>
          <a:p>
            <a:r>
              <a:rPr lang="en-US" dirty="0"/>
              <a:t>What and when is a row? What and how far out is the label?</a:t>
            </a:r>
          </a:p>
          <a:p>
            <a:r>
              <a:rPr lang="en-US" dirty="0"/>
              <a:t>Features do not come with the data – you need to create them. They need to include not just information about the entity you’re predicting about but also about the context they’re in – compared to similar entities, in the recent past, in nearby places</a:t>
            </a:r>
          </a:p>
          <a:p>
            <a:r>
              <a:rPr lang="en-US" dirty="0"/>
              <a:t>What do you want to generalize to? Future? To a new geography? To a new domain? K-fold is rarely the right model selection method.</a:t>
            </a:r>
          </a:p>
          <a:p>
            <a:r>
              <a:rPr lang="en-US" dirty="0"/>
              <a:t>Leaving time for labels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1A8600DC-E8F7-0F44-911E-FF91D49269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6775092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D5C8AC73-5C76-E547-8EDC-35A71382207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Modeling: hyperparameters matter. Need to understand which ones to vary and what range. </a:t>
            </a:r>
            <a:r>
              <a:rPr lang="en-US" dirty="0" err="1"/>
              <a:t>Rfs</a:t>
            </a:r>
            <a:r>
              <a:rPr lang="en-US" dirty="0"/>
              <a:t>, LR, Dt, boosting, …</a:t>
            </a:r>
          </a:p>
          <a:p>
            <a:r>
              <a:rPr lang="en-US" dirty="0"/>
              <a:t>Models do not give 0/1 classification – they give a score that is rarely a probability. Do not use argmax or predict function in </a:t>
            </a:r>
            <a:r>
              <a:rPr lang="en-US" dirty="0" err="1"/>
              <a:t>sklearn</a:t>
            </a:r>
            <a:endParaRPr lang="en-US" dirty="0"/>
          </a:p>
          <a:p>
            <a:r>
              <a:rPr lang="en-US" dirty="0"/>
              <a:t>Metrics: there is no such thing as absolute accuracy, precision or recall. It depends on the threshold. 0.5 is a bad threshold in general but often assumed in ml packages.</a:t>
            </a:r>
          </a:p>
          <a:p>
            <a:r>
              <a:rPr lang="en-US" dirty="0"/>
              <a:t>AUC can be useful but not in most problems. </a:t>
            </a:r>
          </a:p>
          <a:p>
            <a:r>
              <a:rPr lang="en-US" b="1" dirty="0" err="1"/>
              <a:t>Pr</a:t>
            </a:r>
            <a:r>
              <a:rPr lang="en-US" b="1" dirty="0"/>
              <a:t>-k curve</a:t>
            </a:r>
            <a:r>
              <a:rPr lang="en-US" dirty="0"/>
              <a:t> </a:t>
            </a:r>
          </a:p>
          <a:p>
            <a:r>
              <a:rPr lang="en-US" b="1" dirty="0"/>
              <a:t>Model selection</a:t>
            </a:r>
          </a:p>
          <a:p>
            <a:r>
              <a:rPr lang="en-US" b="1" dirty="0"/>
              <a:t>Interpretability – using simple models to debug. Print them out,. Cross-tabs</a:t>
            </a:r>
          </a:p>
          <a:p>
            <a:r>
              <a:rPr lang="en-US" dirty="0"/>
              <a:t>Bias and fairness</a:t>
            </a:r>
          </a:p>
          <a:p>
            <a:r>
              <a:rPr lang="en-US" dirty="0"/>
              <a:t>trials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1A8600DC-E8F7-0F44-911E-FF91D49269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45757502"/>
      </p:ext>
    </p:extLst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791</TotalTime>
  <Words>1051</Words>
  <Application>Microsoft Macintosh PowerPoint</Application>
  <PresentationFormat>Widescreen</PresentationFormat>
  <Paragraphs>151</Paragraphs>
  <Slides>23</Slides>
  <Notes>5</Notes>
  <HiddenSlides>2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23</vt:i4>
      </vt:variant>
    </vt:vector>
  </HeadingPairs>
  <TitlesOfParts>
    <vt:vector size="26" baseType="lpstr">
      <vt:lpstr>Arial</vt:lpstr>
      <vt:lpstr>Calibri</vt:lpstr>
      <vt:lpstr>Simple Light</vt:lpstr>
      <vt:lpstr>PowerPoint Presentation</vt:lpstr>
      <vt:lpstr>Reminders</vt:lpstr>
      <vt:lpstr>PowerPoint Presentation</vt:lpstr>
      <vt:lpstr>What we want(ed) you to learn from this class</vt:lpstr>
      <vt:lpstr>PowerPoint Presentation</vt:lpstr>
      <vt:lpstr>The Data we get is conditioned on a lot of things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Class Recap</vt:lpstr>
      <vt:lpstr>Recap of Module I</vt:lpstr>
      <vt:lpstr>Many Bias Measures: How do we select what we care about?</vt:lpstr>
      <vt:lpstr>Varying the Threshold – Budget Menu</vt:lpstr>
      <vt:lpstr>Interpretability Use Cases</vt:lpstr>
      <vt:lpstr>Data and AI Ethics Issues</vt:lpstr>
      <vt:lpstr>Translating policy goals to fairness metrics</vt:lpstr>
      <vt:lpstr>Dual Goals: Fairness and Accuracy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Microsoft Office User</dc:creator>
  <cp:lastModifiedBy>Rayid Ghani</cp:lastModifiedBy>
  <cp:revision>25</cp:revision>
  <dcterms:created xsi:type="dcterms:W3CDTF">2020-01-14T19:43:43Z</dcterms:created>
  <dcterms:modified xsi:type="dcterms:W3CDTF">2025-11-25T21:46:46Z</dcterms:modified>
</cp:coreProperties>
</file>