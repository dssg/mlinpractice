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81" r:id="rId3"/>
    <p:sldId id="270" r:id="rId4"/>
    <p:sldId id="299" r:id="rId5"/>
    <p:sldId id="301" r:id="rId6"/>
    <p:sldId id="295" r:id="rId7"/>
    <p:sldId id="282" r:id="rId8"/>
    <p:sldId id="285" r:id="rId9"/>
    <p:sldId id="283" r:id="rId10"/>
    <p:sldId id="260" r:id="rId11"/>
    <p:sldId id="304" r:id="rId12"/>
    <p:sldId id="303" r:id="rId13"/>
    <p:sldId id="261" r:id="rId14"/>
    <p:sldId id="306" r:id="rId15"/>
    <p:sldId id="287" r:id="rId16"/>
    <p:sldId id="262" r:id="rId17"/>
    <p:sldId id="288" r:id="rId18"/>
    <p:sldId id="289" r:id="rId19"/>
    <p:sldId id="290" r:id="rId20"/>
    <p:sldId id="280" r:id="rId21"/>
    <p:sldId id="291" r:id="rId22"/>
    <p:sldId id="293" r:id="rId23"/>
    <p:sldId id="296" r:id="rId24"/>
    <p:sldId id="302" r:id="rId25"/>
    <p:sldId id="305" r:id="rId26"/>
  </p:sldIdLst>
  <p:sldSz cx="12192000" cy="6858000"/>
  <p:notesSz cx="6858000" cy="9144000"/>
  <p:custDataLst>
    <p:tags r:id="rId28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3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42"/>
    <p:restoredTop sz="93173"/>
  </p:normalViewPr>
  <p:slideViewPr>
    <p:cSldViewPr snapToGrid="0" snapToObjects="1">
      <p:cViewPr varScale="1">
        <p:scale>
          <a:sx n="99" d="100"/>
          <a:sy n="99" d="100"/>
        </p:scale>
        <p:origin x="200" y="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gs" Target="tags/tag1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5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6d8ed670a8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6d8ed670a8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6dad9273e7_0_25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6" name="Google Shape;36;g6dad9273e7_0_25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7" name="Google Shape;37;g6dad9273e7_0_2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" name="Google Shape;38;g6dad9273e7_0_25"/>
          <p:cNvSpPr/>
          <p:nvPr/>
        </p:nvSpPr>
        <p:spPr>
          <a:xfrm>
            <a:off x="-28367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6dad9273e7_0_30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41" name="Google Shape;41;g6dad9273e7_0_3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6dad9273e7_0_33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g6dad9273e7_0_33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45" name="Google Shape;45;g6dad9273e7_0_33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6" name="Google Shape;46;g6dad9273e7_0_33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g6dad9273e7_0_3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6dad9273e7_0_39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50" name="Google Shape;50;g6dad9273e7_0_3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6dad9273e7_0_42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3" name="Google Shape;53;g6dad9273e7_0_42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g6dad9273e7_0_4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6dad9273e7_0_48"/>
          <p:cNvSpPr/>
          <p:nvPr/>
        </p:nvSpPr>
        <p:spPr>
          <a:xfrm>
            <a:off x="0" y="6434139"/>
            <a:ext cx="12192000" cy="4239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University of Chicago                                                                      @rayidghani				</a:t>
            </a:r>
            <a:endParaRPr/>
          </a:p>
        </p:txBody>
      </p:sp>
      <p:sp>
        <p:nvSpPr>
          <p:cNvPr id="59" name="Google Shape;59;g6dad9273e7_0_48"/>
          <p:cNvSpPr/>
          <p:nvPr/>
        </p:nvSpPr>
        <p:spPr>
          <a:xfrm>
            <a:off x="0" y="2"/>
            <a:ext cx="12192000" cy="12066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g6dad9273e7_0_48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g6dad9273e7_0_48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0" y="1"/>
            <a:ext cx="12192000" cy="106980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ssg/MLinPractice/blob/main/datadescription.md" TargetMode="Externa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4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9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5.svg"/><Relationship Id="rId11" Type="http://schemas.openxmlformats.org/officeDocument/2006/relationships/image" Target="../media/image8.png"/><Relationship Id="rId5" Type="http://schemas.openxmlformats.org/officeDocument/2006/relationships/image" Target="../media/image4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10.xml"/><Relationship Id="rId9" Type="http://schemas.openxmlformats.org/officeDocument/2006/relationships/image" Target="../media/image7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ssg/MLinPractice/blob/main/datadescription.md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1800161"/>
            <a:ext cx="12192000" cy="102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Data Acquisition, Storage, and Linkage </a:t>
            </a: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Make sure and check that you can access your project repo today and </a:t>
            </a:r>
            <a:r>
              <a:rPr lang="en-US" b="1" dirty="0">
                <a:hlinkClick r:id="rId2"/>
              </a:rPr>
              <a:t>download the data</a:t>
            </a:r>
            <a:endParaRPr lang="en-US" b="1" dirty="0"/>
          </a:p>
          <a:p>
            <a:endParaRPr lang="en-US" dirty="0"/>
          </a:p>
          <a:p>
            <a:pPr marL="565150" lvl="1" indent="0">
              <a:buNone/>
            </a:pPr>
            <a:endParaRPr lang="en-US" dirty="0"/>
          </a:p>
          <a:p>
            <a:r>
              <a:rPr lang="en-US" dirty="0"/>
              <a:t>What’s coming next week:</a:t>
            </a:r>
          </a:p>
          <a:p>
            <a:pPr lvl="1"/>
            <a:r>
              <a:rPr lang="en-US" dirty="0"/>
              <a:t>Data Exploration Assignment and Presentation</a:t>
            </a:r>
          </a:p>
          <a:p>
            <a:pPr lvl="1">
              <a:lnSpc>
                <a:spcPct val="100000"/>
              </a:lnSpc>
              <a:spcBef>
                <a:spcPts val="500"/>
              </a:spcBef>
            </a:pPr>
            <a:r>
              <a:rPr lang="en-US" dirty="0"/>
              <a:t>Formulation and Baselines: Readings (Obermeyer et al; Passi &amp; Barocas)</a:t>
            </a:r>
          </a:p>
        </p:txBody>
      </p:sp>
    </p:spTree>
    <p:extLst>
      <p:ext uri="{BB962C8B-B14F-4D97-AF65-F5344CB8AC3E}">
        <p14:creationId xmlns:p14="http://schemas.microsoft.com/office/powerpoint/2010/main" val="1285932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dirty="0"/>
              <a:t>Project</a:t>
            </a:r>
            <a:endParaRPr dirty="0"/>
          </a:p>
        </p:txBody>
      </p:sp>
      <p:sp>
        <p:nvSpPr>
          <p:cNvPr id="165" name="Google Shape;165;p27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169329" indent="0">
              <a:lnSpc>
                <a:spcPct val="146250"/>
              </a:lnSpc>
              <a:buClr>
                <a:srgbClr val="444444"/>
              </a:buClr>
              <a:buSzPts val="1600"/>
              <a:buNone/>
            </a:pPr>
            <a:endParaRPr dirty="0">
              <a:solidFill>
                <a:srgbClr val="222222"/>
              </a:solidFill>
              <a:highlight>
                <a:srgbClr val="FFFFFF"/>
              </a:highlight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754616C-B13B-734C-9D90-D3E25C1D84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56966"/>
            <a:ext cx="12192000" cy="5501033"/>
          </a:xfrm>
          <a:prstGeom prst="rect">
            <a:avLst/>
          </a:prstGeom>
        </p:spPr>
      </p:pic>
      <p:pic>
        <p:nvPicPr>
          <p:cNvPr id="1026" name="Picture 2" descr="DonorsChoose: Support a classroom. Build a future.">
            <a:extLst>
              <a:ext uri="{FF2B5EF4-FFF2-40B4-BE49-F238E27FC236}">
                <a16:creationId xmlns:a16="http://schemas.microsoft.com/office/drawing/2014/main" id="{63585741-D5E1-0C49-9B35-C444E3CCF1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1904" y="1378167"/>
            <a:ext cx="3320097" cy="1743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Working with Your Project Team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dirty="0"/>
              <a:t>Spend some time up front figuring out how to work as a team and work styles</a:t>
            </a:r>
            <a:br>
              <a:rPr lang="en-US" altLang="en-US" dirty="0"/>
            </a:br>
            <a:endParaRPr lang="en-US" altLang="en-US" dirty="0"/>
          </a:p>
          <a:p>
            <a:pPr>
              <a:lnSpc>
                <a:spcPct val="150000"/>
              </a:lnSpc>
            </a:pPr>
            <a:r>
              <a:rPr lang="en-US" altLang="en-US" dirty="0"/>
              <a:t>Everyone should participate in </a:t>
            </a:r>
            <a:r>
              <a:rPr lang="en-US" altLang="en-US" b="1" dirty="0">
                <a:solidFill>
                  <a:srgbClr val="FF0000"/>
                </a:solidFill>
              </a:rPr>
              <a:t>all</a:t>
            </a:r>
            <a:r>
              <a:rPr lang="en-US" altLang="en-US" dirty="0"/>
              <a:t> aspects of project</a:t>
            </a:r>
          </a:p>
          <a:p>
            <a:pPr lvl="1">
              <a:lnSpc>
                <a:spcPct val="100000"/>
              </a:lnSpc>
            </a:pPr>
            <a:r>
              <a:rPr lang="en-US" altLang="en-US" dirty="0"/>
              <a:t>No individual should do the majority of the coding, report writing, etc.</a:t>
            </a:r>
            <a:br>
              <a:rPr lang="en-US" altLang="en-US" dirty="0"/>
            </a:br>
            <a:br>
              <a:rPr lang="en-US" altLang="en-US" dirty="0"/>
            </a:br>
            <a:endParaRPr lang="en-US" altLang="en-US" dirty="0"/>
          </a:p>
          <a:p>
            <a:pPr>
              <a:lnSpc>
                <a:spcPct val="150000"/>
              </a:lnSpc>
            </a:pPr>
            <a:r>
              <a:rPr lang="en-US" altLang="en-US" dirty="0"/>
              <a:t>However, you should divide up different pieces of the work</a:t>
            </a:r>
          </a:p>
          <a:p>
            <a:pPr lvl="1">
              <a:lnSpc>
                <a:spcPct val="100000"/>
              </a:lnSpc>
            </a:pPr>
            <a:r>
              <a:rPr lang="en-US" altLang="en-US" dirty="0"/>
              <a:t>For instance, working on different parts of the pipeline code in parallel or splitting up sections of the report</a:t>
            </a:r>
          </a:p>
        </p:txBody>
      </p:sp>
    </p:spTree>
    <p:extLst>
      <p:ext uri="{BB962C8B-B14F-4D97-AF65-F5344CB8AC3E}">
        <p14:creationId xmlns:p14="http://schemas.microsoft.com/office/powerpoint/2010/main" val="3853540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Working with Your Project Team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07750" y="1548990"/>
            <a:ext cx="11776400" cy="45552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dirty="0"/>
              <a:t>Active participation in the group work throughout the entire semester is required by all the team members, and a very large component of your grade</a:t>
            </a:r>
            <a:br>
              <a:rPr lang="en-US" altLang="en-US" dirty="0"/>
            </a:br>
            <a:endParaRPr lang="en-US" altLang="en-US" dirty="0"/>
          </a:p>
          <a:p>
            <a:pPr>
              <a:lnSpc>
                <a:spcPct val="150000"/>
              </a:lnSpc>
            </a:pPr>
            <a:r>
              <a:rPr lang="en-US" altLang="en-US" dirty="0"/>
              <a:t>Collaboration is encouraged, both within and across teams! Learning from each others’ strengths is a big benefit of group work, and you should feel free to discuss strategies and approaches with other teams (i.e., it’s not a competition)</a:t>
            </a:r>
            <a:br>
              <a:rPr lang="en-US" altLang="en-US" dirty="0"/>
            </a:br>
            <a:endParaRPr lang="en-US" altLang="en-US" dirty="0"/>
          </a:p>
          <a:p>
            <a:pPr>
              <a:lnSpc>
                <a:spcPct val="150000"/>
              </a:lnSpc>
            </a:pPr>
            <a:r>
              <a:rPr lang="en-US" altLang="en-US" dirty="0"/>
              <a:t>Pacing your work is important. You won’t be able to do everything the week before the final report. You’ll need to be iterative.</a:t>
            </a:r>
          </a:p>
        </p:txBody>
      </p:sp>
    </p:spTree>
    <p:extLst>
      <p:ext uri="{BB962C8B-B14F-4D97-AF65-F5344CB8AC3E}">
        <p14:creationId xmlns:p14="http://schemas.microsoft.com/office/powerpoint/2010/main" val="2457927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37878827"/>
              </p:ext>
            </p:extLst>
          </p:nvPr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3226525" y="274320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55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A03E0F-5F3D-5B4D-8232-BF72B84A1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Political</a:t>
            </a:r>
          </a:p>
          <a:p>
            <a:r>
              <a:rPr lang="en-US" dirty="0"/>
              <a:t>Internal Awareness</a:t>
            </a:r>
          </a:p>
          <a:p>
            <a:r>
              <a:rPr lang="en-US" dirty="0"/>
              <a:t>Legal/Contractual</a:t>
            </a:r>
          </a:p>
          <a:p>
            <a:r>
              <a:rPr lang="en-US" dirty="0"/>
              <a:t>Ethical</a:t>
            </a:r>
          </a:p>
          <a:p>
            <a:r>
              <a:rPr lang="en-US" dirty="0"/>
              <a:t>Technical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185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60A25-02BD-674B-9661-DF031B0CB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Acquisition: Technical (challenges)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464FC-F480-BD4E-8C73-EA0095EB6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rarely work with production data directly so how should you get data?</a:t>
            </a:r>
          </a:p>
          <a:p>
            <a:pPr lvl="1">
              <a:spcBef>
                <a:spcPts val="0"/>
              </a:spcBef>
            </a:pPr>
            <a:r>
              <a:rPr lang="en-US" dirty="0"/>
              <a:t>API access</a:t>
            </a:r>
          </a:p>
          <a:p>
            <a:pPr lvl="1">
              <a:spcBef>
                <a:spcPts val="0"/>
              </a:spcBef>
            </a:pPr>
            <a:r>
              <a:rPr lang="en-US" dirty="0"/>
              <a:t>Flat files</a:t>
            </a:r>
          </a:p>
          <a:p>
            <a:pPr lvl="1">
              <a:spcBef>
                <a:spcPts val="0"/>
              </a:spcBef>
            </a:pPr>
            <a:r>
              <a:rPr lang="en-US" dirty="0"/>
              <a:t>Database dumps</a:t>
            </a:r>
          </a:p>
          <a:p>
            <a:pPr lvl="1">
              <a:spcBef>
                <a:spcPts val="0"/>
              </a:spcBef>
            </a:pPr>
            <a:endParaRPr lang="en-US" dirty="0"/>
          </a:p>
          <a:p>
            <a:r>
              <a:rPr lang="en-US" dirty="0"/>
              <a:t>How much should it be processed before you get it?</a:t>
            </a:r>
          </a:p>
          <a:p>
            <a:endParaRPr lang="en-US" dirty="0"/>
          </a:p>
          <a:p>
            <a:r>
              <a:rPr lang="en-US" dirty="0"/>
              <a:t>How do you build a repeatable data acquisition pipeline?</a:t>
            </a:r>
          </a:p>
          <a:p>
            <a:endParaRPr lang="en-US" dirty="0"/>
          </a:p>
          <a:p>
            <a:r>
              <a:rPr lang="en-US" dirty="0"/>
              <a:t>When do you collect new data?</a:t>
            </a:r>
          </a:p>
          <a:p>
            <a:pPr marL="565150" lvl="1" indent="0">
              <a:spcBef>
                <a:spcPts val="0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8977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F140B-CCBA-6544-AE2A-A3E88E046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Storage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BFB7A9-1DE4-3B44-ACD9-B7066AE50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Databases whenever possible</a:t>
            </a:r>
          </a:p>
          <a:p>
            <a:pPr lvl="1"/>
            <a:r>
              <a:rPr lang="en-US" dirty="0"/>
              <a:t>Types of databases</a:t>
            </a:r>
          </a:p>
          <a:p>
            <a:pPr lvl="1"/>
            <a:endParaRPr lang="en-US" dirty="0"/>
          </a:p>
          <a:p>
            <a:r>
              <a:rPr lang="en-US" dirty="0"/>
              <a:t>Deidentification when dealing with confidential/sensitive identifiable data</a:t>
            </a:r>
          </a:p>
          <a:p>
            <a:pPr lvl="1"/>
            <a:r>
              <a:rPr lang="en-US" dirty="0"/>
              <a:t>hashing</a:t>
            </a:r>
          </a:p>
        </p:txBody>
      </p:sp>
    </p:spTree>
    <p:extLst>
      <p:ext uri="{BB962C8B-B14F-4D97-AF65-F5344CB8AC3E}">
        <p14:creationId xmlns:p14="http://schemas.microsoft.com/office/powerpoint/2010/main" val="1278687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Linkage: Goals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en-US" sz="3200" dirty="0"/>
              <a:t>Determine if pairs of </a:t>
            </a:r>
            <a:r>
              <a:rPr lang="en-US" altLang="en-US" sz="3200" i="1" dirty="0"/>
              <a:t>records </a:t>
            </a:r>
            <a:r>
              <a:rPr lang="en-US" altLang="en-US" sz="3200" dirty="0"/>
              <a:t>describe the same </a:t>
            </a:r>
            <a:r>
              <a:rPr lang="en-US" altLang="en-US" sz="3200"/>
              <a:t>entity </a:t>
            </a:r>
            <a:endParaRPr lang="en-US" altLang="en-US" sz="3200" dirty="0"/>
          </a:p>
          <a:p>
            <a:endParaRPr lang="en-US" altLang="en-US" sz="3200" dirty="0"/>
          </a:p>
          <a:p>
            <a:r>
              <a:rPr lang="en-US" altLang="en-US" sz="3200" dirty="0"/>
              <a:t>Main applications: </a:t>
            </a:r>
          </a:p>
          <a:p>
            <a:pPr lvl="1"/>
            <a:r>
              <a:rPr lang="en-US" altLang="en-US" sz="2800" i="1" dirty="0"/>
              <a:t>Joining</a:t>
            </a:r>
            <a:r>
              <a:rPr lang="en-US" altLang="en-US" sz="2800" dirty="0"/>
              <a:t> two different data sources</a:t>
            </a:r>
          </a:p>
          <a:p>
            <a:pPr lvl="1"/>
            <a:r>
              <a:rPr lang="en-US" altLang="en-US" sz="2800" i="1" dirty="0"/>
              <a:t>Removing duplicates</a:t>
            </a:r>
            <a:r>
              <a:rPr lang="en-US" altLang="en-US" sz="2800" dirty="0"/>
              <a:t> from a single data source</a:t>
            </a:r>
          </a:p>
        </p:txBody>
      </p:sp>
    </p:spTree>
    <p:extLst>
      <p:ext uri="{BB962C8B-B14F-4D97-AF65-F5344CB8AC3E}">
        <p14:creationId xmlns:p14="http://schemas.microsoft.com/office/powerpoint/2010/main" val="34161356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A27326-4218-CA5D-9C44-15561D41533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8BB997-FAE1-8DF0-BB01-6279EE673C0E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400" b="1">
                <a:solidFill>
                  <a:srgbClr val="000000"/>
                </a:solidFill>
              </a:rPr>
              <a:t>How much experience do you have with record linkage/matching in your prior (or current) work?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786180-F13C-4AB9-F137-5B0ABC38AEC9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F0427CE-988D-4F98-A9FA-52855AA165E9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97E181FC-7003-C137-0682-08A32365436B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FE7835DF-1211-1025-ACB5-92B674ADF7DF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483924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Quick Poll (</a:t>
            </a:r>
            <a:r>
              <a:rPr lang="en-US" altLang="en-US" dirty="0" err="1"/>
              <a:t>slido</a:t>
            </a:r>
            <a:r>
              <a:rPr lang="en-US" altLang="en-US" dirty="0"/>
              <a:t>)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76200" indent="0" algn="ctr">
              <a:buNone/>
            </a:pPr>
            <a:r>
              <a:rPr lang="en-US" altLang="en-US" sz="3200" dirty="0"/>
              <a:t>How much experience do you have with </a:t>
            </a:r>
          </a:p>
          <a:p>
            <a:pPr marL="76200" indent="0" algn="ctr">
              <a:buNone/>
            </a:pPr>
            <a:r>
              <a:rPr lang="en-US" altLang="en-US" sz="3200" dirty="0"/>
              <a:t>record linkage in your prior (or current) work?</a:t>
            </a:r>
          </a:p>
          <a:p>
            <a:pPr marL="76200" indent="0" algn="ctr">
              <a:buNone/>
            </a:pPr>
            <a:endParaRPr lang="en-US" altLang="en-US" sz="3200" dirty="0"/>
          </a:p>
          <a:p>
            <a:pPr marL="76200" indent="0" algn="ctr">
              <a:buNone/>
            </a:pPr>
            <a:endParaRPr lang="en-US" altLang="en-US" sz="3200" dirty="0"/>
          </a:p>
          <a:p>
            <a:pPr marL="76200" indent="0" algn="ctr">
              <a:buNone/>
            </a:pPr>
            <a:r>
              <a:rPr lang="en-US" altLang="en-US" sz="3200" dirty="0" err="1"/>
              <a:t>slido.com</a:t>
            </a:r>
            <a:r>
              <a:rPr lang="en-US" altLang="en-US" sz="3200" dirty="0"/>
              <a:t>    #10718</a:t>
            </a: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0887577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Record Linkage: Synonyms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dirty="0"/>
              <a:t>(data) matching</a:t>
            </a:r>
          </a:p>
          <a:p>
            <a:pPr>
              <a:lnSpc>
                <a:spcPct val="150000"/>
              </a:lnSpc>
            </a:pPr>
            <a:r>
              <a:rPr lang="en-US" altLang="en-US" dirty="0"/>
              <a:t>merge/purge</a:t>
            </a:r>
          </a:p>
          <a:p>
            <a:pPr>
              <a:lnSpc>
                <a:spcPct val="150000"/>
              </a:lnSpc>
            </a:pPr>
            <a:r>
              <a:rPr lang="en-US" altLang="en-US" dirty="0"/>
              <a:t>duplicate detection</a:t>
            </a:r>
          </a:p>
          <a:p>
            <a:pPr>
              <a:lnSpc>
                <a:spcPct val="150000"/>
              </a:lnSpc>
            </a:pPr>
            <a:r>
              <a:rPr lang="en-US" altLang="en-US" dirty="0"/>
              <a:t>de-duping</a:t>
            </a:r>
          </a:p>
          <a:p>
            <a:pPr>
              <a:lnSpc>
                <a:spcPct val="150000"/>
              </a:lnSpc>
            </a:pPr>
            <a:r>
              <a:rPr lang="en-US" altLang="en-US" dirty="0"/>
              <a:t>reference matching</a:t>
            </a:r>
          </a:p>
          <a:p>
            <a:pPr>
              <a:lnSpc>
                <a:spcPct val="150000"/>
              </a:lnSpc>
            </a:pPr>
            <a:r>
              <a:rPr lang="en-US" altLang="en-US" dirty="0"/>
              <a:t>co-reference/anaphora resolution</a:t>
            </a:r>
          </a:p>
        </p:txBody>
      </p:sp>
    </p:spTree>
    <p:extLst>
      <p:ext uri="{BB962C8B-B14F-4D97-AF65-F5344CB8AC3E}">
        <p14:creationId xmlns:p14="http://schemas.microsoft.com/office/powerpoint/2010/main" val="2446059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3F62F-D0EC-DDA3-C252-1D5EC08BE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 in practice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8DF6B7-AAAA-B333-F8AE-570DC8B524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0646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Factors to consider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Deduping</a:t>
            </a:r>
            <a:r>
              <a:rPr lang="en-US" dirty="0"/>
              <a:t> or Linkage</a:t>
            </a:r>
          </a:p>
          <a:p>
            <a:pPr lvl="1"/>
            <a:r>
              <a:rPr lang="en-US" dirty="0"/>
              <a:t>1-1 or 1-many or many-1</a:t>
            </a:r>
          </a:p>
          <a:p>
            <a:pPr lvl="1"/>
            <a:endParaRPr lang="en-US" dirty="0"/>
          </a:p>
          <a:p>
            <a:r>
              <a:rPr lang="en-US" dirty="0"/>
              <a:t>Rule-based or ML based</a:t>
            </a:r>
          </a:p>
          <a:p>
            <a:pPr lvl="1"/>
            <a:r>
              <a:rPr lang="en-US" dirty="0"/>
              <a:t>Do you have labeled training data?</a:t>
            </a:r>
          </a:p>
          <a:p>
            <a:pPr lvl="1"/>
            <a:endParaRPr lang="en-US" dirty="0"/>
          </a:p>
          <a:p>
            <a:r>
              <a:rPr lang="en-US" dirty="0"/>
              <a:t>Domain specific or generic similarity metrics?</a:t>
            </a:r>
          </a:p>
          <a:p>
            <a:endParaRPr lang="en-US" dirty="0"/>
          </a:p>
          <a:p>
            <a:r>
              <a:rPr lang="en-US" dirty="0"/>
              <a:t>Evaluation metric</a:t>
            </a:r>
          </a:p>
          <a:p>
            <a:pPr lvl="1"/>
            <a:r>
              <a:rPr lang="en-US" dirty="0"/>
              <a:t>Precision or recall</a:t>
            </a:r>
          </a:p>
          <a:p>
            <a:pPr lvl="1"/>
            <a:r>
              <a:rPr lang="en-US" dirty="0"/>
              <a:t>Task-specific - Implications on future analysis (bias for example)</a:t>
            </a:r>
          </a:p>
        </p:txBody>
      </p:sp>
    </p:spTree>
    <p:extLst>
      <p:ext uri="{BB962C8B-B14F-4D97-AF65-F5344CB8AC3E}">
        <p14:creationId xmlns:p14="http://schemas.microsoft.com/office/powerpoint/2010/main" val="5621807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Approaches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Exact matching</a:t>
            </a:r>
          </a:p>
          <a:p>
            <a:r>
              <a:rPr lang="en-US" altLang="en-US" dirty="0"/>
              <a:t>Rule-based</a:t>
            </a:r>
          </a:p>
          <a:p>
            <a:r>
              <a:rPr lang="en-US" altLang="en-US" dirty="0"/>
              <a:t>Probabilistic linkage</a:t>
            </a:r>
          </a:p>
        </p:txBody>
      </p:sp>
    </p:spTree>
    <p:extLst>
      <p:ext uri="{BB962C8B-B14F-4D97-AF65-F5344CB8AC3E}">
        <p14:creationId xmlns:p14="http://schemas.microsoft.com/office/powerpoint/2010/main" val="23830653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reasons for mismatches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Case (capital, lower case, etc.)</a:t>
            </a:r>
          </a:p>
          <a:p>
            <a:r>
              <a:rPr lang="en-US" dirty="0"/>
              <a:t>Nicknames</a:t>
            </a:r>
          </a:p>
          <a:p>
            <a:r>
              <a:rPr lang="en-US" dirty="0"/>
              <a:t>Prefixes</a:t>
            </a:r>
          </a:p>
          <a:p>
            <a:r>
              <a:rPr lang="en-US" dirty="0"/>
              <a:t>Suffixes</a:t>
            </a:r>
          </a:p>
          <a:p>
            <a:r>
              <a:rPr lang="en-US" dirty="0"/>
              <a:t>Initials</a:t>
            </a:r>
          </a:p>
          <a:p>
            <a:r>
              <a:rPr lang="en-US" dirty="0"/>
              <a:t>Punctuation</a:t>
            </a:r>
          </a:p>
          <a:p>
            <a:r>
              <a:rPr lang="en-US" dirty="0"/>
              <a:t>Spaces</a:t>
            </a:r>
          </a:p>
          <a:p>
            <a:r>
              <a:rPr lang="en-US" dirty="0"/>
              <a:t>Digits </a:t>
            </a:r>
          </a:p>
          <a:p>
            <a:r>
              <a:rPr lang="en-US" dirty="0"/>
              <a:t>Transpositions</a:t>
            </a:r>
          </a:p>
          <a:p>
            <a:r>
              <a:rPr lang="en-US" dirty="0"/>
              <a:t>Abbreviations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006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are two records about the same entity?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 of possible similarity metrics</a:t>
            </a:r>
          </a:p>
          <a:p>
            <a:pPr lvl="1"/>
            <a:r>
              <a:rPr lang="en-US" dirty="0"/>
              <a:t>Edit distance</a:t>
            </a:r>
          </a:p>
          <a:p>
            <a:pPr lvl="1"/>
            <a:r>
              <a:rPr lang="en-US" dirty="0" err="1"/>
              <a:t>Soundex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34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“Fuzzy” Matching System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set of cascading rules</a:t>
            </a:r>
          </a:p>
          <a:p>
            <a:r>
              <a:rPr lang="en-US" dirty="0"/>
              <a:t>Assign confidence score based on which rules fire</a:t>
            </a:r>
          </a:p>
        </p:txBody>
      </p:sp>
    </p:spTree>
    <p:extLst>
      <p:ext uri="{BB962C8B-B14F-4D97-AF65-F5344CB8AC3E}">
        <p14:creationId xmlns:p14="http://schemas.microsoft.com/office/powerpoint/2010/main" val="23639329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How do we not compare every pair?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800" dirty="0"/>
              <a:t>How do we avoid looking at |A| * |B| pairs?</a:t>
            </a:r>
          </a:p>
          <a:p>
            <a:pPr>
              <a:lnSpc>
                <a:spcPct val="90000"/>
              </a:lnSpc>
            </a:pPr>
            <a:r>
              <a:rPr lang="en-US" altLang="en-US" sz="2800" i="1" dirty="0"/>
              <a:t>Blocking: </a:t>
            </a:r>
            <a:r>
              <a:rPr lang="en-US" altLang="en-US" sz="2800" dirty="0"/>
              <a:t>choose a smaller set of pairs that will contain all or most matches.  </a:t>
            </a:r>
          </a:p>
          <a:p>
            <a:pPr lvl="1">
              <a:lnSpc>
                <a:spcPct val="90000"/>
              </a:lnSpc>
            </a:pPr>
            <a:r>
              <a:rPr lang="en-US" altLang="en-US" sz="2400" dirty="0"/>
              <a:t>Simple blocking:  compare all pairs that “hash” to the same value (e.g., same </a:t>
            </a:r>
            <a:r>
              <a:rPr lang="en-US" altLang="en-US" sz="2400" dirty="0" err="1"/>
              <a:t>Soundex</a:t>
            </a:r>
            <a:r>
              <a:rPr lang="en-US" altLang="en-US" sz="2400" dirty="0"/>
              <a:t> code for last name, same birth year)</a:t>
            </a:r>
          </a:p>
          <a:p>
            <a:pPr lvl="1">
              <a:lnSpc>
                <a:spcPct val="90000"/>
              </a:lnSpc>
            </a:pPr>
            <a:r>
              <a:rPr lang="en-US" altLang="en-US" sz="2400" dirty="0"/>
              <a:t>Extensions (to increase </a:t>
            </a:r>
            <a:r>
              <a:rPr lang="en-US" altLang="en-US" sz="2400" i="1" dirty="0"/>
              <a:t>recall </a:t>
            </a:r>
            <a:r>
              <a:rPr lang="en-US" altLang="en-US" sz="2400" dirty="0"/>
              <a:t>of set of pairs):</a:t>
            </a:r>
          </a:p>
          <a:p>
            <a:pPr lvl="2">
              <a:lnSpc>
                <a:spcPct val="90000"/>
              </a:lnSpc>
            </a:pPr>
            <a:r>
              <a:rPr lang="en-US" altLang="en-US" sz="2000" dirty="0"/>
              <a:t>Block on </a:t>
            </a:r>
            <a:r>
              <a:rPr lang="en-US" altLang="en-US" sz="2000" i="1" dirty="0"/>
              <a:t>multiple</a:t>
            </a:r>
            <a:r>
              <a:rPr lang="en-US" altLang="en-US" sz="2000" dirty="0"/>
              <a:t> attributes (</a:t>
            </a:r>
            <a:r>
              <a:rPr lang="en-US" altLang="en-US" sz="2000" dirty="0" err="1"/>
              <a:t>soundex</a:t>
            </a:r>
            <a:r>
              <a:rPr lang="en-US" altLang="en-US" sz="2000" dirty="0"/>
              <a:t>, zip code) and take union of all pairs found.</a:t>
            </a:r>
          </a:p>
          <a:p>
            <a:pPr lvl="2">
              <a:lnSpc>
                <a:spcPct val="90000"/>
              </a:lnSpc>
            </a:pPr>
            <a:r>
              <a:rPr lang="en-US" altLang="en-US" sz="2000" i="1" dirty="0"/>
              <a:t>Windowing:</a:t>
            </a:r>
            <a:r>
              <a:rPr lang="en-US" altLang="en-US" sz="2000" dirty="0"/>
              <a:t> Pick (numerically or lexically) </a:t>
            </a:r>
            <a:r>
              <a:rPr lang="en-US" altLang="en-US" sz="2000" i="1" dirty="0"/>
              <a:t>ordered</a:t>
            </a:r>
            <a:r>
              <a:rPr lang="en-US" altLang="en-US" sz="2000" dirty="0"/>
              <a:t> attributes and sort (e.g., sort on last name).  The pick all pairs that appear “near” each other in the sorted order.</a:t>
            </a:r>
          </a:p>
        </p:txBody>
      </p:sp>
    </p:spTree>
    <p:extLst>
      <p:ext uri="{BB962C8B-B14F-4D97-AF65-F5344CB8AC3E}">
        <p14:creationId xmlns:p14="http://schemas.microsoft.com/office/powerpoint/2010/main" val="37724626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based Record Linkage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 training data</a:t>
            </a:r>
          </a:p>
          <a:p>
            <a:pPr lvl="1"/>
            <a:r>
              <a:rPr lang="en-US" dirty="0"/>
              <a:t>Label pairs as match/no match</a:t>
            </a:r>
          </a:p>
          <a:p>
            <a:pPr lvl="1"/>
            <a:endParaRPr lang="en-US" dirty="0"/>
          </a:p>
          <a:p>
            <a:r>
              <a:rPr lang="en-US" dirty="0"/>
              <a:t>Generate features over each pair</a:t>
            </a:r>
          </a:p>
          <a:p>
            <a:pPr lvl="1"/>
            <a:r>
              <a:rPr lang="en-US" dirty="0"/>
              <a:t>Distance metrics over different attributes (</a:t>
            </a:r>
            <a:r>
              <a:rPr lang="en-US" dirty="0" err="1"/>
              <a:t>fname</a:t>
            </a:r>
            <a:r>
              <a:rPr lang="en-US" dirty="0"/>
              <a:t>, </a:t>
            </a:r>
            <a:r>
              <a:rPr lang="en-US" dirty="0" err="1"/>
              <a:t>lname</a:t>
            </a:r>
            <a:r>
              <a:rPr lang="en-US" dirty="0"/>
              <a:t>, dob, etc.)</a:t>
            </a:r>
          </a:p>
          <a:p>
            <a:pPr lvl="1"/>
            <a:r>
              <a:rPr lang="en-US" dirty="0" err="1"/>
              <a:t>Tfidf</a:t>
            </a:r>
            <a:r>
              <a:rPr lang="en-US" dirty="0"/>
              <a:t> scores</a:t>
            </a:r>
          </a:p>
          <a:p>
            <a:pPr lvl="1"/>
            <a:endParaRPr lang="en-US" dirty="0"/>
          </a:p>
          <a:p>
            <a:r>
              <a:rPr lang="en-US" dirty="0"/>
              <a:t>Build and evaluate classifiers</a:t>
            </a:r>
          </a:p>
        </p:txBody>
      </p:sp>
    </p:spTree>
    <p:extLst>
      <p:ext uri="{BB962C8B-B14F-4D97-AF65-F5344CB8AC3E}">
        <p14:creationId xmlns:p14="http://schemas.microsoft.com/office/powerpoint/2010/main" val="12212985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50FF5-E8EC-234D-805C-399C50330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One-off versus recurring matching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D32BE4-76DA-C042-A3E3-35B452F39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Unique identifiers: persistence?</a:t>
            </a:r>
          </a:p>
          <a:p>
            <a:endParaRPr lang="en-US" dirty="0"/>
          </a:p>
          <a:p>
            <a:r>
              <a:rPr lang="en-US" dirty="0"/>
              <a:t>What do we do with new or changed pairs?</a:t>
            </a:r>
          </a:p>
        </p:txBody>
      </p:sp>
    </p:spTree>
    <p:extLst>
      <p:ext uri="{BB962C8B-B14F-4D97-AF65-F5344CB8AC3E}">
        <p14:creationId xmlns:p14="http://schemas.microsoft.com/office/powerpoint/2010/main" val="8345756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04EB1-290D-E647-B684-F8A3D3B28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Topic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F5889-4B8C-7449-87CD-1929C07EE8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sz="3200" dirty="0"/>
              <a:t>What are downstream impacts (generally) of a false positive in record linkage? What about a false negative?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7855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04EB1-290D-E647-B684-F8A3D3B28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Topic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F5889-4B8C-7449-87CD-1929C07EE8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sz="3200" dirty="0"/>
              <a:t>What types of common mismatch errors might affect groups differently, resulting in downstream fairness impacts?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1227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75AFB-0551-A3F4-DB9F-48A98B039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31A580-2B74-0FD7-92F1-2AF7D56F4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E3AA1A-3A9E-D3B0-9450-631D7833C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Make sure and check that you can access your project repo today and </a:t>
            </a:r>
            <a:r>
              <a:rPr lang="en-US" b="1" dirty="0">
                <a:hlinkClick r:id="rId2"/>
              </a:rPr>
              <a:t>download the data</a:t>
            </a:r>
            <a:endParaRPr lang="en-US" b="1" dirty="0"/>
          </a:p>
          <a:p>
            <a:endParaRPr lang="en-US" dirty="0"/>
          </a:p>
          <a:p>
            <a:pPr marL="565150" lvl="1" indent="0">
              <a:buNone/>
            </a:pPr>
            <a:endParaRPr lang="en-US" dirty="0"/>
          </a:p>
          <a:p>
            <a:r>
              <a:rPr lang="en-US" dirty="0"/>
              <a:t>What’s coming next week:</a:t>
            </a:r>
          </a:p>
          <a:p>
            <a:pPr lvl="1"/>
            <a:r>
              <a:rPr lang="en-US" dirty="0"/>
              <a:t>Data Exploration Assignment and Presentation</a:t>
            </a:r>
          </a:p>
          <a:p>
            <a:pPr lvl="1">
              <a:lnSpc>
                <a:spcPct val="100000"/>
              </a:lnSpc>
              <a:spcBef>
                <a:spcPts val="500"/>
              </a:spcBef>
            </a:pPr>
            <a:r>
              <a:rPr lang="en-US" dirty="0"/>
              <a:t>Formulation and Baselines: Readings (Obermeyer et al; Passi &amp; Barocas)</a:t>
            </a:r>
          </a:p>
        </p:txBody>
      </p:sp>
    </p:spTree>
    <p:extLst>
      <p:ext uri="{BB962C8B-B14F-4D97-AF65-F5344CB8AC3E}">
        <p14:creationId xmlns:p14="http://schemas.microsoft.com/office/powerpoint/2010/main" val="9329058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6b8172e1-10b1-440c-ad33-3aaaf891be27"/>
  <p:tag name="SLIDO_EVENT_UUID" val="0161bee7-9b52-48ab-bd01-308fc07c8a33"/>
  <p:tag name="SLIDO_EVENT_SECTION_UUID" val="53f7b2fd-9b37-4ce9-89ff-a9a7d9b782a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cc6ad4e3-ae10-4be2-b854-927465caf366"/>
  <p:tag name="SLIDO_TIMELINE" val="W3sicG9sbFF1ZXN0aW9uVXVpZCI6ImU2MTFlYzQzLTBlOGUtNDQ4OS04YTY5LTBiNDNhNDZmM2I3OSIsInNob3dSZXN1bHRzIjpmYWxzZX0seyJwb2xsUXVlc3Rpb25VdWlkIjoiZTYxMWVjNDMtMGU4ZS00NDg5LThhNjktMGI0M2E0NmYzYjc5Iiwic2hvd1Jlc3VsdHMiOnRydWV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MultipleChoi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3073</TotalTime>
  <Words>878</Words>
  <Application>Microsoft Macintosh PowerPoint</Application>
  <PresentationFormat>Widescreen</PresentationFormat>
  <Paragraphs>159</Paragraphs>
  <Slides>25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Simple Light</vt:lpstr>
      <vt:lpstr>PowerPoint Presentation</vt:lpstr>
      <vt:lpstr>Things to remember</vt:lpstr>
      <vt:lpstr>Project</vt:lpstr>
      <vt:lpstr> Working with Your Project Team</vt:lpstr>
      <vt:lpstr> Working with Your Project Team</vt:lpstr>
      <vt:lpstr>PowerPoint Presentation</vt:lpstr>
      <vt:lpstr>Challenges</vt:lpstr>
      <vt:lpstr>Data Acquisition: Technical (challenges)</vt:lpstr>
      <vt:lpstr>Data Storage</vt:lpstr>
      <vt:lpstr> Linkage: Goals</vt:lpstr>
      <vt:lpstr>PowerPoint Presentation</vt:lpstr>
      <vt:lpstr> Quick Poll (slido)</vt:lpstr>
      <vt:lpstr> Record Linkage: Synonyms</vt:lpstr>
      <vt:lpstr>Use cases in practice</vt:lpstr>
      <vt:lpstr>Factors to consider</vt:lpstr>
      <vt:lpstr>Approaches</vt:lpstr>
      <vt:lpstr>Common reasons for mismatches</vt:lpstr>
      <vt:lpstr>When are two records about the same entity?</vt:lpstr>
      <vt:lpstr>“Fuzzy” Matching System </vt:lpstr>
      <vt:lpstr>How do we not compare every pair?</vt:lpstr>
      <vt:lpstr>Machine Learning based Record Linkage</vt:lpstr>
      <vt:lpstr>One-off versus recurring matching</vt:lpstr>
      <vt:lpstr>Discussion Topic</vt:lpstr>
      <vt:lpstr>Discussion Topic</vt:lpstr>
      <vt:lpstr>Things to remember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37</cp:revision>
  <dcterms:created xsi:type="dcterms:W3CDTF">2020-01-14T19:43:43Z</dcterms:created>
  <dcterms:modified xsi:type="dcterms:W3CDTF">2025-09-04T00:55:01Z</dcterms:modified>
</cp:coreProperties>
</file>