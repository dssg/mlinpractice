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1" r:id="rId3"/>
    <p:sldId id="270" r:id="rId4"/>
    <p:sldId id="299" r:id="rId5"/>
    <p:sldId id="301" r:id="rId6"/>
    <p:sldId id="295" r:id="rId7"/>
    <p:sldId id="309" r:id="rId8"/>
    <p:sldId id="307" r:id="rId9"/>
    <p:sldId id="325" r:id="rId10"/>
    <p:sldId id="310" r:id="rId11"/>
    <p:sldId id="292" r:id="rId12"/>
    <p:sldId id="311" r:id="rId13"/>
    <p:sldId id="294" r:id="rId14"/>
    <p:sldId id="312" r:id="rId15"/>
    <p:sldId id="313" r:id="rId16"/>
    <p:sldId id="314" r:id="rId17"/>
    <p:sldId id="315" r:id="rId18"/>
    <p:sldId id="316" r:id="rId19"/>
    <p:sldId id="317" r:id="rId20"/>
    <p:sldId id="323" r:id="rId21"/>
    <p:sldId id="324" r:id="rId22"/>
    <p:sldId id="283" r:id="rId23"/>
    <p:sldId id="260" r:id="rId24"/>
    <p:sldId id="308" r:id="rId25"/>
    <p:sldId id="304" r:id="rId26"/>
    <p:sldId id="303" r:id="rId27"/>
    <p:sldId id="261" r:id="rId28"/>
    <p:sldId id="306" r:id="rId29"/>
    <p:sldId id="287" r:id="rId30"/>
    <p:sldId id="262" r:id="rId31"/>
    <p:sldId id="288" r:id="rId32"/>
    <p:sldId id="289" r:id="rId33"/>
    <p:sldId id="290" r:id="rId34"/>
    <p:sldId id="280" r:id="rId35"/>
    <p:sldId id="291" r:id="rId36"/>
    <p:sldId id="293" r:id="rId37"/>
    <p:sldId id="296" r:id="rId38"/>
    <p:sldId id="302" r:id="rId39"/>
    <p:sldId id="326" r:id="rId40"/>
    <p:sldId id="305" r:id="rId41"/>
  </p:sldIdLst>
  <p:sldSz cx="12192000" cy="6858000"/>
  <p:notesSz cx="6858000" cy="9144000"/>
  <p:custDataLst>
    <p:tags r:id="rId4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9"/>
    <p:restoredTop sz="93142"/>
  </p:normalViewPr>
  <p:slideViewPr>
    <p:cSldViewPr snapToGrid="0" snapToObjects="1">
      <p:cViewPr varScale="1">
        <p:scale>
          <a:sx n="133" d="100"/>
          <a:sy n="133" d="100"/>
        </p:scale>
        <p:origin x="208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d8ed670a8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d8ed670a8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2cbaf05b3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32cbaf05b3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g32cbaf05b3f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>
          <a:extLst>
            <a:ext uri="{FF2B5EF4-FFF2-40B4-BE49-F238E27FC236}">
              <a16:creationId xmlns:a16="http://schemas.microsoft.com/office/drawing/2014/main" id="{71D8EA42-F480-3D7A-5E2E-764D2854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2cbaf05b3f_0_70:notes">
            <a:extLst>
              <a:ext uri="{FF2B5EF4-FFF2-40B4-BE49-F238E27FC236}">
                <a16:creationId xmlns:a16="http://schemas.microsoft.com/office/drawing/2014/main" id="{247124CE-C8D5-4ADB-5C2B-DEBE4BE35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32cbaf05b3f_0_70:notes">
            <a:extLst>
              <a:ext uri="{FF2B5EF4-FFF2-40B4-BE49-F238E27FC236}">
                <a16:creationId xmlns:a16="http://schemas.microsoft.com/office/drawing/2014/main" id="{D97A67A3-5058-63A9-C39F-74A0E7ABB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g32cbaf05b3f_0_70:notes">
            <a:extLst>
              <a:ext uri="{FF2B5EF4-FFF2-40B4-BE49-F238E27FC236}">
                <a16:creationId xmlns:a16="http://schemas.microsoft.com/office/drawing/2014/main" id="{8C9BAEBB-9138-1C8E-21E6-373F50BA59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474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2cbaf05b3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2cbaf05b3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Types of data: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Program Level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Transactional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Spatial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Text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Images/Audio/Video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9" name="Google Shape;509;g32cbaf05b3f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2f73e32a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g32f73e32a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32f73e32ac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2d3355825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g32d3355825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is never perfect –  is it useful enough to improve over status quo?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Can you augment with external data? Public data? Partner with other organizations that have supplementary data?</a:t>
            </a:r>
            <a:endParaRPr/>
          </a:p>
        </p:txBody>
      </p:sp>
      <p:sp>
        <p:nvSpPr>
          <p:cNvPr id="533" name="Google Shape;533;g32d3355825c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d3355825c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32d3355825c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0" name="Google Shape;540;g32d3355825c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Police data</a:t>
            </a:r>
          </a:p>
          <a:p>
            <a:r>
              <a:rPr lang="en-US" dirty="0"/>
              <a:t>School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1343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data collection for causa </a:t>
            </a:r>
            <a:r>
              <a:rPr lang="en-US" dirty="0" err="1"/>
              <a:t>leffects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5120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2d3355825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g32d3355825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4" name="Google Shape;584;g32d3355825c_1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dad9273e7_0_2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g6dad9273e7_0_2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g6dad9273e7_0_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g6dad9273e7_0_25"/>
          <p:cNvSpPr/>
          <p:nvPr/>
        </p:nvSpPr>
        <p:spPr>
          <a:xfrm>
            <a:off x="-28367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6dad9273e7_0_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1" name="Google Shape;41;g6dad9273e7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6dad9273e7_0_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6dad9273e7_0_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5" name="Google Shape;45;g6dad9273e7_0_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g6dad9273e7_0_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6dad9273e7_0_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6dad9273e7_0_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g6dad9273e7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dad9273e7_0_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3" name="Google Shape;53;g6dad9273e7_0_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6dad9273e7_0_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ad9273e7_0_48"/>
          <p:cNvSpPr/>
          <p:nvPr/>
        </p:nvSpPr>
        <p:spPr>
          <a:xfrm>
            <a:off x="0" y="6434139"/>
            <a:ext cx="12192000" cy="423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University of Chicago                                                                      @rayidghani				</a:t>
            </a:r>
            <a:endParaRPr/>
          </a:p>
        </p:txBody>
      </p:sp>
      <p:sp>
        <p:nvSpPr>
          <p:cNvPr id="59" name="Google Shape;59;g6dad9273e7_0_48"/>
          <p:cNvSpPr/>
          <p:nvPr/>
        </p:nvSpPr>
        <p:spPr>
          <a:xfrm>
            <a:off x="0" y="2"/>
            <a:ext cx="12192000" cy="1206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6dad9273e7_0_48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6dad9273e7_0_48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0" y="1"/>
            <a:ext cx="12192000" cy="10698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>
            <a:spLocks noGrp="1"/>
          </p:cNvSpPr>
          <p:nvPr>
            <p:ph type="ctrTitle"/>
          </p:nvPr>
        </p:nvSpPr>
        <p:spPr>
          <a:xfrm>
            <a:off x="914400" y="185128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666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ssg/MLinPractice/blob/main/datadescription.md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ciencepublicpolicy.org/our-work/tools-guides/datamaturity/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ssg/MLinPractice/blob/main/datadescription.md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800161"/>
            <a:ext cx="12192000" cy="10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Data Acquisition, Storage, and Linkage </a:t>
            </a: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Make sure and check that you can access your project repo today and </a:t>
            </a:r>
            <a:r>
              <a:rPr lang="en-US" b="1" dirty="0">
                <a:hlinkClick r:id="rId2"/>
              </a:rPr>
              <a:t>download the data</a:t>
            </a:r>
            <a:endParaRPr lang="en-US" b="1" dirty="0"/>
          </a:p>
          <a:p>
            <a:endParaRPr lang="en-US" dirty="0"/>
          </a:p>
          <a:p>
            <a:pPr marL="565150" lvl="1" indent="0">
              <a:buNone/>
            </a:pPr>
            <a:endParaRPr lang="en-US" dirty="0"/>
          </a:p>
          <a:p>
            <a:r>
              <a:rPr lang="en-US" dirty="0"/>
              <a:t>What’s coming next week:</a:t>
            </a:r>
          </a:p>
          <a:p>
            <a:pPr lvl="1"/>
            <a:r>
              <a:rPr lang="en-US" dirty="0"/>
              <a:t>Data Exploration Assignment and Presentation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en-US" dirty="0"/>
              <a:t>Formulation and Baselines: Readings (Obermeyer et al; Passi &amp; Barocas)</a:t>
            </a:r>
          </a:p>
        </p:txBody>
      </p:sp>
    </p:spTree>
    <p:extLst>
      <p:ext uri="{BB962C8B-B14F-4D97-AF65-F5344CB8AC3E}">
        <p14:creationId xmlns:p14="http://schemas.microsoft.com/office/powerpoint/2010/main" val="128593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Project</a:t>
            </a:r>
            <a:endParaRPr dirty="0"/>
          </a:p>
        </p:txBody>
      </p:sp>
      <p:sp>
        <p:nvSpPr>
          <p:cNvPr id="165" name="Google Shape;165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69329" indent="0">
              <a:lnSpc>
                <a:spcPct val="146250"/>
              </a:lnSpc>
              <a:buClr>
                <a:srgbClr val="444444"/>
              </a:buClr>
              <a:buSzPts val="1600"/>
              <a:buNone/>
            </a:pP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54616C-B13B-734C-9D90-D3E25C1D8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6966"/>
            <a:ext cx="12192000" cy="5501033"/>
          </a:xfrm>
          <a:prstGeom prst="rect">
            <a:avLst/>
          </a:prstGeom>
        </p:spPr>
      </p:pic>
      <p:pic>
        <p:nvPicPr>
          <p:cNvPr id="1026" name="Picture 2" descr="DonorsChoose: Support a classroom. Build a future.">
            <a:extLst>
              <a:ext uri="{FF2B5EF4-FFF2-40B4-BE49-F238E27FC236}">
                <a16:creationId xmlns:a16="http://schemas.microsoft.com/office/drawing/2014/main" id="{63585741-D5E1-0C49-9B35-C444E3CCF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904" y="1378167"/>
            <a:ext cx="3320097" cy="17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Working with Your Project Team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Spend some time up front figuring out how to work as a team and work styles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Everyone should participate in </a:t>
            </a:r>
            <a:r>
              <a:rPr lang="en-US" altLang="en-US" b="1" dirty="0">
                <a:solidFill>
                  <a:srgbClr val="FF0000"/>
                </a:solidFill>
              </a:rPr>
              <a:t>all</a:t>
            </a:r>
            <a:r>
              <a:rPr lang="en-US" altLang="en-US" dirty="0"/>
              <a:t> aspects of project</a:t>
            </a:r>
          </a:p>
          <a:p>
            <a:pPr lvl="1">
              <a:lnSpc>
                <a:spcPct val="100000"/>
              </a:lnSpc>
            </a:pPr>
            <a:r>
              <a:rPr lang="en-US" altLang="en-US" dirty="0"/>
              <a:t>No individual should do the majority of the coding, report writing, etc.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However, you should divide up different pieces of the work</a:t>
            </a:r>
          </a:p>
          <a:p>
            <a:pPr lvl="1">
              <a:lnSpc>
                <a:spcPct val="100000"/>
              </a:lnSpc>
            </a:pPr>
            <a:r>
              <a:rPr lang="en-US" altLang="en-US" dirty="0"/>
              <a:t>For instance, working on different parts of the pipeline code in parallel or splitting up sections of the report</a:t>
            </a:r>
          </a:p>
        </p:txBody>
      </p:sp>
    </p:spTree>
    <p:extLst>
      <p:ext uri="{BB962C8B-B14F-4D97-AF65-F5344CB8AC3E}">
        <p14:creationId xmlns:p14="http://schemas.microsoft.com/office/powerpoint/2010/main" val="385354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Working with Your Project Team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750" y="1548990"/>
            <a:ext cx="11776400" cy="4555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Active participation in the group work throughout the entire semester is required by all the team members, and a very large component of your grade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Collaboration is encouraged, both within and across teams! Learning from each others’ strengths is a big benefit of group work, and you should feel free to discuss strategies and approaches with other teams (i.e., it’s not a competition)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Pacing your work is important. You won’t be able to do everything the week before the final report. You’ll need to be iterative.</a:t>
            </a:r>
          </a:p>
        </p:txBody>
      </p:sp>
    </p:spTree>
    <p:extLst>
      <p:ext uri="{BB962C8B-B14F-4D97-AF65-F5344CB8AC3E}">
        <p14:creationId xmlns:p14="http://schemas.microsoft.com/office/powerpoint/2010/main" val="245792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878827"/>
              </p:ext>
            </p:extLst>
          </p:nvPr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3226525" y="274320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55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2cbaf05b3f_0_70"/>
          <p:cNvSpPr/>
          <p:nvPr/>
        </p:nvSpPr>
        <p:spPr>
          <a:xfrm>
            <a:off x="458367" y="1125900"/>
            <a:ext cx="3192400" cy="3911200"/>
          </a:xfrm>
          <a:prstGeom prst="rect">
            <a:avLst/>
          </a:prstGeom>
          <a:solidFill>
            <a:srgbClr val="FBF2C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What data do we have access to?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2cbaf05b3f_0_70"/>
          <p:cNvSpPr/>
          <p:nvPr/>
        </p:nvSpPr>
        <p:spPr>
          <a:xfrm>
            <a:off x="8381367" y="1125900"/>
            <a:ext cx="3192400" cy="3911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What data do we need?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2cbaf05b3f_0_70"/>
          <p:cNvSpPr/>
          <p:nvPr/>
        </p:nvSpPr>
        <p:spPr>
          <a:xfrm>
            <a:off x="4470667" y="1125900"/>
            <a:ext cx="3192400" cy="39112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How do we identify and fill any gaps?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1E1250-A521-FA05-EDC7-76CC3AB1185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9F6EE6-CB6B-7C33-D07D-C42C9391D4D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has your experience with databases?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82A259-8004-66DA-0458-4118EB46A3AD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5C0B002-5A6C-2DD8-5E43-3755284C4EE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02D2D64-D131-22C5-315F-B69805CED7C4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08A427A-545D-8BB9-61D9-A1466893ED0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448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3310D4BD-AE49-98DE-02EC-EEE2321E1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2cbaf05b3f_0_70">
            <a:extLst>
              <a:ext uri="{FF2B5EF4-FFF2-40B4-BE49-F238E27FC236}">
                <a16:creationId xmlns:a16="http://schemas.microsoft.com/office/drawing/2014/main" id="{B402B65B-EA79-1808-CEAB-3448B41AD78E}"/>
              </a:ext>
            </a:extLst>
          </p:cNvPr>
          <p:cNvSpPr/>
          <p:nvPr/>
        </p:nvSpPr>
        <p:spPr>
          <a:xfrm>
            <a:off x="458367" y="1125900"/>
            <a:ext cx="3192400" cy="3911200"/>
          </a:xfrm>
          <a:prstGeom prst="rect">
            <a:avLst/>
          </a:prstGeom>
          <a:solidFill>
            <a:srgbClr val="FBF2C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What data do we have access to?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2cbaf05b3f_0_70">
            <a:extLst>
              <a:ext uri="{FF2B5EF4-FFF2-40B4-BE49-F238E27FC236}">
                <a16:creationId xmlns:a16="http://schemas.microsoft.com/office/drawing/2014/main" id="{F9E1E0EA-0F4E-EBA2-9870-E8ADA1BD4915}"/>
              </a:ext>
            </a:extLst>
          </p:cNvPr>
          <p:cNvSpPr/>
          <p:nvPr/>
        </p:nvSpPr>
        <p:spPr>
          <a:xfrm>
            <a:off x="8381367" y="1125900"/>
            <a:ext cx="3192400" cy="3911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What data do we need?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2cbaf05b3f_0_70">
            <a:extLst>
              <a:ext uri="{FF2B5EF4-FFF2-40B4-BE49-F238E27FC236}">
                <a16:creationId xmlns:a16="http://schemas.microsoft.com/office/drawing/2014/main" id="{DE55A1F6-FEB2-FC94-73F8-E6B608B3567B}"/>
              </a:ext>
            </a:extLst>
          </p:cNvPr>
          <p:cNvSpPr/>
          <p:nvPr/>
        </p:nvSpPr>
        <p:spPr>
          <a:xfrm>
            <a:off x="4470667" y="1125900"/>
            <a:ext cx="3192400" cy="39112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2500"/>
            </a:pPr>
            <a:r>
              <a:rPr lang="en-US" sz="3333">
                <a:latin typeface="Calibri"/>
                <a:ea typeface="Calibri"/>
                <a:cs typeface="Calibri"/>
                <a:sym typeface="Calibri"/>
              </a:rPr>
              <a:t>How do we identify and fill any gaps?</a:t>
            </a:r>
            <a:endParaRPr sz="3333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378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2cbaf05b3f_0_56"/>
          <p:cNvSpPr/>
          <p:nvPr/>
        </p:nvSpPr>
        <p:spPr>
          <a:xfrm>
            <a:off x="6950000" y="1656800"/>
            <a:ext cx="4826400" cy="3620000"/>
          </a:xfrm>
          <a:prstGeom prst="roundRect">
            <a:avLst>
              <a:gd name="adj" fmla="val 6971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85133" tIns="585133" rIns="585133" bIns="585133" anchor="ctr" anchorCtr="0">
            <a:noAutofit/>
          </a:bodyPr>
          <a:lstStyle/>
          <a:p>
            <a:pPr algn="ctr">
              <a:buSzPts val="6700"/>
            </a:pPr>
            <a:endParaRPr sz="89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2cbaf05b3f_0_5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What data do you have?</a:t>
            </a:r>
            <a:endParaRPr/>
          </a:p>
        </p:txBody>
      </p:sp>
      <p:sp>
        <p:nvSpPr>
          <p:cNvPr id="513" name="Google Shape;513;g32cbaf05b3f_0_56"/>
          <p:cNvSpPr txBox="1">
            <a:spLocks noGrp="1"/>
          </p:cNvSpPr>
          <p:nvPr>
            <p:ph type="body" idx="1"/>
          </p:nvPr>
        </p:nvSpPr>
        <p:spPr>
          <a:xfrm>
            <a:off x="1158300" y="1789800"/>
            <a:ext cx="535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dk1"/>
                </a:solidFill>
              </a:rPr>
              <a:t>How far back does historical data go?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dk1"/>
                </a:solidFill>
              </a:rPr>
              <a:t>What is the granularity of the data?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dk1"/>
                </a:solidFill>
              </a:rPr>
              <a:t>How is the data collected and updated? 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With what frequency?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14" name="Google Shape;514;g32cbaf05b3f_0_56"/>
          <p:cNvSpPr txBox="1"/>
          <p:nvPr/>
        </p:nvSpPr>
        <p:spPr>
          <a:xfrm>
            <a:off x="9115370" y="3026779"/>
            <a:ext cx="1371294" cy="201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SzPts val="1200"/>
            </a:pPr>
            <a:r>
              <a:rPr lang="en-US" sz="115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96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" name="Google Shape;515;g32cbaf05b3f_0_56"/>
          <p:cNvSpPr txBox="1"/>
          <p:nvPr/>
        </p:nvSpPr>
        <p:spPr>
          <a:xfrm>
            <a:off x="7668835" y="2263179"/>
            <a:ext cx="3414487" cy="7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SzPts val="1700"/>
            </a:pPr>
            <a:r>
              <a:rPr lang="en-US" sz="2400" b="1" dirty="0" err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Donorschoose</a:t>
            </a:r>
            <a:endParaRPr sz="2400" b="1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16" name="Google Shape;516;g32cbaf05b3f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600" y="1839367"/>
            <a:ext cx="654400" cy="6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2cbaf05b3f_0_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600" y="4161032"/>
            <a:ext cx="654400" cy="6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32cbaf05b3f_0_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00" y="2949399"/>
            <a:ext cx="654400" cy="6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2f73e32acf_0_0"/>
          <p:cNvSpPr txBox="1"/>
          <p:nvPr/>
        </p:nvSpPr>
        <p:spPr>
          <a:xfrm>
            <a:off x="1553617" y="1958000"/>
            <a:ext cx="4490400" cy="2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100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to inform and measure progress on Goals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Sufficient reliable historical data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Captures relevant outcomes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spcAft>
                <a:spcPts val="1333"/>
              </a:spcAft>
              <a:buSzPts val="18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the cohort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2f73e32acf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What data do you need?</a:t>
            </a:r>
            <a:endParaRPr/>
          </a:p>
        </p:txBody>
      </p:sp>
      <p:pic>
        <p:nvPicPr>
          <p:cNvPr id="527" name="Google Shape;527;g32f73e32ac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718" y="2087601"/>
            <a:ext cx="1080833" cy="108083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32f73e32acf_0_0"/>
          <p:cNvSpPr txBox="1"/>
          <p:nvPr/>
        </p:nvSpPr>
        <p:spPr>
          <a:xfrm>
            <a:off x="7609884" y="1958000"/>
            <a:ext cx="4212400" cy="2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100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to inform Actions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Refreshed at least as frequently as the action is taken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buSzPts val="18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Covers the same granularity as the proposed action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1333"/>
              </a:spcBef>
              <a:spcAft>
                <a:spcPts val="1333"/>
              </a:spcAft>
              <a:buSzPts val="18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g32f73e32acf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450" y="2087567"/>
            <a:ext cx="1080833" cy="108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2d3355825c_1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Identifying Data Gaps and Readiness</a:t>
            </a:r>
            <a:endParaRPr/>
          </a:p>
        </p:txBody>
      </p:sp>
      <p:sp>
        <p:nvSpPr>
          <p:cNvPr id="536" name="Google Shape;536;g32d3355825c_1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Do we have enough to move forward, or do we need to focus on getting additional data? </a:t>
            </a:r>
            <a:endParaRPr dirty="0"/>
          </a:p>
          <a:p>
            <a:pPr marL="0" indent="0">
              <a:lnSpc>
                <a:spcPct val="150000"/>
              </a:lnSpc>
              <a:buNone/>
            </a:pP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Do we have enough historical data?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Is it reliable going back?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Is it at the right level of granularity to inform the actions?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Are different pieces of data linkable? unique identifiers for people, places, etc.</a:t>
            </a:r>
            <a:endParaRPr dirty="0"/>
          </a:p>
          <a:p>
            <a:pPr marL="609585" indent="-507987">
              <a:lnSpc>
                <a:spcPct val="150000"/>
              </a:lnSpc>
              <a:buChar char="-"/>
            </a:pPr>
            <a:r>
              <a:rPr lang="en-US" dirty="0"/>
              <a:t>Do we have the right data to measure outcomes (based on the goals)?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2d3355825c_1_12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 dirty="0"/>
              <a:t>Example: preventing water main breaks in Syracuse</a:t>
            </a:r>
            <a:endParaRPr dirty="0"/>
          </a:p>
        </p:txBody>
      </p:sp>
      <p:sp>
        <p:nvSpPr>
          <p:cNvPr id="543" name="Google Shape;543;g32d3355825c_1_1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14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Key information about pipe age, diameter, and material was only available in 100-year-old handwritten notebooks of installation diagrams</a:t>
            </a:r>
            <a:endParaRPr dirty="0"/>
          </a:p>
          <a:p>
            <a:pPr marL="0" indent="0">
              <a:lnSpc>
                <a:spcPct val="100000"/>
              </a:lnSpc>
              <a:buNone/>
            </a:pPr>
            <a:endParaRPr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Digitizing these records enabled to more accurately predict whether a water main would break 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pic>
        <p:nvPicPr>
          <p:cNvPr id="544" name="Google Shape;544;g32d3355825c_1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9500" y="1536633"/>
            <a:ext cx="6046896" cy="4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2D08B9-AEED-6138-8613-7E878355D922}"/>
              </a:ext>
            </a:extLst>
          </p:cNvPr>
          <p:cNvSpPr txBox="1"/>
          <p:nvPr/>
        </p:nvSpPr>
        <p:spPr>
          <a:xfrm>
            <a:off x="2772174" y="6255083"/>
            <a:ext cx="7196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ML is often used to create “structured data”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84417"/>
            <a:ext cx="11360700" cy="763500"/>
          </a:xfrm>
        </p:spPr>
        <p:txBody>
          <a:bodyPr/>
          <a:lstStyle/>
          <a:p>
            <a:r>
              <a:rPr lang="en-US" sz="3200" dirty="0"/>
              <a:t>Challenges with getting (access), storing, and linking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Political</a:t>
            </a:r>
          </a:p>
          <a:p>
            <a:r>
              <a:rPr lang="en-US" dirty="0"/>
              <a:t>Internal Awareness</a:t>
            </a:r>
          </a:p>
          <a:p>
            <a:r>
              <a:rPr lang="en-US" dirty="0"/>
              <a:t>Legal and/or Contractual</a:t>
            </a:r>
          </a:p>
          <a:p>
            <a:r>
              <a:rPr lang="en-US" dirty="0"/>
              <a:t>Ethical</a:t>
            </a:r>
          </a:p>
          <a:p>
            <a:r>
              <a:rPr lang="en-US" dirty="0"/>
              <a:t>Technical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34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E641-F79B-6F49-B8EF-A4D6E70FF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530BD-D523-581E-F9C9-8075A2275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to an organization</a:t>
            </a:r>
          </a:p>
          <a:p>
            <a:r>
              <a:rPr lang="en-US" dirty="0"/>
              <a:t>Partnering with external organization – researcher, consultant, etc.</a:t>
            </a:r>
          </a:p>
        </p:txBody>
      </p:sp>
    </p:spTree>
    <p:extLst>
      <p:ext uri="{BB962C8B-B14F-4D97-AF65-F5344CB8AC3E}">
        <p14:creationId xmlns:p14="http://schemas.microsoft.com/office/powerpoint/2010/main" val="3974381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FBA3-9597-C18F-DC54-EA1CD2F2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Political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F3655-4FBB-7724-83F4-8175A4967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the stakeholders and value for them</a:t>
            </a:r>
          </a:p>
          <a:p>
            <a:r>
              <a:rPr lang="en-US" dirty="0"/>
              <a:t>May lead to getting subsets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92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98E1-2970-A57B-2054-6EA7A1C0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Awareness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72AD7-6DC2-FD80-5F57-21B4BAF58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organizations don’t know what data they have internally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599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A3CC1-DE63-065D-AF01-A8EB35383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91D1-FA47-7731-53F8-3CB7C6B19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and Contractual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A8EA6-7587-5A19-15B8-477D5DF5D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of the issues will be legitimate, but some will be excuses and lack of awareness</a:t>
            </a:r>
          </a:p>
          <a:p>
            <a:endParaRPr lang="en-US" dirty="0"/>
          </a:p>
          <a:p>
            <a:r>
              <a:rPr lang="en-US" dirty="0"/>
              <a:t>Be aware of all the legal acronyms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2C67A-1D1F-FE5A-12D8-3E984D91493F}"/>
              </a:ext>
            </a:extLst>
          </p:cNvPr>
          <p:cNvSpPr/>
          <p:nvPr/>
        </p:nvSpPr>
        <p:spPr>
          <a:xfrm>
            <a:off x="1778135" y="4182677"/>
            <a:ext cx="2339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HIPAA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B295D-4ACD-7F5B-DEFD-6B9C9D4BC848}"/>
              </a:ext>
            </a:extLst>
          </p:cNvPr>
          <p:cNvSpPr/>
          <p:nvPr/>
        </p:nvSpPr>
        <p:spPr>
          <a:xfrm>
            <a:off x="4329457" y="3721012"/>
            <a:ext cx="23006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HIPPA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A2DB1-B349-3813-E147-086F8925BAB6}"/>
              </a:ext>
            </a:extLst>
          </p:cNvPr>
          <p:cNvSpPr/>
          <p:nvPr/>
        </p:nvSpPr>
        <p:spPr>
          <a:xfrm>
            <a:off x="4327155" y="5106007"/>
            <a:ext cx="28007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HIPPAA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6BEEB-8386-44D1-BAD4-2266011E26D4}"/>
              </a:ext>
            </a:extLst>
          </p:cNvPr>
          <p:cNvSpPr/>
          <p:nvPr/>
        </p:nvSpPr>
        <p:spPr>
          <a:xfrm>
            <a:off x="7784250" y="3658516"/>
            <a:ext cx="25314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FERPA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67A49-90C1-89B0-7DBD-C4670C308A8A}"/>
              </a:ext>
            </a:extLst>
          </p:cNvPr>
          <p:cNvSpPr/>
          <p:nvPr/>
        </p:nvSpPr>
        <p:spPr>
          <a:xfrm>
            <a:off x="1149024" y="5348269"/>
            <a:ext cx="21852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GDPR</a:t>
            </a:r>
          </a:p>
        </p:txBody>
      </p:sp>
    </p:spTree>
    <p:extLst>
      <p:ext uri="{BB962C8B-B14F-4D97-AF65-F5344CB8AC3E}">
        <p14:creationId xmlns:p14="http://schemas.microsoft.com/office/powerpoint/2010/main" val="3956826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0A25-02BD-674B-9661-DF031B0C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 (in data acquisition/access)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64FC-F480-BD4E-8C73-EA0095EB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should you get data?</a:t>
            </a:r>
          </a:p>
          <a:p>
            <a:pPr lvl="1">
              <a:spcBef>
                <a:spcPts val="0"/>
              </a:spcBef>
            </a:pPr>
            <a:r>
              <a:rPr lang="en-US" dirty="0"/>
              <a:t>API access</a:t>
            </a:r>
          </a:p>
          <a:p>
            <a:pPr lvl="1">
              <a:spcBef>
                <a:spcPts val="0"/>
              </a:spcBef>
            </a:pPr>
            <a:r>
              <a:rPr lang="en-US" dirty="0"/>
              <a:t>Flat files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Database dumps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r>
              <a:rPr lang="en-US" dirty="0"/>
              <a:t>How much should it be processed before you get it to use in downstream ML tasks?</a:t>
            </a:r>
          </a:p>
          <a:p>
            <a:endParaRPr lang="en-US" dirty="0"/>
          </a:p>
          <a:p>
            <a:r>
              <a:rPr lang="en-US" dirty="0"/>
              <a:t>How do you build a repeatable data acquisition pipeline? Where do you start?</a:t>
            </a:r>
          </a:p>
          <a:p>
            <a:endParaRPr lang="en-US" dirty="0"/>
          </a:p>
          <a:p>
            <a:r>
              <a:rPr lang="en-US" dirty="0"/>
              <a:t>When do you collect new data?</a:t>
            </a:r>
          </a:p>
          <a:p>
            <a:pPr marL="565150" lvl="1" indent="0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8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2d3355825c_1_4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algn="ctr"/>
            <a:r>
              <a:rPr lang="en-US"/>
              <a:t>Ethical issues to consider</a:t>
            </a:r>
            <a:endParaRPr/>
          </a:p>
        </p:txBody>
      </p:sp>
      <p:sp>
        <p:nvSpPr>
          <p:cNvPr id="587" name="Google Shape;587;g32d3355825c_1_46"/>
          <p:cNvSpPr txBox="1">
            <a:spLocks noGrp="1"/>
          </p:cNvSpPr>
          <p:nvPr>
            <p:ph type="body" idx="1"/>
          </p:nvPr>
        </p:nvSpPr>
        <p:spPr>
          <a:xfrm>
            <a:off x="962300" y="1638233"/>
            <a:ext cx="10756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Data Privacy:</a:t>
            </a:r>
            <a:r>
              <a:rPr lang="en-US" dirty="0"/>
              <a:t> What legal and security requirements govern how this data is used? What additional ethical considerations apply? </a:t>
            </a:r>
            <a:endParaRPr dirty="0"/>
          </a:p>
          <a:p>
            <a:pPr marL="0" indent="0">
              <a:lnSpc>
                <a:spcPct val="100000"/>
              </a:lnSpc>
              <a:buNone/>
            </a:pPr>
            <a:endParaRPr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Data ownership and transparency: </a:t>
            </a:r>
            <a:r>
              <a:rPr lang="en-US" dirty="0"/>
              <a:t>Are the people whose data it is (and is about) aware that their data is being used and how it affects them? What does consent look like?</a:t>
            </a:r>
            <a:endParaRPr dirty="0"/>
          </a:p>
          <a:p>
            <a:pPr marL="0" indent="0">
              <a:lnSpc>
                <a:spcPct val="100000"/>
              </a:lnSpc>
              <a:buNone/>
            </a:pPr>
            <a:endParaRPr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Bias, equity, and fairness: </a:t>
            </a:r>
            <a:r>
              <a:rPr lang="en-US" dirty="0"/>
              <a:t>Are there biases in the data sources? Is the data equally accurate and available about everyone? </a:t>
            </a:r>
            <a:endParaRPr dirty="0"/>
          </a:p>
        </p:txBody>
      </p:sp>
      <p:pic>
        <p:nvPicPr>
          <p:cNvPr id="588" name="Google Shape;588;g32d3355825c_1_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700" y="1694967"/>
            <a:ext cx="763600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g32d3355825c_1_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700" y="3905600"/>
            <a:ext cx="763600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2d3355825c_1_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8700" y="2800276"/>
            <a:ext cx="763600" cy="7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1200-11ED-A162-EC48-70434E8A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Maturity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CD924-C85A-4FC2-55CF-F8F9ED770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hlinkClick r:id="rId2"/>
              </a:rPr>
              <a:t>Link</a:t>
            </a: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30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140B-CCBA-6544-AE2A-A3E88E04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FB7A9-1DE4-3B44-ACD9-B7066AE50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Databases whenever possible</a:t>
            </a:r>
          </a:p>
          <a:p>
            <a:pPr lvl="1"/>
            <a:r>
              <a:rPr lang="en-US" dirty="0"/>
              <a:t>Types of databases</a:t>
            </a:r>
          </a:p>
          <a:p>
            <a:pPr lvl="1"/>
            <a:endParaRPr lang="en-US" dirty="0"/>
          </a:p>
          <a:p>
            <a:r>
              <a:rPr lang="en-US" dirty="0"/>
              <a:t>Deidentification when dealing with confidential/sensitive identifiable data</a:t>
            </a:r>
          </a:p>
          <a:p>
            <a:pPr lvl="1"/>
            <a:r>
              <a:rPr lang="en-US" dirty="0"/>
              <a:t>hashing</a:t>
            </a:r>
          </a:p>
        </p:txBody>
      </p:sp>
    </p:spTree>
    <p:extLst>
      <p:ext uri="{BB962C8B-B14F-4D97-AF65-F5344CB8AC3E}">
        <p14:creationId xmlns:p14="http://schemas.microsoft.com/office/powerpoint/2010/main" val="127868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Linkage: Goals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Determine if pairs of </a:t>
            </a:r>
            <a:r>
              <a:rPr lang="en-US" altLang="en-US" sz="3200" i="1" dirty="0"/>
              <a:t>records </a:t>
            </a:r>
            <a:r>
              <a:rPr lang="en-US" altLang="en-US" sz="3200" dirty="0"/>
              <a:t>describe the same </a:t>
            </a:r>
            <a:r>
              <a:rPr lang="en-US" altLang="en-US" sz="3200"/>
              <a:t>entity </a:t>
            </a:r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Main applications: </a:t>
            </a:r>
          </a:p>
          <a:p>
            <a:pPr lvl="1"/>
            <a:r>
              <a:rPr lang="en-US" altLang="en-US" sz="2800" i="1" dirty="0"/>
              <a:t>Joining</a:t>
            </a:r>
            <a:r>
              <a:rPr lang="en-US" altLang="en-US" sz="2800" dirty="0"/>
              <a:t> two different data sources</a:t>
            </a:r>
          </a:p>
          <a:p>
            <a:pPr lvl="1"/>
            <a:r>
              <a:rPr lang="en-US" altLang="en-US" sz="2800" i="1" dirty="0"/>
              <a:t>Removing duplicates</a:t>
            </a:r>
            <a:r>
              <a:rPr lang="en-US" altLang="en-US" sz="2800" dirty="0"/>
              <a:t> from a single data source</a:t>
            </a:r>
          </a:p>
        </p:txBody>
      </p:sp>
    </p:spTree>
    <p:extLst>
      <p:ext uri="{BB962C8B-B14F-4D97-AF65-F5344CB8AC3E}">
        <p14:creationId xmlns:p14="http://schemas.microsoft.com/office/powerpoint/2010/main" val="3416135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ABBF-C32C-078E-B9A3-ED051C31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2E0EA-3A79-4F68-09CD-D83E4DBE2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85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A27326-4218-CA5D-9C44-15561D4153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BB997-FAE1-8DF0-BB01-6279EE673C0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400" b="1">
                <a:solidFill>
                  <a:srgbClr val="000000"/>
                </a:solidFill>
              </a:rPr>
              <a:t>How much experience do you have with record linkage/matching in your prior (or current) work?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786180-F13C-4AB9-F137-5B0ABC38AEC9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F0427CE-988D-4F98-A9FA-52855AA165E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7E181FC-7003-C137-0682-08A32365436B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E7835DF-1211-1025-ACB5-92B674ADF7D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392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Quick Poll (</a:t>
            </a:r>
            <a:r>
              <a:rPr lang="en-US" altLang="en-US" dirty="0" err="1"/>
              <a:t>slido</a:t>
            </a:r>
            <a:r>
              <a:rPr lang="en-US" altLang="en-US" dirty="0"/>
              <a:t>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 algn="ctr">
              <a:buNone/>
            </a:pPr>
            <a:r>
              <a:rPr lang="en-US" altLang="en-US" sz="3200" dirty="0"/>
              <a:t>How much experience do you have with </a:t>
            </a:r>
          </a:p>
          <a:p>
            <a:pPr marL="76200" indent="0" algn="ctr">
              <a:buNone/>
            </a:pPr>
            <a:r>
              <a:rPr lang="en-US" altLang="en-US" sz="3200" dirty="0"/>
              <a:t>record linkage in your prior (or current) work?</a:t>
            </a:r>
          </a:p>
          <a:p>
            <a:pPr marL="76200" indent="0" algn="ctr">
              <a:buNone/>
            </a:pPr>
            <a:endParaRPr lang="en-US" altLang="en-US" sz="3200" dirty="0"/>
          </a:p>
          <a:p>
            <a:pPr marL="76200" indent="0" algn="ctr">
              <a:buNone/>
            </a:pPr>
            <a:endParaRPr lang="en-US" altLang="en-US" sz="3200" dirty="0"/>
          </a:p>
          <a:p>
            <a:pPr marL="76200" indent="0" algn="ctr">
              <a:buNone/>
            </a:pPr>
            <a:r>
              <a:rPr lang="en-US" altLang="en-US" sz="3200" dirty="0" err="1"/>
              <a:t>slido.com</a:t>
            </a:r>
            <a:r>
              <a:rPr lang="en-US" altLang="en-US" sz="3200" dirty="0"/>
              <a:t>    #10718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88757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Record Linkage: Synonyms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(data) matching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merge/purge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duplicate detection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de-duping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reference matching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co-reference/anaphora resolution</a:t>
            </a:r>
          </a:p>
        </p:txBody>
      </p:sp>
    </p:spTree>
    <p:extLst>
      <p:ext uri="{BB962C8B-B14F-4D97-AF65-F5344CB8AC3E}">
        <p14:creationId xmlns:p14="http://schemas.microsoft.com/office/powerpoint/2010/main" val="2446059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F62F-D0EC-DDA3-C252-1D5EC08B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in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DF6B7-AAAA-B333-F8AE-570DC8B52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64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to 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Deduping</a:t>
            </a:r>
            <a:r>
              <a:rPr lang="en-US" dirty="0"/>
              <a:t> or Linkage</a:t>
            </a:r>
          </a:p>
          <a:p>
            <a:pPr lvl="1"/>
            <a:r>
              <a:rPr lang="en-US" dirty="0"/>
              <a:t>1-1 or 1-many or many-1</a:t>
            </a:r>
          </a:p>
          <a:p>
            <a:pPr lvl="1"/>
            <a:endParaRPr lang="en-US" dirty="0"/>
          </a:p>
          <a:p>
            <a:r>
              <a:rPr lang="en-US" dirty="0"/>
              <a:t>Rule-based or ML based</a:t>
            </a:r>
          </a:p>
          <a:p>
            <a:pPr lvl="1"/>
            <a:r>
              <a:rPr lang="en-US" dirty="0"/>
              <a:t>Do you have labeled training data?</a:t>
            </a:r>
          </a:p>
          <a:p>
            <a:pPr lvl="1"/>
            <a:endParaRPr lang="en-US" dirty="0"/>
          </a:p>
          <a:p>
            <a:r>
              <a:rPr lang="en-US" dirty="0"/>
              <a:t>Domain specific or generic similarity metrics?</a:t>
            </a:r>
          </a:p>
          <a:p>
            <a:endParaRPr lang="en-US" dirty="0"/>
          </a:p>
          <a:p>
            <a:r>
              <a:rPr lang="en-US" dirty="0"/>
              <a:t>Evaluation metric</a:t>
            </a:r>
          </a:p>
          <a:p>
            <a:pPr lvl="1"/>
            <a:r>
              <a:rPr lang="en-US" dirty="0"/>
              <a:t>Precision or recall</a:t>
            </a:r>
          </a:p>
          <a:p>
            <a:pPr lvl="1"/>
            <a:r>
              <a:rPr lang="en-US" dirty="0"/>
              <a:t>Task-specific - Implications on future analysis (bias for example)</a:t>
            </a:r>
          </a:p>
        </p:txBody>
      </p:sp>
    </p:spTree>
    <p:extLst>
      <p:ext uri="{BB962C8B-B14F-4D97-AF65-F5344CB8AC3E}">
        <p14:creationId xmlns:p14="http://schemas.microsoft.com/office/powerpoint/2010/main" val="562180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Approaches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Exact matching</a:t>
            </a:r>
          </a:p>
          <a:p>
            <a:r>
              <a:rPr lang="en-US" altLang="en-US" dirty="0"/>
              <a:t>Rule-based</a:t>
            </a:r>
          </a:p>
          <a:p>
            <a:r>
              <a:rPr lang="en-US" altLang="en-US" dirty="0"/>
              <a:t>Probabilistic linkage</a:t>
            </a:r>
          </a:p>
        </p:txBody>
      </p:sp>
    </p:spTree>
    <p:extLst>
      <p:ext uri="{BB962C8B-B14F-4D97-AF65-F5344CB8AC3E}">
        <p14:creationId xmlns:p14="http://schemas.microsoft.com/office/powerpoint/2010/main" val="2383065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reasons for mismatches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(capital, lower case, etc.)</a:t>
            </a:r>
          </a:p>
          <a:p>
            <a:r>
              <a:rPr lang="en-US" dirty="0"/>
              <a:t>Nicknames</a:t>
            </a:r>
          </a:p>
          <a:p>
            <a:r>
              <a:rPr lang="en-US" dirty="0"/>
              <a:t>Prefixes</a:t>
            </a:r>
          </a:p>
          <a:p>
            <a:r>
              <a:rPr lang="en-US" dirty="0"/>
              <a:t>Suffixes</a:t>
            </a:r>
          </a:p>
          <a:p>
            <a:r>
              <a:rPr lang="en-US" dirty="0"/>
              <a:t>Initials</a:t>
            </a:r>
          </a:p>
          <a:p>
            <a:r>
              <a:rPr lang="en-US" dirty="0"/>
              <a:t>Punctuation</a:t>
            </a:r>
          </a:p>
          <a:p>
            <a:r>
              <a:rPr lang="en-US" dirty="0"/>
              <a:t>Spaces</a:t>
            </a:r>
          </a:p>
          <a:p>
            <a:r>
              <a:rPr lang="en-US" dirty="0"/>
              <a:t>Digits </a:t>
            </a:r>
          </a:p>
          <a:p>
            <a:r>
              <a:rPr lang="en-US" dirty="0"/>
              <a:t>Transpositions</a:t>
            </a:r>
          </a:p>
          <a:p>
            <a:r>
              <a:rPr lang="en-US" dirty="0"/>
              <a:t>Abbreviations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0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two records about the same entity?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of possible similarity metrics</a:t>
            </a:r>
          </a:p>
          <a:p>
            <a:pPr lvl="1"/>
            <a:r>
              <a:rPr lang="en-US" dirty="0"/>
              <a:t>Edit distance</a:t>
            </a:r>
          </a:p>
          <a:p>
            <a:pPr lvl="1"/>
            <a:r>
              <a:rPr lang="en-US" dirty="0" err="1"/>
              <a:t>Soundex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“Fuzzy” Matching System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set of cascading rules</a:t>
            </a:r>
          </a:p>
          <a:p>
            <a:r>
              <a:rPr lang="en-US" dirty="0"/>
              <a:t>Assign confidence score based on which rules fire</a:t>
            </a:r>
          </a:p>
        </p:txBody>
      </p:sp>
    </p:spTree>
    <p:extLst>
      <p:ext uri="{BB962C8B-B14F-4D97-AF65-F5344CB8AC3E}">
        <p14:creationId xmlns:p14="http://schemas.microsoft.com/office/powerpoint/2010/main" val="2363932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do we not compare every pair?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How do we avoid looking at |A| * |B| pairs?</a:t>
            </a:r>
          </a:p>
          <a:p>
            <a:pPr>
              <a:lnSpc>
                <a:spcPct val="90000"/>
              </a:lnSpc>
            </a:pPr>
            <a:r>
              <a:rPr lang="en-US" altLang="en-US" sz="2800" i="1" dirty="0"/>
              <a:t>Blocking: </a:t>
            </a:r>
            <a:r>
              <a:rPr lang="en-US" altLang="en-US" sz="2800" dirty="0"/>
              <a:t>choose a smaller set of pairs that will contain all or most matches. 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Simple blocking:  compare all pairs that “hash” to the same value (e.g., same </a:t>
            </a:r>
            <a:r>
              <a:rPr lang="en-US" altLang="en-US" sz="2400" dirty="0" err="1"/>
              <a:t>Soundex</a:t>
            </a:r>
            <a:r>
              <a:rPr lang="en-US" altLang="en-US" sz="2400" dirty="0"/>
              <a:t> code for last name, same birth year)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Extensions (to increase </a:t>
            </a:r>
            <a:r>
              <a:rPr lang="en-US" altLang="en-US" sz="2400" i="1" dirty="0"/>
              <a:t>recall </a:t>
            </a:r>
            <a:r>
              <a:rPr lang="en-US" altLang="en-US" sz="2400" dirty="0"/>
              <a:t>of set of pairs):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Block on </a:t>
            </a:r>
            <a:r>
              <a:rPr lang="en-US" altLang="en-US" sz="2000" i="1" dirty="0"/>
              <a:t>multiple</a:t>
            </a:r>
            <a:r>
              <a:rPr lang="en-US" altLang="en-US" sz="2000" dirty="0"/>
              <a:t> attributes (</a:t>
            </a:r>
            <a:r>
              <a:rPr lang="en-US" altLang="en-US" sz="2000" dirty="0" err="1"/>
              <a:t>soundex</a:t>
            </a:r>
            <a:r>
              <a:rPr lang="en-US" altLang="en-US" sz="2000" dirty="0"/>
              <a:t>, zip code) and take union of all pairs found.</a:t>
            </a:r>
          </a:p>
          <a:p>
            <a:pPr lvl="2">
              <a:lnSpc>
                <a:spcPct val="90000"/>
              </a:lnSpc>
            </a:pPr>
            <a:r>
              <a:rPr lang="en-US" altLang="en-US" sz="2000" i="1" dirty="0"/>
              <a:t>Windowing:</a:t>
            </a:r>
            <a:r>
              <a:rPr lang="en-US" altLang="en-US" sz="2000" dirty="0"/>
              <a:t> Pick (numerically or lexically) </a:t>
            </a:r>
            <a:r>
              <a:rPr lang="en-US" altLang="en-US" sz="2000" i="1" dirty="0"/>
              <a:t>ordered</a:t>
            </a:r>
            <a:r>
              <a:rPr lang="en-US" altLang="en-US" sz="2000" dirty="0"/>
              <a:t> attributes and sort (e.g., sort on last name).  The pick all pairs that appear “near” each other in the sorted order.</a:t>
            </a:r>
          </a:p>
        </p:txBody>
      </p:sp>
    </p:spTree>
    <p:extLst>
      <p:ext uri="{BB962C8B-B14F-4D97-AF65-F5344CB8AC3E}">
        <p14:creationId xmlns:p14="http://schemas.microsoft.com/office/powerpoint/2010/main" val="3772462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based Record Linkage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training data</a:t>
            </a:r>
          </a:p>
          <a:p>
            <a:pPr lvl="1"/>
            <a:r>
              <a:rPr lang="en-US" dirty="0"/>
              <a:t>Label pairs as match/no match</a:t>
            </a:r>
          </a:p>
          <a:p>
            <a:pPr lvl="1"/>
            <a:endParaRPr lang="en-US" dirty="0"/>
          </a:p>
          <a:p>
            <a:r>
              <a:rPr lang="en-US" dirty="0"/>
              <a:t>Generate features over each pair</a:t>
            </a:r>
          </a:p>
          <a:p>
            <a:pPr lvl="1"/>
            <a:r>
              <a:rPr lang="en-US" dirty="0"/>
              <a:t>Distance metrics over different attributes (</a:t>
            </a:r>
            <a:r>
              <a:rPr lang="en-US" dirty="0" err="1"/>
              <a:t>fname</a:t>
            </a:r>
            <a:r>
              <a:rPr lang="en-US" dirty="0"/>
              <a:t>, </a:t>
            </a:r>
            <a:r>
              <a:rPr lang="en-US" dirty="0" err="1"/>
              <a:t>lname</a:t>
            </a:r>
            <a:r>
              <a:rPr lang="en-US" dirty="0"/>
              <a:t>, dob, etc.)</a:t>
            </a:r>
          </a:p>
          <a:p>
            <a:pPr lvl="1"/>
            <a:r>
              <a:rPr lang="en-US" dirty="0" err="1"/>
              <a:t>Tfidf</a:t>
            </a:r>
            <a:r>
              <a:rPr lang="en-US" dirty="0"/>
              <a:t> scores</a:t>
            </a:r>
          </a:p>
          <a:p>
            <a:pPr lvl="1"/>
            <a:endParaRPr lang="en-US" dirty="0"/>
          </a:p>
          <a:p>
            <a:r>
              <a:rPr lang="en-US" dirty="0"/>
              <a:t>Build and evaluate classifiers</a:t>
            </a:r>
          </a:p>
        </p:txBody>
      </p:sp>
    </p:spTree>
    <p:extLst>
      <p:ext uri="{BB962C8B-B14F-4D97-AF65-F5344CB8AC3E}">
        <p14:creationId xmlns:p14="http://schemas.microsoft.com/office/powerpoint/2010/main" val="1221298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0FF5-E8EC-234D-805C-399C5033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One-off versus recurring matching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32BE4-76DA-C042-A3E3-35B452F39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Unique identifiers: persistence?</a:t>
            </a:r>
          </a:p>
          <a:p>
            <a:endParaRPr lang="en-US" dirty="0"/>
          </a:p>
          <a:p>
            <a:r>
              <a:rPr lang="en-US" dirty="0"/>
              <a:t>What do we do with new or changed pairs?</a:t>
            </a:r>
          </a:p>
        </p:txBody>
      </p:sp>
    </p:spTree>
    <p:extLst>
      <p:ext uri="{BB962C8B-B14F-4D97-AF65-F5344CB8AC3E}">
        <p14:creationId xmlns:p14="http://schemas.microsoft.com/office/powerpoint/2010/main" val="834575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4EB1-290D-E647-B684-F8A3D3B2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Topic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F5889-4B8C-7449-87CD-1929C07EE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3200" dirty="0"/>
              <a:t>What are downstream impacts (generally) of a false positive in record linkage? What about a false negative?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855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4EB1-290D-E647-B684-F8A3D3B2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Topic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F5889-4B8C-7449-87CD-1929C07EE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3200" dirty="0"/>
              <a:t>What types of common mismatch errors might affect groups differently, resulting in downstream fairness impacts?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122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7EB6-E3A6-F21F-0D18-5853E434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for your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A9A7-FDC5-5263-7786-D807574B5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you have enough data?</a:t>
            </a:r>
          </a:p>
          <a:p>
            <a:endParaRPr lang="en-US" dirty="0"/>
          </a:p>
          <a:p>
            <a:r>
              <a:rPr lang="en-US" dirty="0"/>
              <a:t>Do you need to get additional data?</a:t>
            </a:r>
          </a:p>
          <a:p>
            <a:endParaRPr lang="en-US" dirty="0"/>
          </a:p>
          <a:p>
            <a:r>
              <a:rPr lang="en-US" dirty="0"/>
              <a:t>Which parts of the data should you prioritize looking at and understanding?</a:t>
            </a:r>
          </a:p>
          <a:p>
            <a:endParaRPr lang="en-US" dirty="0"/>
          </a:p>
          <a:p>
            <a:r>
              <a:rPr lang="en-US" dirty="0"/>
              <a:t>What do you need to do now that will be harder to do later?</a:t>
            </a:r>
          </a:p>
        </p:txBody>
      </p:sp>
    </p:spTree>
    <p:extLst>
      <p:ext uri="{BB962C8B-B14F-4D97-AF65-F5344CB8AC3E}">
        <p14:creationId xmlns:p14="http://schemas.microsoft.com/office/powerpoint/2010/main" val="18577058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5AFB-0551-A3F4-DB9F-48A98B03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31A580-2B74-0FD7-92F1-2AF7D56F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3AA1A-3A9E-D3B0-9450-631D7833C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Make sure and check that you can access your project repo today and </a:t>
            </a:r>
            <a:r>
              <a:rPr lang="en-US" b="1" dirty="0">
                <a:hlinkClick r:id="rId2"/>
              </a:rPr>
              <a:t>download the data</a:t>
            </a:r>
            <a:endParaRPr lang="en-US" b="1" dirty="0"/>
          </a:p>
          <a:p>
            <a:endParaRPr lang="en-US" dirty="0"/>
          </a:p>
          <a:p>
            <a:pPr marL="565150" lvl="1" indent="0">
              <a:buNone/>
            </a:pPr>
            <a:endParaRPr lang="en-US" dirty="0"/>
          </a:p>
          <a:p>
            <a:r>
              <a:rPr lang="en-US" dirty="0"/>
              <a:t>What’s coming next week:</a:t>
            </a:r>
          </a:p>
          <a:p>
            <a:pPr lvl="1"/>
            <a:r>
              <a:rPr lang="en-US" dirty="0"/>
              <a:t>Data Exploration Assignment and Presentation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en-US" dirty="0"/>
              <a:t>Formulation and Baselines: Readings (Obermeyer et al; Passi &amp; Barocas)</a:t>
            </a:r>
          </a:p>
        </p:txBody>
      </p:sp>
    </p:spTree>
    <p:extLst>
      <p:ext uri="{BB962C8B-B14F-4D97-AF65-F5344CB8AC3E}">
        <p14:creationId xmlns:p14="http://schemas.microsoft.com/office/powerpoint/2010/main" val="93290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6b8172e1-10b1-440c-ad33-3aaaf891be27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8dbb9c6-5700-484e-81ed-37c5e2b60a9a"/>
  <p:tag name="SLIDO_TIMELINE" val="W3sic2hvd1Jlc3VsdHMiOnRydWUsInBvbGxRdWVzdGlvblV1aWQiOiIwNzRiNmNlNi1lZWNjLTRlZWQtOGQwMy05MWMzMDg0ZWY1M2Ii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c6ad4e3-ae10-4be2-b854-927465caf366"/>
  <p:tag name="SLIDO_TIMELINE" val="W3sicG9sbFF1ZXN0aW9uVXVpZCI6ImU2MTFlYzQzLTBlOGUtNDQ4OS04YTY5LTBiNDNhNDZmM2I3OSIsInNob3dSZXN1bHRzIjpmYWxzZX0seyJwb2xsUXVlc3Rpb25VdWlkIjoiZTYxMWVjNDMtMGU4ZS00NDg5LThhNjktMGI0M2E0NmYzYjc5Iiwic2hvd1Jlc3VsdHMiOnRydWV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4179</TotalTime>
  <Words>1466</Words>
  <Application>Microsoft Macintosh PowerPoint</Application>
  <PresentationFormat>Widescreen</PresentationFormat>
  <Paragraphs>254</Paragraphs>
  <Slides>40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Lato</vt:lpstr>
      <vt:lpstr>Simple Light</vt:lpstr>
      <vt:lpstr>PowerPoint Presentation</vt:lpstr>
      <vt:lpstr>Things to remember</vt:lpstr>
      <vt:lpstr>Project</vt:lpstr>
      <vt:lpstr> Working with Your Project Team</vt:lpstr>
      <vt:lpstr> Working with Your Project Team</vt:lpstr>
      <vt:lpstr>PowerPoint Presentation</vt:lpstr>
      <vt:lpstr>PowerPoint Presentation</vt:lpstr>
      <vt:lpstr>PowerPoint Presentation</vt:lpstr>
      <vt:lpstr>PowerPoint Presentation</vt:lpstr>
      <vt:lpstr>What data do you have?</vt:lpstr>
      <vt:lpstr>What data do you need?</vt:lpstr>
      <vt:lpstr>Identifying Data Gaps and Readiness</vt:lpstr>
      <vt:lpstr>Example: preventing water main breaks in Syracuse</vt:lpstr>
      <vt:lpstr>Challenges with getting (access), storing, and linking data</vt:lpstr>
      <vt:lpstr>Scenarios</vt:lpstr>
      <vt:lpstr>Political Challenges</vt:lpstr>
      <vt:lpstr>Internal Awareness Challenges</vt:lpstr>
      <vt:lpstr>Legal and Contractual Challenges</vt:lpstr>
      <vt:lpstr>Technical challenges (in data acquisition/access)</vt:lpstr>
      <vt:lpstr>Ethical issues to consider</vt:lpstr>
      <vt:lpstr>Data Maturity Assessment</vt:lpstr>
      <vt:lpstr>Data Storage</vt:lpstr>
      <vt:lpstr> Linkage: Goals</vt:lpstr>
      <vt:lpstr>Data Storage</vt:lpstr>
      <vt:lpstr>PowerPoint Presentation</vt:lpstr>
      <vt:lpstr> Quick Poll (slido)</vt:lpstr>
      <vt:lpstr> Record Linkage: Synonyms</vt:lpstr>
      <vt:lpstr>Use cases in practice</vt:lpstr>
      <vt:lpstr>Factors to consider</vt:lpstr>
      <vt:lpstr>Approaches</vt:lpstr>
      <vt:lpstr>Common reasons for mismatches</vt:lpstr>
      <vt:lpstr>When are two records about the same entity?</vt:lpstr>
      <vt:lpstr>“Fuzzy” Matching System </vt:lpstr>
      <vt:lpstr>How do we not compare every pair?</vt:lpstr>
      <vt:lpstr>Machine Learning based Record Linkage</vt:lpstr>
      <vt:lpstr>One-off versus recurring matching</vt:lpstr>
      <vt:lpstr>Discussion Topic</vt:lpstr>
      <vt:lpstr>Discussion Topic</vt:lpstr>
      <vt:lpstr>Implications for your project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39</cp:revision>
  <dcterms:created xsi:type="dcterms:W3CDTF">2020-01-14T19:43:43Z</dcterms:created>
  <dcterms:modified xsi:type="dcterms:W3CDTF">2025-09-04T19:20:42Z</dcterms:modified>
</cp:coreProperties>
</file>