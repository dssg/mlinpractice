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22"/>
  </p:notesMasterIdLst>
  <p:sldIdLst>
    <p:sldId id="256" r:id="rId2"/>
    <p:sldId id="300" r:id="rId3"/>
    <p:sldId id="296" r:id="rId4"/>
    <p:sldId id="298" r:id="rId5"/>
    <p:sldId id="257" r:id="rId6"/>
    <p:sldId id="261" r:id="rId7"/>
    <p:sldId id="297" r:id="rId8"/>
    <p:sldId id="301" r:id="rId9"/>
    <p:sldId id="303" r:id="rId10"/>
    <p:sldId id="302" r:id="rId11"/>
    <p:sldId id="262" r:id="rId12"/>
    <p:sldId id="263" r:id="rId13"/>
    <p:sldId id="295" r:id="rId14"/>
    <p:sldId id="299" r:id="rId15"/>
    <p:sldId id="264" r:id="rId16"/>
    <p:sldId id="267" r:id="rId17"/>
    <p:sldId id="269" r:id="rId18"/>
    <p:sldId id="270" r:id="rId19"/>
    <p:sldId id="272" r:id="rId20"/>
    <p:sldId id="273" r:id="rId21"/>
  </p:sldIdLst>
  <p:sldSz cx="9144000" cy="5143500" type="screen16x9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73"/>
    <p:restoredTop sz="94795"/>
  </p:normalViewPr>
  <p:slideViewPr>
    <p:cSldViewPr snapToGrid="0">
      <p:cViewPr varScale="1">
        <p:scale>
          <a:sx n="147" d="100"/>
          <a:sy n="147" d="100"/>
        </p:scale>
        <p:origin x="208" y="4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FFE2C4-4535-7047-A3A6-B33E3FEE45C7}" type="doc">
      <dgm:prSet loTypeId="urn:microsoft.com/office/officeart/2005/8/layout/default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2603DCF-EAFB-4949-83A9-24F80F8CAA52}">
      <dgm:prSet phldrT="[Text]"/>
      <dgm:spPr>
        <a:solidFill>
          <a:srgbClr val="005493"/>
        </a:solidFill>
      </dgm:spPr>
      <dgm:t>
        <a:bodyPr/>
        <a:lstStyle/>
        <a:p>
          <a:r>
            <a:rPr lang="en-US" dirty="0"/>
            <a:t>Core Project</a:t>
          </a:r>
        </a:p>
      </dgm:t>
    </dgm:pt>
    <dgm:pt modelId="{5E3A4147-D107-544F-8483-72F5744676F7}" type="parTrans" cxnId="{20816208-0566-8847-B257-12031CC4D5BE}">
      <dgm:prSet/>
      <dgm:spPr/>
      <dgm:t>
        <a:bodyPr/>
        <a:lstStyle/>
        <a:p>
          <a:endParaRPr lang="en-US"/>
        </a:p>
      </dgm:t>
    </dgm:pt>
    <dgm:pt modelId="{BD8435A3-DCC5-6542-9D49-B05321331C80}" type="sibTrans" cxnId="{20816208-0566-8847-B257-12031CC4D5BE}">
      <dgm:prSet/>
      <dgm:spPr/>
      <dgm:t>
        <a:bodyPr/>
        <a:lstStyle/>
        <a:p>
          <a:endParaRPr lang="en-US"/>
        </a:p>
      </dgm:t>
    </dgm:pt>
    <dgm:pt modelId="{CF3B8DF6-BD9B-3E4D-B9E3-9CCBE85B1170}">
      <dgm:prSet phldrT="[Text]"/>
      <dgm:spPr/>
      <dgm:t>
        <a:bodyPr/>
        <a:lstStyle/>
        <a:p>
          <a:r>
            <a:rPr lang="en-US" b="0"/>
            <a:t>Applying Additional Topics</a:t>
          </a:r>
          <a:endParaRPr lang="en-US" b="0" dirty="0"/>
        </a:p>
      </dgm:t>
    </dgm:pt>
    <dgm:pt modelId="{D2AC1238-C4B5-2749-8704-FF0828FB51E9}" type="parTrans" cxnId="{45848362-D7CD-A045-906E-2335C7F17D18}">
      <dgm:prSet/>
      <dgm:spPr/>
      <dgm:t>
        <a:bodyPr/>
        <a:lstStyle/>
        <a:p>
          <a:endParaRPr lang="en-US"/>
        </a:p>
      </dgm:t>
    </dgm:pt>
    <dgm:pt modelId="{7FAECF76-7BB8-8A4C-9E8E-A3B0A09E2CE7}" type="sibTrans" cxnId="{45848362-D7CD-A045-906E-2335C7F17D18}">
      <dgm:prSet/>
      <dgm:spPr/>
      <dgm:t>
        <a:bodyPr/>
        <a:lstStyle/>
        <a:p>
          <a:endParaRPr lang="en-US"/>
        </a:p>
      </dgm:t>
    </dgm:pt>
    <dgm:pt modelId="{D539D8C2-E788-2942-8CAF-D6EAC59D1CE7}">
      <dgm:prSet phldrT="[Text]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US" dirty="0"/>
            <a:t>Class Discussions (and attendance)</a:t>
          </a:r>
        </a:p>
      </dgm:t>
    </dgm:pt>
    <dgm:pt modelId="{819C681A-282B-6D4A-A341-5D7DEDFC47C3}" type="parTrans" cxnId="{40713670-15AA-A140-8A8A-92B373544F9C}">
      <dgm:prSet/>
      <dgm:spPr/>
      <dgm:t>
        <a:bodyPr/>
        <a:lstStyle/>
        <a:p>
          <a:endParaRPr lang="en-US"/>
        </a:p>
      </dgm:t>
    </dgm:pt>
    <dgm:pt modelId="{17094715-8C75-DD44-87A9-590C5CBA5DF7}" type="sibTrans" cxnId="{40713670-15AA-A140-8A8A-92B373544F9C}">
      <dgm:prSet/>
      <dgm:spPr/>
      <dgm:t>
        <a:bodyPr/>
        <a:lstStyle/>
        <a:p>
          <a:endParaRPr lang="en-US"/>
        </a:p>
      </dgm:t>
    </dgm:pt>
    <dgm:pt modelId="{011BAD0E-2B36-7242-91D6-BAD748A75EEF}">
      <dgm:prSet phldrT="[Text]"/>
      <dgm:spPr/>
      <dgm:t>
        <a:bodyPr/>
        <a:lstStyle/>
        <a:p>
          <a:r>
            <a:rPr lang="en-US" dirty="0"/>
            <a:t>Midterm Exam</a:t>
          </a:r>
        </a:p>
      </dgm:t>
    </dgm:pt>
    <dgm:pt modelId="{5CF54E54-D7D1-7941-B074-4E547EBEA6AF}" type="parTrans" cxnId="{37EDEC88-E870-1446-B296-2E5359781D1D}">
      <dgm:prSet/>
      <dgm:spPr/>
      <dgm:t>
        <a:bodyPr/>
        <a:lstStyle/>
        <a:p>
          <a:endParaRPr lang="en-US"/>
        </a:p>
      </dgm:t>
    </dgm:pt>
    <dgm:pt modelId="{0AD00A38-A38A-5E49-BB68-0F2A5052FD1A}" type="sibTrans" cxnId="{37EDEC88-E870-1446-B296-2E5359781D1D}">
      <dgm:prSet/>
      <dgm:spPr/>
      <dgm:t>
        <a:bodyPr/>
        <a:lstStyle/>
        <a:p>
          <a:endParaRPr lang="en-US"/>
        </a:p>
      </dgm:t>
    </dgm:pt>
    <dgm:pt modelId="{BAE9CF11-92DE-3C45-BF17-0699AB814C72}" type="pres">
      <dgm:prSet presAssocID="{50FFE2C4-4535-7047-A3A6-B33E3FEE45C7}" presName="diagram" presStyleCnt="0">
        <dgm:presLayoutVars>
          <dgm:dir/>
          <dgm:resizeHandles val="exact"/>
        </dgm:presLayoutVars>
      </dgm:prSet>
      <dgm:spPr/>
    </dgm:pt>
    <dgm:pt modelId="{4CD81653-D648-9340-AD40-53462091BDB5}" type="pres">
      <dgm:prSet presAssocID="{72603DCF-EAFB-4949-83A9-24F80F8CAA52}" presName="node" presStyleLbl="node1" presStyleIdx="0" presStyleCnt="4">
        <dgm:presLayoutVars>
          <dgm:bulletEnabled val="1"/>
        </dgm:presLayoutVars>
      </dgm:prSet>
      <dgm:spPr/>
    </dgm:pt>
    <dgm:pt modelId="{424AAF56-92CC-C34C-A319-DBCC97E9138D}" type="pres">
      <dgm:prSet presAssocID="{BD8435A3-DCC5-6542-9D49-B05321331C80}" presName="sibTrans" presStyleCnt="0"/>
      <dgm:spPr/>
    </dgm:pt>
    <dgm:pt modelId="{B7172FE3-1AA5-754A-9BD0-CB02AAA24545}" type="pres">
      <dgm:prSet presAssocID="{CF3B8DF6-BD9B-3E4D-B9E3-9CCBE85B1170}" presName="node" presStyleLbl="node1" presStyleIdx="1" presStyleCnt="4">
        <dgm:presLayoutVars>
          <dgm:bulletEnabled val="1"/>
        </dgm:presLayoutVars>
      </dgm:prSet>
      <dgm:spPr/>
    </dgm:pt>
    <dgm:pt modelId="{D52733D0-F981-0040-BE20-3BDE7C822361}" type="pres">
      <dgm:prSet presAssocID="{7FAECF76-7BB8-8A4C-9E8E-A3B0A09E2CE7}" presName="sibTrans" presStyleCnt="0"/>
      <dgm:spPr/>
    </dgm:pt>
    <dgm:pt modelId="{AA9738A4-EF10-CA4A-9B99-349D2DF0F814}" type="pres">
      <dgm:prSet presAssocID="{D539D8C2-E788-2942-8CAF-D6EAC59D1CE7}" presName="node" presStyleLbl="node1" presStyleIdx="2" presStyleCnt="4">
        <dgm:presLayoutVars>
          <dgm:bulletEnabled val="1"/>
        </dgm:presLayoutVars>
      </dgm:prSet>
      <dgm:spPr/>
    </dgm:pt>
    <dgm:pt modelId="{25C1AAC7-767F-C14E-8602-E2E44C31700E}" type="pres">
      <dgm:prSet presAssocID="{17094715-8C75-DD44-87A9-590C5CBA5DF7}" presName="sibTrans" presStyleCnt="0"/>
      <dgm:spPr/>
    </dgm:pt>
    <dgm:pt modelId="{461B56CF-25D3-6946-AA5B-3ADA16F0588E}" type="pres">
      <dgm:prSet presAssocID="{011BAD0E-2B36-7242-91D6-BAD748A75EEF}" presName="node" presStyleLbl="node1" presStyleIdx="3" presStyleCnt="4">
        <dgm:presLayoutVars>
          <dgm:bulletEnabled val="1"/>
        </dgm:presLayoutVars>
      </dgm:prSet>
      <dgm:spPr/>
    </dgm:pt>
  </dgm:ptLst>
  <dgm:cxnLst>
    <dgm:cxn modelId="{20816208-0566-8847-B257-12031CC4D5BE}" srcId="{50FFE2C4-4535-7047-A3A6-B33E3FEE45C7}" destId="{72603DCF-EAFB-4949-83A9-24F80F8CAA52}" srcOrd="0" destOrd="0" parTransId="{5E3A4147-D107-544F-8483-72F5744676F7}" sibTransId="{BD8435A3-DCC5-6542-9D49-B05321331C80}"/>
    <dgm:cxn modelId="{E8B3D51E-4E5D-2646-9A9A-C6523BAB0D03}" type="presOf" srcId="{D539D8C2-E788-2942-8CAF-D6EAC59D1CE7}" destId="{AA9738A4-EF10-CA4A-9B99-349D2DF0F814}" srcOrd="0" destOrd="0" presId="urn:microsoft.com/office/officeart/2005/8/layout/default"/>
    <dgm:cxn modelId="{45848362-D7CD-A045-906E-2335C7F17D18}" srcId="{50FFE2C4-4535-7047-A3A6-B33E3FEE45C7}" destId="{CF3B8DF6-BD9B-3E4D-B9E3-9CCBE85B1170}" srcOrd="1" destOrd="0" parTransId="{D2AC1238-C4B5-2749-8704-FF0828FB51E9}" sibTransId="{7FAECF76-7BB8-8A4C-9E8E-A3B0A09E2CE7}"/>
    <dgm:cxn modelId="{40713670-15AA-A140-8A8A-92B373544F9C}" srcId="{50FFE2C4-4535-7047-A3A6-B33E3FEE45C7}" destId="{D539D8C2-E788-2942-8CAF-D6EAC59D1CE7}" srcOrd="2" destOrd="0" parTransId="{819C681A-282B-6D4A-A341-5D7DEDFC47C3}" sibTransId="{17094715-8C75-DD44-87A9-590C5CBA5DF7}"/>
    <dgm:cxn modelId="{0403CE78-862E-AB4D-8B99-37BA396B593C}" type="presOf" srcId="{CF3B8DF6-BD9B-3E4D-B9E3-9CCBE85B1170}" destId="{B7172FE3-1AA5-754A-9BD0-CB02AAA24545}" srcOrd="0" destOrd="0" presId="urn:microsoft.com/office/officeart/2005/8/layout/default"/>
    <dgm:cxn modelId="{37EDEC88-E870-1446-B296-2E5359781D1D}" srcId="{50FFE2C4-4535-7047-A3A6-B33E3FEE45C7}" destId="{011BAD0E-2B36-7242-91D6-BAD748A75EEF}" srcOrd="3" destOrd="0" parTransId="{5CF54E54-D7D1-7941-B074-4E547EBEA6AF}" sibTransId="{0AD00A38-A38A-5E49-BB68-0F2A5052FD1A}"/>
    <dgm:cxn modelId="{7CFB1395-351D-F640-BA73-6B5F516211B9}" type="presOf" srcId="{50FFE2C4-4535-7047-A3A6-B33E3FEE45C7}" destId="{BAE9CF11-92DE-3C45-BF17-0699AB814C72}" srcOrd="0" destOrd="0" presId="urn:microsoft.com/office/officeart/2005/8/layout/default"/>
    <dgm:cxn modelId="{8AFBC0F2-AAF6-7E4F-8CA3-B444AEA0EF36}" type="presOf" srcId="{011BAD0E-2B36-7242-91D6-BAD748A75EEF}" destId="{461B56CF-25D3-6946-AA5B-3ADA16F0588E}" srcOrd="0" destOrd="0" presId="urn:microsoft.com/office/officeart/2005/8/layout/default"/>
    <dgm:cxn modelId="{1DCC6EF9-24B2-344D-84FF-C1B61F993376}" type="presOf" srcId="{72603DCF-EAFB-4949-83A9-24F80F8CAA52}" destId="{4CD81653-D648-9340-AD40-53462091BDB5}" srcOrd="0" destOrd="0" presId="urn:microsoft.com/office/officeart/2005/8/layout/default"/>
    <dgm:cxn modelId="{04100456-DA19-1940-965E-EFFA9A299FFC}" type="presParOf" srcId="{BAE9CF11-92DE-3C45-BF17-0699AB814C72}" destId="{4CD81653-D648-9340-AD40-53462091BDB5}" srcOrd="0" destOrd="0" presId="urn:microsoft.com/office/officeart/2005/8/layout/default"/>
    <dgm:cxn modelId="{83A851B1-CD83-664F-9472-E069CFD22627}" type="presParOf" srcId="{BAE9CF11-92DE-3C45-BF17-0699AB814C72}" destId="{424AAF56-92CC-C34C-A319-DBCC97E9138D}" srcOrd="1" destOrd="0" presId="urn:microsoft.com/office/officeart/2005/8/layout/default"/>
    <dgm:cxn modelId="{F67AF06E-FB71-4048-B133-41936471A8C6}" type="presParOf" srcId="{BAE9CF11-92DE-3C45-BF17-0699AB814C72}" destId="{B7172FE3-1AA5-754A-9BD0-CB02AAA24545}" srcOrd="2" destOrd="0" presId="urn:microsoft.com/office/officeart/2005/8/layout/default"/>
    <dgm:cxn modelId="{FD2E94BA-F3B5-7A41-807D-2A762FA830B9}" type="presParOf" srcId="{BAE9CF11-92DE-3C45-BF17-0699AB814C72}" destId="{D52733D0-F981-0040-BE20-3BDE7C822361}" srcOrd="3" destOrd="0" presId="urn:microsoft.com/office/officeart/2005/8/layout/default"/>
    <dgm:cxn modelId="{96D77225-47CB-B347-8E16-D53D2690E29B}" type="presParOf" srcId="{BAE9CF11-92DE-3C45-BF17-0699AB814C72}" destId="{AA9738A4-EF10-CA4A-9B99-349D2DF0F814}" srcOrd="4" destOrd="0" presId="urn:microsoft.com/office/officeart/2005/8/layout/default"/>
    <dgm:cxn modelId="{7131FB35-B877-2949-8D9C-C1819F682FC3}" type="presParOf" srcId="{BAE9CF11-92DE-3C45-BF17-0699AB814C72}" destId="{25C1AAC7-767F-C14E-8602-E2E44C31700E}" srcOrd="5" destOrd="0" presId="urn:microsoft.com/office/officeart/2005/8/layout/default"/>
    <dgm:cxn modelId="{0D04A568-9DA1-1440-98D8-51A8F6AFC8C9}" type="presParOf" srcId="{BAE9CF11-92DE-3C45-BF17-0699AB814C72}" destId="{461B56CF-25D3-6946-AA5B-3ADA16F0588E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D81653-D648-9340-AD40-53462091BDB5}">
      <dsp:nvSpPr>
        <dsp:cNvPr id="0" name=""/>
        <dsp:cNvSpPr/>
      </dsp:nvSpPr>
      <dsp:spPr>
        <a:xfrm>
          <a:off x="125397" y="367"/>
          <a:ext cx="2115442" cy="1269265"/>
        </a:xfrm>
        <a:prstGeom prst="rect">
          <a:avLst/>
        </a:prstGeom>
        <a:solidFill>
          <a:srgbClr val="00549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Core Project</a:t>
          </a:r>
        </a:p>
      </dsp:txBody>
      <dsp:txXfrm>
        <a:off x="125397" y="367"/>
        <a:ext cx="2115442" cy="1269265"/>
      </dsp:txXfrm>
    </dsp:sp>
    <dsp:sp modelId="{B7172FE3-1AA5-754A-9BD0-CB02AAA24545}">
      <dsp:nvSpPr>
        <dsp:cNvPr id="0" name=""/>
        <dsp:cNvSpPr/>
      </dsp:nvSpPr>
      <dsp:spPr>
        <a:xfrm>
          <a:off x="2452384" y="367"/>
          <a:ext cx="2115442" cy="1269265"/>
        </a:xfrm>
        <a:prstGeom prst="rect">
          <a:avLst/>
        </a:prstGeom>
        <a:solidFill>
          <a:schemeClr val="accent3">
            <a:hueOff val="-3327773"/>
            <a:satOff val="28205"/>
            <a:lumOff val="281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Applying Additional Topics</a:t>
          </a:r>
          <a:endParaRPr lang="en-US" sz="2100" b="0" kern="1200" dirty="0"/>
        </a:p>
      </dsp:txBody>
      <dsp:txXfrm>
        <a:off x="2452384" y="367"/>
        <a:ext cx="2115442" cy="1269265"/>
      </dsp:txXfrm>
    </dsp:sp>
    <dsp:sp modelId="{AA9738A4-EF10-CA4A-9B99-349D2DF0F814}">
      <dsp:nvSpPr>
        <dsp:cNvPr id="0" name=""/>
        <dsp:cNvSpPr/>
      </dsp:nvSpPr>
      <dsp:spPr>
        <a:xfrm>
          <a:off x="4779372" y="367"/>
          <a:ext cx="2115442" cy="1269265"/>
        </a:xfrm>
        <a:prstGeom prst="rect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Class Discussions (and attendance)</a:t>
          </a:r>
        </a:p>
      </dsp:txBody>
      <dsp:txXfrm>
        <a:off x="4779372" y="367"/>
        <a:ext cx="2115442" cy="1269265"/>
      </dsp:txXfrm>
    </dsp:sp>
    <dsp:sp modelId="{461B56CF-25D3-6946-AA5B-3ADA16F0588E}">
      <dsp:nvSpPr>
        <dsp:cNvPr id="0" name=""/>
        <dsp:cNvSpPr/>
      </dsp:nvSpPr>
      <dsp:spPr>
        <a:xfrm>
          <a:off x="7106359" y="367"/>
          <a:ext cx="2115442" cy="1269265"/>
        </a:xfrm>
        <a:prstGeom prst="rect">
          <a:avLst/>
        </a:prstGeom>
        <a:solidFill>
          <a:schemeClr val="accent3">
            <a:hueOff val="-9983320"/>
            <a:satOff val="84615"/>
            <a:lumOff val="8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Midterm Exam</a:t>
          </a:r>
        </a:p>
      </dsp:txBody>
      <dsp:txXfrm>
        <a:off x="7106359" y="367"/>
        <a:ext cx="2115442" cy="12692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3881" y="365615"/>
          <a:ext cx="1697026" cy="1018215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Scope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Goals, Actions, Data, Analysis, Ethics</a:t>
          </a:r>
        </a:p>
      </dsp:txBody>
      <dsp:txXfrm>
        <a:off x="33703" y="395437"/>
        <a:ext cx="1637382" cy="958571"/>
      </dsp:txXfrm>
    </dsp:sp>
    <dsp:sp modelId="{A58869D2-B78E-DD40-ACB3-9F052F33CBCE}">
      <dsp:nvSpPr>
        <dsp:cNvPr id="0" name=""/>
        <dsp:cNvSpPr/>
      </dsp:nvSpPr>
      <dsp:spPr>
        <a:xfrm>
          <a:off x="1850246" y="664292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850246" y="748464"/>
        <a:ext cx="251838" cy="252518"/>
      </dsp:txXfrm>
    </dsp:sp>
    <dsp:sp modelId="{C234DD4B-5CB7-E549-AD0E-83532D584FCF}">
      <dsp:nvSpPr>
        <dsp:cNvPr id="0" name=""/>
        <dsp:cNvSpPr/>
      </dsp:nvSpPr>
      <dsp:spPr>
        <a:xfrm>
          <a:off x="2379718" y="365615"/>
          <a:ext cx="1697026" cy="101821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Data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Get Data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Store Data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Link Data</a:t>
          </a:r>
        </a:p>
      </dsp:txBody>
      <dsp:txXfrm>
        <a:off x="2409540" y="395437"/>
        <a:ext cx="1637382" cy="958571"/>
      </dsp:txXfrm>
    </dsp:sp>
    <dsp:sp modelId="{16C02E65-2210-C24E-8692-38A2A70EC148}">
      <dsp:nvSpPr>
        <dsp:cNvPr id="0" name=""/>
        <dsp:cNvSpPr/>
      </dsp:nvSpPr>
      <dsp:spPr>
        <a:xfrm>
          <a:off x="4226083" y="664292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226083" y="748464"/>
        <a:ext cx="251838" cy="252518"/>
      </dsp:txXfrm>
    </dsp:sp>
    <dsp:sp modelId="{FBF1C564-B2B8-4C41-BE63-B8171F8EB76E}">
      <dsp:nvSpPr>
        <dsp:cNvPr id="0" name=""/>
        <dsp:cNvSpPr/>
      </dsp:nvSpPr>
      <dsp:spPr>
        <a:xfrm>
          <a:off x="4755555" y="365615"/>
          <a:ext cx="1697026" cy="1018215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Exploration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Entities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temporal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Spatial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…</a:t>
          </a:r>
        </a:p>
      </dsp:txBody>
      <dsp:txXfrm>
        <a:off x="4785377" y="395437"/>
        <a:ext cx="1637382" cy="958571"/>
      </dsp:txXfrm>
    </dsp:sp>
    <dsp:sp modelId="{680472FB-1DED-B043-9C18-8E9AFCBED6E9}">
      <dsp:nvSpPr>
        <dsp:cNvPr id="0" name=""/>
        <dsp:cNvSpPr/>
      </dsp:nvSpPr>
      <dsp:spPr>
        <a:xfrm>
          <a:off x="6601919" y="664292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601919" y="748464"/>
        <a:ext cx="251838" cy="252518"/>
      </dsp:txXfrm>
    </dsp:sp>
    <dsp:sp modelId="{CC8F3904-974E-2647-9B88-B6062079D1ED}">
      <dsp:nvSpPr>
        <dsp:cNvPr id="0" name=""/>
        <dsp:cNvSpPr/>
      </dsp:nvSpPr>
      <dsp:spPr>
        <a:xfrm>
          <a:off x="7131392" y="365615"/>
          <a:ext cx="1697026" cy="101821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Modeling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Rows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Labels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Features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Models</a:t>
          </a:r>
        </a:p>
      </dsp:txBody>
      <dsp:txXfrm>
        <a:off x="7161214" y="395437"/>
        <a:ext cx="1637382" cy="958571"/>
      </dsp:txXfrm>
    </dsp:sp>
    <dsp:sp modelId="{5383FDA3-64FA-604A-8CAF-995772572DB0}">
      <dsp:nvSpPr>
        <dsp:cNvPr id="0" name=""/>
        <dsp:cNvSpPr/>
      </dsp:nvSpPr>
      <dsp:spPr>
        <a:xfrm rot="5400000">
          <a:off x="7800020" y="1502623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7853646" y="1533170"/>
        <a:ext cx="252518" cy="251838"/>
      </dsp:txXfrm>
    </dsp:sp>
    <dsp:sp modelId="{F11F753D-D453-BC4F-BACE-C4F8A11ECEA5}">
      <dsp:nvSpPr>
        <dsp:cNvPr id="0" name=""/>
        <dsp:cNvSpPr/>
      </dsp:nvSpPr>
      <dsp:spPr>
        <a:xfrm>
          <a:off x="7131392" y="2062642"/>
          <a:ext cx="1697026" cy="1018215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Model Selection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Train-Test Splits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Performance Metrics</a:t>
          </a:r>
        </a:p>
      </dsp:txBody>
      <dsp:txXfrm>
        <a:off x="7161214" y="2092464"/>
        <a:ext cx="1637382" cy="958571"/>
      </dsp:txXfrm>
    </dsp:sp>
    <dsp:sp modelId="{F8E19199-589F-1946-8222-73EA4584121E}">
      <dsp:nvSpPr>
        <dsp:cNvPr id="0" name=""/>
        <dsp:cNvSpPr/>
      </dsp:nvSpPr>
      <dsp:spPr>
        <a:xfrm rot="10800000">
          <a:off x="6622284" y="2361318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6730215" y="2445490"/>
        <a:ext cx="251838" cy="252518"/>
      </dsp:txXfrm>
    </dsp:sp>
    <dsp:sp modelId="{529FCC09-4687-E147-80E8-2EB7609DC9CF}">
      <dsp:nvSpPr>
        <dsp:cNvPr id="0" name=""/>
        <dsp:cNvSpPr/>
      </dsp:nvSpPr>
      <dsp:spPr>
        <a:xfrm>
          <a:off x="4755555" y="2062642"/>
          <a:ext cx="1697026" cy="1018215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Model Interpretation</a:t>
          </a:r>
        </a:p>
      </dsp:txBody>
      <dsp:txXfrm>
        <a:off x="4785377" y="2092464"/>
        <a:ext cx="1637382" cy="958571"/>
      </dsp:txXfrm>
    </dsp:sp>
    <dsp:sp modelId="{5381123D-2C93-3241-8E06-B77D04CAE8EC}">
      <dsp:nvSpPr>
        <dsp:cNvPr id="0" name=""/>
        <dsp:cNvSpPr/>
      </dsp:nvSpPr>
      <dsp:spPr>
        <a:xfrm rot="10800000">
          <a:off x="4246447" y="2361318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4354378" y="2445490"/>
        <a:ext cx="251838" cy="252518"/>
      </dsp:txXfrm>
    </dsp:sp>
    <dsp:sp modelId="{1850AAD1-4903-FE47-A71D-0B73E666CD99}">
      <dsp:nvSpPr>
        <dsp:cNvPr id="0" name=""/>
        <dsp:cNvSpPr/>
      </dsp:nvSpPr>
      <dsp:spPr>
        <a:xfrm>
          <a:off x="2379718" y="2062642"/>
          <a:ext cx="1697026" cy="101821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Dealing with Bias and Fairness</a:t>
          </a:r>
        </a:p>
      </dsp:txBody>
      <dsp:txXfrm>
        <a:off x="2409540" y="2092464"/>
        <a:ext cx="1637382" cy="958571"/>
      </dsp:txXfrm>
    </dsp:sp>
    <dsp:sp modelId="{D7CE2DAE-ABF0-9641-AE1A-0DB79AEBD84A}">
      <dsp:nvSpPr>
        <dsp:cNvPr id="0" name=""/>
        <dsp:cNvSpPr/>
      </dsp:nvSpPr>
      <dsp:spPr>
        <a:xfrm rot="10800000">
          <a:off x="1870610" y="2361318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1978541" y="2445490"/>
        <a:ext cx="251838" cy="252518"/>
      </dsp:txXfrm>
    </dsp:sp>
    <dsp:sp modelId="{0538887E-FF31-324E-B401-E87E44AFF0AA}">
      <dsp:nvSpPr>
        <dsp:cNvPr id="0" name=""/>
        <dsp:cNvSpPr/>
      </dsp:nvSpPr>
      <dsp:spPr>
        <a:xfrm>
          <a:off x="3881" y="2062642"/>
          <a:ext cx="1697026" cy="1018215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Field Trial Design</a:t>
          </a:r>
        </a:p>
      </dsp:txBody>
      <dsp:txXfrm>
        <a:off x="33703" y="2092464"/>
        <a:ext cx="1637382" cy="958571"/>
      </dsp:txXfrm>
    </dsp:sp>
    <dsp:sp modelId="{92EB25B1-D4AE-754E-BD44-115E26D1FF80}">
      <dsp:nvSpPr>
        <dsp:cNvPr id="0" name=""/>
        <dsp:cNvSpPr/>
      </dsp:nvSpPr>
      <dsp:spPr>
        <a:xfrm rot="5400000">
          <a:off x="672509" y="3199649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726135" y="3230196"/>
        <a:ext cx="252518" cy="251838"/>
      </dsp:txXfrm>
    </dsp:sp>
    <dsp:sp modelId="{C225C079-1737-3742-99A0-0A7B593214FB}">
      <dsp:nvSpPr>
        <dsp:cNvPr id="0" name=""/>
        <dsp:cNvSpPr/>
      </dsp:nvSpPr>
      <dsp:spPr>
        <a:xfrm>
          <a:off x="3881" y="3759668"/>
          <a:ext cx="1697026" cy="101821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Deployment</a:t>
          </a:r>
        </a:p>
      </dsp:txBody>
      <dsp:txXfrm>
        <a:off x="33703" y="3789490"/>
        <a:ext cx="1637382" cy="958571"/>
      </dsp:txXfrm>
    </dsp:sp>
    <dsp:sp modelId="{C8297064-9915-AB4E-A9CB-FFEA8FC197B9}">
      <dsp:nvSpPr>
        <dsp:cNvPr id="0" name=""/>
        <dsp:cNvSpPr/>
      </dsp:nvSpPr>
      <dsp:spPr>
        <a:xfrm>
          <a:off x="1850246" y="4058345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850246" y="4142517"/>
        <a:ext cx="251838" cy="252518"/>
      </dsp:txXfrm>
    </dsp:sp>
    <dsp:sp modelId="{098F0226-B690-1B45-B506-7C933BFB7998}">
      <dsp:nvSpPr>
        <dsp:cNvPr id="0" name=""/>
        <dsp:cNvSpPr/>
      </dsp:nvSpPr>
      <dsp:spPr>
        <a:xfrm>
          <a:off x="2379718" y="3759668"/>
          <a:ext cx="1697026" cy="1018215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Monitoring</a:t>
          </a:r>
        </a:p>
      </dsp:txBody>
      <dsp:txXfrm>
        <a:off x="2409540" y="3789490"/>
        <a:ext cx="1637382" cy="9585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d8ed670a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d8ed670a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6d8ed670a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6d8ed670a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66cd253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66cd253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766cd2537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766cd2537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ML students, previous iterations of this class probably involved some readings and assignments in each of these areas. This semester, we’re taking a more hands-on project-focused approach.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6d8ed670a8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6d8ed670a8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6d8ed670a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6d8ed670a8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6d8ed670a8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6d8ed670a8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think you’re likely to drop, please let us know sooner rather than later so we can balance teams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6d8ed670a8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6d8ed670a8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6d8ed670a8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6d8ed670a8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6d8ed670a8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6d8ed670a8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be creating accounts on Wednesday and send around instructions about connecting to the course infrastructure once they’re ready for you to log on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-10650" y="-27575"/>
            <a:ext cx="9165300" cy="10857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-21275" y="-27575"/>
            <a:ext cx="9165300" cy="10857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7"/>
          <p:cNvSpPr/>
          <p:nvPr/>
        </p:nvSpPr>
        <p:spPr>
          <a:xfrm>
            <a:off x="-21275" y="-27575"/>
            <a:ext cx="9165300" cy="10857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525" cy="841725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g6dad9273e7_0_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336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ssg/MLinPractice#schedul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b_VGmx3685DNY48WLf5TgUMLAj8CFdt6?authuser=2#scrollTo=VIedu1vjE8PR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Machine Learning in Practice</a:t>
            </a:r>
            <a:endParaRPr sz="3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Rayid Ghani</a:t>
            </a:r>
            <a:endParaRPr dirty="0"/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3">
            <a:alphaModFix/>
          </a:blip>
          <a:srcRect b="63436"/>
          <a:stretch/>
        </p:blipFill>
        <p:spPr>
          <a:xfrm>
            <a:off x="2757488" y="3818150"/>
            <a:ext cx="3629025" cy="403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69B6-872F-4122-9EA5-42B96165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this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9C518-FF31-4521-FB00-EEC8F73E7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11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8D306-3C8A-6D45-BCD9-A0B65409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this class exist?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50762-270A-9D48-9911-FB65D98E5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52475"/>
            <a:ext cx="8832300" cy="2349008"/>
          </a:xfrm>
        </p:spPr>
        <p:txBody>
          <a:bodyPr/>
          <a:lstStyle/>
          <a:p>
            <a:r>
              <a:rPr lang="en-US" dirty="0"/>
              <a:t>Exposure and experience solving end-to-end real-world problems with ML</a:t>
            </a:r>
          </a:p>
          <a:p>
            <a:endParaRPr lang="en-US" dirty="0"/>
          </a:p>
          <a:p>
            <a:pPr lvl="1"/>
            <a:r>
              <a:rPr lang="en-US" dirty="0"/>
              <a:t>Beyond methods and models</a:t>
            </a:r>
          </a:p>
          <a:p>
            <a:pPr lvl="1"/>
            <a:r>
              <a:rPr lang="en-US" dirty="0"/>
              <a:t>Beyond simplifying assumptions</a:t>
            </a:r>
          </a:p>
          <a:p>
            <a:pPr lvl="1"/>
            <a:r>
              <a:rPr lang="en-US" dirty="0"/>
              <a:t>Beyond general-purpose, one-size-fits-all setups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6F8BF-5122-1CDF-6F6A-5C00236133C0}"/>
              </a:ext>
            </a:extLst>
          </p:cNvPr>
          <p:cNvSpPr txBox="1"/>
          <p:nvPr/>
        </p:nvSpPr>
        <p:spPr>
          <a:xfrm>
            <a:off x="0" y="3501483"/>
            <a:ext cx="86161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96900" lvl="1" indent="0" algn="ctr">
              <a:buNone/>
            </a:pPr>
            <a:r>
              <a:rPr lang="en-US" sz="2800" dirty="0">
                <a:solidFill>
                  <a:srgbClr val="C00000"/>
                </a:solidFill>
              </a:rPr>
              <a:t>Our goal is to train you to expand the scope of what you do in your future careers</a:t>
            </a:r>
          </a:p>
        </p:txBody>
      </p:sp>
    </p:spTree>
    <p:extLst>
      <p:ext uri="{BB962C8B-B14F-4D97-AF65-F5344CB8AC3E}">
        <p14:creationId xmlns:p14="http://schemas.microsoft.com/office/powerpoint/2010/main" val="18502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BABBF-84F2-1548-81DC-DF68B68C4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you want/expect to learn from this class?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B2B04-87BF-BC4F-A364-35F45920A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59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want you to learn from this class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How to responsibly and effectively solve real-world problems using ML</a:t>
            </a:r>
          </a:p>
          <a:p>
            <a:pPr marL="857250" lvl="1" indent="-285750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" sz="1600" dirty="0">
                <a:solidFill>
                  <a:schemeClr val="tx1"/>
                </a:solidFill>
              </a:rPr>
              <a:t>Understand the *entire* Machine Learning process (and get hands-on e</a:t>
            </a:r>
            <a:r>
              <a:rPr lang="en-US" sz="1600" dirty="0" err="1">
                <a:solidFill>
                  <a:schemeClr val="tx1"/>
                </a:solidFill>
              </a:rPr>
              <a:t>xp</a:t>
            </a:r>
            <a:r>
              <a:rPr lang="en" sz="1600" dirty="0" err="1">
                <a:solidFill>
                  <a:schemeClr val="tx1"/>
                </a:solidFill>
              </a:rPr>
              <a:t>erience</a:t>
            </a:r>
            <a:r>
              <a:rPr lang="en" sz="1600" dirty="0">
                <a:solidFill>
                  <a:schemeClr val="tx1"/>
                </a:solidFill>
              </a:rPr>
              <a:t> doing a lot of it)</a:t>
            </a:r>
          </a:p>
          <a:p>
            <a:pPr marL="857250" lvl="1" indent="-285750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US" sz="1600" dirty="0">
                <a:solidFill>
                  <a:schemeClr val="tx1"/>
                </a:solidFill>
              </a:rPr>
              <a:t>Build (and use) reusable ML pipelines</a:t>
            </a:r>
          </a:p>
          <a:p>
            <a:pPr marL="857250" lvl="1" indent="-285750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US" sz="1600" dirty="0">
                <a:solidFill>
                  <a:schemeClr val="tx1"/>
                </a:solidFill>
              </a:rPr>
              <a:t>Learn how to formulate ML problems, use, understand, evaluate, and communicate ML methods (that you have covered in earlier classes) in the context of a real problem</a:t>
            </a:r>
          </a:p>
          <a:p>
            <a:pPr lvl="1" indent="-342900">
              <a:lnSpc>
                <a:spcPct val="150000"/>
              </a:lnSpc>
              <a:spcBef>
                <a:spcPts val="0"/>
              </a:spcBef>
              <a:buSzPts val="1800"/>
            </a:pPr>
            <a:endParaRPr sz="16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200382" y="1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is this course different than typical ML classes you’ve taken before?</a:t>
            </a:r>
            <a:endParaRPr dirty="0"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chemeClr val="dk1"/>
                </a:solidFill>
              </a:rPr>
              <a:t>We’ll assume everyone knows </a:t>
            </a:r>
          </a:p>
          <a:p>
            <a:pPr marL="342900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2000" dirty="0">
                <a:solidFill>
                  <a:schemeClr val="dk1"/>
                </a:solidFill>
              </a:rPr>
              <a:t>M</a:t>
            </a:r>
            <a:r>
              <a:rPr lang="en" sz="2000" dirty="0" err="1">
                <a:solidFill>
                  <a:schemeClr val="dk1"/>
                </a:solidFill>
              </a:rPr>
              <a:t>ethods</a:t>
            </a:r>
            <a:r>
              <a:rPr lang="en" sz="2000" dirty="0">
                <a:solidFill>
                  <a:schemeClr val="dk1"/>
                </a:solidFill>
              </a:rPr>
              <a:t>/algorithms/models</a:t>
            </a:r>
          </a:p>
          <a:p>
            <a:pPr marL="342900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2000" dirty="0">
                <a:solidFill>
                  <a:schemeClr val="dk1"/>
                </a:solidFill>
              </a:rPr>
              <a:t>A</a:t>
            </a:r>
            <a:r>
              <a:rPr lang="en" sz="2000" dirty="0" err="1">
                <a:solidFill>
                  <a:schemeClr val="dk1"/>
                </a:solidFill>
              </a:rPr>
              <a:t>ssumptions</a:t>
            </a:r>
            <a:r>
              <a:rPr lang="en" sz="2000" dirty="0">
                <a:solidFill>
                  <a:schemeClr val="dk1"/>
                </a:solidFill>
              </a:rPr>
              <a:t> behind them</a:t>
            </a:r>
          </a:p>
          <a:p>
            <a:pPr marL="342900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2000" dirty="0">
                <a:solidFill>
                  <a:schemeClr val="dk1"/>
                </a:solidFill>
              </a:rPr>
              <a:t>H</a:t>
            </a:r>
            <a:r>
              <a:rPr lang="en" sz="2000" dirty="0">
                <a:solidFill>
                  <a:schemeClr val="dk1"/>
                </a:solidFill>
              </a:rPr>
              <a:t>ow to implement them </a:t>
            </a:r>
          </a:p>
          <a:p>
            <a:pPr marL="342900"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2400" dirty="0">
              <a:solidFill>
                <a:schemeClr val="dk1"/>
              </a:solidFill>
            </a:endParaRPr>
          </a:p>
          <a:p>
            <a:pPr marL="0" indent="0">
              <a:spcBef>
                <a:spcPts val="600"/>
              </a:spcBef>
              <a:buClr>
                <a:schemeClr val="dk1"/>
              </a:buClr>
              <a:buSzPts val="1100"/>
              <a:buNone/>
            </a:pPr>
            <a:r>
              <a:rPr lang="en" sz="2400" dirty="0">
                <a:solidFill>
                  <a:schemeClr val="dk1"/>
                </a:solidFill>
              </a:rPr>
              <a:t>And focus on everything else that comes before the matrix and after the models are built (99% of the work done in a real-world project)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00A9-8548-B248-98B9-9D00329A8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3EC99-8347-3241-AC32-A2F7A07D6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We want the focus to be on learning and not on the grade but... </a:t>
            </a:r>
          </a:p>
          <a:p>
            <a:endParaRPr lang="en-US" dirty="0"/>
          </a:p>
          <a:p>
            <a:r>
              <a:rPr lang="en-US" dirty="0"/>
              <a:t>Levels of learning</a:t>
            </a:r>
          </a:p>
          <a:p>
            <a:pPr lvl="1"/>
            <a:r>
              <a:rPr lang="en-US" dirty="0"/>
              <a:t>Exposed to information covered in this course</a:t>
            </a:r>
          </a:p>
          <a:p>
            <a:pPr lvl="1"/>
            <a:r>
              <a:rPr lang="en-US" dirty="0"/>
              <a:t>Applying the information (correctly) covered to the class project</a:t>
            </a:r>
          </a:p>
          <a:p>
            <a:pPr lvl="1"/>
            <a:r>
              <a:rPr lang="en-US" dirty="0"/>
              <a:t>Generalizing to the next ML problem you tackle</a:t>
            </a:r>
          </a:p>
        </p:txBody>
      </p:sp>
    </p:spTree>
    <p:extLst>
      <p:ext uri="{BB962C8B-B14F-4D97-AF65-F5344CB8AC3E}">
        <p14:creationId xmlns:p14="http://schemas.microsoft.com/office/powerpoint/2010/main" val="4074847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A9432-6F80-5A10-1FA3-D869104B2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D81CC53-5862-E700-B784-B971E90CB3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7600247"/>
              </p:ext>
            </p:extLst>
          </p:nvPr>
        </p:nvGraphicFramePr>
        <p:xfrm>
          <a:off x="-76200" y="1536699"/>
          <a:ext cx="9347200" cy="1270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685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6C04-2E07-FEE4-3381-2B5C87102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F6FFD-980B-9FFB-2016-3CE8A5C3C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A80FD0-87C1-CA10-6FA6-24EC38FB5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418"/>
            <a:ext cx="9144000" cy="513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580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C8E416-0351-09FE-B220-C6EE881E1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3" y="0"/>
            <a:ext cx="8247017" cy="513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989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Skills needed to solve real-world problems (with ML)</a:t>
            </a:r>
            <a:endParaRPr dirty="0"/>
          </a:p>
        </p:txBody>
      </p:sp>
      <p:sp>
        <p:nvSpPr>
          <p:cNvPr id="94" name="Google Shape;94;p19"/>
          <p:cNvSpPr/>
          <p:nvPr/>
        </p:nvSpPr>
        <p:spPr>
          <a:xfrm>
            <a:off x="4053800" y="2731425"/>
            <a:ext cx="1134600" cy="8061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Lato"/>
                <a:ea typeface="Lato"/>
                <a:cs typeface="Lato"/>
                <a:sym typeface="Lato"/>
              </a:rPr>
              <a:t>Classes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3562550" y="1159900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CS &amp; ML</a:t>
            </a:r>
            <a:endParaRPr sz="16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6111725" y="1439575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Statistics</a:t>
            </a:r>
            <a:endParaRPr sz="16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6741350" y="2818275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Sciences</a:t>
            </a:r>
            <a:endParaRPr sz="16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8" name="Google Shape;98;p19"/>
          <p:cNvCxnSpPr>
            <a:stCxn id="95" idx="2"/>
            <a:endCxn id="94" idx="0"/>
          </p:cNvCxnSpPr>
          <p:nvPr/>
        </p:nvCxnSpPr>
        <p:spPr>
          <a:xfrm>
            <a:off x="4621100" y="1792300"/>
            <a:ext cx="0" cy="939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99;p19"/>
          <p:cNvCxnSpPr/>
          <p:nvPr/>
        </p:nvCxnSpPr>
        <p:spPr>
          <a:xfrm flipH="1">
            <a:off x="5171275" y="2078600"/>
            <a:ext cx="986400" cy="678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9"/>
          <p:cNvCxnSpPr>
            <a:stCxn id="97" idx="1"/>
            <a:endCxn id="94" idx="3"/>
          </p:cNvCxnSpPr>
          <p:nvPr/>
        </p:nvCxnSpPr>
        <p:spPr>
          <a:xfrm rot="10800000">
            <a:off x="5188250" y="3134475"/>
            <a:ext cx="1553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Skills needed to solve real-world problems (with ML)</a:t>
            </a:r>
            <a:endParaRPr dirty="0"/>
          </a:p>
        </p:txBody>
      </p:sp>
      <p:sp>
        <p:nvSpPr>
          <p:cNvPr id="106" name="Google Shape;106;p20"/>
          <p:cNvSpPr/>
          <p:nvPr/>
        </p:nvSpPr>
        <p:spPr>
          <a:xfrm>
            <a:off x="4053800" y="2731425"/>
            <a:ext cx="1134600" cy="8061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Lato"/>
                <a:ea typeface="Lato"/>
                <a:cs typeface="Lato"/>
                <a:sym typeface="Lato"/>
              </a:rPr>
              <a:t>REAL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Lato"/>
                <a:ea typeface="Lato"/>
                <a:cs typeface="Lato"/>
                <a:sym typeface="Lato"/>
              </a:rPr>
              <a:t>WORLD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3562550" y="1159900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CS &amp; ML</a:t>
            </a:r>
            <a:endParaRPr sz="16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6111725" y="1439575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Statistics</a:t>
            </a:r>
            <a:endParaRPr sz="16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6741350" y="2818275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Sciences</a:t>
            </a:r>
            <a:endParaRPr sz="16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5654525" y="4196975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Experimental</a:t>
            </a:r>
            <a:endParaRPr sz="16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Design</a:t>
            </a:r>
            <a:endParaRPr sz="16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1499325" y="4066075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Ethics &amp;</a:t>
            </a:r>
            <a:endParaRPr sz="16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Legal Issues</a:t>
            </a:r>
            <a:endParaRPr sz="16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387900" y="2818275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Communication</a:t>
            </a:r>
            <a:endParaRPr sz="16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1036550" y="1487500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Problem</a:t>
            </a:r>
            <a:endParaRPr sz="16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Formulation</a:t>
            </a:r>
            <a:endParaRPr sz="16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4" name="Google Shape;114;p20"/>
          <p:cNvCxnSpPr>
            <a:stCxn id="107" idx="2"/>
            <a:endCxn id="106" idx="0"/>
          </p:cNvCxnSpPr>
          <p:nvPr/>
        </p:nvCxnSpPr>
        <p:spPr>
          <a:xfrm>
            <a:off x="4621100" y="1792300"/>
            <a:ext cx="0" cy="939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Google Shape;115;p20"/>
          <p:cNvCxnSpPr/>
          <p:nvPr/>
        </p:nvCxnSpPr>
        <p:spPr>
          <a:xfrm flipH="1">
            <a:off x="5171275" y="2078600"/>
            <a:ext cx="986400" cy="678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" name="Google Shape;116;p20"/>
          <p:cNvCxnSpPr>
            <a:stCxn id="109" idx="1"/>
            <a:endCxn id="106" idx="3"/>
          </p:cNvCxnSpPr>
          <p:nvPr/>
        </p:nvCxnSpPr>
        <p:spPr>
          <a:xfrm rot="10800000">
            <a:off x="5188250" y="3134475"/>
            <a:ext cx="1553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20"/>
          <p:cNvCxnSpPr/>
          <p:nvPr/>
        </p:nvCxnSpPr>
        <p:spPr>
          <a:xfrm rot="10800000">
            <a:off x="5160650" y="3531550"/>
            <a:ext cx="530400" cy="668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20"/>
          <p:cNvCxnSpPr/>
          <p:nvPr/>
        </p:nvCxnSpPr>
        <p:spPr>
          <a:xfrm rot="10800000" flipH="1">
            <a:off x="3580625" y="3531650"/>
            <a:ext cx="540900" cy="678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119;p20"/>
          <p:cNvCxnSpPr>
            <a:stCxn id="112" idx="3"/>
            <a:endCxn id="106" idx="1"/>
          </p:cNvCxnSpPr>
          <p:nvPr/>
        </p:nvCxnSpPr>
        <p:spPr>
          <a:xfrm>
            <a:off x="2505000" y="3134475"/>
            <a:ext cx="1548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" name="Google Shape;120;p20"/>
          <p:cNvCxnSpPr/>
          <p:nvPr/>
        </p:nvCxnSpPr>
        <p:spPr>
          <a:xfrm>
            <a:off x="3139125" y="2110425"/>
            <a:ext cx="954600" cy="646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/>
        </p:nvGraphicFramePr>
        <p:xfrm>
          <a:off x="135350" y="0"/>
          <a:ext cx="8832300" cy="5143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-1" y="23649"/>
            <a:ext cx="9088821" cy="3160986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404125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82B01-FB65-BE45-B088-DBD593E54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the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1669A-E55D-9344-BE22-8F89B1EF0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1: End-to-end ML Pipeline</a:t>
            </a:r>
          </a:p>
          <a:p>
            <a:pPr lvl="1"/>
            <a:r>
              <a:rPr lang="en-US" dirty="0"/>
              <a:t>Formulation, Modeling Setup, Features, Models, Model Selection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Module 2: Model Interpretability, Fairness, Field Trials, Uncertainty Quantification, ML Ops, …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938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Class Schedule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30200">
              <a:spcBef>
                <a:spcPts val="700"/>
              </a:spcBef>
              <a:buClr>
                <a:schemeClr val="dk1"/>
              </a:buClr>
              <a:buSzPts val="1600"/>
            </a:pPr>
            <a:r>
              <a:rPr lang="en-US" sz="1600" dirty="0">
                <a:solidFill>
                  <a:schemeClr val="dk1"/>
                </a:solidFill>
              </a:rPr>
              <a:t>Attendance (is not optional)</a:t>
            </a:r>
          </a:p>
          <a:p>
            <a:pPr indent="-330200">
              <a:spcBef>
                <a:spcPts val="700"/>
              </a:spcBef>
              <a:buClr>
                <a:schemeClr val="dk1"/>
              </a:buClr>
              <a:buSzPts val="1600"/>
            </a:pPr>
            <a:r>
              <a:rPr lang="en-US" sz="1600" dirty="0">
                <a:solidFill>
                  <a:schemeClr val="dk1"/>
                </a:solidFill>
              </a:rPr>
              <a:t>Platforms: </a:t>
            </a:r>
          </a:p>
          <a:p>
            <a:pPr lvl="1" indent="-330200">
              <a:spcBef>
                <a:spcPts val="700"/>
              </a:spcBef>
              <a:buClr>
                <a:schemeClr val="dk1"/>
              </a:buClr>
              <a:buSzPts val="1600"/>
            </a:pPr>
            <a:r>
              <a:rPr lang="en-US" sz="1600" dirty="0">
                <a:solidFill>
                  <a:schemeClr val="dk1"/>
                </a:solidFill>
              </a:rPr>
              <a:t>Latest content will be on </a:t>
            </a:r>
            <a:r>
              <a:rPr lang="en-US" sz="1600" b="1" dirty="0" err="1">
                <a:solidFill>
                  <a:schemeClr val="dk1"/>
                </a:solidFill>
              </a:rPr>
              <a:t>github</a:t>
            </a:r>
            <a:endParaRPr lang="en-US" sz="1600" b="1" dirty="0">
              <a:solidFill>
                <a:schemeClr val="dk1"/>
              </a:solidFill>
            </a:endParaRPr>
          </a:p>
          <a:p>
            <a:pPr lvl="1" indent="-330200">
              <a:spcBef>
                <a:spcPts val="700"/>
              </a:spcBef>
              <a:buClr>
                <a:schemeClr val="dk1"/>
              </a:buClr>
              <a:buSzPts val="1600"/>
            </a:pPr>
            <a:r>
              <a:rPr lang="en" sz="1600" b="1" dirty="0">
                <a:solidFill>
                  <a:schemeClr val="dk1"/>
                </a:solidFill>
              </a:rPr>
              <a:t>Canvas</a:t>
            </a:r>
            <a:r>
              <a:rPr lang="en" sz="1600" dirty="0">
                <a:solidFill>
                  <a:schemeClr val="dk1"/>
                </a:solidFill>
              </a:rPr>
              <a:t> (for assignments)</a:t>
            </a:r>
          </a:p>
          <a:p>
            <a:pPr lvl="1" indent="-330200">
              <a:spcBef>
                <a:spcPts val="700"/>
              </a:spcBef>
              <a:buClr>
                <a:schemeClr val="dk1"/>
              </a:buClr>
              <a:buSzPts val="1600"/>
            </a:pPr>
            <a:r>
              <a:rPr lang="en" sz="1600" b="1" dirty="0">
                <a:solidFill>
                  <a:schemeClr val="dk1"/>
                </a:solidFill>
              </a:rPr>
              <a:t>Piazza (and email)</a:t>
            </a:r>
            <a:r>
              <a:rPr lang="en" sz="1600" dirty="0">
                <a:solidFill>
                  <a:schemeClr val="dk1"/>
                </a:solidFill>
              </a:rPr>
              <a:t> for communications and project and teamwork</a:t>
            </a:r>
          </a:p>
          <a:p>
            <a:pPr indent="-330200">
              <a:spcBef>
                <a:spcPts val="700"/>
              </a:spcBef>
              <a:buClr>
                <a:schemeClr val="dk1"/>
              </a:buClr>
              <a:buSzPts val="1600"/>
            </a:pPr>
            <a:r>
              <a:rPr lang="en" sz="1600" dirty="0">
                <a:solidFill>
                  <a:schemeClr val="dk1"/>
                </a:solidFill>
              </a:rPr>
              <a:t>Office hours</a:t>
            </a:r>
          </a:p>
          <a:p>
            <a:pPr indent="-330200">
              <a:spcBef>
                <a:spcPts val="700"/>
              </a:spcBef>
              <a:buClr>
                <a:schemeClr val="dk1"/>
              </a:buClr>
              <a:buSzPts val="1600"/>
            </a:pPr>
            <a:r>
              <a:rPr lang="en-US" sz="1600" dirty="0">
                <a:solidFill>
                  <a:schemeClr val="dk1"/>
                </a:solidFill>
              </a:rPr>
              <a:t>TAs </a:t>
            </a:r>
            <a:endParaRPr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Teams</a:t>
            </a:r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Y</a:t>
            </a:r>
            <a:r>
              <a:rPr lang="en-US" dirty="0">
                <a:solidFill>
                  <a:schemeClr val="tx1"/>
                </a:solidFill>
              </a:rPr>
              <a:t>o</a:t>
            </a:r>
            <a:r>
              <a:rPr lang="en" dirty="0">
                <a:solidFill>
                  <a:schemeClr val="tx1"/>
                </a:solidFill>
              </a:rPr>
              <a:t>u should create 4-person teams by Tuesday (and fill out the spreadsheet to let us know)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If you think you might drop this course, do it soon and  keep that in mind when making teams</a:t>
            </a:r>
            <a:br>
              <a:rPr lang="en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</a:t>
            </a:r>
            <a:endParaRPr dirty="0"/>
          </a:p>
        </p:txBody>
      </p:sp>
      <p:sp>
        <p:nvSpPr>
          <p:cNvPr id="165" name="Google Shape;165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lvl="0" indent="0" algn="l" rtl="0">
              <a:lnSpc>
                <a:spcPct val="14625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</a:pPr>
            <a:endParaRPr dirty="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pic>
        <p:nvPicPr>
          <p:cNvPr id="2" name="Picture 1">
            <a:hlinkClick r:id="rId3"/>
            <a:extLst>
              <a:ext uri="{FF2B5EF4-FFF2-40B4-BE49-F238E27FC236}">
                <a16:creationId xmlns:a16="http://schemas.microsoft.com/office/drawing/2014/main" id="{7754616C-B13B-734C-9D90-D3E25C1D8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17724"/>
            <a:ext cx="9144000" cy="4125775"/>
          </a:xfrm>
          <a:prstGeom prst="rect">
            <a:avLst/>
          </a:prstGeom>
        </p:spPr>
      </p:pic>
      <p:pic>
        <p:nvPicPr>
          <p:cNvPr id="1026" name="Picture 2" descr="DonorsChoose: Support a classroom. Build a future.">
            <a:extLst>
              <a:ext uri="{FF2B5EF4-FFF2-40B4-BE49-F238E27FC236}">
                <a16:creationId xmlns:a16="http://schemas.microsoft.com/office/drawing/2014/main" id="{63585741-D5E1-0C49-9B35-C444E3CCF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927" y="1033625"/>
            <a:ext cx="2490073" cy="130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 Setup Options</a:t>
            </a:r>
            <a:endParaRPr dirty="0"/>
          </a:p>
        </p:txBody>
      </p:sp>
      <p:sp>
        <p:nvSpPr>
          <p:cNvPr id="177" name="Google Shape;177;p29"/>
          <p:cNvSpPr txBox="1">
            <a:spLocks noGrp="1"/>
          </p:cNvSpPr>
          <p:nvPr>
            <p:ph type="body" idx="1"/>
          </p:nvPr>
        </p:nvSpPr>
        <p:spPr>
          <a:xfrm>
            <a:off x="58282" y="1017725"/>
            <a:ext cx="8774018" cy="38802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Get set up on </a:t>
            </a:r>
            <a:r>
              <a:rPr lang="en-US" dirty="0" err="1"/>
              <a:t>github</a:t>
            </a:r>
            <a:r>
              <a:rPr lang="en-US" dirty="0"/>
              <a:t> for your project</a:t>
            </a:r>
            <a:endParaRPr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Nice to have: get familiar with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 err="1"/>
              <a:t>Postgresql</a:t>
            </a:r>
            <a:r>
              <a:rPr lang="en" dirty="0"/>
              <a:t> (to analyze and query data)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*nix command line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 for next class</a:t>
            </a:r>
            <a:endParaRPr/>
          </a:p>
        </p:txBody>
      </p:sp>
      <p:sp>
        <p:nvSpPr>
          <p:cNvPr id="185" name="Google Shape;18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/>
              <a:t>Explore literature (broadly) to understand key reasons why ML systems may and do fail in production and deployment </a:t>
            </a:r>
            <a:endParaRPr lang="en" sz="1600" dirty="0"/>
          </a:p>
          <a:p>
            <a:pPr marL="59690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" dirty="0"/>
          </a:p>
          <a:p>
            <a:pPr marL="59690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" dirty="0"/>
          </a:p>
          <a:p>
            <a:pPr lvl="0"/>
            <a:r>
              <a:rPr lang="en-US" sz="2000" b="1" dirty="0"/>
              <a:t>Assignment</a:t>
            </a:r>
          </a:p>
          <a:p>
            <a:pPr lvl="1">
              <a:spcBef>
                <a:spcPts val="0"/>
              </a:spcBef>
            </a:pPr>
            <a:r>
              <a:rPr lang="en-US" sz="1600" b="1" dirty="0"/>
              <a:t>Project Team Creation: ink in canvas</a:t>
            </a:r>
          </a:p>
          <a:p>
            <a:pPr lvl="1">
              <a:spcBef>
                <a:spcPts val="0"/>
              </a:spcBef>
            </a:pPr>
            <a:r>
              <a:rPr lang="en-US" sz="1600" b="1" dirty="0"/>
              <a:t>Individual project: First pass on the ML project (due next Tuesday)</a:t>
            </a:r>
          </a:p>
          <a:p>
            <a:pPr lvl="1">
              <a:spcBef>
                <a:spcPts val="0"/>
              </a:spcBef>
            </a:pPr>
            <a:endParaRPr lang="en-US" sz="1600" b="1" dirty="0"/>
          </a:p>
          <a:p>
            <a:pPr marL="139700" indent="0">
              <a:buSzPts val="1400"/>
              <a:buNone/>
            </a:pPr>
            <a:endParaRPr lang="e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80498AB-30B6-A245-AB95-88053911351A}">
  <we:reference id="wa200006000" version="1.2.1.0" store="en-US" storeType="OMEX"/>
  <we:alternateReferences>
    <we:reference id="wa200006000" version="1.2.1.0" store="WA200006000" storeType="OMEX"/>
  </we:alternateReferences>
  <we:properties>
    <we:property name="document_UID" value="&quot;27f251dc-d477-4119-984f-bc5f573d9d8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2424</TotalTime>
  <Words>628</Words>
  <Application>Microsoft Macintosh PowerPoint</Application>
  <PresentationFormat>On-screen Show (16:9)</PresentationFormat>
  <Paragraphs>116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Lato</vt:lpstr>
      <vt:lpstr>Simple Light</vt:lpstr>
      <vt:lpstr>Machine Learning in Practice </vt:lpstr>
      <vt:lpstr>History of this class</vt:lpstr>
      <vt:lpstr>Why does this class exist?</vt:lpstr>
      <vt:lpstr>What do you want/expect to learn from this class?</vt:lpstr>
      <vt:lpstr>What we want you to learn from this class</vt:lpstr>
      <vt:lpstr>How is this course different than typical ML classes you’ve taken before?</vt:lpstr>
      <vt:lpstr>Grading</vt:lpstr>
      <vt:lpstr>Grading</vt:lpstr>
      <vt:lpstr>PowerPoint Presentation</vt:lpstr>
      <vt:lpstr>PowerPoint Presentation</vt:lpstr>
      <vt:lpstr>Skills needed to solve real-world problems (with ML)</vt:lpstr>
      <vt:lpstr>Skills needed to solve real-world problems (with ML)</vt:lpstr>
      <vt:lpstr>PowerPoint Presentation</vt:lpstr>
      <vt:lpstr>Structure of the class</vt:lpstr>
      <vt:lpstr>Class Schedule</vt:lpstr>
      <vt:lpstr>Logistics</vt:lpstr>
      <vt:lpstr>Project Teams</vt:lpstr>
      <vt:lpstr>Project</vt:lpstr>
      <vt:lpstr>Tech Setup Options</vt:lpstr>
      <vt:lpstr>Prep for next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for Public Policy Lab (aka Data Analysis Class) </dc:title>
  <cp:lastModifiedBy>Rayid Ghani</cp:lastModifiedBy>
  <cp:revision>30</cp:revision>
  <dcterms:modified xsi:type="dcterms:W3CDTF">2025-08-26T14:04:18Z</dcterms:modified>
</cp:coreProperties>
</file>