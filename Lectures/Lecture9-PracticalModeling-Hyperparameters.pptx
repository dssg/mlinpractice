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431" r:id="rId3"/>
    <p:sldId id="439" r:id="rId4"/>
    <p:sldId id="440" r:id="rId5"/>
    <p:sldId id="441" r:id="rId6"/>
    <p:sldId id="442" r:id="rId7"/>
    <p:sldId id="443" r:id="rId8"/>
    <p:sldId id="433" r:id="rId9"/>
    <p:sldId id="434" r:id="rId10"/>
    <p:sldId id="437" r:id="rId11"/>
    <p:sldId id="436" r:id="rId12"/>
  </p:sldIdLst>
  <p:sldSz cx="12192000" cy="6858000"/>
  <p:notesSz cx="6858000" cy="9144000"/>
  <p:custDataLst>
    <p:tags r:id="rId14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go="http://customooxmlschemas.google.com/" r:id="rId78" roundtripDataSignature="AMtx7mjFyVUGRZWio+dc9dxzYsimUxNJ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11E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67"/>
    <p:restoredTop sz="93014"/>
  </p:normalViewPr>
  <p:slideViewPr>
    <p:cSldViewPr snapToGrid="0" snapToObjects="1">
      <p:cViewPr varScale="1">
        <p:scale>
          <a:sx n="85" d="100"/>
          <a:sy n="85" d="100"/>
        </p:scale>
        <p:origin x="176" y="8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82" Type="http://schemas.openxmlformats.org/officeDocument/2006/relationships/tableStyles" Target="tableStyles.xml"/><Relationship Id="rId10" Type="http://schemas.openxmlformats.org/officeDocument/2006/relationships/slide" Target="slides/slide9.xml"/><Relationship Id="rId78" Type="http://customschemas.google.com/relationships/presentationmetadata" Target="metadata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885863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64;g6dad9273e7_0_53">
            <a:extLst>
              <a:ext uri="{FF2B5EF4-FFF2-40B4-BE49-F238E27FC236}">
                <a16:creationId xmlns:a16="http://schemas.microsoft.com/office/drawing/2014/main" id="{CC84B178-9F35-4D45-A609-CF732A414DB7}"/>
              </a:ext>
            </a:extLst>
          </p:cNvPr>
          <p:cNvSpPr txBox="1"/>
          <p:nvPr userDrawn="1"/>
        </p:nvSpPr>
        <p:spPr>
          <a:xfrm>
            <a:off x="0" y="-295"/>
            <a:ext cx="12192000" cy="377883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3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g6dad9273e7_0_4"/>
          <p:cNvSpPr txBox="1">
            <a:spLocks noGrp="1"/>
          </p:cNvSpPr>
          <p:nvPr>
            <p:ph type="ctrTitle"/>
          </p:nvPr>
        </p:nvSpPr>
        <p:spPr>
          <a:xfrm>
            <a:off x="415611" y="380906"/>
            <a:ext cx="11360700" cy="27369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>
                <a:solidFill>
                  <a:schemeClr val="bg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endParaRPr dirty="0"/>
          </a:p>
        </p:txBody>
      </p:sp>
      <p:sp>
        <p:nvSpPr>
          <p:cNvPr id="15" name="Google Shape;15;g6dad9273e7_0_4"/>
          <p:cNvSpPr txBox="1">
            <a:spLocks noGrp="1"/>
          </p:cNvSpPr>
          <p:nvPr>
            <p:ph type="subTitle" idx="1"/>
          </p:nvPr>
        </p:nvSpPr>
        <p:spPr>
          <a:xfrm>
            <a:off x="415611" y="3778537"/>
            <a:ext cx="11360700" cy="105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 dirty="0"/>
          </a:p>
        </p:txBody>
      </p:sp>
      <p:sp>
        <p:nvSpPr>
          <p:cNvPr id="16" name="Google Shape;16;g6dad9273e7_0_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53C111E-0D94-D541-964E-0A52448480E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54930" y="5240440"/>
            <a:ext cx="5519424" cy="16028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6dad9273e7_0_53"/>
          <p:cNvSpPr txBox="1">
            <a:spLocks noGrp="1"/>
          </p:cNvSpPr>
          <p:nvPr>
            <p:ph type="body" idx="1"/>
          </p:nvPr>
        </p:nvSpPr>
        <p:spPr>
          <a:xfrm>
            <a:off x="268210" y="1588503"/>
            <a:ext cx="11666400" cy="49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marL="3200400" lvl="6" indent="-342900" algn="l" rtl="0"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marL="3657600" lvl="7" indent="-342900" algn="l" rtl="0"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marL="4114800" lvl="8" indent="-342900" algn="l" rtl="0">
              <a:spcBef>
                <a:spcPts val="2100"/>
              </a:spcBef>
              <a:spcAft>
                <a:spcPts val="21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>
            <a:endParaRPr dirty="0"/>
          </a:p>
        </p:txBody>
      </p:sp>
      <p:sp>
        <p:nvSpPr>
          <p:cNvPr id="64" name="Google Shape;64;g6dad9273e7_0_53"/>
          <p:cNvSpPr txBox="1"/>
          <p:nvPr/>
        </p:nvSpPr>
        <p:spPr>
          <a:xfrm>
            <a:off x="5410" y="11929"/>
            <a:ext cx="12192000" cy="1353806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3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058E15-DEBE-0941-A587-4DF3467F6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558" y="418466"/>
            <a:ext cx="11360700" cy="7635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F99B72-43BD-D6CF-CBA1-FAC529A6E7C1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6856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6dad9273e7_0_0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g6dad9273e7_0_0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marL="914400" lvl="1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marL="1371600" lvl="2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marL="1828800" lvl="3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marL="2286000" lvl="4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marL="2743200" lvl="5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marL="3200400" lvl="6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marL="3657600" lvl="7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marL="4114800" lvl="8" indent="-34925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g6dad9273e7_0_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62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presentation/d/1adRLuFbMm5hdTMOjQz9FoY7JQlAMWow9FUZEaZ43K4w/edit#slide=id.g15a702a90e6_0_0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4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7.sv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3.svg"/><Relationship Id="rId11" Type="http://schemas.openxmlformats.org/officeDocument/2006/relationships/image" Target="../media/image6.png"/><Relationship Id="rId5" Type="http://schemas.openxmlformats.org/officeDocument/2006/relationships/image" Target="../media/image2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3.xml"/><Relationship Id="rId9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7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7.sv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3.svg"/><Relationship Id="rId11" Type="http://schemas.openxmlformats.org/officeDocument/2006/relationships/image" Target="../media/image6.png"/><Relationship Id="rId5" Type="http://schemas.openxmlformats.org/officeDocument/2006/relationships/image" Target="../media/image2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3.xml"/><Relationship Id="rId9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10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7.svg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image" Target="../media/image3.svg"/><Relationship Id="rId11" Type="http://schemas.openxmlformats.org/officeDocument/2006/relationships/image" Target="../media/image6.png"/><Relationship Id="rId5" Type="http://schemas.openxmlformats.org/officeDocument/2006/relationships/image" Target="../media/image2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3.xml"/><Relationship Id="rId9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13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7.svg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image" Target="../media/image3.svg"/><Relationship Id="rId11" Type="http://schemas.openxmlformats.org/officeDocument/2006/relationships/image" Target="../media/image6.png"/><Relationship Id="rId5" Type="http://schemas.openxmlformats.org/officeDocument/2006/relationships/image" Target="../media/image2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3.xml"/><Relationship Id="rId9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presentation/d/1adRLuFbMm5hdTMOjQz9FoY7JQlAMWow9FUZEaZ43K4w/edit#slide=id.g15a702a90e6_0_0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9C2AC-0221-3A42-A0C2-DDBA9BA3D6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611" y="518101"/>
            <a:ext cx="11360700" cy="2736900"/>
          </a:xfrm>
        </p:spPr>
        <p:txBody>
          <a:bodyPr/>
          <a:lstStyle/>
          <a:p>
            <a:r>
              <a:rPr lang="en-US" sz="5400" dirty="0"/>
              <a:t>Models and Hyperparameters: Practical Tips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ABB3B6-8D57-374F-AEC9-D4CBE450E10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Rayid Ghani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>
                <a:solidFill>
                  <a:schemeClr val="tx1"/>
                </a:solidFill>
              </a:rPr>
              <a:t>Tuesday: Presentations + Temporal Model Selection</a:t>
            </a:r>
          </a:p>
          <a:p>
            <a:pPr marL="11430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n-US" dirty="0">
                <a:solidFill>
                  <a:schemeClr val="tx1"/>
                </a:solidFill>
              </a:rPr>
              <a:t>Coming Up Next Week:</a:t>
            </a:r>
          </a:p>
          <a:p>
            <a:r>
              <a:rPr lang="en-US" dirty="0">
                <a:solidFill>
                  <a:schemeClr val="tx1"/>
                </a:solidFill>
                <a:hlinkClick r:id="rId2"/>
              </a:rPr>
              <a:t>Monday: Modeling Results Update Assignment 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Tuesday: Weekly Feedback Form and Readings</a:t>
            </a:r>
          </a:p>
          <a:p>
            <a:pPr marL="114300" indent="0">
              <a:buNone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325028"/>
            <a:ext cx="12192000" cy="114300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Things to remember</a:t>
            </a:r>
          </a:p>
        </p:txBody>
      </p:sp>
    </p:spTree>
    <p:extLst>
      <p:ext uri="{BB962C8B-B14F-4D97-AF65-F5344CB8AC3E}">
        <p14:creationId xmlns:p14="http://schemas.microsoft.com/office/powerpoint/2010/main" val="3128043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AD7446C-0502-1DBB-84CA-D61F1FDD846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0747E61-417A-4D5D-633B-9900F1B832A4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112851" y="1000897"/>
            <a:ext cx="8486226" cy="3855308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>
                <a:solidFill>
                  <a:srgbClr val="000000"/>
                </a:solidFill>
              </a:rPr>
              <a:t>Overfit &amp; Chill
List one positive thing they’re doing that you did not do in your project so far and why you think that’s a good idea to do?
List one thing that they could do to improve their project?</a:t>
            </a:r>
            <a:endParaRPr lang="en-US" sz="2400" b="1" dirty="0">
              <a:solidFill>
                <a:srgbClr val="00000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1A83ED-145E-DE5D-6DD1-3592212675D8}"/>
              </a:ext>
            </a:extLst>
          </p:cNvPr>
          <p:cNvSpPr/>
          <p:nvPr/>
        </p:nvSpPr>
        <p:spPr>
          <a:xfrm>
            <a:off x="0" y="5820032"/>
            <a:ext cx="12192001" cy="1037968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1155" tIns="259492" rIns="1852888" bIns="203886" rtlCol="0" anchor="ctr">
            <a:normAutofit fontScale="85000" lnSpcReduction="1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E1F1A24-B59B-58FB-1BDE-1AD94EE2CED6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6462" y="6190785"/>
            <a:ext cx="296462" cy="296462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64CB634D-35DD-1A6C-F55F-1DE31C70C21D}"/>
              </a:ext>
            </a:extLst>
          </p:cNvPr>
          <p:cNvSpPr/>
          <p:nvPr/>
        </p:nvSpPr>
        <p:spPr>
          <a:xfrm rot="2700000">
            <a:off x="9620371" y="514924"/>
            <a:ext cx="3335198" cy="778213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70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0F76531-39AC-B151-92F9-A6DF129B0CE5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746748" y="6153727"/>
            <a:ext cx="1111733" cy="37057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62142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E5F3F24-BB16-529C-9542-E92D6B6B5A6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7F44D1-632D-FCDB-0668-F8F2DF1B15D1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112851" y="1000897"/>
            <a:ext cx="8486226" cy="3855308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>
                <a:solidFill>
                  <a:srgbClr val="000000"/>
                </a:solidFill>
              </a:rPr>
              <a:t>Carnegie Sjuper Kings
List one positive thing they’re doing that you did not do in your project so far and why you think that’s a good idea to do?
List one thing that they could do to improve their project?
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C4159BF-6952-6845-20EF-379FB186C9C4}"/>
              </a:ext>
            </a:extLst>
          </p:cNvPr>
          <p:cNvSpPr/>
          <p:nvPr/>
        </p:nvSpPr>
        <p:spPr>
          <a:xfrm>
            <a:off x="0" y="5820032"/>
            <a:ext cx="12192001" cy="1037968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1155" tIns="259492" rIns="1852888" bIns="203886" rtlCol="0" anchor="ctr">
            <a:normAutofit fontScale="85000" lnSpcReduction="1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F65CC4D-B834-7F9F-78D2-6BCAEA970F59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6462" y="6190785"/>
            <a:ext cx="296462" cy="296462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E20D3624-1153-3452-A907-84310BB8A559}"/>
              </a:ext>
            </a:extLst>
          </p:cNvPr>
          <p:cNvSpPr/>
          <p:nvPr/>
        </p:nvSpPr>
        <p:spPr>
          <a:xfrm rot="2700000">
            <a:off x="9620371" y="514924"/>
            <a:ext cx="3335198" cy="778213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70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47018486-53E6-B76B-2C9F-6F2F7D7D7251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746748" y="6153727"/>
            <a:ext cx="1111733" cy="37057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01506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8E94151-143C-1340-9675-1968647FEF63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DB6B03D-1BA6-2DF7-6EE9-FCBC3DF08135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112851" y="1000897"/>
            <a:ext cx="8486226" cy="3855308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000000"/>
                </a:solidFill>
              </a:rPr>
              <a:t>Royal Carnegie </a:t>
            </a:r>
            <a:r>
              <a:rPr lang="en-US" sz="2400" b="1" dirty="0" err="1">
                <a:solidFill>
                  <a:srgbClr val="000000"/>
                </a:solidFill>
              </a:rPr>
              <a:t>BROgrammers</a:t>
            </a:r>
            <a:r>
              <a:rPr lang="en-US" sz="2400" b="1" dirty="0">
                <a:solidFill>
                  <a:srgbClr val="000000"/>
                </a:solidFill>
              </a:rPr>
              <a:t>
List one positive thing they’re doing that you did not do in your project so far and why you think that’s a good idea to do?
List one thing that they could do to improve their project?
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C311A1-AD2F-4269-D5A1-2105D6BB9604}"/>
              </a:ext>
            </a:extLst>
          </p:cNvPr>
          <p:cNvSpPr/>
          <p:nvPr/>
        </p:nvSpPr>
        <p:spPr>
          <a:xfrm>
            <a:off x="0" y="5820032"/>
            <a:ext cx="12192001" cy="1037968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1155" tIns="259492" rIns="1852888" bIns="203886" rtlCol="0" anchor="ctr">
            <a:normAutofit fontScale="85000" lnSpcReduction="1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0F42343F-7828-6ACB-E0FC-9759634EA064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6462" y="6190785"/>
            <a:ext cx="296462" cy="296462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3C52D3AA-4B42-C884-A460-45F3E39B5142}"/>
              </a:ext>
            </a:extLst>
          </p:cNvPr>
          <p:cNvSpPr/>
          <p:nvPr/>
        </p:nvSpPr>
        <p:spPr>
          <a:xfrm rot="2700000">
            <a:off x="9620371" y="514924"/>
            <a:ext cx="3335198" cy="778213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70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45B6633F-F207-16F5-45A2-B097B1FB3118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746748" y="6153727"/>
            <a:ext cx="1111733" cy="37057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54526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61B60E1-BF01-217A-2F6D-51151D4D489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2E1257-1DB1-8E50-E7FD-B78B9A4F4B4B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112851" y="1000897"/>
            <a:ext cx="8486226" cy="3855308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>
                <a:solidFill>
                  <a:srgbClr val="000000"/>
                </a:solidFill>
              </a:rPr>
              <a:t>Group 2
List one positive thing they’re doing that you did not do in your project so far and why you think that’s a good idea to do?
List one thing that they could do to improve their project?
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7207F3-EEDB-664D-6B39-8B6DC83C1D24}"/>
              </a:ext>
            </a:extLst>
          </p:cNvPr>
          <p:cNvSpPr/>
          <p:nvPr/>
        </p:nvSpPr>
        <p:spPr>
          <a:xfrm>
            <a:off x="0" y="5820032"/>
            <a:ext cx="12192001" cy="1037968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1155" tIns="259492" rIns="1852888" bIns="203886" rtlCol="0" anchor="ctr">
            <a:normAutofit fontScale="85000" lnSpcReduction="1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813FD5C-837D-982E-CE5D-753A0E0BF16A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6462" y="6190785"/>
            <a:ext cx="296462" cy="296462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BED52564-5FD8-FD3D-0A73-CED1F8FA1C83}"/>
              </a:ext>
            </a:extLst>
          </p:cNvPr>
          <p:cNvSpPr/>
          <p:nvPr/>
        </p:nvSpPr>
        <p:spPr>
          <a:xfrm rot="2700000">
            <a:off x="9620371" y="514924"/>
            <a:ext cx="3335198" cy="778213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70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332E333B-04CF-4175-F918-E2F9AB9776CF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746748" y="6153727"/>
            <a:ext cx="1111733" cy="37057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73107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E6C5C-945A-29D9-46D5-A5BBA24D6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 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D902AD-0C8A-965D-E27F-2E7603AE63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github.com</a:t>
            </a:r>
            <a:r>
              <a:rPr lang="en-US" dirty="0"/>
              <a:t>/</a:t>
            </a:r>
            <a:r>
              <a:rPr lang="en-US" dirty="0" err="1"/>
              <a:t>dssg</a:t>
            </a:r>
            <a:r>
              <a:rPr lang="en-US" dirty="0"/>
              <a:t>/triage</a:t>
            </a:r>
          </a:p>
          <a:p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0986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AD46A2D-568C-2C4E-85F7-8E8CFE46C7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E0CB9C1-C013-2248-BEF2-C66B587BE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models to run and how?</a:t>
            </a:r>
          </a:p>
        </p:txBody>
      </p:sp>
    </p:spTree>
    <p:extLst>
      <p:ext uri="{BB962C8B-B14F-4D97-AF65-F5344CB8AC3E}">
        <p14:creationId xmlns:p14="http://schemas.microsoft.com/office/powerpoint/2010/main" val="21259918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C55C330-3BDE-C34B-B017-753B25F52C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85AF54C-051E-B549-993F-F39AA2F7A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hyperparameters to explore?</a:t>
            </a:r>
          </a:p>
        </p:txBody>
      </p:sp>
    </p:spTree>
    <p:extLst>
      <p:ext uri="{BB962C8B-B14F-4D97-AF65-F5344CB8AC3E}">
        <p14:creationId xmlns:p14="http://schemas.microsoft.com/office/powerpoint/2010/main" val="23452889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697F7C7-AE6B-27C5-FA1D-B8A3DB8A77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Bruteforce</a:t>
            </a:r>
            <a:endParaRPr lang="en-US" dirty="0"/>
          </a:p>
          <a:p>
            <a:r>
              <a:rPr lang="en-US" dirty="0"/>
              <a:t>Native </a:t>
            </a:r>
            <a:r>
              <a:rPr lang="en-US" dirty="0" err="1"/>
              <a:t>gridsearch</a:t>
            </a:r>
            <a:r>
              <a:rPr lang="en-US" dirty="0"/>
              <a:t> in </a:t>
            </a:r>
            <a:r>
              <a:rPr lang="en-US" dirty="0" err="1"/>
              <a:t>sklearn</a:t>
            </a:r>
            <a:endParaRPr lang="en-US" dirty="0"/>
          </a:p>
          <a:p>
            <a:r>
              <a:rPr lang="en-US" dirty="0" err="1"/>
              <a:t>Optuna</a:t>
            </a:r>
            <a:r>
              <a:rPr lang="en-US" dirty="0"/>
              <a:t>, </a:t>
            </a:r>
            <a:r>
              <a:rPr lang="en-US" dirty="0" err="1"/>
              <a:t>hyperopt</a:t>
            </a:r>
            <a:r>
              <a:rPr lang="en-US" dirty="0"/>
              <a:t>, …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A97ED3C-28DF-5F98-7E13-6F7F1C960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do </a:t>
            </a:r>
            <a:r>
              <a:rPr lang="en-US" dirty="0" err="1"/>
              <a:t>gridsearch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56474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>
                <a:solidFill>
                  <a:schemeClr val="tx1"/>
                </a:solidFill>
              </a:rPr>
              <a:t>Thursday: Temporal Model Selection </a:t>
            </a:r>
          </a:p>
          <a:p>
            <a:pPr marL="11430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n-US" dirty="0">
                <a:solidFill>
                  <a:schemeClr val="tx1"/>
                </a:solidFill>
              </a:rPr>
              <a:t>Coming Up Next Week:</a:t>
            </a:r>
          </a:p>
          <a:p>
            <a:r>
              <a:rPr lang="en-US" dirty="0">
                <a:solidFill>
                  <a:schemeClr val="tx1"/>
                </a:solidFill>
                <a:hlinkClick r:id="rId2"/>
              </a:rPr>
              <a:t>Monday: Modeling Results Update Assignment 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Tuesday: Weekly Feedback Form and Readings</a:t>
            </a:r>
          </a:p>
          <a:p>
            <a:pPr marL="114300" indent="0">
              <a:buNone/>
            </a:pPr>
            <a:br>
              <a:rPr lang="en-US" dirty="0"/>
            </a:b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325028"/>
            <a:ext cx="12192000" cy="114300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Things to remember</a:t>
            </a:r>
          </a:p>
        </p:txBody>
      </p:sp>
    </p:spTree>
    <p:extLst>
      <p:ext uri="{BB962C8B-B14F-4D97-AF65-F5344CB8AC3E}">
        <p14:creationId xmlns:p14="http://schemas.microsoft.com/office/powerpoint/2010/main" val="390453601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5.0.0"/>
  <p:tag name="SLIDO_PRESENTATION_ID" val="5bc19e3e-ab64-48f6-abc1-e6e7d0a167ec"/>
  <p:tag name="SLIDO_EVENT_UUID" val="0161bee7-9b52-48ab-bd01-308fc07c8a33"/>
  <p:tag name="SLIDO_EVENT_SECTION_UUID" val="53f7b2fd-9b37-4ce9-89ff-a9a7d9b782a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625b2a8c-9a97-47df-b5ba-6e771e84890b"/>
  <p:tag name="SLIDO_TIMELINE" val="W3sic2hvd1Jlc3VsdHMiOmZhbHNlLCJwb2xsUXVlc3Rpb25VdWlkIjoiYzJhN2Y2ZDgtMWJmNC00MjkwLTg3OTItMjE4ZDc3YTlhZjY1In0seyJzaG93UmVzdWx0cyI6dHJ1ZSwicG9sbFF1ZXN0aW9uVXVpZCI6ImMyYTdmNmQ4LTFiZjQtNDI5MC04NzkyLTIxOGQ3N2E5YWY2NSJ9XQ==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OpenText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0947b5d7-3e33-486d-a817-f0d2f1bb9da1"/>
  <p:tag name="SLIDO_TIMELINE" val="W3sic2hvd1Jlc3VsdHMiOmZhbHNlLCJwb2xsUXVlc3Rpb25VdWlkIjoiOTI3ZTIyN2MtODdhOS00MGU5LTljMmEtZTBlMTAxZjJiYzM2In0seyJzaG93UmVzdWx0cyI6dHJ1ZSwicG9sbFF1ZXN0aW9uVXVpZCI6IjkyN2UyMjdjLTg3YTktNDBlOS05YzJhLWUwZTEwMWYyYmMzNiJ9XQ==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OpenText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3618f189-c894-4f12-9b6f-2d16df16dfbf"/>
  <p:tag name="SLIDO_TIMELINE" val="W3sicG9sbFF1ZXN0aW9uVXVpZCI6IjU5NWQ2ZjRhLWIxMDAtNDM0ZS1iYjM2LWJkODAxYTc4MjViMiIsInNob3dSZXN1bHRzIjpmYWxzZX0seyJwb2xsUXVlc3Rpb25VdWlkIjoiNTk1ZDZmNGEtYjEwMC00MzRlLWJiMzYtYmQ4MDFhNzgyNWIyIiwic2hvd1Jlc3VsdHMiOnRydWV9XQ==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OpenText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57802d84-6256-41ca-8481-39fd1a66f06a"/>
  <p:tag name="SLIDO_TIMELINE" val="W3sic2hvd1Jlc3VsdHMiOmZhbHNlLCJwb2xsUXVlc3Rpb25VdWlkIjoiYThkZWYwNjctODY2MC00YmE2LWJhNjUtNTFiZjFhZDIxMDNhIn0seyJzaG93UmVzdWx0cyI6dHJ1ZSwicG9sbFF1ZXN0aW9uVXVpZCI6ImE4ZGVmMDY3LTg2NjAtNGJhNi1iYTY1LTUxYmYxYWQyMTAzYSJ9XQ==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OpenText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11847</TotalTime>
  <Words>377</Words>
  <Application>Microsoft Macintosh PowerPoint</Application>
  <PresentationFormat>Widescreen</PresentationFormat>
  <Paragraphs>36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Simple Light</vt:lpstr>
      <vt:lpstr>Models and Hyperparameters: Practical Tips</vt:lpstr>
      <vt:lpstr>Things to remember</vt:lpstr>
      <vt:lpstr>PowerPoint Presentation</vt:lpstr>
      <vt:lpstr>PowerPoint Presentation</vt:lpstr>
      <vt:lpstr>PowerPoint Presentation</vt:lpstr>
      <vt:lpstr>PowerPoint Presentation</vt:lpstr>
      <vt:lpstr>Pipeline example</vt:lpstr>
      <vt:lpstr>Which models to run and how?</vt:lpstr>
      <vt:lpstr>Which hyperparameters to explore?</vt:lpstr>
      <vt:lpstr>How to do gridsearch</vt:lpstr>
      <vt:lpstr>Things to remember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Rayid Ghani</cp:lastModifiedBy>
  <cp:revision>64</cp:revision>
  <dcterms:created xsi:type="dcterms:W3CDTF">2020-01-14T19:43:43Z</dcterms:created>
  <dcterms:modified xsi:type="dcterms:W3CDTF">2025-10-03T01:46:08Z</dcterms:modified>
</cp:coreProperties>
</file>