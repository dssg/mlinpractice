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5"/>
  </p:notesMasterIdLst>
  <p:sldIdLst>
    <p:sldId id="509" r:id="rId2"/>
    <p:sldId id="256" r:id="rId3"/>
    <p:sldId id="514" r:id="rId4"/>
    <p:sldId id="431" r:id="rId5"/>
    <p:sldId id="505" r:id="rId6"/>
    <p:sldId id="506" r:id="rId7"/>
    <p:sldId id="507" r:id="rId8"/>
    <p:sldId id="508" r:id="rId9"/>
    <p:sldId id="510" r:id="rId10"/>
    <p:sldId id="511" r:id="rId11"/>
    <p:sldId id="512" r:id="rId12"/>
    <p:sldId id="513" r:id="rId13"/>
    <p:sldId id="323" r:id="rId14"/>
    <p:sldId id="286" r:id="rId15"/>
    <p:sldId id="515" r:id="rId16"/>
    <p:sldId id="273" r:id="rId17"/>
    <p:sldId id="287" r:id="rId18"/>
    <p:sldId id="288" r:id="rId19"/>
    <p:sldId id="468" r:id="rId20"/>
    <p:sldId id="463" r:id="rId21"/>
    <p:sldId id="464" r:id="rId22"/>
    <p:sldId id="284" r:id="rId23"/>
    <p:sldId id="503" r:id="rId24"/>
    <p:sldId id="502" r:id="rId25"/>
    <p:sldId id="474" r:id="rId26"/>
    <p:sldId id="475" r:id="rId27"/>
    <p:sldId id="476" r:id="rId28"/>
    <p:sldId id="477" r:id="rId29"/>
    <p:sldId id="478" r:id="rId30"/>
    <p:sldId id="486" r:id="rId31"/>
    <p:sldId id="484" r:id="rId32"/>
    <p:sldId id="488" r:id="rId33"/>
    <p:sldId id="489" r:id="rId34"/>
    <p:sldId id="490" r:id="rId35"/>
    <p:sldId id="491" r:id="rId36"/>
    <p:sldId id="492" r:id="rId37"/>
    <p:sldId id="493" r:id="rId38"/>
    <p:sldId id="494" r:id="rId39"/>
    <p:sldId id="495" r:id="rId40"/>
    <p:sldId id="487" r:id="rId41"/>
    <p:sldId id="485" r:id="rId42"/>
    <p:sldId id="496" r:id="rId43"/>
    <p:sldId id="473" r:id="rId44"/>
  </p:sldIdLst>
  <p:sldSz cx="12192000" cy="6858000"/>
  <p:notesSz cx="6858000" cy="9144000"/>
  <p:custDataLst>
    <p:tags r:id="rId4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1E17"/>
    <a:srgbClr val="A62A21"/>
    <a:srgbClr val="0B5394"/>
    <a:srgbClr val="6D9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939"/>
    <p:restoredTop sz="93173"/>
  </p:normalViewPr>
  <p:slideViewPr>
    <p:cSldViewPr snapToGrid="0" snapToObjects="1">
      <p:cViewPr>
        <p:scale>
          <a:sx n="65" d="100"/>
          <a:sy n="65" d="100"/>
        </p:scale>
        <p:origin x="976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C88D16-0FCF-4047-AC43-CECEE371041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79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6cb360dd4a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6cb360dd4a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52037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6cb360dd4a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6cb360dd4a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2418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6cb360dd4a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6cb360dd4a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5102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60768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6cb360dd4a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6cb360dd4a_1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3146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6cb360dd4a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6cb360dd4a_1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9926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3181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9258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5574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72668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27049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27536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97021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50075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9840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291960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62850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42926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dad9273e7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297707" y="1353807"/>
            <a:ext cx="11666400" cy="4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0696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2F2F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9718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68210" y="1588503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5410" y="11929"/>
            <a:ext cx="12192000" cy="1353806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58E15-DEBE-0941-A587-4DF3467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58" y="418466"/>
            <a:ext cx="11360700" cy="76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155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9" r:id="rId5"/>
    <p:sldLayoutId id="2147483670" r:id="rId6"/>
    <p:sldLayoutId id="2147483671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cience.wufoo.com/forms/m638tr80zg2gj0/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9.sv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9.sv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9.sv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6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9.sv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9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9.sv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2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9.sv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5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9.sv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8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9.sv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6F87CE-D6EB-6BED-D139-11C7366A70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97F6C6-E269-D4E0-51AE-7422BD62A6E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One of your group members asks you to review the random forests they're planning to run. Which lines (if any) would you give feedback 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8F250C-A71A-E6FC-8416-0A64797330A3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1A2FA1-F7EF-7C33-1061-D49DAD7F1C1D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DB452144-9236-BCCB-B7DD-3A836DD7A87D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6874059-D0DF-9A9E-6DA7-B634CE0A341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0722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Model Selection (and Validation)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Part II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595959"/>
                </a:solidFill>
              </a:rPr>
              <a:t>Rayid Ghani</a:t>
            </a:r>
            <a:endParaRPr sz="2800" dirty="0">
              <a:solidFill>
                <a:srgbClr val="595959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16C044-D82E-D021-4F16-DDC5D27E8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7ABE5-5181-3F30-9BD8-260B72DFD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/>
              <a:t>Team Presentations and feedback</a:t>
            </a:r>
          </a:p>
          <a:p>
            <a:pPr lvl="1"/>
            <a:r>
              <a:rPr lang="en-US" sz="2600" dirty="0"/>
              <a:t>Penguins, </a:t>
            </a:r>
            <a:r>
              <a:rPr lang="en-US" sz="2800" b="1" dirty="0">
                <a:solidFill>
                  <a:srgbClr val="000000"/>
                </a:solidFill>
              </a:rPr>
              <a:t>👁👄👁 , </a:t>
            </a:r>
            <a:r>
              <a:rPr lang="en-US" sz="2600" dirty="0"/>
              <a:t>Random Deforestation, Drop Table…</a:t>
            </a:r>
          </a:p>
          <a:p>
            <a:r>
              <a:rPr lang="en-US" sz="3600" dirty="0"/>
              <a:t>Topics for the rest of the semester </a:t>
            </a:r>
            <a:r>
              <a:rPr lang="en-US" sz="3600" dirty="0">
                <a:hlinkClick r:id="rId2"/>
              </a:rPr>
              <a:t>survey</a:t>
            </a:r>
            <a:endParaRPr lang="en-US" sz="3600" dirty="0"/>
          </a:p>
          <a:p>
            <a:pPr lvl="1"/>
            <a:r>
              <a:rPr lang="en-US" sz="3200" dirty="0"/>
              <a:t>https://</a:t>
            </a:r>
            <a:r>
              <a:rPr lang="en-US" sz="3200" dirty="0" err="1"/>
              <a:t>bit.ly</a:t>
            </a:r>
            <a:r>
              <a:rPr lang="en-US" sz="3200" dirty="0"/>
              <a:t>/10718topics</a:t>
            </a:r>
            <a:endParaRPr lang="en-US" sz="3100" dirty="0"/>
          </a:p>
          <a:p>
            <a:r>
              <a:rPr lang="en-US" sz="3600" dirty="0"/>
              <a:t>Temporal Model Selection</a:t>
            </a:r>
          </a:p>
          <a:p>
            <a:r>
              <a:rPr lang="en-US" sz="3600" dirty="0"/>
              <a:t>Prep for Thursday session (GHC 4405) – </a:t>
            </a:r>
            <a:r>
              <a:rPr lang="en-US" sz="3600" b="1" dirty="0"/>
              <a:t>required reading and attendance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43598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Coming Up Next Week:</a:t>
            </a:r>
          </a:p>
          <a:p>
            <a:r>
              <a:rPr lang="en-US" dirty="0">
                <a:solidFill>
                  <a:schemeClr val="tx1"/>
                </a:solidFill>
              </a:rPr>
              <a:t>Monday: Modeling Results Update Assignment (posted on canvas)</a:t>
            </a:r>
          </a:p>
          <a:p>
            <a:r>
              <a:rPr lang="en-US" dirty="0">
                <a:solidFill>
                  <a:schemeClr val="tx1"/>
                </a:solidFill>
              </a:rPr>
              <a:t>Tuesday: Weekly Feedback Form</a:t>
            </a:r>
          </a:p>
          <a:p>
            <a:r>
              <a:rPr lang="en-US" dirty="0">
                <a:solidFill>
                  <a:schemeClr val="tx1"/>
                </a:solidFill>
              </a:rPr>
              <a:t>Midterm: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Take Home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No class on Thursday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Due Friday (Canvas)</a:t>
            </a:r>
            <a:br>
              <a:rPr lang="en-US" dirty="0"/>
            </a:b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25028"/>
            <a:ext cx="121920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Things to remember</a:t>
            </a:r>
          </a:p>
        </p:txBody>
      </p:sp>
    </p:spTree>
    <p:extLst>
      <p:ext uri="{BB962C8B-B14F-4D97-AF65-F5344CB8AC3E}">
        <p14:creationId xmlns:p14="http://schemas.microsoft.com/office/powerpoint/2010/main" val="3128043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E05A49-ED4A-AB37-219B-D42819895B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C61161-80F4-2C86-5D8A-69C0664706F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DN and Friends
List one positive thing they’re doing that you did not do in your project so far and why you think that’s a good idea to do?
List one thing that they could do to improve their project?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857798-FB18-B2DA-4F5F-7B9CF80B4567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F408D86-01A2-1EE5-F1FD-9A23C6F00332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9B4CBEE-F10C-451C-6BCB-4924995906EF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5B127A6-85C2-8F20-DF51-00BAA09B277C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1390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2BC564-4D60-AFD9-3AC6-48DBE9C5D37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E16DE9-DC1F-0CD3-6EDB-2285D0B84AB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Taylor's best friend List one positive thing they’re doing that you did not do in your project so far and why you think that’s a good idea to do?
List one thing that they could do to improve their project?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1537B-6A7A-221B-F6D8-595DC9D9B6B0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73A07FE-29AF-9E43-02EC-69CBECBA3F96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4F937525-4D7E-1E36-1793-42961894B2E4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F875D28-876E-9746-EDDC-0D027D1568F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0047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B9D504-3584-9278-55A2-DEE4F897FED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86C340-6E9A-412E-0FB5-4B8A196CB43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Burlington List one positive thing they’re doing that you did not do in your project so far and why you think that’s a good idea to do?
List one thing that they could do to improve their project?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FE8FD1-A9B2-4ACC-4EA0-EE0D264335D5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8B0172F-6CE0-F5B3-99C3-146D494D65E4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C2D46849-7DCD-40CF-7843-DF847CDD8FEE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6B68B59-DE11-2D3B-8005-83775F8FC805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443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B21AF8-E41E-0CDA-A23A-DEC18B7DBB9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622193-6A6B-605C-AF10-58A2A2A4D2D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Runtime Terror List one positive thing they’re doing that you did not do in your project so far and why you think that’s a good idea to do?
List one thing that they could do to improve their project?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BFDC9D-99F9-1284-1DBB-960A87F9BBF0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A4DAC0A-6139-A063-EC1A-793994772157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5C3D6C9E-FD7A-9040-33C5-FAF7E2392676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EB3D1B8-6BB1-CF0F-0E1C-E29413A6DD4E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803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C02A2E-BF39-AFC7-B2EF-5C3BDF2992A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0473DE-B58B-E46A-B07D-7AB1700C677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Penguins List one positive thing they’re doing that you did not do in your project so far and why you think that’s a good idea to do?
List one thing that they could do to improve their project?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360CF-56DA-F280-76AA-F61FB7001742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13E77D8-CD09-E436-9864-8F9D97D1F1A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1468C90-8985-B02C-114C-EB4197BA8D6B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A76A76F-F960-F15D-ABC0-CA323E997AB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09179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232CA0-14B4-8778-EFD1-ED129F7D7A5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40EE72-4C4D-D062-9F05-48507EF948A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000000"/>
                </a:solidFill>
              </a:rPr>
              <a:t>👁👄👁 List one positive thing they’re doing that you did not do in your project so far and why you think that’s a good idea to do?
List one thing that they could do to improve their project?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4EE615-6668-05FA-D233-3C3A2C11F526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37B9607-E634-8264-EEDE-79C82B12EDD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F8CCFBF-85B5-3FBB-500F-3AE6F4BABAE5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2352D5A-4206-D153-3503-6C0FAC255C1E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398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4E32B1-53E4-4DE7-B6E7-5FBC6A5D825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98A413-22E8-6ADE-62DC-C0AA42AC634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Random Deforestation List one positive thing they’re doing that you did not do in your project so far and why you think that’s a good idea to do?
List one thing that they could do to improve their project?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AFE98B-57F7-F8A5-4E84-282A85C01EC4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8C8716-479B-70F2-0DC1-71269779EC78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6AC99EB6-2BC9-365F-B8D6-65C53019D051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C1D1E72-7DB4-B133-4910-2E7606356993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712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682DF9-3F73-5CF6-7E13-36BBCA00CDA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574865-795E-97EB-E1D6-E34C9EB5004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Drop Table Students List one positive thing they’re doing that you did not do in your project so far and why you think that’s a good idea to do?
List one thing that they could do to improve their project?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96F1D1-2C4C-97FA-1E60-80FFC1D67123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82D720F-F6CB-E4AE-DCC1-E79F13607C3C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90BAA475-FB0C-B18A-B829-92FB48891007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EBDE62B-D9C3-9DEE-1B74-B866BC8A6C38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864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9553197" y="2534144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44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How to solve a prediction problem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-160865" y="1591610"/>
            <a:ext cx="7138135" cy="4555200"/>
          </a:xfrm>
        </p:spPr>
        <p:txBody>
          <a:bodyPr/>
          <a:lstStyle/>
          <a:p>
            <a:r>
              <a:rPr lang="en-US" sz="2800" dirty="0"/>
              <a:t>Define and Create Rows </a:t>
            </a:r>
          </a:p>
          <a:p>
            <a:r>
              <a:rPr lang="en-US" sz="2800" dirty="0"/>
              <a:t>Define and Create Label </a:t>
            </a:r>
          </a:p>
          <a:p>
            <a:r>
              <a:rPr lang="en-US" sz="2800" dirty="0"/>
              <a:t>Define and Create Features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Create Training and Validation/</a:t>
            </a:r>
            <a:br>
              <a:rPr lang="en-US" sz="2800" dirty="0"/>
            </a:br>
            <a:r>
              <a:rPr lang="en-US" sz="2800" dirty="0"/>
              <a:t>Test Sets</a:t>
            </a:r>
          </a:p>
          <a:p>
            <a:r>
              <a:rPr lang="en-US" sz="2800" dirty="0"/>
              <a:t>Train model(s) on Training Set</a:t>
            </a:r>
          </a:p>
          <a:p>
            <a:r>
              <a:rPr lang="en-US" sz="2800" dirty="0"/>
              <a:t>Validate model(s) on Validation</a:t>
            </a:r>
            <a:br>
              <a:rPr lang="en-US" sz="2800" dirty="0"/>
            </a:br>
            <a:r>
              <a:rPr lang="en-US" sz="2800" dirty="0"/>
              <a:t>/Test Set</a:t>
            </a:r>
          </a:p>
          <a:p>
            <a:r>
              <a:rPr lang="en-US" sz="2800" dirty="0"/>
              <a:t>Select “best” model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C7ABD284-2E2D-C3A3-0DE9-B3EE3D5F3BD3}"/>
              </a:ext>
            </a:extLst>
          </p:cNvPr>
          <p:cNvSpPr txBox="1">
            <a:spLocks/>
          </p:cNvSpPr>
          <p:nvPr/>
        </p:nvSpPr>
        <p:spPr>
          <a:xfrm>
            <a:off x="5723466" y="1571729"/>
            <a:ext cx="7692890" cy="488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indent="0">
              <a:buNone/>
            </a:pPr>
            <a:r>
              <a:rPr lang="en-US" sz="2800" dirty="0"/>
              <a:t>Unit of prediction (what/who &amp; when?)</a:t>
            </a:r>
          </a:p>
          <a:p>
            <a:pPr marL="76200" indent="0">
              <a:buNone/>
            </a:pPr>
            <a:r>
              <a:rPr lang="en-US" sz="2800" dirty="0"/>
              <a:t>Outcome (What &amp; when?)</a:t>
            </a:r>
          </a:p>
          <a:p>
            <a:pPr marL="76200" indent="0">
              <a:buNone/>
            </a:pPr>
            <a:r>
              <a:rPr lang="en-US" sz="2800" dirty="0"/>
              <a:t>What did we know about this entity at prediction time?</a:t>
            </a:r>
          </a:p>
          <a:p>
            <a:pPr marL="76200" indent="0">
              <a:buNone/>
            </a:pPr>
            <a:r>
              <a:rPr lang="en-US" sz="2800" dirty="0"/>
              <a:t>What/when do we want to generalize to?</a:t>
            </a:r>
          </a:p>
          <a:p>
            <a:pPr marL="76200" indent="0">
              <a:buNone/>
            </a:pPr>
            <a:endParaRPr lang="en-US" sz="2800" dirty="0"/>
          </a:p>
          <a:p>
            <a:pPr marL="76200" indent="0">
              <a:buNone/>
            </a:pPr>
            <a:r>
              <a:rPr lang="en-US" sz="2800" dirty="0"/>
              <a:t> Wide range of models, hyperparameters</a:t>
            </a:r>
          </a:p>
          <a:p>
            <a:pPr marL="76200" indent="0">
              <a:buNone/>
            </a:pPr>
            <a:r>
              <a:rPr lang="en-US" sz="2800" dirty="0"/>
              <a:t>  Generate scores</a:t>
            </a:r>
          </a:p>
          <a:p>
            <a:pPr marL="76200" indent="0">
              <a:buNone/>
            </a:pPr>
            <a:endParaRPr lang="en-US" sz="2800" dirty="0"/>
          </a:p>
          <a:p>
            <a:pPr marL="76200" indent="0">
              <a:buNone/>
            </a:pPr>
            <a:r>
              <a:rPr lang="en-US" sz="2800" dirty="0"/>
              <a:t>Using custom metric(s) for the problem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5F9F6E-61FE-3040-282B-43C2E8B037C1}"/>
              </a:ext>
            </a:extLst>
          </p:cNvPr>
          <p:cNvGrpSpPr/>
          <p:nvPr/>
        </p:nvGrpSpPr>
        <p:grpSpPr>
          <a:xfrm>
            <a:off x="4406349" y="1928191"/>
            <a:ext cx="1431236" cy="4532231"/>
            <a:chOff x="4406349" y="1928191"/>
            <a:chExt cx="1431236" cy="4532231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926E2B2-895F-3EDD-65B9-CD2600C52E23}"/>
                </a:ext>
              </a:extLst>
            </p:cNvPr>
            <p:cNvCxnSpPr/>
            <p:nvPr/>
          </p:nvCxnSpPr>
          <p:spPr>
            <a:xfrm>
              <a:off x="4651513" y="1928191"/>
              <a:ext cx="397565" cy="0"/>
            </a:xfrm>
            <a:prstGeom prst="straightConnector1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7F43EB1-E7E3-EEEF-8FC1-A422E843CE8C}"/>
                </a:ext>
              </a:extLst>
            </p:cNvPr>
            <p:cNvCxnSpPr/>
            <p:nvPr/>
          </p:nvCxnSpPr>
          <p:spPr>
            <a:xfrm>
              <a:off x="4605132" y="2458279"/>
              <a:ext cx="397565" cy="0"/>
            </a:xfrm>
            <a:prstGeom prst="straightConnector1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6432E0A-2814-B420-D007-BB6FD6D52512}"/>
                </a:ext>
              </a:extLst>
            </p:cNvPr>
            <p:cNvCxnSpPr/>
            <p:nvPr/>
          </p:nvCxnSpPr>
          <p:spPr>
            <a:xfrm>
              <a:off x="5002699" y="2935355"/>
              <a:ext cx="397565" cy="0"/>
            </a:xfrm>
            <a:prstGeom prst="straightConnector1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67A7C74-E60D-D987-7516-BFFBD4083E64}"/>
                </a:ext>
              </a:extLst>
            </p:cNvPr>
            <p:cNvCxnSpPr/>
            <p:nvPr/>
          </p:nvCxnSpPr>
          <p:spPr>
            <a:xfrm>
              <a:off x="5387007" y="3902764"/>
              <a:ext cx="397565" cy="0"/>
            </a:xfrm>
            <a:prstGeom prst="straightConnector1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7845FCC-DA43-6FFC-6A01-3C7A52169C7A}"/>
                </a:ext>
              </a:extLst>
            </p:cNvPr>
            <p:cNvCxnSpPr/>
            <p:nvPr/>
          </p:nvCxnSpPr>
          <p:spPr>
            <a:xfrm>
              <a:off x="4406349" y="6460422"/>
              <a:ext cx="397565" cy="0"/>
            </a:xfrm>
            <a:prstGeom prst="straightConnector1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9215F1E-D4FF-FA50-E665-85AA7A714891}"/>
                </a:ext>
              </a:extLst>
            </p:cNvPr>
            <p:cNvCxnSpPr/>
            <p:nvPr/>
          </p:nvCxnSpPr>
          <p:spPr>
            <a:xfrm>
              <a:off x="5387007" y="4890051"/>
              <a:ext cx="397565" cy="0"/>
            </a:xfrm>
            <a:prstGeom prst="straightConnector1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23D8155-C150-ECF6-4DE3-960C497C5C80}"/>
                </a:ext>
              </a:extLst>
            </p:cNvPr>
            <p:cNvCxnSpPr/>
            <p:nvPr/>
          </p:nvCxnSpPr>
          <p:spPr>
            <a:xfrm>
              <a:off x="5440020" y="5385657"/>
              <a:ext cx="397565" cy="0"/>
            </a:xfrm>
            <a:prstGeom prst="straightConnector1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625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B382-E167-29E3-2D4B-729BFDAAD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on topics to cover</a:t>
            </a:r>
          </a:p>
        </p:txBody>
      </p:sp>
      <p:sp>
        <p:nvSpPr>
          <p:cNvPr id="4" name="AutoShape 2" descr="QR code">
            <a:extLst>
              <a:ext uri="{FF2B5EF4-FFF2-40B4-BE49-F238E27FC236}">
                <a16:creationId xmlns:a16="http://schemas.microsoft.com/office/drawing/2014/main" id="{1F352C83-2111-16B7-ACC4-EB181D8D9D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3BC37-E8DA-7658-E431-096934A43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74" y="1215887"/>
            <a:ext cx="4731026" cy="47310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1F98B1-ED61-3A85-AAE0-C97401686387}"/>
              </a:ext>
            </a:extLst>
          </p:cNvPr>
          <p:cNvSpPr txBox="1"/>
          <p:nvPr/>
        </p:nvSpPr>
        <p:spPr>
          <a:xfrm>
            <a:off x="932710" y="2717801"/>
            <a:ext cx="61125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https://</a:t>
            </a:r>
            <a:r>
              <a:rPr lang="en-US" sz="4000" dirty="0" err="1"/>
              <a:t>bit.ly</a:t>
            </a:r>
            <a:r>
              <a:rPr lang="en-US" sz="4000" dirty="0"/>
              <a:t>/10718topics</a:t>
            </a:r>
          </a:p>
        </p:txBody>
      </p:sp>
    </p:spTree>
    <p:extLst>
      <p:ext uri="{BB962C8B-B14F-4D97-AF65-F5344CB8AC3E}">
        <p14:creationId xmlns:p14="http://schemas.microsoft.com/office/powerpoint/2010/main" val="3039291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Modeling Steps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B835D10-DAAC-DB4E-BB3C-735D4BE88933}"/>
              </a:ext>
            </a:extLst>
          </p:cNvPr>
          <p:cNvSpPr/>
          <p:nvPr/>
        </p:nvSpPr>
        <p:spPr>
          <a:xfrm>
            <a:off x="4336212" y="3199886"/>
            <a:ext cx="2563009" cy="45958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r>
              <a:rPr lang="en-US" sz="2400" kern="1200" dirty="0">
                <a:solidFill>
                  <a:srgbClr val="000000"/>
                </a:solidFill>
                <a:latin typeface="Calibri"/>
              </a:rPr>
              <a:t>Labels/Outcomes</a:t>
            </a: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9A707462-C1E8-8246-BA8C-1B5F876A8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713" y="1497639"/>
            <a:ext cx="1581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>
              <a:buClrTx/>
            </a:pPr>
            <a:r>
              <a:rPr lang="en-US" b="1" kern="1200" dirty="0">
                <a:solidFill>
                  <a:srgbClr val="000000"/>
                </a:solidFill>
                <a:cs typeface="+mn-cs"/>
              </a:rPr>
              <a:t>Training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BB10905-DBED-9E4F-968F-0564844C59FA}"/>
              </a:ext>
            </a:extLst>
          </p:cNvPr>
          <p:cNvSpPr/>
          <p:nvPr/>
        </p:nvSpPr>
        <p:spPr>
          <a:xfrm>
            <a:off x="4314084" y="2162287"/>
            <a:ext cx="2585136" cy="4830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r>
              <a:rPr lang="en-US" sz="2400" kern="1200" dirty="0">
                <a:solidFill>
                  <a:srgbClr val="000000"/>
                </a:solidFill>
                <a:latin typeface="Calibri"/>
              </a:rPr>
              <a:t>Features</a:t>
            </a:r>
          </a:p>
        </p:txBody>
      </p:sp>
      <p:grpSp>
        <p:nvGrpSpPr>
          <p:cNvPr id="33" name="Group 12">
            <a:extLst>
              <a:ext uri="{FF2B5EF4-FFF2-40B4-BE49-F238E27FC236}">
                <a16:creationId xmlns:a16="http://schemas.microsoft.com/office/drawing/2014/main" id="{B27D2DED-41B1-814F-8F59-BAE2205D0158}"/>
              </a:ext>
            </a:extLst>
          </p:cNvPr>
          <p:cNvGrpSpPr>
            <a:grpSpLocks/>
          </p:cNvGrpSpPr>
          <p:nvPr/>
        </p:nvGrpSpPr>
        <p:grpSpPr bwMode="auto">
          <a:xfrm>
            <a:off x="1569273" y="2619751"/>
            <a:ext cx="2080795" cy="540986"/>
            <a:chOff x="197672" y="1448184"/>
            <a:chExt cx="2133600" cy="2819016"/>
          </a:xfrm>
        </p:grpSpPr>
        <p:sp>
          <p:nvSpPr>
            <p:cNvPr id="34" name="TextBox 7">
              <a:extLst>
                <a:ext uri="{FF2B5EF4-FFF2-40B4-BE49-F238E27FC236}">
                  <a16:creationId xmlns:a16="http://schemas.microsoft.com/office/drawing/2014/main" id="{70104CBC-E575-A347-910E-851756D3D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672" y="1460857"/>
              <a:ext cx="2133600" cy="24056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457200">
                <a:buClrTx/>
              </a:pPr>
              <a:r>
                <a:rPr lang="en-US" sz="2400" kern="1200" dirty="0">
                  <a:solidFill>
                    <a:srgbClr val="000000"/>
                  </a:solidFill>
                  <a:cs typeface="+mn-cs"/>
                </a:rPr>
                <a:t>Training Data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8864394B-806A-074B-AA03-C6C3D2823820}"/>
                </a:ext>
              </a:extLst>
            </p:cNvPr>
            <p:cNvSpPr/>
            <p:nvPr/>
          </p:nvSpPr>
          <p:spPr>
            <a:xfrm>
              <a:off x="228600" y="1448184"/>
              <a:ext cx="2102672" cy="281901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>
                <a:buClrTx/>
                <a:defRPr/>
              </a:pPr>
              <a:endParaRPr lang="en-US" sz="2400" kern="1200" dirty="0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36" name="Right Arrow 35">
            <a:extLst>
              <a:ext uri="{FF2B5EF4-FFF2-40B4-BE49-F238E27FC236}">
                <a16:creationId xmlns:a16="http://schemas.microsoft.com/office/drawing/2014/main" id="{30CAB695-F281-DB4B-87A5-240992256CFC}"/>
              </a:ext>
            </a:extLst>
          </p:cNvPr>
          <p:cNvSpPr/>
          <p:nvPr/>
        </p:nvSpPr>
        <p:spPr>
          <a:xfrm rot="1103526">
            <a:off x="3684529" y="3199017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endParaRPr lang="en-US" sz="1800" kern="1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C7369613-501C-F04E-A21A-1541BA50F6E7}"/>
              </a:ext>
            </a:extLst>
          </p:cNvPr>
          <p:cNvSpPr/>
          <p:nvPr/>
        </p:nvSpPr>
        <p:spPr>
          <a:xfrm>
            <a:off x="7010400" y="2415354"/>
            <a:ext cx="2160160" cy="8442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r>
              <a:rPr lang="en-US" sz="1800" kern="1200" dirty="0">
                <a:solidFill>
                  <a:srgbClr val="FFFFFF"/>
                </a:solidFill>
                <a:latin typeface="Calibri"/>
              </a:rPr>
              <a:t>Training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04AFC99-0435-A845-A713-687C4D01D608}"/>
              </a:ext>
            </a:extLst>
          </p:cNvPr>
          <p:cNvSpPr/>
          <p:nvPr/>
        </p:nvSpPr>
        <p:spPr>
          <a:xfrm>
            <a:off x="9254380" y="2459011"/>
            <a:ext cx="133742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r>
              <a:rPr lang="en-US" sz="2400" kern="1200" dirty="0">
                <a:solidFill>
                  <a:srgbClr val="000000"/>
                </a:solidFill>
                <a:latin typeface="Calibri"/>
              </a:rPr>
              <a:t>Learned model</a:t>
            </a:r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0BCF3C70-F576-B448-9DFD-7BD4157C88C6}"/>
              </a:ext>
            </a:extLst>
          </p:cNvPr>
          <p:cNvSpPr/>
          <p:nvPr/>
        </p:nvSpPr>
        <p:spPr>
          <a:xfrm rot="20838611">
            <a:off x="3700291" y="2349013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endParaRPr lang="en-US" sz="1800" kern="1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68ABCCB-6FEB-A248-A5BF-5C463F83A4F0}"/>
              </a:ext>
            </a:extLst>
          </p:cNvPr>
          <p:cNvSpPr/>
          <p:nvPr/>
        </p:nvSpPr>
        <p:spPr>
          <a:xfrm>
            <a:off x="7702843" y="4937629"/>
            <a:ext cx="1752600" cy="4830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r>
              <a:rPr lang="en-US" sz="2400" kern="1200" dirty="0">
                <a:solidFill>
                  <a:srgbClr val="000000"/>
                </a:solidFill>
                <a:latin typeface="Calibri"/>
              </a:rPr>
              <a:t>Predictions</a:t>
            </a:r>
          </a:p>
        </p:txBody>
      </p:sp>
      <p:sp>
        <p:nvSpPr>
          <p:cNvPr id="53" name="TextBox 20">
            <a:extLst>
              <a:ext uri="{FF2B5EF4-FFF2-40B4-BE49-F238E27FC236}">
                <a16:creationId xmlns:a16="http://schemas.microsoft.com/office/drawing/2014/main" id="{B452E186-AD3B-904D-888F-9EC6F1CE0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060" y="3914129"/>
            <a:ext cx="32335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>
              <a:buClrTx/>
            </a:pPr>
            <a:r>
              <a:rPr lang="en-US" b="1" kern="1200" dirty="0">
                <a:solidFill>
                  <a:srgbClr val="000000"/>
                </a:solidFill>
                <a:cs typeface="+mn-cs"/>
              </a:rPr>
              <a:t>Testing/Validation</a:t>
            </a:r>
          </a:p>
        </p:txBody>
      </p:sp>
      <p:grpSp>
        <p:nvGrpSpPr>
          <p:cNvPr id="54" name="Group 12">
            <a:extLst>
              <a:ext uri="{FF2B5EF4-FFF2-40B4-BE49-F238E27FC236}">
                <a16:creationId xmlns:a16="http://schemas.microsoft.com/office/drawing/2014/main" id="{0F7C35DE-E8D9-2B45-8B9C-F1773AFD0B5D}"/>
              </a:ext>
            </a:extLst>
          </p:cNvPr>
          <p:cNvGrpSpPr>
            <a:grpSpLocks/>
          </p:cNvGrpSpPr>
          <p:nvPr/>
        </p:nvGrpSpPr>
        <p:grpSpPr bwMode="auto">
          <a:xfrm>
            <a:off x="1707342" y="4938833"/>
            <a:ext cx="2080795" cy="995004"/>
            <a:chOff x="197672" y="1448184"/>
            <a:chExt cx="2133600" cy="2819016"/>
          </a:xfrm>
        </p:grpSpPr>
        <p:sp>
          <p:nvSpPr>
            <p:cNvPr id="55" name="TextBox 7">
              <a:extLst>
                <a:ext uri="{FF2B5EF4-FFF2-40B4-BE49-F238E27FC236}">
                  <a16:creationId xmlns:a16="http://schemas.microsoft.com/office/drawing/2014/main" id="{F8D612FD-E3A1-7441-90E5-7952A6121A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672" y="1460857"/>
              <a:ext cx="2133600" cy="1307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457200">
                <a:buClrTx/>
              </a:pPr>
              <a:r>
                <a:rPr lang="en-US" sz="2400" kern="1200" dirty="0">
                  <a:solidFill>
                    <a:srgbClr val="000000"/>
                  </a:solidFill>
                  <a:cs typeface="+mn-cs"/>
                </a:rPr>
                <a:t>Test Data</a:t>
              </a: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CCE0BD50-8138-5F42-AC09-582B41906EE9}"/>
                </a:ext>
              </a:extLst>
            </p:cNvPr>
            <p:cNvSpPr/>
            <p:nvPr/>
          </p:nvSpPr>
          <p:spPr>
            <a:xfrm>
              <a:off x="228600" y="1448184"/>
              <a:ext cx="2102672" cy="281901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>
                <a:buClrTx/>
                <a:defRPr/>
              </a:pPr>
              <a:endParaRPr lang="en-US" sz="2400" kern="1200" dirty="0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DAB29EAE-7BD9-7742-ADE1-0FD1DDA7ABB6}"/>
              </a:ext>
            </a:extLst>
          </p:cNvPr>
          <p:cNvSpPr/>
          <p:nvPr/>
        </p:nvSpPr>
        <p:spPr>
          <a:xfrm>
            <a:off x="4414131" y="4948366"/>
            <a:ext cx="1490171" cy="4830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r>
              <a:rPr lang="en-US" sz="2400" kern="1200" dirty="0">
                <a:solidFill>
                  <a:srgbClr val="000000"/>
                </a:solidFill>
                <a:latin typeface="Calibri"/>
              </a:rPr>
              <a:t>Features</a:t>
            </a:r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0ED5D064-07B0-CC4D-881C-96315B159C02}"/>
              </a:ext>
            </a:extLst>
          </p:cNvPr>
          <p:cNvSpPr/>
          <p:nvPr/>
        </p:nvSpPr>
        <p:spPr>
          <a:xfrm>
            <a:off x="5994316" y="4749992"/>
            <a:ext cx="1618512" cy="8442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r>
              <a:rPr lang="en-US" sz="1800" kern="1200" dirty="0">
                <a:solidFill>
                  <a:srgbClr val="FFFFFF"/>
                </a:solidFill>
                <a:latin typeface="Calibri"/>
              </a:rPr>
              <a:t>Apply Model</a:t>
            </a: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4EBBBE79-938B-3B48-B463-7515B4693662}"/>
              </a:ext>
            </a:extLst>
          </p:cNvPr>
          <p:cNvSpPr/>
          <p:nvPr/>
        </p:nvSpPr>
        <p:spPr>
          <a:xfrm>
            <a:off x="3833747" y="5056926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endParaRPr lang="en-US" sz="1800" kern="1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0" name="Right Arrow 59">
            <a:extLst>
              <a:ext uri="{FF2B5EF4-FFF2-40B4-BE49-F238E27FC236}">
                <a16:creationId xmlns:a16="http://schemas.microsoft.com/office/drawing/2014/main" id="{263F5AEF-78D8-AC43-8046-A9A32D1AEDCE}"/>
              </a:ext>
            </a:extLst>
          </p:cNvPr>
          <p:cNvSpPr/>
          <p:nvPr/>
        </p:nvSpPr>
        <p:spPr>
          <a:xfrm>
            <a:off x="3833748" y="5627081"/>
            <a:ext cx="3779081" cy="3459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endParaRPr lang="en-US" sz="1800" kern="1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30206B4C-9DC1-E94A-A70B-FC71981D5336}"/>
              </a:ext>
            </a:extLst>
          </p:cNvPr>
          <p:cNvSpPr/>
          <p:nvPr/>
        </p:nvSpPr>
        <p:spPr>
          <a:xfrm>
            <a:off x="7702843" y="5537964"/>
            <a:ext cx="1752600" cy="4830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r>
              <a:rPr lang="en-US" sz="2400" kern="1200" dirty="0">
                <a:solidFill>
                  <a:srgbClr val="000000"/>
                </a:solidFill>
                <a:latin typeface="Calibri"/>
              </a:rPr>
              <a:t>Labels</a:t>
            </a:r>
          </a:p>
        </p:txBody>
      </p:sp>
      <p:sp>
        <p:nvSpPr>
          <p:cNvPr id="62" name="Right Arrow 61">
            <a:extLst>
              <a:ext uri="{FF2B5EF4-FFF2-40B4-BE49-F238E27FC236}">
                <a16:creationId xmlns:a16="http://schemas.microsoft.com/office/drawing/2014/main" id="{901E8751-264F-A140-8B33-A912A5F80818}"/>
              </a:ext>
            </a:extLst>
          </p:cNvPr>
          <p:cNvSpPr/>
          <p:nvPr/>
        </p:nvSpPr>
        <p:spPr>
          <a:xfrm rot="5400000">
            <a:off x="9317109" y="5194450"/>
            <a:ext cx="1211963" cy="8442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r>
              <a:rPr lang="en-US" sz="1800" kern="1200" dirty="0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68B2D275-1475-754C-A68E-5775FF4E6B8E}"/>
              </a:ext>
            </a:extLst>
          </p:cNvPr>
          <p:cNvSpPr/>
          <p:nvPr/>
        </p:nvSpPr>
        <p:spPr>
          <a:xfrm>
            <a:off x="8915400" y="6222537"/>
            <a:ext cx="1752600" cy="4830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buClrTx/>
              <a:defRPr/>
            </a:pPr>
            <a:r>
              <a:rPr lang="en-US" sz="2400" kern="1200" dirty="0">
                <a:solidFill>
                  <a:srgbClr val="000000"/>
                </a:solidFill>
                <a:latin typeface="Calibri"/>
              </a:rPr>
              <a:t>Metrics</a:t>
            </a:r>
          </a:p>
        </p:txBody>
      </p:sp>
    </p:spTree>
    <p:extLst>
      <p:ext uri="{BB962C8B-B14F-4D97-AF65-F5344CB8AC3E}">
        <p14:creationId xmlns:p14="http://schemas.microsoft.com/office/powerpoint/2010/main" val="3761135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to do model selection?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You’ve run a large number of different types of models varying …</a:t>
            </a:r>
          </a:p>
          <a:p>
            <a:endParaRPr lang="en-US" sz="2800" dirty="0"/>
          </a:p>
          <a:p>
            <a:r>
              <a:rPr lang="en-US" sz="2800" dirty="0"/>
              <a:t>You need to understand what types of models are effective under what circumstances, </a:t>
            </a:r>
            <a:r>
              <a:rPr lang="en-US" sz="2800" b="1" dirty="0"/>
              <a:t>and</a:t>
            </a:r>
          </a:p>
          <a:p>
            <a:endParaRPr lang="en-US" sz="2800" b="1" dirty="0"/>
          </a:p>
          <a:p>
            <a:r>
              <a:rPr lang="en-US" sz="2800" dirty="0"/>
              <a:t>You need to decide which one(s) to use in the </a:t>
            </a:r>
            <a:r>
              <a:rPr lang="en-US" sz="2800" b="1" dirty="0"/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473448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to perform model selection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scenario</a:t>
            </a:r>
          </a:p>
          <a:p>
            <a:pPr lvl="1"/>
            <a:r>
              <a:rPr lang="en-US" dirty="0"/>
              <a:t>Model selection Methodology</a:t>
            </a:r>
          </a:p>
          <a:p>
            <a:pPr lvl="1"/>
            <a:r>
              <a:rPr lang="en-US" dirty="0"/>
              <a:t>Metric(s) (need to match your policy goals)</a:t>
            </a:r>
          </a:p>
          <a:p>
            <a:endParaRPr lang="en-US" dirty="0"/>
          </a:p>
          <a:p>
            <a:r>
              <a:rPr lang="en-US" dirty="0"/>
              <a:t>Comparison with baselines (to know if you’re effective)</a:t>
            </a:r>
          </a:p>
        </p:txBody>
      </p:sp>
    </p:spTree>
    <p:extLst>
      <p:ext uri="{BB962C8B-B14F-4D97-AF65-F5344CB8AC3E}">
        <p14:creationId xmlns:p14="http://schemas.microsoft.com/office/powerpoint/2010/main" val="483603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C2C959-72F2-EF4D-80DA-F48A29D0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need our selected model to do?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A75FF1-9EFE-0F41-92F5-3E749CFB2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 well</a:t>
            </a:r>
          </a:p>
          <a:p>
            <a:pPr lvl="1"/>
            <a:r>
              <a:rPr lang="en-US" dirty="0"/>
              <a:t>What metric?</a:t>
            </a:r>
          </a:p>
          <a:p>
            <a:pPr lvl="1"/>
            <a:r>
              <a:rPr lang="en-US" dirty="0"/>
              <a:t>Compared to what?</a:t>
            </a:r>
          </a:p>
          <a:p>
            <a:endParaRPr lang="en-US" dirty="0"/>
          </a:p>
          <a:p>
            <a:r>
              <a:rPr lang="en-US" dirty="0"/>
              <a:t>Generalize</a:t>
            </a:r>
          </a:p>
          <a:p>
            <a:pPr lvl="1"/>
            <a:r>
              <a:rPr lang="en-US" dirty="0"/>
              <a:t>Over what dimension?</a:t>
            </a:r>
          </a:p>
        </p:txBody>
      </p:sp>
    </p:spTree>
    <p:extLst>
      <p:ext uri="{BB962C8B-B14F-4D97-AF65-F5344CB8AC3E}">
        <p14:creationId xmlns:p14="http://schemas.microsoft.com/office/powerpoint/2010/main" val="295866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wonderful for loop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 dirty="0"/>
              <a:t>For train-test splits (CV or temporal)</a:t>
            </a:r>
          </a:p>
          <a:p>
            <a:pPr lvl="1"/>
            <a:r>
              <a:rPr lang="en-US" dirty="0"/>
              <a:t>For subsets of Feature Sets (Demographic only, Behavior only, Temporal only, etc.)</a:t>
            </a:r>
          </a:p>
          <a:p>
            <a:pPr lvl="2"/>
            <a:r>
              <a:rPr lang="en-US" sz="2800" dirty="0"/>
              <a:t>For Classifiers (RFC, SVM, DT, NN, </a:t>
            </a:r>
            <a:r>
              <a:rPr lang="en-US" sz="2800" dirty="0" err="1"/>
              <a:t>Logit</a:t>
            </a:r>
            <a:r>
              <a:rPr lang="en-US" sz="2800" dirty="0"/>
              <a:t>, GB, Boosting)</a:t>
            </a:r>
          </a:p>
          <a:p>
            <a:pPr lvl="3"/>
            <a:r>
              <a:rPr lang="en-US" sz="2800" dirty="0"/>
              <a:t>For parameters (cross products of different parameters)</a:t>
            </a:r>
          </a:p>
          <a:p>
            <a:pPr lvl="4"/>
            <a:r>
              <a:rPr lang="en-US" sz="2800" dirty="0"/>
              <a:t>Fit</a:t>
            </a:r>
          </a:p>
          <a:p>
            <a:pPr lvl="4"/>
            <a:r>
              <a:rPr lang="en-US" sz="2800" dirty="0"/>
              <a:t>Predict (</a:t>
            </a:r>
            <a:r>
              <a:rPr lang="en-US" sz="2800" dirty="0" err="1"/>
              <a:t>predict_proba</a:t>
            </a:r>
            <a:r>
              <a:rPr lang="en-US" sz="2800" dirty="0"/>
              <a:t> for the </a:t>
            </a:r>
            <a:r>
              <a:rPr lang="en-US" sz="2800" dirty="0" err="1"/>
              <a:t>sklearners</a:t>
            </a:r>
            <a:r>
              <a:rPr lang="en-US" sz="2800" dirty="0"/>
              <a:t> and no argmax for the </a:t>
            </a:r>
            <a:r>
              <a:rPr lang="en-US" sz="2800" dirty="0" err="1"/>
              <a:t>NNers</a:t>
            </a:r>
            <a:r>
              <a:rPr lang="en-US" sz="2800" dirty="0"/>
              <a:t>)</a:t>
            </a:r>
          </a:p>
          <a:p>
            <a:pPr lvl="4"/>
            <a:r>
              <a:rPr lang="en-US" sz="2800" dirty="0"/>
              <a:t>Evaluate (remember the thresholds)</a:t>
            </a:r>
          </a:p>
        </p:txBody>
      </p:sp>
    </p:spTree>
    <p:extLst>
      <p:ext uri="{BB962C8B-B14F-4D97-AF65-F5344CB8AC3E}">
        <p14:creationId xmlns:p14="http://schemas.microsoft.com/office/powerpoint/2010/main" val="531683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655F3E-B560-E466-0302-D2823430F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331"/>
            <a:ext cx="12179976" cy="33243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9783CA-FB94-1260-B9CD-14AFAFAD84E0}"/>
              </a:ext>
            </a:extLst>
          </p:cNvPr>
          <p:cNvSpPr txBox="1"/>
          <p:nvPr/>
        </p:nvSpPr>
        <p:spPr>
          <a:xfrm>
            <a:off x="337931" y="4934562"/>
            <a:ext cx="11776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Any decision or choice you made in the pipeline (cohort, label, data source, features, training window size, model used, etc. is a parameter </a:t>
            </a:r>
          </a:p>
        </p:txBody>
      </p:sp>
    </p:spTree>
    <p:extLst>
      <p:ext uri="{BB962C8B-B14F-4D97-AF65-F5344CB8AC3E}">
        <p14:creationId xmlns:p14="http://schemas.microsoft.com/office/powerpoint/2010/main" val="1869520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the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84D03-6A41-D04E-9DF0-C24B1C779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50134"/>
            <a:ext cx="5515643" cy="4555200"/>
          </a:xfrm>
        </p:spPr>
        <p:txBody>
          <a:bodyPr/>
          <a:lstStyle/>
          <a:p>
            <a:pPr marL="76200" indent="0">
              <a:buNone/>
            </a:pPr>
            <a:r>
              <a:rPr lang="en-US" sz="3200" b="1" dirty="0">
                <a:solidFill>
                  <a:srgbClr val="A62A21"/>
                </a:solidFill>
              </a:rPr>
              <a:t>K Fold CV</a:t>
            </a:r>
            <a:br>
              <a:rPr lang="en-US" dirty="0"/>
            </a:b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sz="8000" dirty="0"/>
              <a:t>		 ?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8686A0C-C497-6D4E-80B3-4E0F27B35374}"/>
              </a:ext>
            </a:extLst>
          </p:cNvPr>
          <p:cNvSpPr txBox="1">
            <a:spLocks/>
          </p:cNvSpPr>
          <p:nvPr/>
        </p:nvSpPr>
        <p:spPr>
          <a:xfrm>
            <a:off x="6260759" y="1450134"/>
            <a:ext cx="5515643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indent="0">
              <a:buFont typeface="Arial"/>
              <a:buNone/>
            </a:pPr>
            <a:r>
              <a:rPr lang="en-US" sz="3200" b="1" dirty="0">
                <a:solidFill>
                  <a:srgbClr val="A62A21"/>
                </a:solidFill>
              </a:rPr>
              <a:t>Temporal</a:t>
            </a:r>
            <a:br>
              <a:rPr lang="en-US" dirty="0"/>
            </a:br>
            <a:endParaRPr lang="en-US" dirty="0"/>
          </a:p>
          <a:p>
            <a:pPr marL="76200" indent="0">
              <a:buFont typeface="Arial"/>
              <a:buNone/>
            </a:pPr>
            <a:endParaRPr lang="en-US" dirty="0"/>
          </a:p>
          <a:p>
            <a:pPr marL="76200" indent="0">
              <a:buNone/>
            </a:pPr>
            <a:r>
              <a:rPr lang="en-US" sz="8000" dirty="0"/>
              <a:t>			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398BD9-3FCB-6244-9B60-4A8045D867B8}"/>
              </a:ext>
            </a:extLst>
          </p:cNvPr>
          <p:cNvCxnSpPr/>
          <p:nvPr/>
        </p:nvCxnSpPr>
        <p:spPr>
          <a:xfrm>
            <a:off x="5696465" y="1536633"/>
            <a:ext cx="0" cy="4802383"/>
          </a:xfrm>
          <a:prstGeom prst="line">
            <a:avLst/>
          </a:prstGeom>
          <a:ln w="19050">
            <a:solidFill>
              <a:srgbClr val="811E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125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the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84D03-6A41-D04E-9DF0-C24B1C779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50134"/>
            <a:ext cx="5515643" cy="4555200"/>
          </a:xfrm>
        </p:spPr>
        <p:txBody>
          <a:bodyPr/>
          <a:lstStyle/>
          <a:p>
            <a:pPr marL="76200" indent="0">
              <a:buNone/>
            </a:pPr>
            <a:r>
              <a:rPr lang="en-US" sz="3200" b="1" dirty="0">
                <a:solidFill>
                  <a:srgbClr val="A62A21"/>
                </a:solidFill>
              </a:rPr>
              <a:t>K Fold CV</a:t>
            </a:r>
            <a:br>
              <a:rPr lang="en-US" dirty="0"/>
            </a:br>
            <a:endParaRPr lang="en-US" dirty="0"/>
          </a:p>
          <a:p>
            <a:r>
              <a:rPr lang="en-US" dirty="0"/>
              <a:t>Average metric value?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Equal weight to all validation examples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Maybe look at variance?</a:t>
            </a:r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8686A0C-C497-6D4E-80B3-4E0F27B35374}"/>
              </a:ext>
            </a:extLst>
          </p:cNvPr>
          <p:cNvSpPr txBox="1">
            <a:spLocks/>
          </p:cNvSpPr>
          <p:nvPr/>
        </p:nvSpPr>
        <p:spPr>
          <a:xfrm>
            <a:off x="6260759" y="1450134"/>
            <a:ext cx="5515643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indent="0">
              <a:buFont typeface="Arial"/>
              <a:buNone/>
            </a:pPr>
            <a:r>
              <a:rPr lang="en-US" sz="3200" b="1" dirty="0">
                <a:solidFill>
                  <a:srgbClr val="A62A21"/>
                </a:solidFill>
              </a:rPr>
              <a:t>Temporal</a:t>
            </a:r>
            <a:br>
              <a:rPr lang="en-US" dirty="0"/>
            </a:br>
            <a:endParaRPr lang="en-US" dirty="0"/>
          </a:p>
          <a:p>
            <a:r>
              <a:rPr lang="en-US" dirty="0"/>
              <a:t>Average metric value?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Robustness to distribution shifts?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Care about recency more? How much more?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 not weigh every validation example equally</a:t>
            </a:r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398BD9-3FCB-6244-9B60-4A8045D867B8}"/>
              </a:ext>
            </a:extLst>
          </p:cNvPr>
          <p:cNvCxnSpPr/>
          <p:nvPr/>
        </p:nvCxnSpPr>
        <p:spPr>
          <a:xfrm>
            <a:off x="5696465" y="1536633"/>
            <a:ext cx="0" cy="4802383"/>
          </a:xfrm>
          <a:prstGeom prst="line">
            <a:avLst/>
          </a:prstGeom>
          <a:ln w="19050">
            <a:solidFill>
              <a:srgbClr val="811E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154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the results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approaches work best?</a:t>
            </a:r>
          </a:p>
          <a:p>
            <a:pPr lvl="1"/>
            <a:r>
              <a:rPr lang="en-US" dirty="0"/>
              <a:t>Which classifiers?</a:t>
            </a:r>
          </a:p>
          <a:p>
            <a:pPr lvl="1"/>
            <a:r>
              <a:rPr lang="en-US" dirty="0"/>
              <a:t>Which parameters?</a:t>
            </a:r>
          </a:p>
          <a:p>
            <a:pPr lvl="1"/>
            <a:r>
              <a:rPr lang="en-US" dirty="0"/>
              <a:t>Over which metrics?</a:t>
            </a:r>
          </a:p>
          <a:p>
            <a:r>
              <a:rPr lang="en-US" dirty="0"/>
              <a:t>Value of different features/feature sets?</a:t>
            </a:r>
          </a:p>
          <a:p>
            <a:r>
              <a:rPr lang="en-US" dirty="0"/>
              <a:t>Variance in performance over time?</a:t>
            </a:r>
          </a:p>
          <a:p>
            <a:pPr lvl="1"/>
            <a:r>
              <a:rPr lang="en-US" dirty="0"/>
              <a:t>Highest average?</a:t>
            </a:r>
          </a:p>
          <a:p>
            <a:pPr lvl="1"/>
            <a:r>
              <a:rPr lang="en-US" dirty="0"/>
              <a:t>Lowest variance?</a:t>
            </a:r>
          </a:p>
          <a:p>
            <a:pPr lvl="1"/>
            <a:r>
              <a:rPr lang="en-US" dirty="0"/>
              <a:t>Getting better over time?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809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2" name="Google Shape;432;p39" title="Chart"/>
          <p:cNvPicPr preferRelativeResize="0"/>
          <p:nvPr/>
        </p:nvPicPr>
        <p:blipFill rotWithShape="1">
          <a:blip r:embed="rId3">
            <a:alphaModFix/>
          </a:blip>
          <a:srcRect l="9045"/>
          <a:stretch/>
        </p:blipFill>
        <p:spPr>
          <a:xfrm>
            <a:off x="2817341" y="1165266"/>
            <a:ext cx="7269048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C0E0BB-5D9E-5249-8D0B-971A4EDFDB45}"/>
              </a:ext>
            </a:extLst>
          </p:cNvPr>
          <p:cNvSpPr txBox="1"/>
          <p:nvPr/>
        </p:nvSpPr>
        <p:spPr>
          <a:xfrm rot="16200000">
            <a:off x="1728741" y="3198167"/>
            <a:ext cx="1715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Precision@k</a:t>
            </a:r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447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8" name="Google Shape;438;p40" title="Chart"/>
          <p:cNvPicPr preferRelativeResize="0"/>
          <p:nvPr/>
        </p:nvPicPr>
        <p:blipFill rotWithShape="1">
          <a:blip r:embed="rId3">
            <a:alphaModFix/>
          </a:blip>
          <a:srcRect l="8510"/>
          <a:stretch/>
        </p:blipFill>
        <p:spPr>
          <a:xfrm>
            <a:off x="2780269" y="1173417"/>
            <a:ext cx="7311581" cy="51207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857777-CC7E-CD40-8F87-5372576C69AC}"/>
              </a:ext>
            </a:extLst>
          </p:cNvPr>
          <p:cNvSpPr txBox="1"/>
          <p:nvPr/>
        </p:nvSpPr>
        <p:spPr>
          <a:xfrm rot="16200000">
            <a:off x="1728741" y="3198167"/>
            <a:ext cx="1715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Precision@k</a:t>
            </a:r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4462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4" name="Google Shape;444;p41" title="Chart"/>
          <p:cNvPicPr preferRelativeResize="0"/>
          <p:nvPr/>
        </p:nvPicPr>
        <p:blipFill rotWithShape="1">
          <a:blip r:embed="rId3">
            <a:alphaModFix/>
          </a:blip>
          <a:srcRect l="8649"/>
          <a:stretch/>
        </p:blipFill>
        <p:spPr>
          <a:xfrm>
            <a:off x="2792627" y="1174400"/>
            <a:ext cx="7297691" cy="511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67F513-F626-6048-A2FA-73E09BA8395F}"/>
              </a:ext>
            </a:extLst>
          </p:cNvPr>
          <p:cNvSpPr txBox="1"/>
          <p:nvPr/>
        </p:nvSpPr>
        <p:spPr>
          <a:xfrm rot="16200000">
            <a:off x="1728741" y="3198167"/>
            <a:ext cx="1715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Precision@k</a:t>
            </a:r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143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0" name="Google Shape;45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551" y="1286967"/>
            <a:ext cx="9232900" cy="4813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4202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43"/>
          <p:cNvSpPr txBox="1">
            <a:spLocks noGrp="1"/>
          </p:cNvSpPr>
          <p:nvPr>
            <p:ph type="body" idx="1"/>
          </p:nvPr>
        </p:nvSpPr>
        <p:spPr>
          <a:xfrm>
            <a:off x="415600" y="1536632"/>
            <a:ext cx="11360700" cy="47879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indent="-474121">
              <a:buSzPts val="2000"/>
            </a:pPr>
            <a:r>
              <a:rPr lang="en" sz="2667" dirty="0"/>
              <a:t>How can you narrow hundreds or thousands of model specifications down to a handful of the best-performing ones?</a:t>
            </a:r>
            <a:br>
              <a:rPr lang="en" sz="2667" dirty="0"/>
            </a:br>
            <a:endParaRPr sz="2667" dirty="0"/>
          </a:p>
          <a:p>
            <a:pPr indent="-474121">
              <a:spcBef>
                <a:spcPts val="0"/>
              </a:spcBef>
              <a:buSzPts val="2000"/>
            </a:pPr>
            <a:r>
              <a:rPr lang="en" sz="2667" dirty="0"/>
              <a:t>How do you balance performance and stability?</a:t>
            </a:r>
            <a:endParaRPr sz="2667" dirty="0"/>
          </a:p>
          <a:p>
            <a:pPr lvl="1" indent="-474121">
              <a:spcBef>
                <a:spcPts val="0"/>
              </a:spcBef>
              <a:buSzPts val="2000"/>
            </a:pPr>
            <a:r>
              <a:rPr lang="en" sz="2667" dirty="0"/>
              <a:t>mean performance?</a:t>
            </a:r>
            <a:endParaRPr sz="2667" dirty="0"/>
          </a:p>
          <a:p>
            <a:pPr lvl="1" indent="-474121">
              <a:spcBef>
                <a:spcPts val="0"/>
              </a:spcBef>
              <a:buSzPts val="2000"/>
            </a:pPr>
            <a:r>
              <a:rPr lang="en" sz="2667" dirty="0"/>
              <a:t>balancing mean and variance?</a:t>
            </a:r>
            <a:endParaRPr sz="2667" dirty="0"/>
          </a:p>
          <a:p>
            <a:pPr lvl="1" indent="-474121">
              <a:spcBef>
                <a:spcPts val="0"/>
              </a:spcBef>
              <a:buSzPts val="2000"/>
            </a:pPr>
            <a:r>
              <a:rPr lang="en" sz="2667" dirty="0"/>
              <a:t>recency-weighted mean?</a:t>
            </a:r>
            <a:br>
              <a:rPr lang="en" sz="2667" dirty="0"/>
            </a:br>
            <a:endParaRPr sz="2667" dirty="0"/>
          </a:p>
          <a:p>
            <a:pPr indent="-474121">
              <a:spcBef>
                <a:spcPts val="0"/>
              </a:spcBef>
              <a:buSzPts val="2000"/>
            </a:pPr>
            <a:r>
              <a:rPr lang="en" sz="2667" dirty="0"/>
              <a:t>W</a:t>
            </a:r>
            <a:r>
              <a:rPr lang="en-US" sz="2667" dirty="0"/>
              <a:t>h</a:t>
            </a:r>
            <a:r>
              <a:rPr lang="en" sz="2667" dirty="0"/>
              <a:t>at is the “regret” in subsequent time periods from using different strategies for choosing a model to deploy?</a:t>
            </a:r>
            <a:endParaRPr sz="2667" dirty="0"/>
          </a:p>
        </p:txBody>
      </p:sp>
    </p:spTree>
    <p:extLst>
      <p:ext uri="{BB962C8B-B14F-4D97-AF65-F5344CB8AC3E}">
        <p14:creationId xmlns:p14="http://schemas.microsoft.com/office/powerpoint/2010/main" val="1094637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43"/>
          <p:cNvSpPr txBox="1">
            <a:spLocks noGrp="1"/>
          </p:cNvSpPr>
          <p:nvPr>
            <p:ph type="body" idx="1"/>
          </p:nvPr>
        </p:nvSpPr>
        <p:spPr>
          <a:xfrm>
            <a:off x="415600" y="1536632"/>
            <a:ext cx="11360700" cy="47879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indent="0">
              <a:buSzPts val="2000"/>
              <a:buNone/>
            </a:pPr>
            <a:r>
              <a:rPr lang="en-US" sz="2667" dirty="0"/>
              <a:t>Comparing Model Selection Strategies:</a:t>
            </a:r>
            <a:br>
              <a:rPr lang="en-US" sz="2667" dirty="0"/>
            </a:br>
            <a:endParaRPr lang="en-US" sz="2667" dirty="0"/>
          </a:p>
          <a:p>
            <a:pPr indent="-474121">
              <a:spcBef>
                <a:spcPts val="0"/>
              </a:spcBef>
              <a:buSzPts val="2000"/>
            </a:pPr>
            <a:r>
              <a:rPr lang="en-US" sz="2667" dirty="0"/>
              <a:t>Use test set performances up to a given point in time to do model selection using each strategy</a:t>
            </a:r>
            <a:br>
              <a:rPr lang="en-US" sz="2667" dirty="0"/>
            </a:br>
            <a:endParaRPr lang="en-US" sz="2667" dirty="0"/>
          </a:p>
          <a:p>
            <a:pPr indent="-474121">
              <a:spcBef>
                <a:spcPts val="0"/>
              </a:spcBef>
              <a:buSzPts val="2000"/>
            </a:pPr>
            <a:r>
              <a:rPr lang="en-US" sz="2667" dirty="0"/>
              <a:t>On the </a:t>
            </a:r>
            <a:r>
              <a:rPr lang="en-US" sz="2667" u="sng" dirty="0"/>
              <a:t>subsequent</a:t>
            </a:r>
            <a:r>
              <a:rPr lang="en-US" sz="2667" dirty="0"/>
              <a:t> validation set, calculate a </a:t>
            </a:r>
            <a:r>
              <a:rPr lang="en-US" sz="2667" b="1" dirty="0"/>
              <a:t>regret</a:t>
            </a:r>
            <a:r>
              <a:rPr lang="en-US" sz="2667" dirty="0"/>
              <a:t> for the model selection strategy as the difference between the performance of the model specification that strategy chooses and the best-performing model specification on this new validation set</a:t>
            </a:r>
          </a:p>
        </p:txBody>
      </p:sp>
    </p:spTree>
    <p:extLst>
      <p:ext uri="{BB962C8B-B14F-4D97-AF65-F5344CB8AC3E}">
        <p14:creationId xmlns:p14="http://schemas.microsoft.com/office/powerpoint/2010/main" val="663844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E13C5B-4076-A546-93FB-6A313B694311}"/>
              </a:ext>
            </a:extLst>
          </p:cNvPr>
          <p:cNvSpPr/>
          <p:nvPr/>
        </p:nvSpPr>
        <p:spPr>
          <a:xfrm>
            <a:off x="1943100" y="1955800"/>
            <a:ext cx="4470400" cy="33909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Apply model selection strategies to validation set performance through 2016</a:t>
            </a:r>
          </a:p>
        </p:txBody>
      </p:sp>
    </p:spTree>
    <p:extLst>
      <p:ext uri="{BB962C8B-B14F-4D97-AF65-F5344CB8AC3E}">
        <p14:creationId xmlns:p14="http://schemas.microsoft.com/office/powerpoint/2010/main" val="188171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E13C5B-4076-A546-93FB-6A313B694311}"/>
              </a:ext>
            </a:extLst>
          </p:cNvPr>
          <p:cNvSpPr/>
          <p:nvPr/>
        </p:nvSpPr>
        <p:spPr>
          <a:xfrm>
            <a:off x="7086600" y="1955800"/>
            <a:ext cx="825500" cy="33909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Apply model selection strategies to test set performance through 2016</a:t>
            </a:r>
          </a:p>
          <a:p>
            <a:endParaRPr lang="en-US" sz="2400" dirty="0">
              <a:solidFill>
                <a:srgbClr val="00B050"/>
              </a:solidFill>
            </a:endParaRPr>
          </a:p>
          <a:p>
            <a:r>
              <a:rPr lang="en-US" sz="2400" dirty="0">
                <a:solidFill>
                  <a:srgbClr val="00B050"/>
                </a:solidFill>
              </a:rPr>
              <a:t>Calculate regret based on 2017 validation set performance</a:t>
            </a:r>
          </a:p>
        </p:txBody>
      </p:sp>
    </p:spTree>
    <p:extLst>
      <p:ext uri="{BB962C8B-B14F-4D97-AF65-F5344CB8AC3E}">
        <p14:creationId xmlns:p14="http://schemas.microsoft.com/office/powerpoint/2010/main" val="1335583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060918F-396C-0F45-B047-998F3F0ABAAB}"/>
              </a:ext>
            </a:extLst>
          </p:cNvPr>
          <p:cNvSpPr/>
          <p:nvPr/>
        </p:nvSpPr>
        <p:spPr>
          <a:xfrm>
            <a:off x="5969000" y="1816100"/>
            <a:ext cx="2628900" cy="3455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13C5B-4076-A546-93FB-6A313B694311}"/>
              </a:ext>
            </a:extLst>
          </p:cNvPr>
          <p:cNvSpPr/>
          <p:nvPr/>
        </p:nvSpPr>
        <p:spPr>
          <a:xfrm>
            <a:off x="1943100" y="1955800"/>
            <a:ext cx="4470400" cy="33909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Best Recent Perf:</a:t>
            </a:r>
          </a:p>
          <a:p>
            <a:r>
              <a:rPr lang="en-US" sz="2400" dirty="0">
                <a:solidFill>
                  <a:srgbClr val="6D9EEB"/>
                </a:solidFill>
              </a:rPr>
              <a:t>Model 2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Best Average Perf:</a:t>
            </a:r>
          </a:p>
          <a:p>
            <a:r>
              <a:rPr lang="en-US" sz="2400" dirty="0">
                <a:solidFill>
                  <a:srgbClr val="0B5394"/>
                </a:solidFill>
              </a:rPr>
              <a:t>Model 1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Lowest Variance: </a:t>
            </a:r>
            <a:r>
              <a:rPr lang="en-US" sz="2400" dirty="0">
                <a:solidFill>
                  <a:srgbClr val="FFC000"/>
                </a:solidFill>
              </a:rPr>
              <a:t>Model 3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0EBA51-A78D-9C42-9992-4A9982F27738}"/>
              </a:ext>
            </a:extLst>
          </p:cNvPr>
          <p:cNvCxnSpPr/>
          <p:nvPr/>
        </p:nvCxnSpPr>
        <p:spPr>
          <a:xfrm flipH="1">
            <a:off x="6096000" y="1816100"/>
            <a:ext cx="2625176" cy="6985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9A722A-A9EB-F549-A786-A9EFEB09BCCF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2870200"/>
            <a:ext cx="2625176" cy="3810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9F1F34-E1B5-7543-AD6D-6B5746DE6E80}"/>
              </a:ext>
            </a:extLst>
          </p:cNvPr>
          <p:cNvCxnSpPr>
            <a:cxnSpLocks/>
          </p:cNvCxnSpPr>
          <p:nvPr/>
        </p:nvCxnSpPr>
        <p:spPr>
          <a:xfrm flipH="1" flipV="1">
            <a:off x="6095950" y="4100945"/>
            <a:ext cx="2625226" cy="94095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686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Best Model in 2017:</a:t>
            </a:r>
          </a:p>
          <a:p>
            <a:r>
              <a:rPr lang="en-US" sz="2400" dirty="0">
                <a:solidFill>
                  <a:srgbClr val="0B5394"/>
                </a:solidFill>
              </a:rPr>
              <a:t>Model 1</a:t>
            </a:r>
          </a:p>
          <a:p>
            <a:r>
              <a:rPr lang="en-US" sz="2400" dirty="0">
                <a:solidFill>
                  <a:srgbClr val="0B5394"/>
                </a:solidFill>
              </a:rPr>
              <a:t>Perf = 0.73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57C506-2237-C941-9C0B-5037C4549666}"/>
              </a:ext>
            </a:extLst>
          </p:cNvPr>
          <p:cNvSpPr/>
          <p:nvPr/>
        </p:nvSpPr>
        <p:spPr>
          <a:xfrm>
            <a:off x="7086600" y="1955800"/>
            <a:ext cx="825500" cy="33909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64ADC7-D8E3-314F-A84D-CEE5DA157A0D}"/>
              </a:ext>
            </a:extLst>
          </p:cNvPr>
          <p:cNvCxnSpPr>
            <a:cxnSpLocks/>
          </p:cNvCxnSpPr>
          <p:nvPr/>
        </p:nvCxnSpPr>
        <p:spPr>
          <a:xfrm flipH="1">
            <a:off x="7658100" y="1816100"/>
            <a:ext cx="1063076" cy="9779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7806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Best Recent Perf:</a:t>
            </a:r>
          </a:p>
          <a:p>
            <a:r>
              <a:rPr lang="en-US" sz="2400" dirty="0">
                <a:solidFill>
                  <a:srgbClr val="6D9EEB"/>
                </a:solidFill>
              </a:rPr>
              <a:t>Model 2</a:t>
            </a:r>
          </a:p>
          <a:p>
            <a:endParaRPr lang="en-US" sz="2400" dirty="0">
              <a:solidFill>
                <a:srgbClr val="6D9EEB"/>
              </a:solidFill>
            </a:endParaRPr>
          </a:p>
          <a:p>
            <a:r>
              <a:rPr lang="en-US" sz="2400" dirty="0">
                <a:solidFill>
                  <a:srgbClr val="00B050"/>
                </a:solidFill>
              </a:rPr>
              <a:t>Regret:</a:t>
            </a:r>
          </a:p>
          <a:p>
            <a:r>
              <a:rPr lang="en-US" sz="2400" dirty="0">
                <a:solidFill>
                  <a:srgbClr val="0B5394"/>
                </a:solidFill>
              </a:rPr>
              <a:t>0.73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–</a:t>
            </a:r>
            <a:r>
              <a:rPr lang="en-US" sz="2400" dirty="0">
                <a:solidFill>
                  <a:srgbClr val="6D9EEB"/>
                </a:solidFill>
              </a:rPr>
              <a:t> 0.61 </a:t>
            </a:r>
            <a:r>
              <a:rPr lang="en-US" sz="2400" dirty="0">
                <a:solidFill>
                  <a:schemeClr val="tx1"/>
                </a:solidFill>
              </a:rPr>
              <a:t>=</a:t>
            </a:r>
            <a:r>
              <a:rPr lang="en-US" sz="2400" dirty="0">
                <a:solidFill>
                  <a:srgbClr val="00B050"/>
                </a:solidFill>
              </a:rPr>
              <a:t> 0.12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CA5140-C124-DB45-B663-5A83AA6385DF}"/>
              </a:ext>
            </a:extLst>
          </p:cNvPr>
          <p:cNvSpPr txBox="1"/>
          <p:nvPr/>
        </p:nvSpPr>
        <p:spPr>
          <a:xfrm>
            <a:off x="7632700" y="2674441"/>
            <a:ext cx="38183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600" dirty="0">
                <a:solidFill>
                  <a:srgbClr val="00B050"/>
                </a:solidFill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111725-FAC3-1F4C-A4CE-22C08C44D442}"/>
              </a:ext>
            </a:extLst>
          </p:cNvPr>
          <p:cNvCxnSpPr>
            <a:cxnSpLocks/>
          </p:cNvCxnSpPr>
          <p:nvPr/>
        </p:nvCxnSpPr>
        <p:spPr>
          <a:xfrm flipH="1">
            <a:off x="7963736" y="2895600"/>
            <a:ext cx="757440" cy="229751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7410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Best Average Perf:</a:t>
            </a:r>
          </a:p>
          <a:p>
            <a:r>
              <a:rPr lang="en-US" sz="2400" dirty="0">
                <a:solidFill>
                  <a:srgbClr val="0B5394"/>
                </a:solidFill>
              </a:rPr>
              <a:t>Model 1</a:t>
            </a:r>
          </a:p>
          <a:p>
            <a:endParaRPr lang="en-US" sz="2400" dirty="0">
              <a:solidFill>
                <a:srgbClr val="6D9EEB"/>
              </a:solidFill>
            </a:endParaRPr>
          </a:p>
          <a:p>
            <a:r>
              <a:rPr lang="en-US" sz="2400" dirty="0">
                <a:solidFill>
                  <a:srgbClr val="00B050"/>
                </a:solidFill>
              </a:rPr>
              <a:t>Regret:</a:t>
            </a:r>
          </a:p>
          <a:p>
            <a:r>
              <a:rPr lang="en-US" sz="2400" dirty="0">
                <a:solidFill>
                  <a:srgbClr val="0B5394"/>
                </a:solidFill>
              </a:rPr>
              <a:t>0.73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–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rgbClr val="0B5394"/>
                </a:solidFill>
              </a:rPr>
              <a:t>0.73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=</a:t>
            </a:r>
            <a:r>
              <a:rPr lang="en-US" sz="2400" dirty="0">
                <a:solidFill>
                  <a:srgbClr val="00B050"/>
                </a:solidFill>
              </a:rPr>
              <a:t> 0.00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CA5140-C124-DB45-B663-5A83AA6385DF}"/>
              </a:ext>
            </a:extLst>
          </p:cNvPr>
          <p:cNvSpPr txBox="1"/>
          <p:nvPr/>
        </p:nvSpPr>
        <p:spPr>
          <a:xfrm>
            <a:off x="7594600" y="2710597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111725-FAC3-1F4C-A4CE-22C08C44D442}"/>
              </a:ext>
            </a:extLst>
          </p:cNvPr>
          <p:cNvCxnSpPr>
            <a:cxnSpLocks/>
            <a:endCxn id="2" idx="3"/>
          </p:cNvCxnSpPr>
          <p:nvPr/>
        </p:nvCxnSpPr>
        <p:spPr>
          <a:xfrm flipH="1" flipV="1">
            <a:off x="7859416" y="2879874"/>
            <a:ext cx="861760" cy="15726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22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Lowest Variance: </a:t>
            </a:r>
            <a:r>
              <a:rPr lang="en-US" sz="2400" dirty="0">
                <a:solidFill>
                  <a:srgbClr val="FFC000"/>
                </a:solidFill>
              </a:rPr>
              <a:t>Model 3</a:t>
            </a:r>
          </a:p>
          <a:p>
            <a:endParaRPr lang="en-US" sz="2400" dirty="0">
              <a:solidFill>
                <a:srgbClr val="6D9EEB"/>
              </a:solidFill>
            </a:endParaRPr>
          </a:p>
          <a:p>
            <a:r>
              <a:rPr lang="en-US" sz="2400" dirty="0">
                <a:solidFill>
                  <a:srgbClr val="00B050"/>
                </a:solidFill>
              </a:rPr>
              <a:t>Regret:</a:t>
            </a:r>
          </a:p>
          <a:p>
            <a:r>
              <a:rPr lang="en-US" sz="2400" dirty="0">
                <a:solidFill>
                  <a:srgbClr val="0B5394"/>
                </a:solidFill>
              </a:rPr>
              <a:t>0.73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–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rgbClr val="FFC000"/>
                </a:solidFill>
              </a:rPr>
              <a:t>0.41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=</a:t>
            </a:r>
            <a:r>
              <a:rPr lang="en-US" sz="2400" dirty="0">
                <a:solidFill>
                  <a:srgbClr val="00B050"/>
                </a:solidFill>
              </a:rPr>
              <a:t> 0.32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CA5140-C124-DB45-B663-5A83AA6385DF}"/>
              </a:ext>
            </a:extLst>
          </p:cNvPr>
          <p:cNvSpPr txBox="1"/>
          <p:nvPr/>
        </p:nvSpPr>
        <p:spPr>
          <a:xfrm>
            <a:off x="7594600" y="2503605"/>
            <a:ext cx="61266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>
                <a:solidFill>
                  <a:srgbClr val="00B050"/>
                </a:solidFill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111725-FAC3-1F4C-A4CE-22C08C44D442}"/>
              </a:ext>
            </a:extLst>
          </p:cNvPr>
          <p:cNvCxnSpPr>
            <a:cxnSpLocks/>
          </p:cNvCxnSpPr>
          <p:nvPr/>
        </p:nvCxnSpPr>
        <p:spPr>
          <a:xfrm flipH="1">
            <a:off x="8143768" y="2946400"/>
            <a:ext cx="577408" cy="482600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3722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1BE125-A119-1A42-BFF2-698DC63BC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061718"/>
              </p:ext>
            </p:extLst>
          </p:nvPr>
        </p:nvGraphicFramePr>
        <p:xfrm>
          <a:off x="1600150" y="2331720"/>
          <a:ext cx="8991600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19476">
                  <a:extLst>
                    <a:ext uri="{9D8B030D-6E8A-4147-A177-3AD203B41FA5}">
                      <a16:colId xmlns:a16="http://schemas.microsoft.com/office/drawing/2014/main" val="2010259226"/>
                    </a:ext>
                  </a:extLst>
                </a:gridCol>
                <a:gridCol w="2974924">
                  <a:extLst>
                    <a:ext uri="{9D8B030D-6E8A-4147-A177-3AD203B41FA5}">
                      <a16:colId xmlns:a16="http://schemas.microsoft.com/office/drawing/2014/main" val="2648150637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3203189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Strategy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Best Model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Through 2016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Regret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in 2017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74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Best Recent Perf.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6D9EEB"/>
                          </a:solidFill>
                        </a:rPr>
                        <a:t>Model 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5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Best Average Perf.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B5394"/>
                          </a:solidFill>
                        </a:rPr>
                        <a:t>Model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802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Lowest Variance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Model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0.32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181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8322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1BE125-A119-1A42-BFF2-698DC63BC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334144"/>
              </p:ext>
            </p:extLst>
          </p:nvPr>
        </p:nvGraphicFramePr>
        <p:xfrm>
          <a:off x="1600150" y="2331720"/>
          <a:ext cx="8991600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19476">
                  <a:extLst>
                    <a:ext uri="{9D8B030D-6E8A-4147-A177-3AD203B41FA5}">
                      <a16:colId xmlns:a16="http://schemas.microsoft.com/office/drawing/2014/main" val="2010259226"/>
                    </a:ext>
                  </a:extLst>
                </a:gridCol>
                <a:gridCol w="2974924">
                  <a:extLst>
                    <a:ext uri="{9D8B030D-6E8A-4147-A177-3AD203B41FA5}">
                      <a16:colId xmlns:a16="http://schemas.microsoft.com/office/drawing/2014/main" val="2648150637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3203189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Strategy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Best Model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Through 2016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Regret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in 2017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74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Best Recent Perf.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6D9EEB"/>
                          </a:solidFill>
                        </a:rPr>
                        <a:t>Model 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5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Best Average Perf.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B5394"/>
                          </a:solidFill>
                        </a:rPr>
                        <a:t>Model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802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Lowest Variance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Model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0.32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18187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168EF40-2DAE-8E43-ADA7-4AEF8BC68293}"/>
              </a:ext>
            </a:extLst>
          </p:cNvPr>
          <p:cNvSpPr/>
          <p:nvPr/>
        </p:nvSpPr>
        <p:spPr>
          <a:xfrm>
            <a:off x="1498600" y="3594100"/>
            <a:ext cx="8547100" cy="4699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39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38CC3-6BEE-A749-BCD5-ABD29A667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500" y="1244600"/>
            <a:ext cx="923290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904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95DA2-D7F5-B749-BD59-C217AF318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530928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629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F52808-3577-AE47-8BC1-F03230A05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435" y="1579418"/>
            <a:ext cx="4984865" cy="4895850"/>
          </a:xfrm>
          <a:prstGeom prst="rect">
            <a:avLst/>
          </a:prstGeom>
        </p:spPr>
      </p:pic>
      <p:sp>
        <p:nvSpPr>
          <p:cNvPr id="7" name="Google Shape;456;p43">
            <a:extLst>
              <a:ext uri="{FF2B5EF4-FFF2-40B4-BE49-F238E27FC236}">
                <a16:creationId xmlns:a16="http://schemas.microsoft.com/office/drawing/2014/main" id="{B4064D34-B361-0E4D-8737-66CD434AB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260768"/>
            <a:ext cx="6375835" cy="5174672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indent="-474121">
              <a:buSzPts val="2000"/>
            </a:pPr>
            <a:r>
              <a:rPr lang="en" sz="2667" dirty="0"/>
              <a:t>May not be obvious which strategy / model specification is “best”</a:t>
            </a:r>
            <a:br>
              <a:rPr lang="en" sz="2667" dirty="0"/>
            </a:br>
            <a:endParaRPr lang="en" sz="2667" dirty="0"/>
          </a:p>
          <a:p>
            <a:pPr indent="-474121">
              <a:buSzPts val="2000"/>
            </a:pPr>
            <a:r>
              <a:rPr lang="en-US" sz="2667" dirty="0"/>
              <a:t>Among good candidates, may be instructive to ask how similar or different the lists each strategy would produce are</a:t>
            </a:r>
            <a:br>
              <a:rPr lang="en-US" sz="2667" dirty="0"/>
            </a:br>
            <a:endParaRPr lang="en-US" sz="2667" dirty="0"/>
          </a:p>
          <a:p>
            <a:pPr indent="-474121">
              <a:buSzPts val="2000"/>
            </a:pPr>
            <a:r>
              <a:rPr lang="en-US" sz="2667" dirty="0"/>
              <a:t>May ultimately want to deploy (or at least test) a strategy that combines across several specifications</a:t>
            </a:r>
            <a:endParaRPr sz="2667" dirty="0"/>
          </a:p>
        </p:txBody>
      </p:sp>
    </p:spTree>
    <p:extLst>
      <p:ext uri="{BB962C8B-B14F-4D97-AF65-F5344CB8AC3E}">
        <p14:creationId xmlns:p14="http://schemas.microsoft.com/office/powerpoint/2010/main" val="11686412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Open Research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the conditions under which temporal validation out-performs traditional cross-validation? By how much?</a:t>
            </a:r>
            <a:br>
              <a:rPr lang="en-US" dirty="0"/>
            </a:br>
            <a:endParaRPr lang="en-US" dirty="0"/>
          </a:p>
          <a:p>
            <a:r>
              <a:rPr lang="en-US" dirty="0"/>
              <a:t>Likewise, what can we learn about how well certain strategies perform in terms of regret under different real-world conditions?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Many problems in policy settings involve resource constraints that require optimization at the top of the list, but few methods optimize for this directly.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Transductive</a:t>
            </a:r>
            <a:r>
              <a:rPr lang="en-US" dirty="0"/>
              <a:t> Top k</a:t>
            </a:r>
          </a:p>
        </p:txBody>
      </p:sp>
    </p:spTree>
    <p:extLst>
      <p:ext uri="{BB962C8B-B14F-4D97-AF65-F5344CB8AC3E}">
        <p14:creationId xmlns:p14="http://schemas.microsoft.com/office/powerpoint/2010/main" val="1369323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067bfcc0-e51c-497b-b682-479b1707dbe6"/>
  <p:tag name="SLIDO_EVENT_UUID" val="0161bee7-9b52-48ab-bd01-308fc07c8a33"/>
  <p:tag name="SLIDO_EVENT_SECTION_UUID" val="53f7b2fd-9b37-4ce9-89ff-a9a7d9b782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725a31d-3a8f-4062-b369-42a20af47ae0"/>
  <p:tag name="SLIDO_TIMELINE" val="W3sicG9sbFF1ZXN0aW9uVXVpZCI6ImJhYzdmZDJmLThmMDAtNGU0ZS05ZDEyLWY5M2Q5OTU3OThiZiIsInNob3dSZXN1bHRzIjpmYWxzZX0seyJwb2xsUXVlc3Rpb25VdWlkIjoiYmFjN2ZkMmYtOGYwMC00ZTRlLTlkMTItZjkzZDk5NTc5OGJmIiwic2hvd1Jlc3VsdHMiOnRydWV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5b527294-ff56-497b-a54d-6755be70f3f9"/>
  <p:tag name="SLIDO_TIMELINE" val="W3sic2hvd1Jlc3VsdHMiOmZhbHNlLCJwb2xsUXVlc3Rpb25VdWlkIjoiYjY3ZWE2Y2UtMjM2Ni00NzQ1LWI2MDItZTBmN2Q3ZTIwYjBiIn0seyJzaG93UmVzdWx0cyI6dHJ1ZSwicG9sbFF1ZXN0aW9uVXVpZCI6ImI2N2VhNmNlLTIzNjYtNDc0NS1iNjAyLWUwZjdkN2UyMGIwYiJ9XQ=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5b14fbe1-69f5-4d71-a3bb-6aa08c1ef38b"/>
  <p:tag name="SLIDO_TIMELINE" val="W3sicG9sbFF1ZXN0aW9uVXVpZCI6IjYyODM5ZDdkLWNhZjEtNDdiMC05YjA1LWQ4NzRjZmY2ZGYxMCIsInNob3dSZXN1bHRzIjpmYWxzZX0seyJwb2xsUXVlc3Rpb25VdWlkIjoiNjI4MzlkN2QtY2FmMS00N2IwLTliMDUtZDg3NGNmZjZkZjEwIiwic2hvd1Jlc3VsdHMiOnRydWV9XQ=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a90761ee-bdaa-42ee-b1a2-61f8ad49247a"/>
  <p:tag name="SLIDO_TIMELINE" val="W3sicG9sbFF1ZXN0aW9uVXVpZCI6IjRkZTk1NDJlLTZhOGUtNDc0Zi05MjBjLWI2ODc1MTExNzg5MSIsInNob3dSZXN1bHRzIjpmYWxzZX0seyJwb2xsUXVlc3Rpb25VdWlkIjoiNGRlOTU0MmUtNmE4ZS00NzRmLTkyMGMtYjY4NzUxMTE3ODkxIiwic2hvd1Jlc3VsdHMiOnRydWV9XQ=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9a374bfa-6679-4fd5-85ef-d9f77a2c734c"/>
  <p:tag name="SLIDO_TIMELINE" val="W3sic2hvd1Jlc3VsdHMiOmZhbHNlLCJwb2xsUXVlc3Rpb25VdWlkIjoiOTBiYTFiMTAtYTExYi00OTEzLTgxYzUtMGQ5YjllMDU3ODgyIn0seyJzaG93UmVzdWx0cyI6dHJ1ZSwicG9sbFF1ZXN0aW9uVXVpZCI6IjkwYmExYjEwLWExMWItNDkxMy04MWM1LTBkOWI5ZTA1Nzg4MiJ9XQ=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04112a0f-8759-4017-947d-e36141dc25a2"/>
  <p:tag name="SLIDO_TIMELINE" val="W3sic2hvd1Jlc3VsdHMiOmZhbHNlLCJwb2xsUXVlc3Rpb25VdWlkIjoiNjBjZjZiYTktYWIwNy00YzAzLTg2MmQtMDY2OTdhMjMyNDM2In1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6193f65-2e85-446e-85e5-1e333b74fed7"/>
  <p:tag name="SLIDO_TIMELINE" val="W3sicG9sbFF1ZXN0aW9uVXVpZCI6ImNkMWMxNGNmLTlmNzUtNGQ0Zi1hZTE4LTM2YmYwMWU0Y2IxNSIsInNob3dSZXN1bHRzIjpmYWxzZX0seyJwb2xsUXVlc3Rpb25VdWlkIjoiY2QxYzE0Y2YtOWY3NS00ZDRmLWFlMTgtMzZiZjAxZTRjYjE1Iiwic2hvd1Jlc3VsdHMiOnRydWV9XQ=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a86637a6-841b-4190-8c13-7a00a1441aca"/>
  <p:tag name="SLIDO_TIMELINE" val="W3sicG9sbFF1ZXN0aW9uVXVpZCI6ImE0Y2IyOGNkLTViNWQtNGQ5Zi1hMGU3LTk1YzE0ZmI3Yjc1NSIsInNob3dSZXN1bHRzIjpmYWxzZX0seyJwb2xsUXVlc3Rpb25VdWlkIjoiYTRjYjI4Y2QtNWI1ZC00ZDlmLWEwZTctOTVjMTRmYjdiNzU1Iiwic2hvd1Jlc3VsdHMiOnRydWV9XQ=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5e487aee-201c-43e2-9913-0ad0b51ff3f6"/>
  <p:tag name="SLIDO_TIMELINE" val="W3sic2hvd1Jlc3VsdHMiOmZhbHNlLCJwb2xsUXVlc3Rpb25VdWlkIjoiYWM1MWU2Y2QtZDA3Ni00YzU3LTg0MDQtNjc0ZjFjOTJhMDcwIn0seyJzaG93UmVzdWx0cyI6dHJ1ZSwicG9sbFF1ZXN0aW9uVXVpZCI6ImFjNTFlNmNkLWQwNzYtNGM1Ny04NDA0LTY3NGYxYzkyYTA3MCJ9XQ=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12255</TotalTime>
  <Words>1648</Words>
  <Application>Microsoft Macintosh PowerPoint</Application>
  <PresentationFormat>Widescreen</PresentationFormat>
  <Paragraphs>282</Paragraphs>
  <Slides>43</Slides>
  <Notes>20</Notes>
  <HiddenSlides>7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Roboto</vt:lpstr>
      <vt:lpstr>Simple Light</vt:lpstr>
      <vt:lpstr>PowerPoint Presentation</vt:lpstr>
      <vt:lpstr>PowerPoint Presentation</vt:lpstr>
      <vt:lpstr>Plan for today</vt:lpstr>
      <vt:lpstr>Things to remember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Reminder: How to solve a prediction problem</vt:lpstr>
      <vt:lpstr>Survey on topics to cover</vt:lpstr>
      <vt:lpstr>Modeling Steps</vt:lpstr>
      <vt:lpstr>Why do we need to do model selection?</vt:lpstr>
      <vt:lpstr>What do we to perform model selection</vt:lpstr>
      <vt:lpstr>What do we need our selected model to do?</vt:lpstr>
      <vt:lpstr>The wonderful for loop</vt:lpstr>
      <vt:lpstr>Results</vt:lpstr>
      <vt:lpstr>Analyzing the results</vt:lpstr>
      <vt:lpstr>Analyzing the results</vt:lpstr>
      <vt:lpstr>Analyzing the results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Some Open Research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96</cp:revision>
  <dcterms:created xsi:type="dcterms:W3CDTF">2020-01-14T19:43:43Z</dcterms:created>
  <dcterms:modified xsi:type="dcterms:W3CDTF">2025-10-22T23:57:34Z</dcterms:modified>
</cp:coreProperties>
</file>