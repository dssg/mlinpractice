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604" r:id="rId3"/>
    <p:sldId id="323" r:id="rId4"/>
    <p:sldId id="611" r:id="rId5"/>
    <p:sldId id="615" r:id="rId6"/>
    <p:sldId id="619" r:id="rId7"/>
    <p:sldId id="605" r:id="rId8"/>
    <p:sldId id="609" r:id="rId9"/>
    <p:sldId id="621" r:id="rId10"/>
    <p:sldId id="617" r:id="rId11"/>
    <p:sldId id="606" r:id="rId12"/>
    <p:sldId id="612" r:id="rId13"/>
    <p:sldId id="613" r:id="rId14"/>
    <p:sldId id="622" r:id="rId15"/>
    <p:sldId id="624" r:id="rId16"/>
    <p:sldId id="625" r:id="rId17"/>
    <p:sldId id="626" r:id="rId18"/>
    <p:sldId id="610" r:id="rId19"/>
    <p:sldId id="627" r:id="rId20"/>
    <p:sldId id="618" r:id="rId21"/>
    <p:sldId id="614" r:id="rId22"/>
    <p:sldId id="616" r:id="rId23"/>
    <p:sldId id="607" r:id="rId24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WqGpmJnm2LhSO/E7EgiMMs26K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1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7"/>
    <p:restoredTop sz="93151"/>
  </p:normalViewPr>
  <p:slideViewPr>
    <p:cSldViewPr snapToGrid="0" snapToObjects="1">
      <p:cViewPr varScale="1">
        <p:scale>
          <a:sx n="65" d="100"/>
          <a:sy n="65" d="100"/>
        </p:scale>
        <p:origin x="22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8239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0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0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A2DB7-A1E1-0847-6E19-E4F407EF723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4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13" Type="http://schemas.openxmlformats.org/officeDocument/2006/relationships/image" Target="../media/image7.svg"/><Relationship Id="rId3" Type="http://schemas.openxmlformats.org/officeDocument/2006/relationships/tags" Target="../tags/tag7.xml"/><Relationship Id="rId7" Type="http://schemas.openxmlformats.org/officeDocument/2006/relationships/image" Target="../media/image3.svg"/><Relationship Id="rId12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11" Type="http://schemas.openxmlformats.org/officeDocument/2006/relationships/hyperlink" Target="https://www.slido.com/support/ppi/how-to-change-the-design" TargetMode="External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5.sv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uncertainty-quantification" TargetMode="External"/><Relationship Id="rId7" Type="http://schemas.openxmlformats.org/officeDocument/2006/relationships/hyperlink" Target="https://sites.google.com/view/uncertainty-nlp" TargetMode="External"/><Relationship Id="rId2" Type="http://schemas.openxmlformats.org/officeDocument/2006/relationships/hyperlink" Target="https://lss.fnal.gov/archive/2025/slides/fermilab-slides-25-0197-etd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910.09457" TargetMode="External"/><Relationship Id="rId5" Type="http://schemas.openxmlformats.org/officeDocument/2006/relationships/hyperlink" Target="https://www.afit.edu/STAT/statcoe_files/4_0328_LazarusUQBP_2_2.pdf" TargetMode="External"/><Relationship Id="rId4" Type="http://schemas.openxmlformats.org/officeDocument/2006/relationships/hyperlink" Target="https://yazokulu.bilimakademisi.org/yapayogrenme/2021/slides/Sensoy.BAYOYO202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Uncertainty Quantification </a:t>
            </a:r>
            <a:r>
              <a:rPr lang="en-US" sz="4400" dirty="0"/>
              <a:t>(in ML)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Coming up:</a:t>
            </a:r>
          </a:p>
          <a:p>
            <a:r>
              <a:rPr lang="en-US" dirty="0"/>
              <a:t>Classes</a:t>
            </a:r>
          </a:p>
          <a:p>
            <a:pPr lvl="1"/>
            <a:r>
              <a:rPr lang="en-US" dirty="0"/>
              <a:t>Uncertainty Quantification (today)</a:t>
            </a:r>
          </a:p>
          <a:p>
            <a:pPr lvl="1"/>
            <a:r>
              <a:rPr lang="en-US" dirty="0"/>
              <a:t>Temporal Drift and Distribution Shift (Thursday)</a:t>
            </a:r>
          </a:p>
          <a:p>
            <a:pPr lvl="1"/>
            <a:r>
              <a:rPr lang="en-US" dirty="0"/>
              <a:t>ML Ops (next week)</a:t>
            </a:r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Submit your updates anytime before Dec 2 to get full points</a:t>
            </a:r>
          </a:p>
          <a:p>
            <a:pPr lvl="1"/>
            <a:r>
              <a:rPr lang="en-US" dirty="0"/>
              <a:t>Module 2 assignment due Dec 2</a:t>
            </a:r>
          </a:p>
          <a:p>
            <a:pPr lvl="1"/>
            <a:r>
              <a:rPr lang="en-US" dirty="0"/>
              <a:t>Presentations on Dec 2 and 4 (will announce slots Thursday – randomly assigned)</a:t>
            </a:r>
          </a:p>
          <a:p>
            <a:pPr lvl="1"/>
            <a:r>
              <a:rPr lang="en-US" dirty="0"/>
              <a:t>Final reflection writeup due Dec 10</a:t>
            </a:r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1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804679"/>
              </p:ext>
            </p:extLst>
          </p:nvPr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2527C77-CBC3-2DB6-9C93-199C8C2D1307}"/>
              </a:ext>
            </a:extLst>
          </p:cNvPr>
          <p:cNvSpPr/>
          <p:nvPr/>
        </p:nvSpPr>
        <p:spPr>
          <a:xfrm>
            <a:off x="6271846" y="2420765"/>
            <a:ext cx="2614246" cy="20163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0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AB8545-304B-A84D-214F-4A0C1396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today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9AA26-5164-F7C3-54D2-88E4C519A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uncertainty quantification</a:t>
            </a:r>
          </a:p>
          <a:p>
            <a:r>
              <a:rPr lang="en-US" dirty="0"/>
              <a:t>Why do we care</a:t>
            </a:r>
          </a:p>
          <a:p>
            <a:r>
              <a:rPr lang="en-US" dirty="0"/>
              <a:t>Sources of uncertainty </a:t>
            </a:r>
          </a:p>
          <a:p>
            <a:r>
              <a:rPr lang="en-US" dirty="0"/>
              <a:t>How to get it</a:t>
            </a:r>
          </a:p>
          <a:p>
            <a:r>
              <a:rPr lang="en-US" dirty="0"/>
              <a:t>What do we do once we have it</a:t>
            </a:r>
          </a:p>
        </p:txBody>
      </p:sp>
    </p:spTree>
    <p:extLst>
      <p:ext uri="{BB962C8B-B14F-4D97-AF65-F5344CB8AC3E}">
        <p14:creationId xmlns:p14="http://schemas.microsoft.com/office/powerpoint/2010/main" val="333050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F822A-68E8-0F51-6CF3-BB6793D1B8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E42F0-51F0-A46D-9243-6AA196A245A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Why do we care about uncertainty quantification in ML models and predictions?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3AF02-E367-863D-C9D1-4F6B7312EDCD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61483A1-95C2-3902-AA40-F61B3F9B638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62158FA-2A1E-FF0E-5011-D1BD6CDB4FE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FD8AB7D-8729-3F0B-AEB0-9520D93408F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208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6632-D8B0-CEF7-8EA2-53F0F616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70" y="27948"/>
            <a:ext cx="11776400" cy="763500"/>
          </a:xfrm>
        </p:spPr>
        <p:txBody>
          <a:bodyPr/>
          <a:lstStyle/>
          <a:p>
            <a:r>
              <a:rPr lang="en-US" sz="3600" dirty="0"/>
              <a:t>Why do we care about uncertainty quantification in ML?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89F14-AB93-483D-1816-98B9BF62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Helpful in moving from prediction to action/decision</a:t>
            </a:r>
          </a:p>
          <a:p>
            <a:endParaRPr lang="en-US" dirty="0"/>
          </a:p>
          <a:p>
            <a:r>
              <a:rPr lang="en-US" dirty="0"/>
              <a:t>Helpful in chaining together multiple models</a:t>
            </a:r>
          </a:p>
          <a:p>
            <a:endParaRPr lang="en-US" dirty="0"/>
          </a:p>
          <a:p>
            <a:r>
              <a:rPr lang="en-US" dirty="0"/>
              <a:t>Generally model selection</a:t>
            </a:r>
          </a:p>
          <a:p>
            <a:endParaRPr lang="en-US" dirty="0"/>
          </a:p>
          <a:p>
            <a:r>
              <a:rPr lang="en-US" dirty="0"/>
              <a:t>Allows human in the loop in a systematic way</a:t>
            </a:r>
          </a:p>
        </p:txBody>
      </p:sp>
    </p:spTree>
    <p:extLst>
      <p:ext uri="{BB962C8B-B14F-4D97-AF65-F5344CB8AC3E}">
        <p14:creationId xmlns:p14="http://schemas.microsoft.com/office/powerpoint/2010/main" val="135171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3B2EA3-0D65-D7D9-C73E-03FE99F4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mean by Uncertainty in a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7FC60AF-9A6C-A7D8-B1E1-B8F2AE8DF4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your model outputs a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there are really </a:t>
                </a:r>
                <a:r>
                  <a:rPr lang="en-US" i="1" dirty="0"/>
                  <a:t>two</a:t>
                </a:r>
                <a:r>
                  <a:rPr lang="en-US" dirty="0"/>
                  <a:t> questions:</a:t>
                </a:r>
              </a:p>
              <a:p>
                <a:pPr lvl="1"/>
                <a:r>
                  <a:rPr lang="en-US" b="1" dirty="0"/>
                  <a:t>What is the expected value?</a:t>
                </a:r>
                <a:r>
                  <a:rPr lang="en-US" dirty="0"/>
                  <a:t> (e.g., predicted risk = 0.72)</a:t>
                </a:r>
              </a:p>
              <a:p>
                <a:pPr lvl="1"/>
                <a:r>
                  <a:rPr lang="en-US" b="1" dirty="0"/>
                  <a:t>How confident are we in that prediction?</a:t>
                </a:r>
                <a:r>
                  <a:rPr lang="en-US" dirty="0"/>
                  <a:t> (e.g., ±0.15)</a:t>
                </a:r>
              </a:p>
              <a:p>
                <a:endParaRPr lang="en-US" dirty="0"/>
              </a:p>
              <a:p>
                <a:r>
                  <a:rPr lang="en-US" dirty="0"/>
                  <a:t>Uncertainty quantification (possibly) gives a </a:t>
                </a:r>
                <a:r>
                  <a:rPr lang="en-US" i="1" dirty="0"/>
                  <a:t>distribution over possible predictions</a:t>
                </a:r>
                <a:r>
                  <a:rPr lang="en-US" dirty="0"/>
                  <a:t>, not just a point estimate.</a:t>
                </a:r>
              </a:p>
              <a:p>
                <a:pPr marL="5651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i="1"/>
                        <m:t>vs</m:t>
                      </m:r>
                      <m:r>
                        <m:rPr>
                          <m:nor/>
                        </m:rPr>
                        <a:rPr lang="en-US" i="1"/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7FC60AF-9A6C-A7D8-B1E1-B8F2AE8DF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1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7480-988E-8E5C-301C-9FC9A8A04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934" y="86563"/>
            <a:ext cx="11776401" cy="763500"/>
          </a:xfrm>
        </p:spPr>
        <p:txBody>
          <a:bodyPr/>
          <a:lstStyle/>
          <a:p>
            <a:r>
              <a:rPr lang="en-US" sz="3200" dirty="0"/>
              <a:t>Most ML models do not provide non-trivial uncertainty estimates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C6B19-008E-9E82-7DD8-E9FC9FEC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the box ML models typically provide a point estimate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Often between 0 and 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 calibrated to be a probability</a:t>
            </a:r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02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E0A5F8-C07A-ED5C-669C-35D52ACECE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51675-C79B-BE9D-7CB5-01EE5575D45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are some of the underlying sources of uncertainty in our models?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4877D8-37C9-812A-8785-62E13C18B41B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B82A82-43CD-58E8-45B8-4D675B607F2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ADF84A8-2320-D0E1-5DFF-4CDCBC5B9046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32CF53-61D6-D107-82D3-D7808326C2C8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764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16B3-B83F-2301-9AD1-871C3CA4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uncertainties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809C6-AA76-E03D-9BC6-9FC1D221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Wrong model or hyperparameters – model uncertainty</a:t>
            </a:r>
          </a:p>
          <a:p>
            <a:r>
              <a:rPr lang="en-US" dirty="0"/>
              <a:t>Quality and amount of data – learning uncertainty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259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2B54-B3C6-0AED-BD46-8209644F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Sources of uncertainty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F16397-0790-D397-1A60-58B33585C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607203"/>
              </p:ext>
            </p:extLst>
          </p:nvPr>
        </p:nvGraphicFramePr>
        <p:xfrm>
          <a:off x="415925" y="2731928"/>
          <a:ext cx="11360151" cy="3245264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3786717">
                  <a:extLst>
                    <a:ext uri="{9D8B030D-6E8A-4147-A177-3AD203B41FA5}">
                      <a16:colId xmlns:a16="http://schemas.microsoft.com/office/drawing/2014/main" val="1986893321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1848255247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2429734024"/>
                    </a:ext>
                  </a:extLst>
                </a:gridCol>
              </a:tblGrid>
              <a:tr h="42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What it means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How to estimate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635578"/>
                  </a:ext>
                </a:extLst>
              </a:tr>
              <a:tr h="72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Aleatoric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Noise inherent in data (cannot be reduced)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 probabilistic output layers or quantile/conformal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046289"/>
                  </a:ext>
                </a:extLst>
              </a:tr>
              <a:tr h="72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Epistemic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 uncertainty from limited data or 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 ensembles, Bayesian or dropout-based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013823"/>
                  </a:ext>
                </a:extLst>
              </a:tr>
              <a:tr h="72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Distributional / Shift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Uncertainty due to unseen data distributions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Evaluate predictive confidence on OOD inputs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267542"/>
                  </a:ext>
                </a:extLst>
              </a:tr>
              <a:tr h="42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Label / Annotation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Disagreement in human 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Model label distributions or soft 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05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616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8F42-BAEC-920E-6337-6B840CCD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Aleatoric </a:t>
            </a:r>
            <a:r>
              <a:rPr lang="en-US" dirty="0" err="1"/>
              <a:t>Uncetainty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8B42F-16E4-2BC7-1DB5-57CE2CBEC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to random process or stochastic characteristics in a system</a:t>
            </a:r>
          </a:p>
          <a:p>
            <a:endParaRPr lang="en-US" dirty="0"/>
          </a:p>
          <a:p>
            <a:r>
              <a:rPr lang="en-US" dirty="0"/>
              <a:t>More data does not help</a:t>
            </a:r>
          </a:p>
          <a:p>
            <a:endParaRPr lang="en-US" dirty="0"/>
          </a:p>
          <a:p>
            <a:r>
              <a:rPr lang="en-US" dirty="0"/>
              <a:t>Fun question: where does the word Aleatoric come from?</a:t>
            </a:r>
          </a:p>
        </p:txBody>
      </p:sp>
    </p:spTree>
    <p:extLst>
      <p:ext uri="{BB962C8B-B14F-4D97-AF65-F5344CB8AC3E}">
        <p14:creationId xmlns:p14="http://schemas.microsoft.com/office/powerpoint/2010/main" val="1855223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AB46-80A7-736C-D94B-70181D60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6641-9C44-7904-334E-5DE3E23A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Epistemic Uncertainty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048D7-A8A2-3F17-C7E9-5B93876F3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to lack of information or knowledge about 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(Less) Fun question: where does the word Epistemic come from?</a:t>
            </a:r>
          </a:p>
        </p:txBody>
      </p:sp>
    </p:spTree>
    <p:extLst>
      <p:ext uri="{BB962C8B-B14F-4D97-AF65-F5344CB8AC3E}">
        <p14:creationId xmlns:p14="http://schemas.microsoft.com/office/powerpoint/2010/main" val="1684914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401D-89E3-FCD0-E004-E6C69BFC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estimate uncertainty?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3115C-9735-9518-65DF-0A896C33E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Inherent models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Post-hoc approaches</a:t>
            </a:r>
          </a:p>
        </p:txBody>
      </p:sp>
    </p:spTree>
    <p:extLst>
      <p:ext uri="{BB962C8B-B14F-4D97-AF65-F5344CB8AC3E}">
        <p14:creationId xmlns:p14="http://schemas.microsoft.com/office/powerpoint/2010/main" val="2373165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15C8-7939-92BC-CCA8-C0ACF34E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EF1A2-B3E8-F64E-7397-3DA535E80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dirty="0"/>
              <a:t>How would you take your existing models (or build new models) to generate uncertainty estimates for each of your top k predictions?</a:t>
            </a:r>
          </a:p>
          <a:p>
            <a:endParaRPr lang="en-US" sz="4000" dirty="0"/>
          </a:p>
          <a:p>
            <a:r>
              <a:rPr lang="en-US" sz="4000" dirty="0"/>
              <a:t>How would you evaluate those uncertainty estimates?</a:t>
            </a:r>
          </a:p>
        </p:txBody>
      </p:sp>
    </p:spTree>
    <p:extLst>
      <p:ext uri="{BB962C8B-B14F-4D97-AF65-F5344CB8AC3E}">
        <p14:creationId xmlns:p14="http://schemas.microsoft.com/office/powerpoint/2010/main" val="427101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AE60-FC98-E330-7287-71F36F82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Post-hoc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0B3EA-71D5-1707-1810-AAD33765E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Resampling</a:t>
            </a:r>
          </a:p>
          <a:p>
            <a:r>
              <a:rPr lang="en-US" dirty="0"/>
              <a:t>Model Ensembles</a:t>
            </a:r>
          </a:p>
          <a:p>
            <a:r>
              <a:rPr lang="en-US" dirty="0"/>
              <a:t>Calibration</a:t>
            </a:r>
          </a:p>
        </p:txBody>
      </p:sp>
    </p:spTree>
    <p:extLst>
      <p:ext uri="{BB962C8B-B14F-4D97-AF65-F5344CB8AC3E}">
        <p14:creationId xmlns:p14="http://schemas.microsoft.com/office/powerpoint/2010/main" val="507651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35A9-3078-EBE6-3AB8-51BE1CBF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get uncertainty estimates: Calibration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6C9158-2F31-B648-6BA8-21417925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76" y="1341538"/>
            <a:ext cx="11855724" cy="522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8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AC2F-A1D2-B9B9-8BDB-F0518D49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get uncertainty estimates: Calibration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A4438-2B8F-167A-871C-A13C80FB1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924" y="2517998"/>
            <a:ext cx="7382793" cy="357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35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73D4-7F7E-9C26-E915-E56088E1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approach to calibration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04B77-ED84-814C-9F8D-ED5EC408D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ct val="150000"/>
              </a:lnSpc>
            </a:pPr>
            <a:r>
              <a:rPr lang="en-US" dirty="0"/>
              <a:t>Train a model f on an </a:t>
            </a:r>
            <a:r>
              <a:rPr lang="en-US" b="1" dirty="0"/>
              <a:t>initial training set</a:t>
            </a:r>
            <a:r>
              <a:rPr lang="en-US" dirty="0"/>
              <a:t> for whatever primary objective. 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Define your </a:t>
            </a:r>
            <a:r>
              <a:rPr lang="en-US" b="1" dirty="0"/>
              <a:t>event of interest</a:t>
            </a:r>
            <a:r>
              <a:rPr lang="en-US" dirty="0"/>
              <a:t> (that you are predicting the probability of).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Obtain uncalibrated model predictions f(x) on a </a:t>
            </a:r>
            <a:r>
              <a:rPr lang="en-US" b="1" dirty="0" err="1"/>
              <a:t>heldout</a:t>
            </a:r>
            <a:r>
              <a:rPr lang="en-US" dirty="0"/>
              <a:t> </a:t>
            </a:r>
            <a:r>
              <a:rPr lang="en-US" b="1" dirty="0"/>
              <a:t>calibration set</a:t>
            </a:r>
            <a:r>
              <a:rPr lang="en-US" dirty="0"/>
              <a:t>.</a:t>
            </a:r>
          </a:p>
          <a:p>
            <a:pPr fontAlgn="base">
              <a:lnSpc>
                <a:spcPct val="150000"/>
              </a:lnSpc>
            </a:pPr>
            <a:r>
              <a:rPr lang="en-US" b="1" dirty="0"/>
              <a:t>Tune a calibration model</a:t>
            </a:r>
            <a:r>
              <a:rPr lang="en-US" dirty="0"/>
              <a:t> f’(f(x)) on the primary model’s uncalibrated predictions.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Measure resulting expected calibration error of f’ on a </a:t>
            </a:r>
            <a:r>
              <a:rPr lang="en-US" b="1" dirty="0" err="1"/>
              <a:t>heldout</a:t>
            </a:r>
            <a:r>
              <a:rPr lang="en-US" b="1" dirty="0"/>
              <a:t> test set</a:t>
            </a:r>
            <a:r>
              <a:rPr lang="en-US" dirty="0"/>
              <a:t>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Deploy both f and f’ for </a:t>
            </a:r>
            <a:r>
              <a:rPr lang="en-US" b="1" dirty="0"/>
              <a:t>predictions</a:t>
            </a:r>
            <a:r>
              <a:rPr lang="en-US" dirty="0"/>
              <a:t> and </a:t>
            </a:r>
            <a:r>
              <a:rPr lang="en-US" b="1" dirty="0"/>
              <a:t>confidence estimates</a:t>
            </a:r>
            <a:r>
              <a:rPr lang="en-US" dirty="0"/>
              <a:t>, respectively.</a:t>
            </a:r>
            <a:br>
              <a:rPr lang="en-US" dirty="0"/>
            </a:br>
            <a:r>
              <a:rPr lang="en-US" dirty="0"/>
              <a:t>(Although, often the argmax will be unchanged for most calibration models.)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1800" dirty="0">
                <a:highlight>
                  <a:srgbClr val="C0C0C0"/>
                </a:highlight>
              </a:rPr>
              <a:t>(From Tutorial: Uncertainty Estimation for Natural Language Processing)</a:t>
            </a:r>
          </a:p>
        </p:txBody>
      </p:sp>
    </p:spTree>
    <p:extLst>
      <p:ext uri="{BB962C8B-B14F-4D97-AF65-F5344CB8AC3E}">
        <p14:creationId xmlns:p14="http://schemas.microsoft.com/office/powerpoint/2010/main" val="776406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98F0-D322-54F2-7965-A83B2CC7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Conformal Prediction for uncertainty quantification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B419B-906A-CFA6-F4BC-93E4F6E29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7764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P(true label is within predicted set) &gt; 95%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1. (for each example in calibration set) Get score of correct label</a:t>
            </a:r>
          </a:p>
          <a:p>
            <a:pPr marL="76200" indent="0">
              <a:buNone/>
            </a:pPr>
            <a:r>
              <a:rPr lang="en-US" dirty="0"/>
              <a:t>2. Take 5% quantile of that score (At least 95% of the examples have score &gt;= q)</a:t>
            </a:r>
          </a:p>
          <a:p>
            <a:pPr marL="76200" indent="0">
              <a:buNone/>
            </a:pPr>
            <a:r>
              <a:rPr lang="en-US" dirty="0"/>
              <a:t>3. Output all labels/classes where score &gt;= q</a:t>
            </a:r>
          </a:p>
        </p:txBody>
      </p:sp>
    </p:spTree>
    <p:extLst>
      <p:ext uri="{BB962C8B-B14F-4D97-AF65-F5344CB8AC3E}">
        <p14:creationId xmlns:p14="http://schemas.microsoft.com/office/powerpoint/2010/main" val="361492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6FC9-EE37-F72A-D878-31CCE7AF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DonorsChoose</a:t>
            </a:r>
            <a:r>
              <a:rPr lang="en-US" sz="3200" dirty="0"/>
              <a:t>: Do our models have a notion of confidence?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5A3BB-20A4-CF0C-3D2E-DFC4A9B20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Yes or no?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If yes</a:t>
            </a:r>
          </a:p>
          <a:p>
            <a:pPr lvl="1"/>
            <a:r>
              <a:rPr lang="en-US" sz="2800" dirty="0"/>
              <a:t>what is it? For which models?</a:t>
            </a:r>
          </a:p>
          <a:p>
            <a:pPr lvl="1"/>
            <a:r>
              <a:rPr lang="en-US" sz="2800" dirty="0"/>
              <a:t>Have we validated if it’s correct?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06454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06A8-54E8-54B7-5451-7DE7730A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we do with uncertainty estimate?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CD8C7-E1C7-0F00-5FBA-FDF768E5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 recommendations</a:t>
            </a:r>
          </a:p>
          <a:p>
            <a:r>
              <a:rPr lang="en-US" dirty="0"/>
              <a:t>Reorder - stratify</a:t>
            </a:r>
          </a:p>
          <a:p>
            <a:r>
              <a:rPr lang="en-US" dirty="0"/>
              <a:t>Provide set valued outputs (for multiclass problems)</a:t>
            </a:r>
          </a:p>
          <a:p>
            <a:r>
              <a:rPr lang="en-US" dirty="0"/>
              <a:t>Use to estimate expected values</a:t>
            </a:r>
          </a:p>
          <a:p>
            <a:pPr fontAlgn="base"/>
            <a:r>
              <a:rPr lang="en-US" dirty="0"/>
              <a:t>Build or reduce trust in certain pointwise predictions…</a:t>
            </a:r>
          </a:p>
          <a:p>
            <a:pPr fontAlgn="base"/>
            <a:r>
              <a:rPr lang="en-US" dirty="0"/>
              <a:t>Identify areas of improvement for a given model (e.g., for active learning</a:t>
            </a:r>
          </a:p>
          <a:p>
            <a:pPr fontAlgn="base"/>
            <a:r>
              <a:rPr lang="en-US" dirty="0"/>
              <a:t>Produce more natural responses (that reflect confidence) for dialogue agents…</a:t>
            </a:r>
          </a:p>
          <a:p>
            <a:pPr fontAlgn="base"/>
            <a:r>
              <a:rPr lang="en-US" dirty="0"/>
              <a:t>Abstain from making predictions when in doubt…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65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2A1E-DCB0-EE17-4C8E-92A900FA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9F7FE-20CE-1F5B-FECF-609DBC61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912861"/>
            <a:ext cx="11360700" cy="45552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https://lss.fnal.gov/archive/2025/slides/fermilab-slides-25-0197-etd.pdf</a:t>
            </a:r>
            <a:endParaRPr lang="en-US" dirty="0"/>
          </a:p>
          <a:p>
            <a:r>
              <a:rPr lang="en-US" dirty="0">
                <a:hlinkClick r:id="rId3"/>
              </a:rPr>
              <a:t>https://www.ibm.com/think/topics/uncertainty-quantification</a:t>
            </a:r>
            <a:endParaRPr lang="en-US" dirty="0"/>
          </a:p>
          <a:p>
            <a:r>
              <a:rPr lang="en-US" dirty="0">
                <a:hlinkClick r:id="rId4"/>
              </a:rPr>
              <a:t>https://yazokulu.bilimakademisi.org/yapayogrenme/2021/slides/Sensoy.BAYOYO2021.pdf</a:t>
            </a:r>
            <a:endParaRPr lang="en-US" dirty="0"/>
          </a:p>
          <a:p>
            <a:r>
              <a:rPr lang="en-US" dirty="0">
                <a:hlinkClick r:id="rId5"/>
              </a:rPr>
              <a:t>https://www.afit.edu/STAT/statcoe_files/4_0328_LazarusUQBP_2_2.pdf</a:t>
            </a:r>
            <a:endParaRPr lang="en-US" dirty="0"/>
          </a:p>
          <a:p>
            <a:pPr marL="76200" indent="0">
              <a:buNone/>
            </a:pPr>
            <a:endParaRPr lang="en-US" dirty="0"/>
          </a:p>
          <a:p>
            <a:r>
              <a:rPr lang="en-US" dirty="0">
                <a:hlinkClick r:id="rId6"/>
              </a:rPr>
              <a:t>https://arxiv.org/pdf/1910.09457</a:t>
            </a:r>
            <a:endParaRPr lang="en-US" dirty="0"/>
          </a:p>
          <a:p>
            <a:r>
              <a:rPr lang="en-US" dirty="0"/>
              <a:t>Tutorial: </a:t>
            </a:r>
            <a:r>
              <a:rPr lang="en-US" dirty="0">
                <a:hlinkClick r:id="rId7"/>
              </a:rPr>
              <a:t>https://sites.google.com/view/uncertainty-nlp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neurips.cc</a:t>
            </a:r>
            <a:r>
              <a:rPr lang="en-US" dirty="0"/>
              <a:t>/media/neurips-2020/Slides/16649.pdf</a:t>
            </a:r>
            <a:br>
              <a:rPr lang="en-US" dirty="0"/>
            </a:br>
            <a:endParaRPr lang="en-US" dirty="0"/>
          </a:p>
          <a:p>
            <a:r>
              <a:rPr lang="en-US" dirty="0"/>
              <a:t>Kull, M., &amp; Flach, P. (2014). Reliability maps: A tool to enhance probability estimates and improve classification accuracy. In </a:t>
            </a:r>
            <a:r>
              <a:rPr lang="en-US" i="1" dirty="0"/>
              <a:t>Proceedings of ECML/PKDD, European conference on machine learning and principles and practice of knowledge discovery in databases</a:t>
            </a:r>
            <a:r>
              <a:rPr lang="en-US" dirty="0"/>
              <a:t>, Nancy, France, pp. 18–33.</a:t>
            </a:r>
          </a:p>
        </p:txBody>
      </p:sp>
    </p:spTree>
    <p:extLst>
      <p:ext uri="{BB962C8B-B14F-4D97-AF65-F5344CB8AC3E}">
        <p14:creationId xmlns:p14="http://schemas.microsoft.com/office/powerpoint/2010/main" val="1028563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a168d9bc-0163-4cfb-94e3-a9fe10287b04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27cd499-2600-42fc-ab3a-52f41ec62305"/>
  <p:tag name="SLIDO_TIMELINE" val="W3sicG9sbFF1ZXN0aW9uVXVpZCI6IjQyNGM2ZjFlLWJjY2ItNDk4OC1hYzk2LWYxMTg0YzFmZTQyYiIsInNob3dSZXN1bHRzIjpmYWxzZX0seyJwb2xsUXVlc3Rpb25VdWlkIjoiNDI0YzZmMWUtYmNjYi00OTg4LWFjOTYtZjExODRjMWZlNDJi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47b6c7e-0992-4af7-beb3-2bdf08b4ab5b"/>
  <p:tag name="SLIDO_TIMELINE" val="W3sicG9sbFF1ZXN0aW9uVXVpZCI6ImI4N2I0YmVkLTcwZmYtNDg1Zi05NDZkLWQwOTQyNDExYmFjMiIsInNob3dSZXN1bHRzIjpmYWxzZX0seyJwb2xsUXVlc3Rpb25VdWlkIjoiYjg3YjRiZWQtNzBmZi00ODVmLTk0NmQtZDA5NDI0MTFiYWMyIiwic2hvd1Jlc3VsdHMiOnRydWV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4435</TotalTime>
  <Words>1022</Words>
  <Application>Microsoft Macintosh PowerPoint</Application>
  <PresentationFormat>Widescreen</PresentationFormat>
  <Paragraphs>165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Simple Light</vt:lpstr>
      <vt:lpstr>PowerPoint Presentation</vt:lpstr>
      <vt:lpstr>Reminders</vt:lpstr>
      <vt:lpstr>PowerPoint Presentation</vt:lpstr>
      <vt:lpstr>Focus of today</vt:lpstr>
      <vt:lpstr>PowerPoint Presentation</vt:lpstr>
      <vt:lpstr>Why do we care about uncertainty quantification in ML?</vt:lpstr>
      <vt:lpstr>What do we mean by Uncertainty in a Prediction</vt:lpstr>
      <vt:lpstr>Most ML models do not provide non-trivial uncertainty estimates</vt:lpstr>
      <vt:lpstr>PowerPoint Presentation</vt:lpstr>
      <vt:lpstr>Types of uncertainties</vt:lpstr>
      <vt:lpstr>Sources of uncertainty</vt:lpstr>
      <vt:lpstr>Aleatoric Uncetainty</vt:lpstr>
      <vt:lpstr>Epistemic Uncertainty</vt:lpstr>
      <vt:lpstr>How can we estimate uncertainty?</vt:lpstr>
      <vt:lpstr>Group Activity</vt:lpstr>
      <vt:lpstr>Post-hoc approaches</vt:lpstr>
      <vt:lpstr>Ways to get uncertainty estimates: Calibration </vt:lpstr>
      <vt:lpstr>Ways to get uncertainty estimates: Calibration </vt:lpstr>
      <vt:lpstr>Generic approach to calibration</vt:lpstr>
      <vt:lpstr>Conformal Prediction for uncertainty quantification</vt:lpstr>
      <vt:lpstr>DonorsChoose: Do our models have a notion of confidence?</vt:lpstr>
      <vt:lpstr>What could we do with uncertainty estimate?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27</cp:revision>
  <dcterms:created xsi:type="dcterms:W3CDTF">2020-01-14T19:43:43Z</dcterms:created>
  <dcterms:modified xsi:type="dcterms:W3CDTF">2025-11-24T16:33:29Z</dcterms:modified>
</cp:coreProperties>
</file>