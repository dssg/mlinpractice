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1" r:id="rId3"/>
    <p:sldId id="295" r:id="rId4"/>
    <p:sldId id="445" r:id="rId5"/>
    <p:sldId id="430" r:id="rId6"/>
    <p:sldId id="424" r:id="rId7"/>
    <p:sldId id="443" r:id="rId8"/>
    <p:sldId id="444" r:id="rId9"/>
    <p:sldId id="436" r:id="rId10"/>
    <p:sldId id="425" r:id="rId11"/>
    <p:sldId id="434" r:id="rId12"/>
    <p:sldId id="429" r:id="rId13"/>
    <p:sldId id="435" r:id="rId14"/>
    <p:sldId id="441" r:id="rId15"/>
    <p:sldId id="439" r:id="rId16"/>
    <p:sldId id="438" r:id="rId17"/>
    <p:sldId id="440" r:id="rId18"/>
    <p:sldId id="446" r:id="rId19"/>
    <p:sldId id="447" r:id="rId20"/>
    <p:sldId id="261" r:id="rId21"/>
    <p:sldId id="269" r:id="rId22"/>
    <p:sldId id="277" r:id="rId23"/>
    <p:sldId id="285" r:id="rId24"/>
    <p:sldId id="427" r:id="rId25"/>
    <p:sldId id="432" r:id="rId26"/>
    <p:sldId id="442" r:id="rId27"/>
    <p:sldId id="448" r:id="rId28"/>
    <p:sldId id="431" r:id="rId29"/>
    <p:sldId id="433" r:id="rId30"/>
    <p:sldId id="437" r:id="rId31"/>
  </p:sldIdLst>
  <p:sldSz cx="12192000" cy="6858000"/>
  <p:notesSz cx="6858000" cy="9144000"/>
  <p:custDataLst>
    <p:tags r:id="rId3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729827C-632A-B347-966B-4CCEC4B754B0}">
          <p14:sldIdLst>
            <p14:sldId id="256"/>
            <p14:sldId id="281"/>
            <p14:sldId id="295"/>
            <p14:sldId id="445"/>
            <p14:sldId id="430"/>
            <p14:sldId id="424"/>
            <p14:sldId id="443"/>
            <p14:sldId id="444"/>
            <p14:sldId id="436"/>
            <p14:sldId id="425"/>
            <p14:sldId id="434"/>
            <p14:sldId id="429"/>
            <p14:sldId id="435"/>
            <p14:sldId id="441"/>
            <p14:sldId id="439"/>
            <p14:sldId id="438"/>
            <p14:sldId id="440"/>
            <p14:sldId id="446"/>
            <p14:sldId id="447"/>
            <p14:sldId id="261"/>
            <p14:sldId id="269"/>
            <p14:sldId id="277"/>
            <p14:sldId id="285"/>
          </p14:sldIdLst>
        </p14:section>
        <p14:section name="Baselines" id="{E231EA99-A2D7-1B49-9484-CE40EB1FE5AF}">
          <p14:sldIdLst>
            <p14:sldId id="427"/>
            <p14:sldId id="432"/>
            <p14:sldId id="442"/>
            <p14:sldId id="448"/>
            <p14:sldId id="431"/>
            <p14:sldId id="433"/>
            <p14:sldId id="437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34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94"/>
    <p:restoredTop sz="96327"/>
  </p:normalViewPr>
  <p:slideViewPr>
    <p:cSldViewPr snapToGrid="0" snapToObjects="1">
      <p:cViewPr varScale="1">
        <p:scale>
          <a:sx n="135" d="100"/>
          <a:sy n="135" d="100"/>
        </p:scale>
        <p:origin x="344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4dcc1e60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34dcc1e60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a827b83f3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a827b83f3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a827b83f3_7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3a827b83f3_7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34e0ee0e3b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34e0ee0e3b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30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g6dad9273e7_0_53">
            <a:extLst>
              <a:ext uri="{FF2B5EF4-FFF2-40B4-BE49-F238E27FC236}">
                <a16:creationId xmlns:a16="http://schemas.microsoft.com/office/drawing/2014/main" id="{CC84B178-9F35-4D45-A609-CF732A414DB7}"/>
              </a:ext>
            </a:extLst>
          </p:cNvPr>
          <p:cNvSpPr txBox="1"/>
          <p:nvPr userDrawn="1"/>
        </p:nvSpPr>
        <p:spPr>
          <a:xfrm>
            <a:off x="0" y="-295"/>
            <a:ext cx="12192000" cy="37788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380906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 dirty="0"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11" y="377853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 dirty="0"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C111E-0D94-D541-964E-0A52448480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4930" y="5240440"/>
            <a:ext cx="5519424" cy="1602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43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13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9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8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8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presentation/d/1ZNSJyqmYUdPXuSgkW_ozA1UVOR_wrk7bq6hG5pkwqR4/edit#slide=id.g71b33da067_0_0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C2AC-0221-3A42-A0C2-DDBA9BA3D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518101"/>
            <a:ext cx="11360700" cy="2736900"/>
          </a:xfrm>
        </p:spPr>
        <p:txBody>
          <a:bodyPr/>
          <a:lstStyle/>
          <a:p>
            <a:r>
              <a:rPr lang="en-US" sz="5400" dirty="0"/>
              <a:t>ML Formulation and Baselines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BB3B6-8D57-374F-AEC9-D4CBE450E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Rayid Ghani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Check and make sure you can access your team </a:t>
            </a:r>
            <a:r>
              <a:rPr lang="en-US" b="1" dirty="0" err="1"/>
              <a:t>github</a:t>
            </a:r>
            <a:r>
              <a:rPr lang="en-US" b="1" dirty="0"/>
              <a:t> repo</a:t>
            </a:r>
          </a:p>
          <a:p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Due Next Week:</a:t>
            </a:r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en-US" dirty="0"/>
              <a:t>End of Monday – project update assignment (Formulation and Baselines)</a:t>
            </a:r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en-US" dirty="0"/>
              <a:t>Tuesday – weekly feedback form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Readings for Tuesday – Model Selection/”Validation” strategies</a:t>
            </a:r>
          </a:p>
        </p:txBody>
      </p:sp>
    </p:spTree>
    <p:extLst>
      <p:ext uri="{BB962C8B-B14F-4D97-AF65-F5344CB8AC3E}">
        <p14:creationId xmlns:p14="http://schemas.microsoft.com/office/powerpoint/2010/main" val="128593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477338" y="263929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5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3C146-7255-5392-DBEE-71B9EB43B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how to go from scope to an ML Formulation: what decisions needs to be made and how?</a:t>
            </a:r>
          </a:p>
          <a:p>
            <a:endParaRPr lang="en-US" dirty="0"/>
          </a:p>
          <a:p>
            <a:r>
              <a:rPr lang="en-US" dirty="0"/>
              <a:t>Discuss the case study reading related to Formulation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Learn about effective baselines and how to develop them </a:t>
            </a:r>
            <a:r>
              <a:rPr lang="en-US" b="1" dirty="0"/>
              <a:t>before</a:t>
            </a:r>
            <a:r>
              <a:rPr lang="en-US" dirty="0"/>
              <a:t> building a complex ML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BE0E7C-5CAB-B4EE-6949-4BF71549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</p:spTree>
    <p:extLst>
      <p:ext uri="{BB962C8B-B14F-4D97-AF65-F5344CB8AC3E}">
        <p14:creationId xmlns:p14="http://schemas.microsoft.com/office/powerpoint/2010/main" val="225384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3C3FC8-F052-F842-9EDA-889E4651C4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0002"/>
          </a:solidFill>
          <a:ln>
            <a:solidFill>
              <a:srgbClr val="8000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4310" y="441960"/>
            <a:ext cx="11361738" cy="763588"/>
          </a:xfrm>
        </p:spPr>
        <p:txBody>
          <a:bodyPr/>
          <a:lstStyle/>
          <a:p>
            <a:r>
              <a:rPr lang="en-US" sz="5400" dirty="0">
                <a:solidFill>
                  <a:schemeClr val="bg1"/>
                </a:solidFill>
              </a:rPr>
              <a:t>Moving from Scope </a:t>
            </a:r>
            <a:br>
              <a:rPr lang="en-US" sz="5400" dirty="0">
                <a:solidFill>
                  <a:schemeClr val="bg1"/>
                </a:solidFill>
              </a:rPr>
            </a:br>
            <a:r>
              <a:rPr lang="en-US" sz="5400" dirty="0">
                <a:solidFill>
                  <a:schemeClr val="bg1"/>
                </a:solidFill>
              </a:rPr>
              <a:t>to Analytical Formulation</a:t>
            </a:r>
          </a:p>
        </p:txBody>
      </p:sp>
    </p:spTree>
    <p:extLst>
      <p:ext uri="{BB962C8B-B14F-4D97-AF65-F5344CB8AC3E}">
        <p14:creationId xmlns:p14="http://schemas.microsoft.com/office/powerpoint/2010/main" val="316318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Scoping defines the goals and approach at a high level, the </a:t>
            </a:r>
            <a:r>
              <a:rPr lang="en-US" b="1" dirty="0">
                <a:solidFill>
                  <a:srgbClr val="C00000"/>
                </a:solidFill>
              </a:rPr>
              <a:t>analytical formulation </a:t>
            </a:r>
            <a:r>
              <a:rPr lang="en-US" dirty="0"/>
              <a:t>maps this scope to an ML problem and analytical approach</a:t>
            </a:r>
            <a:br>
              <a:rPr lang="en-US" dirty="0"/>
            </a:br>
            <a:endParaRPr lang="en-US" dirty="0"/>
          </a:p>
          <a:p>
            <a:r>
              <a:rPr lang="en-US" dirty="0"/>
              <a:t>Should be as detailed and specific as possible, making it possible to code it without ambiguity</a:t>
            </a:r>
            <a:br>
              <a:rPr lang="en-US" dirty="0"/>
            </a:br>
            <a:endParaRPr lang="en-US" dirty="0"/>
          </a:p>
          <a:p>
            <a:r>
              <a:rPr lang="en-US" dirty="0"/>
              <a:t>One scope can result in numerous formulations – we need to develop one that is feasible and best informs our goals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the project goals/scope into an ML problem</a:t>
            </a:r>
          </a:p>
        </p:txBody>
      </p:sp>
    </p:spTree>
    <p:extLst>
      <p:ext uri="{BB962C8B-B14F-4D97-AF65-F5344CB8AC3E}">
        <p14:creationId xmlns:p14="http://schemas.microsoft.com/office/powerpoint/2010/main" val="356214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EC392E-A1E6-5663-AC48-6AB4E39FE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4000" dirty="0"/>
              <a:t>ML systems sometimes fail because the model design, development, and validation does not match the deployment and use case setting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8E2D1A-55E3-1D83-A26A-70B8D7CBB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failure are we trying to avoid?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3167D-2D60-44CB-A36A-0B9CBA4B561D}"/>
              </a:ext>
            </a:extLst>
          </p:cNvPr>
          <p:cNvSpPr txBox="1"/>
          <p:nvPr/>
        </p:nvSpPr>
        <p:spPr>
          <a:xfrm>
            <a:off x="782198" y="4795772"/>
            <a:ext cx="10025349" cy="138499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The analytical formulation should be guided by –– and map back to –– how the system you’re building will be deployed and used</a:t>
            </a:r>
          </a:p>
        </p:txBody>
      </p:sp>
    </p:spTree>
    <p:extLst>
      <p:ext uri="{BB962C8B-B14F-4D97-AF65-F5344CB8AC3E}">
        <p14:creationId xmlns:p14="http://schemas.microsoft.com/office/powerpoint/2010/main" val="153877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D8AC8D-7187-DEFA-5F2E-07D29AB20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Increase retention of users of a </a:t>
            </a:r>
            <a:r>
              <a:rPr lang="en-US" dirty="0" err="1"/>
              <a:t>genai</a:t>
            </a:r>
            <a:r>
              <a:rPr lang="en-US" dirty="0"/>
              <a:t> tool by offering them targeted offers</a:t>
            </a:r>
          </a:p>
          <a:p>
            <a:endParaRPr lang="en-US" dirty="0"/>
          </a:p>
          <a:p>
            <a:r>
              <a:rPr lang="en-US" dirty="0"/>
              <a:t>Reduce # of students who will not graduate college on time by offering extra support</a:t>
            </a:r>
          </a:p>
          <a:p>
            <a:endParaRPr lang="en-US" dirty="0"/>
          </a:p>
          <a:p>
            <a:r>
              <a:rPr lang="en-US" dirty="0"/>
              <a:t>Prevent people from getting late-stage Chronic Kidney Disease by doing early screening</a:t>
            </a:r>
          </a:p>
          <a:p>
            <a:endParaRPr lang="en-US" dirty="0"/>
          </a:p>
          <a:p>
            <a:r>
              <a:rPr lang="en-US" dirty="0"/>
              <a:t>Reduce fraudulent credit card transactions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803BBD-FD18-92CB-DFFF-B963BD11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2370902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type of analysis are we doing?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</a:t>
            </a:r>
          </a:p>
        </p:txBody>
      </p:sp>
    </p:spTree>
    <p:extLst>
      <p:ext uri="{BB962C8B-B14F-4D97-AF65-F5344CB8AC3E}">
        <p14:creationId xmlns:p14="http://schemas.microsoft.com/office/powerpoint/2010/main" val="176811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F58D61-D951-4047-914F-96A26849E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Detection</a:t>
            </a:r>
          </a:p>
          <a:p>
            <a:r>
              <a:rPr lang="en-US" dirty="0"/>
              <a:t>Prediction</a:t>
            </a:r>
          </a:p>
          <a:p>
            <a:r>
              <a:rPr lang="en-US" dirty="0"/>
              <a:t>Optimization</a:t>
            </a:r>
          </a:p>
          <a:p>
            <a:r>
              <a:rPr lang="en-US" dirty="0"/>
              <a:t>Causal Inference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00A3A-9C26-1B42-A62C-4DB46B74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make: analytical approach</a:t>
            </a:r>
          </a:p>
        </p:txBody>
      </p:sp>
    </p:spTree>
    <p:extLst>
      <p:ext uri="{BB962C8B-B14F-4D97-AF65-F5344CB8AC3E}">
        <p14:creationId xmlns:p14="http://schemas.microsoft.com/office/powerpoint/2010/main" val="62590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type of analysis are you doing?</a:t>
            </a:r>
          </a:p>
          <a:p>
            <a:endParaRPr lang="en-US" dirty="0"/>
          </a:p>
          <a:p>
            <a:r>
              <a:rPr lang="en-US" dirty="0"/>
              <a:t>What are the relevant entities? How do you identify the cohort?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</a:t>
            </a:r>
          </a:p>
        </p:txBody>
      </p:sp>
    </p:spTree>
    <p:extLst>
      <p:ext uri="{BB962C8B-B14F-4D97-AF65-F5344CB8AC3E}">
        <p14:creationId xmlns:p14="http://schemas.microsoft.com/office/powerpoint/2010/main" val="224412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F58D61-D951-4047-914F-96A26849E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entity that exists?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“Active” entities?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Event-based?</a:t>
            </a:r>
          </a:p>
          <a:p>
            <a:pPr lvl="1"/>
            <a:r>
              <a:rPr lang="en-US" dirty="0"/>
              <a:t>Making predictions when the events occur?</a:t>
            </a:r>
          </a:p>
          <a:p>
            <a:pPr lvl="1"/>
            <a:r>
              <a:rPr lang="en-US" dirty="0"/>
              <a:t>All entities that have had an event in a certain time window?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00A3A-9C26-1B42-A62C-4DB46B74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make: cohort definition</a:t>
            </a:r>
          </a:p>
        </p:txBody>
      </p:sp>
    </p:spTree>
    <p:extLst>
      <p:ext uri="{BB962C8B-B14F-4D97-AF65-F5344CB8AC3E}">
        <p14:creationId xmlns:p14="http://schemas.microsoft.com/office/powerpoint/2010/main" val="382306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type of analysis are you doing?</a:t>
            </a:r>
          </a:p>
          <a:p>
            <a:endParaRPr lang="en-US" dirty="0"/>
          </a:p>
          <a:p>
            <a:r>
              <a:rPr lang="en-US" dirty="0"/>
              <a:t>What are the relevant entities? How do you identify the cohort?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How do you define the outcome/label that you care about?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far into the future are you trying to predict?</a:t>
            </a:r>
          </a:p>
          <a:p>
            <a:pPr marL="11430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</a:t>
            </a:r>
          </a:p>
        </p:txBody>
      </p:sp>
    </p:spTree>
    <p:extLst>
      <p:ext uri="{BB962C8B-B14F-4D97-AF65-F5344CB8AC3E}">
        <p14:creationId xmlns:p14="http://schemas.microsoft.com/office/powerpoint/2010/main" val="140988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CAAA01-7C5B-076B-04B2-7AC15EDE2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-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AF1668-A042-64F6-8777-4A87422E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formulation choices</a:t>
            </a:r>
          </a:p>
        </p:txBody>
      </p:sp>
    </p:spTree>
    <p:extLst>
      <p:ext uri="{BB962C8B-B14F-4D97-AF65-F5344CB8AC3E}">
        <p14:creationId xmlns:p14="http://schemas.microsoft.com/office/powerpoint/2010/main" val="3717005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5EDE9B-A257-2333-4DB4-CBD380E1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Formulation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628BEE-B8E7-C511-5764-E82AF6189A5B}"/>
              </a:ext>
            </a:extLst>
          </p:cNvPr>
          <p:cNvSpPr txBox="1"/>
          <p:nvPr/>
        </p:nvSpPr>
        <p:spPr>
          <a:xfrm>
            <a:off x="161381" y="1607442"/>
            <a:ext cx="3354513" cy="513986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often is the recommendation/decision being made?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Who/what is included in the cohort?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What is the output?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274E13"/>
                </a:solidFill>
                <a:effectLst/>
                <a:latin typeface="Arial" panose="020B0604020202020204" pitchFamily="34" charset="0"/>
              </a:rPr>
              <a:t>What outcome are you predicting/estimating/changing?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B45F06"/>
                </a:solidFill>
                <a:effectLst/>
                <a:latin typeface="Arial" panose="020B0604020202020204" pitchFamily="34" charset="0"/>
              </a:rPr>
              <a:t>For what purpose?</a:t>
            </a:r>
            <a:endParaRPr lang="en-US" sz="20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20471-6DE3-15C3-47EA-D5F277E4C9DD}"/>
              </a:ext>
            </a:extLst>
          </p:cNvPr>
          <p:cNvSpPr txBox="1"/>
          <p:nvPr/>
        </p:nvSpPr>
        <p:spPr>
          <a:xfrm>
            <a:off x="3673012" y="1607442"/>
            <a:ext cx="8101172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24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On the first day of every semester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for </a:t>
            </a: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all the students who are currently enrolled in an undergraduate degree program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can we identify the </a:t>
            </a:r>
            <a:r>
              <a:rPr lang="en-US" sz="2400" dirty="0">
                <a:solidFill>
                  <a:srgbClr val="FF00FF"/>
                </a:solidFill>
                <a:latin typeface="Arial" panose="020B0604020202020204" pitchFamily="34" charset="0"/>
              </a:rPr>
              <a:t>1</a:t>
            </a:r>
            <a:r>
              <a:rPr lang="en-US" sz="2400" b="0" i="0" u="none" strike="noStrike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00 highest risk students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who are </a:t>
            </a:r>
            <a:r>
              <a:rPr lang="en-US" sz="2400" b="0" i="0" u="none" strike="noStrike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likely to </a:t>
            </a:r>
            <a:r>
              <a:rPr lang="en-US" sz="2400" dirty="0">
                <a:solidFill>
                  <a:srgbClr val="38761D"/>
                </a:solidFill>
                <a:latin typeface="Arial" panose="020B0604020202020204" pitchFamily="34" charset="0"/>
              </a:rPr>
              <a:t>not graduate college within 5 years of their college start </a:t>
            </a:r>
            <a:r>
              <a:rPr lang="en-US" sz="2400" b="0" i="0" u="none" strike="noStrike" dirty="0">
                <a:solidFill>
                  <a:srgbClr val="B45F06"/>
                </a:solidFill>
                <a:effectLst/>
                <a:latin typeface="Arial" panose="020B0604020202020204" pitchFamily="34" charset="0"/>
              </a:rPr>
              <a:t>to prioritize for proactive academic or other interventions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?</a:t>
            </a:r>
            <a:endParaRPr lang="en-US" sz="24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399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C8A1F-AE56-5146-B94D-D4E3FEFBC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76572"/>
            <a:ext cx="91440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43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F7B32-9E66-8E5C-C019-A4D231FCA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Obermeyer et al. reading, what formulation decision is the focus of the paper?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0EB0DE-95C0-EFAB-3EBC-E7036AE9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 Decisions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541AF-EF0F-D7E7-CE20-EC98E6076CBB}"/>
              </a:ext>
            </a:extLst>
          </p:cNvPr>
          <p:cNvSpPr txBox="1"/>
          <p:nvPr/>
        </p:nvSpPr>
        <p:spPr>
          <a:xfrm>
            <a:off x="2908511" y="2907586"/>
            <a:ext cx="48125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/>
              <a:t>Sli.do</a:t>
            </a:r>
            <a:r>
              <a:rPr lang="en-US" sz="4800" dirty="0"/>
              <a:t>      #10718</a:t>
            </a:r>
          </a:p>
          <a:p>
            <a:endParaRPr lang="en-US" sz="4800" dirty="0"/>
          </a:p>
          <a:p>
            <a:r>
              <a:rPr lang="en-US" sz="4800" dirty="0" err="1"/>
              <a:t>sli.do</a:t>
            </a:r>
            <a:r>
              <a:rPr lang="en-US" sz="4800" dirty="0"/>
              <a:t>/10718</a:t>
            </a:r>
          </a:p>
        </p:txBody>
      </p:sp>
      <p:sp>
        <p:nvSpPr>
          <p:cNvPr id="5" name="AutoShape 2" descr="qr code">
            <a:extLst>
              <a:ext uri="{FF2B5EF4-FFF2-40B4-BE49-F238E27FC236}">
                <a16:creationId xmlns:a16="http://schemas.microsoft.com/office/drawing/2014/main" id="{5056FB75-71B9-8967-2245-4270362FAD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4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DAA22B-57EC-F5CA-F2FF-84BE8152443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26AC3E-41FA-7AC6-0717-4A59914DE10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>
                <a:solidFill>
                  <a:srgbClr val="000000"/>
                </a:solidFill>
              </a:rPr>
              <a:t>In the Obermeyer et al. reading, what formulation decision is the focus of the paper?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E104C-0AAC-485C-8B34-EF0DB6FAAA6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255EAA-08AA-0727-4DA6-F6D84940B53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71A14EFB-271A-BAC7-A919-9BDC73CA6FAE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F31820A-B415-CE7D-95D2-BECDB8F44E80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918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BA0D-10F8-92D2-C9D3-52205F55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4" y="402968"/>
            <a:ext cx="12061442" cy="763500"/>
          </a:xfrm>
        </p:spPr>
        <p:txBody>
          <a:bodyPr/>
          <a:lstStyle/>
          <a:p>
            <a:r>
              <a:rPr lang="en-US" sz="3200" dirty="0"/>
              <a:t>Additional examples from real projects (not covered in class)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9B6C7-5630-DFAD-982A-CD554DBAC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4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FE356-1ECD-E2A9-D4E2-8BCE7296D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Analytical Formulation</a:t>
            </a:r>
            <a:endParaRPr/>
          </a:p>
        </p:txBody>
      </p:sp>
      <p:sp>
        <p:nvSpPr>
          <p:cNvPr id="146" name="Google Shape;146;p30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147" name="Google Shape;147;p30"/>
          <p:cNvSpPr txBox="1"/>
          <p:nvPr/>
        </p:nvSpPr>
        <p:spPr>
          <a:xfrm>
            <a:off x="3566453" y="1341573"/>
            <a:ext cx="8531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3467" dirty="0">
                <a:solidFill>
                  <a:srgbClr val="FF0000"/>
                </a:solidFill>
              </a:rPr>
              <a:t>On the 1</a:t>
            </a:r>
            <a:r>
              <a:rPr lang="en" sz="3467" baseline="30000" dirty="0">
                <a:solidFill>
                  <a:srgbClr val="FF0000"/>
                </a:solidFill>
              </a:rPr>
              <a:t>st</a:t>
            </a:r>
            <a:r>
              <a:rPr lang="en" sz="3467" dirty="0">
                <a:solidFill>
                  <a:srgbClr val="FF0000"/>
                </a:solidFill>
              </a:rPr>
              <a:t> of every month</a:t>
            </a:r>
            <a:r>
              <a:rPr lang="en" sz="3467" dirty="0">
                <a:solidFill>
                  <a:srgbClr val="595959"/>
                </a:solidFill>
              </a:rPr>
              <a:t>, for </a:t>
            </a:r>
            <a:r>
              <a:rPr lang="en" sz="3467" dirty="0">
                <a:solidFill>
                  <a:srgbClr val="0000FF"/>
                </a:solidFill>
              </a:rPr>
              <a:t>all individuals who have interacted with the program in the last 3 years</a:t>
            </a:r>
            <a:r>
              <a:rPr lang="en" sz="3467" dirty="0">
                <a:solidFill>
                  <a:srgbClr val="595959"/>
                </a:solidFill>
              </a:rPr>
              <a:t>, can we identify the </a:t>
            </a:r>
            <a:r>
              <a:rPr lang="en" sz="3467" dirty="0">
                <a:solidFill>
                  <a:srgbClr val="FF00FF"/>
                </a:solidFill>
              </a:rPr>
              <a:t>100 individuals </a:t>
            </a:r>
            <a:r>
              <a:rPr lang="en" sz="3467" dirty="0">
                <a:solidFill>
                  <a:srgbClr val="595959"/>
                </a:solidFill>
              </a:rPr>
              <a:t>who are </a:t>
            </a:r>
            <a:r>
              <a:rPr lang="en" sz="3467" dirty="0">
                <a:solidFill>
                  <a:srgbClr val="38761D"/>
                </a:solidFill>
              </a:rPr>
              <a:t>at highest risk to die by suicide or overdose in the next 6 months </a:t>
            </a:r>
            <a:r>
              <a:rPr lang="en" sz="3467" dirty="0">
                <a:solidFill>
                  <a:srgbClr val="B45F06"/>
                </a:solidFill>
              </a:rPr>
              <a:t>to recommend for proactive behavioral health outreach</a:t>
            </a:r>
            <a:r>
              <a:rPr lang="en" sz="3467" dirty="0">
                <a:solidFill>
                  <a:srgbClr val="595959"/>
                </a:solidFill>
              </a:rPr>
              <a:t>?</a:t>
            </a:r>
            <a:endParaRPr sz="3467" dirty="0">
              <a:solidFill>
                <a:srgbClr val="595959"/>
              </a:solidFill>
            </a:endParaRPr>
          </a:p>
        </p:txBody>
      </p:sp>
      <p:sp>
        <p:nvSpPr>
          <p:cNvPr id="148" name="Google Shape;148;p30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149" name="Google Shape;149;p30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150" name="Google Shape;150;p30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151" name="Google Shape;151;p30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E49ADA-B971-3A74-683D-F7E6AB709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3" name="Google Shape;203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Analytical Formulation</a:t>
            </a:r>
            <a:endParaRPr/>
          </a:p>
        </p:txBody>
      </p:sp>
      <p:sp>
        <p:nvSpPr>
          <p:cNvPr id="204" name="Google Shape;204;p38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205" name="Google Shape;205;p38"/>
          <p:cNvSpPr txBox="1"/>
          <p:nvPr/>
        </p:nvSpPr>
        <p:spPr>
          <a:xfrm>
            <a:off x="3566453" y="1341573"/>
            <a:ext cx="8531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3467" dirty="0">
                <a:solidFill>
                  <a:srgbClr val="FF0000"/>
                </a:solidFill>
              </a:rPr>
              <a:t>Every year, when new aerial data arrives</a:t>
            </a:r>
            <a:r>
              <a:rPr lang="en" sz="3467" dirty="0">
                <a:solidFill>
                  <a:srgbClr val="595959"/>
                </a:solidFill>
              </a:rPr>
              <a:t>, for </a:t>
            </a:r>
            <a:r>
              <a:rPr lang="en" sz="3467" dirty="0">
                <a:solidFill>
                  <a:srgbClr val="0000FF"/>
                </a:solidFill>
              </a:rPr>
              <a:t>all </a:t>
            </a:r>
            <a:r>
              <a:rPr lang="en" sz="3467" dirty="0" err="1">
                <a:solidFill>
                  <a:srgbClr val="0000FF"/>
                </a:solidFill>
              </a:rPr>
              <a:t>blocklots</a:t>
            </a:r>
            <a:r>
              <a:rPr lang="en" sz="3467" dirty="0">
                <a:solidFill>
                  <a:srgbClr val="0000FF"/>
                </a:solidFill>
              </a:rPr>
              <a:t> in Baltimore City</a:t>
            </a:r>
            <a:r>
              <a:rPr lang="en" sz="3467" dirty="0">
                <a:solidFill>
                  <a:srgbClr val="595959"/>
                </a:solidFill>
              </a:rPr>
              <a:t>, can we identify </a:t>
            </a:r>
            <a:r>
              <a:rPr lang="en" sz="3467" dirty="0">
                <a:solidFill>
                  <a:srgbClr val="FF00FF"/>
                </a:solidFill>
              </a:rPr>
              <a:t>1,000 </a:t>
            </a:r>
            <a:r>
              <a:rPr lang="en" sz="3467" dirty="0" err="1">
                <a:solidFill>
                  <a:srgbClr val="FF00FF"/>
                </a:solidFill>
              </a:rPr>
              <a:t>blocklots</a:t>
            </a:r>
            <a:r>
              <a:rPr lang="en" sz="3467" dirty="0">
                <a:solidFill>
                  <a:srgbClr val="FF00FF"/>
                </a:solidFill>
              </a:rPr>
              <a:t> </a:t>
            </a:r>
            <a:r>
              <a:rPr lang="en" sz="3467" dirty="0">
                <a:solidFill>
                  <a:srgbClr val="595959"/>
                </a:solidFill>
              </a:rPr>
              <a:t>with a </a:t>
            </a:r>
            <a:r>
              <a:rPr lang="en" sz="3467" dirty="0">
                <a:solidFill>
                  <a:srgbClr val="38761D"/>
                </a:solidFill>
              </a:rPr>
              <a:t>“high” level of roof damage </a:t>
            </a:r>
            <a:r>
              <a:rPr lang="en" sz="3467" dirty="0">
                <a:solidFill>
                  <a:srgbClr val="B45F06"/>
                </a:solidFill>
              </a:rPr>
              <a:t>to prioritize for demo or stabilization inspection in the next year</a:t>
            </a:r>
            <a:r>
              <a:rPr lang="en" sz="3467" dirty="0">
                <a:solidFill>
                  <a:srgbClr val="595959"/>
                </a:solidFill>
              </a:rPr>
              <a:t>?</a:t>
            </a:r>
            <a:endParaRPr sz="3467" dirty="0">
              <a:solidFill>
                <a:srgbClr val="595959"/>
              </a:solidFill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0000FF"/>
                </a:solidFill>
              </a:rPr>
            </a:b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208" name="Google Shape;208;p38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FF00FF"/>
                </a:solidFill>
              </a:rPr>
            </a:b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209" name="Google Shape;209;p38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1BBD25-1C37-5157-CF0F-11E6D2EA8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3" name="Google Shape;263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Analytical Formulation</a:t>
            </a:r>
            <a:endParaRPr/>
          </a:p>
        </p:txBody>
      </p:sp>
      <p:sp>
        <p:nvSpPr>
          <p:cNvPr id="265" name="Google Shape;265;p46"/>
          <p:cNvSpPr txBox="1"/>
          <p:nvPr/>
        </p:nvSpPr>
        <p:spPr>
          <a:xfrm>
            <a:off x="3629033" y="1463200"/>
            <a:ext cx="8147200" cy="458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306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 time ACDHS gets eviction filing data (weekly),</a:t>
            </a:r>
            <a:r>
              <a:rPr lang="en" sz="3067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for all individuals who have interacted with ACDHS in the 12 months who are not currently homeless and have had an eviction filing in the last 4 months</a:t>
            </a:r>
            <a:r>
              <a:rPr lang="en" sz="3067" dirty="0">
                <a:latin typeface="Calibri"/>
                <a:ea typeface="Calibri"/>
                <a:cs typeface="Calibri"/>
                <a:sym typeface="Calibri"/>
              </a:rPr>
              <a:t>, can we identify the </a:t>
            </a:r>
            <a:r>
              <a:rPr lang="en" sz="3067" dirty="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50 individuals at highest risk</a:t>
            </a:r>
            <a:r>
              <a:rPr lang="en" sz="3067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067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of entering into homelessness in the next 12 months </a:t>
            </a:r>
            <a:r>
              <a:rPr lang="en" sz="3067" dirty="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to prioritize for distribution of rental assistance?</a:t>
            </a:r>
            <a:endParaRPr sz="3467" dirty="0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6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267" name="Google Shape;267;p46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268" name="Google Shape;268;p46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0000FF"/>
                </a:solidFill>
              </a:rPr>
            </a:b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269" name="Google Shape;269;p46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FF00FF"/>
                </a:solidFill>
              </a:rPr>
            </a:b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270" name="Google Shape;270;p46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4B70A5-25A8-AD7E-2AC5-FBE8362F2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4" name="Google Shape;304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Analytical Formulation - Top level</a:t>
            </a:r>
            <a:endParaRPr/>
          </a:p>
        </p:txBody>
      </p:sp>
      <p:sp>
        <p:nvSpPr>
          <p:cNvPr id="305" name="Google Shape;305;p51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grpSp>
        <p:nvGrpSpPr>
          <p:cNvPr id="307" name="Google Shape;307;p51"/>
          <p:cNvGrpSpPr/>
          <p:nvPr/>
        </p:nvGrpSpPr>
        <p:grpSpPr>
          <a:xfrm>
            <a:off x="248120" y="1463207"/>
            <a:ext cx="3013533" cy="4056967"/>
            <a:chOff x="186090" y="1097405"/>
            <a:chExt cx="2260150" cy="3042725"/>
          </a:xfrm>
        </p:grpSpPr>
        <p:sp>
          <p:nvSpPr>
            <p:cNvPr id="308" name="Google Shape;308;p51"/>
            <p:cNvSpPr txBox="1"/>
            <p:nvPr/>
          </p:nvSpPr>
          <p:spPr>
            <a:xfrm>
              <a:off x="186090" y="1097405"/>
              <a:ext cx="22563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SzPts val="1400"/>
              </a:pPr>
              <a:r>
                <a:rPr lang="en" sz="1867">
                  <a:solidFill>
                    <a:srgbClr val="FF0000"/>
                  </a:solidFill>
                </a:rPr>
                <a:t>When and How often is the recommendation / decision being made?</a:t>
              </a:r>
              <a:endParaRPr sz="1867">
                <a:solidFill>
                  <a:srgbClr val="FF0000"/>
                </a:solidFill>
              </a:endParaRPr>
            </a:p>
          </p:txBody>
        </p:sp>
        <p:sp>
          <p:nvSpPr>
            <p:cNvPr id="309" name="Google Shape;309;p51"/>
            <p:cNvSpPr txBox="1"/>
            <p:nvPr/>
          </p:nvSpPr>
          <p:spPr>
            <a:xfrm>
              <a:off x="189940" y="1974555"/>
              <a:ext cx="22563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SzPts val="1400"/>
              </a:pPr>
              <a:r>
                <a:rPr lang="en" sz="1867">
                  <a:solidFill>
                    <a:srgbClr val="0000FF"/>
                  </a:solidFill>
                </a:rPr>
                <a:t>Who/what is included in the cohort?</a:t>
              </a:r>
              <a:endParaRPr sz="1867">
                <a:solidFill>
                  <a:srgbClr val="0000FF"/>
                </a:solidFill>
              </a:endParaRPr>
            </a:p>
          </p:txBody>
        </p:sp>
        <p:sp>
          <p:nvSpPr>
            <p:cNvPr id="310" name="Google Shape;310;p51"/>
            <p:cNvSpPr txBox="1"/>
            <p:nvPr/>
          </p:nvSpPr>
          <p:spPr>
            <a:xfrm>
              <a:off x="189940" y="2623105"/>
              <a:ext cx="22563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SzPts val="1400"/>
              </a:pPr>
              <a:r>
                <a:rPr lang="en" sz="1867">
                  <a:solidFill>
                    <a:srgbClr val="FF00FF"/>
                  </a:solidFill>
                </a:rPr>
                <a:t>What is the output?</a:t>
              </a:r>
              <a:endParaRPr sz="1867">
                <a:solidFill>
                  <a:srgbClr val="FF00FF"/>
                </a:solidFill>
              </a:endParaRPr>
            </a:p>
          </p:txBody>
        </p:sp>
        <p:sp>
          <p:nvSpPr>
            <p:cNvPr id="311" name="Google Shape;311;p51"/>
            <p:cNvSpPr txBox="1"/>
            <p:nvPr/>
          </p:nvSpPr>
          <p:spPr>
            <a:xfrm>
              <a:off x="189940" y="3033430"/>
              <a:ext cx="2256300" cy="11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SzPts val="1400"/>
              </a:pPr>
              <a:r>
                <a:rPr lang="en" sz="1867">
                  <a:solidFill>
                    <a:srgbClr val="274E13"/>
                  </a:solidFill>
                </a:rPr>
                <a:t>What outcome are you predicting/estimating?</a:t>
              </a:r>
              <a:endParaRPr sz="1867">
                <a:solidFill>
                  <a:srgbClr val="274E13"/>
                </a:solidFill>
              </a:endParaRPr>
            </a:p>
            <a:p>
              <a:pPr>
                <a:buSzPts val="1400"/>
              </a:pPr>
              <a:endParaRPr sz="1867">
                <a:solidFill>
                  <a:srgbClr val="274E13"/>
                </a:solidFill>
              </a:endParaRPr>
            </a:p>
            <a:p>
              <a:pPr>
                <a:buSzPts val="1400"/>
              </a:pPr>
              <a:r>
                <a:rPr lang="en" sz="1867">
                  <a:solidFill>
                    <a:srgbClr val="B45F06"/>
                  </a:solidFill>
                </a:rPr>
                <a:t>For what purpose?</a:t>
              </a:r>
              <a:endParaRPr sz="1867">
                <a:solidFill>
                  <a:srgbClr val="274E13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412C4-6B24-B1FD-241B-D181D0069C5F}"/>
              </a:ext>
            </a:extLst>
          </p:cNvPr>
          <p:cNvSpPr txBox="1"/>
          <p:nvPr/>
        </p:nvSpPr>
        <p:spPr>
          <a:xfrm>
            <a:off x="3706585" y="1499423"/>
            <a:ext cx="8126187" cy="4360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67" dirty="0">
                <a:solidFill>
                  <a:srgbClr val="FF0000"/>
                </a:solidFill>
                <a:latin typeface="Arial" panose="020B0604020202020204" pitchFamily="34" charset="0"/>
              </a:rPr>
              <a:t>For every time the doctor finishes taking notes during a patient visit</a:t>
            </a:r>
            <a:r>
              <a:rPr lang="en-US" sz="2667" dirty="0">
                <a:latin typeface="Arial" panose="020B0604020202020204" pitchFamily="34" charset="0"/>
              </a:rPr>
              <a:t>, for </a:t>
            </a:r>
            <a:r>
              <a:rPr lang="en-US" sz="2667" dirty="0">
                <a:solidFill>
                  <a:srgbClr val="0000FF"/>
                </a:solidFill>
                <a:latin typeface="Arial" panose="020B0604020202020204" pitchFamily="34" charset="0"/>
              </a:rPr>
              <a:t>all adult patients who come through the ED, </a:t>
            </a:r>
            <a:r>
              <a:rPr lang="en-US" sz="2667" dirty="0">
                <a:latin typeface="Arial" panose="020B0604020202020204" pitchFamily="34" charset="0"/>
              </a:rPr>
              <a:t>can we identify</a:t>
            </a:r>
            <a:r>
              <a:rPr lang="en-US" sz="2667" dirty="0">
                <a:solidFill>
                  <a:srgbClr val="FF00FF"/>
                </a:solidFill>
                <a:latin typeface="Arial" panose="020B0604020202020204" pitchFamily="34" charset="0"/>
              </a:rPr>
              <a:t> up to 10 possible ICD-10 categories* </a:t>
            </a:r>
            <a:r>
              <a:rPr lang="en-US" sz="2667" dirty="0">
                <a:latin typeface="Arial" panose="020B0604020202020204" pitchFamily="34" charset="0"/>
              </a:rPr>
              <a:t>that </a:t>
            </a:r>
            <a:r>
              <a:rPr lang="en-US" sz="2667" dirty="0">
                <a:solidFill>
                  <a:srgbClr val="38761D"/>
                </a:solidFill>
                <a:latin typeface="Arial" panose="020B0604020202020204" pitchFamily="34" charset="0"/>
              </a:rPr>
              <a:t>correspond to the patient’s condition </a:t>
            </a:r>
            <a:r>
              <a:rPr lang="en-US" sz="2667" dirty="0">
                <a:solidFill>
                  <a:srgbClr val="B45F06"/>
                </a:solidFill>
                <a:latin typeface="Arial" panose="020B0604020202020204" pitchFamily="34" charset="0"/>
              </a:rPr>
              <a:t>to provide appropriate and timely interventions</a:t>
            </a:r>
            <a:endParaRPr lang="en-US" sz="2667" dirty="0"/>
          </a:p>
          <a:p>
            <a:br>
              <a:rPr lang="en-US" sz="2667" dirty="0"/>
            </a:br>
            <a:r>
              <a:rPr lang="en-US" sz="2667" dirty="0">
                <a:latin typeface="Arial" panose="020B0604020202020204" pitchFamily="34" charset="0"/>
              </a:rPr>
              <a:t>*Categories are the first three characters of the ICD-10 code.</a:t>
            </a:r>
            <a:endParaRPr lang="en-US" sz="2667" dirty="0"/>
          </a:p>
          <a:p>
            <a:br>
              <a:rPr lang="en-US" sz="1867" dirty="0"/>
            </a:b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708487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0CF04-B42B-C044-ACCB-6C665E5B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210" y="2360141"/>
            <a:ext cx="11666400" cy="4182862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4800" dirty="0"/>
              <a:t>What is the appropriate comparison to evaluate effectiveness of  your ML model?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049B21-A440-624B-941A-2CE52653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Baselines</a:t>
            </a:r>
          </a:p>
        </p:txBody>
      </p:sp>
    </p:spTree>
    <p:extLst>
      <p:ext uri="{BB962C8B-B14F-4D97-AF65-F5344CB8AC3E}">
        <p14:creationId xmlns:p14="http://schemas.microsoft.com/office/powerpoint/2010/main" val="1335110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0CF04-B42B-C044-ACCB-6C665E5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Sense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they do today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they could do today easily (without any or very simple ML involved)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Prior/Base Rate</a:t>
            </a:r>
          </a:p>
          <a:p>
            <a:pPr lvl="1"/>
            <a:r>
              <a:rPr lang="en-US" dirty="0"/>
              <a:t>What expected value would you get if you just choose at random (based on the data distribution)?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049B21-A440-624B-941A-2CE52653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Options</a:t>
            </a:r>
          </a:p>
        </p:txBody>
      </p:sp>
    </p:spTree>
    <p:extLst>
      <p:ext uri="{BB962C8B-B14F-4D97-AF65-F5344CB8AC3E}">
        <p14:creationId xmlns:p14="http://schemas.microsoft.com/office/powerpoint/2010/main" val="225707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B27DC9-378A-B50B-7138-EED9A5CC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06" y="20548"/>
            <a:ext cx="11360700" cy="763500"/>
          </a:xfrm>
        </p:spPr>
        <p:txBody>
          <a:bodyPr/>
          <a:lstStyle/>
          <a:p>
            <a:r>
              <a:rPr lang="en-US" b="1" dirty="0"/>
              <a:t>For a social media post recommender baseline method that doesn't require using any ML?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6D19F-3E25-E279-F9A2-3CE77C5E7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4482287" cy="2794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indent="0">
              <a:buNone/>
            </a:pPr>
            <a:r>
              <a:rPr lang="en-US" sz="4800" dirty="0" err="1"/>
              <a:t>sli.do</a:t>
            </a:r>
            <a:r>
              <a:rPr lang="en-US" sz="4800" dirty="0"/>
              <a:t>    #10718</a:t>
            </a:r>
          </a:p>
          <a:p>
            <a:endParaRPr lang="en-US" sz="4800" dirty="0"/>
          </a:p>
          <a:p>
            <a:pPr marL="114300" indent="0">
              <a:buNone/>
            </a:pPr>
            <a:r>
              <a:rPr lang="en-US" sz="4800" dirty="0" err="1"/>
              <a:t>sli.do</a:t>
            </a:r>
            <a:r>
              <a:rPr lang="en-US" sz="4800" dirty="0"/>
              <a:t>/10718</a:t>
            </a:r>
          </a:p>
        </p:txBody>
      </p:sp>
    </p:spTree>
    <p:extLst>
      <p:ext uri="{BB962C8B-B14F-4D97-AF65-F5344CB8AC3E}">
        <p14:creationId xmlns:p14="http://schemas.microsoft.com/office/powerpoint/2010/main" val="4141853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6E07AB-60E2-FF60-1E55-FA25DFC20EA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DAD34-BF23-3A37-13FB-26496E16EF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700" b="1">
                <a:solidFill>
                  <a:srgbClr val="000000"/>
                </a:solidFill>
              </a:rPr>
              <a:t>For a social media post recommender baseline method that doesn't require using any ML?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342579-4005-A976-B0D5-9B045C544F6A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058EC9D-79B4-709F-86AB-E35C3E7CE77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B2459A8-6F47-1647-449B-F75925455042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DBEC85-3A0E-C697-1B5A-A21776BE644E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816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0CF04-B42B-C044-ACCB-6C665E5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much better than baselines does our system need to be in order to deploy?</a:t>
            </a:r>
            <a:br>
              <a:rPr lang="en-US" dirty="0"/>
            </a:br>
            <a:endParaRPr lang="en-US" dirty="0"/>
          </a:p>
          <a:p>
            <a:r>
              <a:rPr lang="en-US" dirty="0"/>
              <a:t>Important to compare performance against the base rate/prior, but this prior rarely represents a “common sense” baseline</a:t>
            </a:r>
            <a:br>
              <a:rPr lang="en-US" dirty="0"/>
            </a:br>
            <a:endParaRPr lang="en-US" dirty="0"/>
          </a:p>
          <a:p>
            <a:r>
              <a:rPr lang="en-US" dirty="0"/>
              <a:t>Good baselines should provide an ordering to sort the entities</a:t>
            </a:r>
          </a:p>
          <a:p>
            <a:pPr lvl="1"/>
            <a:r>
              <a:rPr lang="en-US" dirty="0"/>
              <a:t>Heuristic rules (or shallow decision trees) might reflect current practice, but can yield a small number of unique scores with lots of ties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many real-world problems, a good baseline can be difficult to beat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049B21-A440-624B-941A-2CE52653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480883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3D6B69-44D2-D449-B9CE-63D5E2BFE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210" y="1600078"/>
            <a:ext cx="11666400" cy="49545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765B02-360A-1F41-913A-E71E5612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Examples</a:t>
            </a:r>
          </a:p>
        </p:txBody>
      </p:sp>
    </p:spTree>
    <p:extLst>
      <p:ext uri="{BB962C8B-B14F-4D97-AF65-F5344CB8AC3E}">
        <p14:creationId xmlns:p14="http://schemas.microsoft.com/office/powerpoint/2010/main" val="4120948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Should be able to access: </a:t>
            </a:r>
            <a:r>
              <a:rPr lang="en-US" b="1" dirty="0" err="1"/>
              <a:t>github</a:t>
            </a:r>
            <a:r>
              <a:rPr lang="en-US" b="1" dirty="0"/>
              <a:t> and data (see canvas assignment for us to confirm)</a:t>
            </a:r>
          </a:p>
          <a:p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Due Next Week:</a:t>
            </a:r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en-US" dirty="0"/>
              <a:t>Monday – project update assignment </a:t>
            </a:r>
            <a:r>
              <a:rPr lang="en-US" dirty="0">
                <a:hlinkClick r:id="rId2"/>
              </a:rPr>
              <a:t>(Formulation and Baselines)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en-US" dirty="0"/>
              <a:t>Tuesday – weekly feedback form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Readings for Tuesday</a:t>
            </a:r>
          </a:p>
        </p:txBody>
      </p:sp>
    </p:spTree>
    <p:extLst>
      <p:ext uri="{BB962C8B-B14F-4D97-AF65-F5344CB8AC3E}">
        <p14:creationId xmlns:p14="http://schemas.microsoft.com/office/powerpoint/2010/main" val="21314092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caabcf39-13dc-4be0-b149-ab96eb521f47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9502b80-459f-417c-9ae7-7264e2710400"/>
  <p:tag name="SLIDO_TIMELINE" val="W3sic2hvd1Jlc3VsdHMiOmZhbHNlLCJwb2xsUXVlc3Rpb25VdWlkIjoiZjBiMjY3NWItOTE1MC00ZDc1LTkzMTctNzQ5ODllMTY0YzkzIn0seyJzaG93UmVzdWx0cyI6dHJ1ZSwicG9sbFF1ZXN0aW9uVXVpZCI6ImYwYjI2NzViLTkxNTAtNGQ3NS05MzE3LTc0OTg5ZTE2NGM5MyJ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c5a72f9-54d3-4dd2-ae37-6892c8d4fce8"/>
  <p:tag name="SLIDO_TIMELINE" val="W3sic2hvd1Jlc3VsdHMiOmZhbHNlLCJwb2xsUXVlc3Rpb25VdWlkIjoiNTUzZWQ2NjMtZjVjNy00NWM4LWJkNTMtYmU1ZWY4YzQ2ZjE2In0seyJzaG93UmVzdWx0cyI6dHJ1ZSwicG9sbFF1ZXN0aW9uVXVpZCI6IjU1M2VkNjYzLWY1YzctNDVjOC1iZDUzLWJlNWVmOGM0NmYxNiJ9XQ=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8725</TotalTime>
  <Words>1311</Words>
  <Application>Microsoft Macintosh PowerPoint</Application>
  <PresentationFormat>Widescreen</PresentationFormat>
  <Paragraphs>168</Paragraphs>
  <Slides>30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Simple Light</vt:lpstr>
      <vt:lpstr>ML Formulation and Baselines</vt:lpstr>
      <vt:lpstr>Things to remember</vt:lpstr>
      <vt:lpstr>PowerPoint Presentation</vt:lpstr>
      <vt:lpstr>Plan for today</vt:lpstr>
      <vt:lpstr>Moving from Scope  to Analytical Formulation</vt:lpstr>
      <vt:lpstr>Turning the project goals/scope into an ML problem</vt:lpstr>
      <vt:lpstr>What failure are we trying to avoid?</vt:lpstr>
      <vt:lpstr>Use cases</vt:lpstr>
      <vt:lpstr>Decisions we need to make</vt:lpstr>
      <vt:lpstr>Decisions we need to make: analytical approach</vt:lpstr>
      <vt:lpstr>Decisions we need to make</vt:lpstr>
      <vt:lpstr>Decisions we need to make: cohort definition</vt:lpstr>
      <vt:lpstr>Decisions we need to make</vt:lpstr>
      <vt:lpstr>Impact of formulation choices</vt:lpstr>
      <vt:lpstr>Analytical Formulation</vt:lpstr>
      <vt:lpstr>CASE STUDY</vt:lpstr>
      <vt:lpstr>Formulation Decisions</vt:lpstr>
      <vt:lpstr>PowerPoint Presentation</vt:lpstr>
      <vt:lpstr>Additional examples from real projects (not covered in class)</vt:lpstr>
      <vt:lpstr>Analytical Formulation</vt:lpstr>
      <vt:lpstr>Analytical Formulation</vt:lpstr>
      <vt:lpstr>Analytical Formulation</vt:lpstr>
      <vt:lpstr>Analytical Formulation - Top level</vt:lpstr>
      <vt:lpstr>Baselines</vt:lpstr>
      <vt:lpstr>Baseline Options</vt:lpstr>
      <vt:lpstr>For a social media post recommender baseline method that doesn't require using any ML?</vt:lpstr>
      <vt:lpstr>PowerPoint Presentation</vt:lpstr>
      <vt:lpstr>Baseline Considerations</vt:lpstr>
      <vt:lpstr>Baseline Examples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57</cp:revision>
  <dcterms:created xsi:type="dcterms:W3CDTF">2020-01-14T19:43:43Z</dcterms:created>
  <dcterms:modified xsi:type="dcterms:W3CDTF">2025-09-11T20:42:12Z</dcterms:modified>
</cp:coreProperties>
</file>