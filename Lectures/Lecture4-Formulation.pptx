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81" r:id="rId3"/>
    <p:sldId id="295" r:id="rId4"/>
    <p:sldId id="445" r:id="rId5"/>
    <p:sldId id="430" r:id="rId6"/>
    <p:sldId id="424" r:id="rId7"/>
    <p:sldId id="443" r:id="rId8"/>
    <p:sldId id="444" r:id="rId9"/>
    <p:sldId id="436" r:id="rId10"/>
    <p:sldId id="425" r:id="rId11"/>
    <p:sldId id="434" r:id="rId12"/>
    <p:sldId id="429" r:id="rId13"/>
    <p:sldId id="435" r:id="rId14"/>
    <p:sldId id="441" r:id="rId15"/>
    <p:sldId id="439" r:id="rId16"/>
    <p:sldId id="438" r:id="rId17"/>
    <p:sldId id="440" r:id="rId18"/>
    <p:sldId id="446" r:id="rId19"/>
    <p:sldId id="449" r:id="rId20"/>
    <p:sldId id="450" r:id="rId21"/>
    <p:sldId id="451" r:id="rId22"/>
    <p:sldId id="454" r:id="rId23"/>
    <p:sldId id="452" r:id="rId24"/>
    <p:sldId id="447" r:id="rId25"/>
    <p:sldId id="261" r:id="rId26"/>
    <p:sldId id="269" r:id="rId27"/>
    <p:sldId id="277" r:id="rId28"/>
    <p:sldId id="285" r:id="rId29"/>
    <p:sldId id="427" r:id="rId30"/>
    <p:sldId id="432" r:id="rId31"/>
    <p:sldId id="442" r:id="rId32"/>
    <p:sldId id="448" r:id="rId33"/>
    <p:sldId id="431" r:id="rId34"/>
    <p:sldId id="433" r:id="rId35"/>
    <p:sldId id="437" r:id="rId36"/>
  </p:sldIdLst>
  <p:sldSz cx="12192000" cy="6858000"/>
  <p:notesSz cx="6858000" cy="9144000"/>
  <p:custDataLst>
    <p:tags r:id="rId38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D729827C-632A-B347-966B-4CCEC4B754B0}">
          <p14:sldIdLst>
            <p14:sldId id="256"/>
            <p14:sldId id="281"/>
            <p14:sldId id="295"/>
            <p14:sldId id="445"/>
            <p14:sldId id="430"/>
            <p14:sldId id="424"/>
            <p14:sldId id="443"/>
            <p14:sldId id="444"/>
            <p14:sldId id="436"/>
            <p14:sldId id="425"/>
            <p14:sldId id="434"/>
            <p14:sldId id="429"/>
            <p14:sldId id="435"/>
            <p14:sldId id="441"/>
            <p14:sldId id="439"/>
            <p14:sldId id="438"/>
            <p14:sldId id="440"/>
            <p14:sldId id="446"/>
            <p14:sldId id="449"/>
            <p14:sldId id="450"/>
            <p14:sldId id="451"/>
            <p14:sldId id="454"/>
            <p14:sldId id="452"/>
            <p14:sldId id="447"/>
            <p14:sldId id="261"/>
            <p14:sldId id="269"/>
            <p14:sldId id="277"/>
            <p14:sldId id="285"/>
          </p14:sldIdLst>
        </p14:section>
        <p14:section name="Baselines" id="{E231EA99-A2D7-1B49-9484-CE40EB1FE5AF}">
          <p14:sldIdLst>
            <p14:sldId id="427"/>
            <p14:sldId id="432"/>
            <p14:sldId id="442"/>
            <p14:sldId id="448"/>
            <p14:sldId id="431"/>
            <p14:sldId id="433"/>
            <p14:sldId id="437"/>
          </p14:sldIdLst>
        </p14:section>
      </p14:sectionLst>
    </p:ex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39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00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074"/>
    <p:restoredTop sz="96327"/>
  </p:normalViewPr>
  <p:slideViewPr>
    <p:cSldViewPr snapToGrid="0" snapToObjects="1">
      <p:cViewPr>
        <p:scale>
          <a:sx n="75" d="100"/>
          <a:sy n="75" d="100"/>
        </p:scale>
        <p:origin x="384" y="130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customschemas.google.com/relationships/presentationmetadata" Target="meta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gs" Target="tags/tag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134dcc1e60c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134dcc1e60c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13a827b83f3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13a827b83f3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13a827b83f3_7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13a827b83f3_7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134e0ee0e3b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134e0ee0e3b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73077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64;g6dad9273e7_0_53">
            <a:extLst>
              <a:ext uri="{FF2B5EF4-FFF2-40B4-BE49-F238E27FC236}">
                <a16:creationId xmlns:a16="http://schemas.microsoft.com/office/drawing/2014/main" id="{CC84B178-9F35-4D45-A609-CF732A414DB7}"/>
              </a:ext>
            </a:extLst>
          </p:cNvPr>
          <p:cNvSpPr txBox="1"/>
          <p:nvPr userDrawn="1"/>
        </p:nvSpPr>
        <p:spPr>
          <a:xfrm>
            <a:off x="0" y="-295"/>
            <a:ext cx="12192000" cy="3778832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380906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>
                <a:solidFill>
                  <a:schemeClr val="bg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 dirty="0"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11" y="3778537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 dirty="0"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3C111E-0D94-D541-964E-0A52448480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54930" y="5240440"/>
            <a:ext cx="5519424" cy="16028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68210" y="1588503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 dirty="0"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5410" y="11929"/>
            <a:ext cx="12192000" cy="1353806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058E15-DEBE-0941-A587-4DF3467F6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558" y="418466"/>
            <a:ext cx="11360700" cy="7635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054354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181335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59" r:id="rId3"/>
    <p:sldLayoutId id="2147483662" r:id="rId4"/>
    <p:sldLayoutId id="2147483663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tags" Target="../tags/tag4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8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4.sv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3.xml"/><Relationship Id="rId9" Type="http://schemas.openxmlformats.org/officeDocument/2006/relationships/image" Target="../media/image6.sv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tags" Target="../tags/tag7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8.svg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4.sv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3.xml"/><Relationship Id="rId9" Type="http://schemas.openxmlformats.org/officeDocument/2006/relationships/image" Target="../media/image6.sv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presentation/d/1ZNSJyqmYUdPXuSgkW_ozA1UVOR_wrk7bq6hG5pkwqR4/edit#slide=id.g71b33da067_0_0" TargetMode="Externa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9C2AC-0221-3A42-A0C2-DDBA9BA3D6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518101"/>
            <a:ext cx="11360700" cy="2736900"/>
          </a:xfrm>
        </p:spPr>
        <p:txBody>
          <a:bodyPr/>
          <a:lstStyle/>
          <a:p>
            <a:r>
              <a:rPr lang="en-US" sz="5400" dirty="0"/>
              <a:t>ML Formulation and Baselines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ABB3B6-8D57-374F-AEC9-D4CBE450E1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Rayid Ghani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Check and make sure you can access your team </a:t>
            </a:r>
            <a:r>
              <a:rPr lang="en-US" b="1" dirty="0" err="1"/>
              <a:t>github</a:t>
            </a:r>
            <a:r>
              <a:rPr lang="en-US" b="1" dirty="0"/>
              <a:t> repo</a:t>
            </a:r>
          </a:p>
          <a:p>
            <a:endParaRPr lang="en-US" dirty="0"/>
          </a:p>
          <a:p>
            <a:pPr>
              <a:lnSpc>
                <a:spcPct val="100000"/>
              </a:lnSpc>
            </a:pPr>
            <a:r>
              <a:rPr lang="en-US" dirty="0"/>
              <a:t>Due Next Week:</a:t>
            </a:r>
          </a:p>
          <a:p>
            <a:pPr lvl="1">
              <a:lnSpc>
                <a:spcPct val="100000"/>
              </a:lnSpc>
              <a:spcBef>
                <a:spcPts val="800"/>
              </a:spcBef>
            </a:pPr>
            <a:r>
              <a:rPr lang="en-US" dirty="0"/>
              <a:t>End of Monday – project update assignment (Formulation and Baselines)</a:t>
            </a:r>
          </a:p>
          <a:p>
            <a:pPr lvl="1">
              <a:lnSpc>
                <a:spcPct val="100000"/>
              </a:lnSpc>
              <a:spcBef>
                <a:spcPts val="800"/>
              </a:spcBef>
            </a:pPr>
            <a:r>
              <a:rPr lang="en-US" dirty="0"/>
              <a:t>Tuesday – weekly feedback form</a:t>
            </a:r>
            <a:br>
              <a:rPr lang="en-US" dirty="0"/>
            </a:br>
            <a:endParaRPr lang="en-US" dirty="0"/>
          </a:p>
          <a:p>
            <a:r>
              <a:rPr lang="en-US" dirty="0"/>
              <a:t>Readings for Tuesday – Model Selection/”Validation” strategies</a:t>
            </a:r>
          </a:p>
        </p:txBody>
      </p:sp>
    </p:spTree>
    <p:extLst>
      <p:ext uri="{BB962C8B-B14F-4D97-AF65-F5344CB8AC3E}">
        <p14:creationId xmlns:p14="http://schemas.microsoft.com/office/powerpoint/2010/main" val="12859325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9477338" y="263929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855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E3C146-7255-5392-DBEE-71B9EB43B8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 how to go from scope to an ML Formulation: what decisions needs to be made and how?</a:t>
            </a:r>
          </a:p>
          <a:p>
            <a:endParaRPr lang="en-US" dirty="0"/>
          </a:p>
          <a:p>
            <a:r>
              <a:rPr lang="en-US" dirty="0"/>
              <a:t>Discuss the case study reading related to Formulation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Learn about effective baselines and how to develop them </a:t>
            </a:r>
            <a:r>
              <a:rPr lang="en-US" b="1" dirty="0"/>
              <a:t>before</a:t>
            </a:r>
            <a:r>
              <a:rPr lang="en-US" dirty="0"/>
              <a:t> building a complex ML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BE0E7C-5CAB-B4EE-6949-4BF715490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today</a:t>
            </a:r>
          </a:p>
        </p:txBody>
      </p:sp>
    </p:spTree>
    <p:extLst>
      <p:ext uri="{BB962C8B-B14F-4D97-AF65-F5344CB8AC3E}">
        <p14:creationId xmlns:p14="http://schemas.microsoft.com/office/powerpoint/2010/main" val="22538401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63C3FC8-F052-F842-9EDA-889E4651C41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0002"/>
          </a:solidFill>
          <a:ln>
            <a:solidFill>
              <a:srgbClr val="8000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4F2F47-A164-2C41-A1CD-CFD1AFCBE70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94310" y="441960"/>
            <a:ext cx="11361738" cy="763588"/>
          </a:xfrm>
        </p:spPr>
        <p:txBody>
          <a:bodyPr/>
          <a:lstStyle/>
          <a:p>
            <a:r>
              <a:rPr lang="en-US" sz="5400" dirty="0">
                <a:solidFill>
                  <a:schemeClr val="bg1"/>
                </a:solidFill>
              </a:rPr>
              <a:t>Moving from Scope </a:t>
            </a:r>
            <a:br>
              <a:rPr lang="en-US" sz="5400" dirty="0">
                <a:solidFill>
                  <a:schemeClr val="bg1"/>
                </a:solidFill>
              </a:rPr>
            </a:br>
            <a:r>
              <a:rPr lang="en-US" sz="5400" dirty="0">
                <a:solidFill>
                  <a:schemeClr val="bg1"/>
                </a:solidFill>
              </a:rPr>
              <a:t>to Analytical Formulation</a:t>
            </a:r>
          </a:p>
        </p:txBody>
      </p:sp>
    </p:spTree>
    <p:extLst>
      <p:ext uri="{BB962C8B-B14F-4D97-AF65-F5344CB8AC3E}">
        <p14:creationId xmlns:p14="http://schemas.microsoft.com/office/powerpoint/2010/main" val="3163189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F90177E-EDBA-BC41-B606-574933A1A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Scoping defines the goals and approach at a high level, the </a:t>
            </a:r>
            <a:r>
              <a:rPr lang="en-US" b="1" dirty="0">
                <a:solidFill>
                  <a:srgbClr val="C00000"/>
                </a:solidFill>
              </a:rPr>
              <a:t>analytical formulation </a:t>
            </a:r>
            <a:r>
              <a:rPr lang="en-US" dirty="0"/>
              <a:t>maps this scope to an ML problem and analytical approach</a:t>
            </a:r>
            <a:br>
              <a:rPr lang="en-US" dirty="0"/>
            </a:br>
            <a:endParaRPr lang="en-US" dirty="0"/>
          </a:p>
          <a:p>
            <a:r>
              <a:rPr lang="en-US" dirty="0"/>
              <a:t>Should be as detailed and specific as possible, making it possible to code it without ambiguity</a:t>
            </a:r>
            <a:br>
              <a:rPr lang="en-US" dirty="0"/>
            </a:br>
            <a:endParaRPr lang="en-US" dirty="0"/>
          </a:p>
          <a:p>
            <a:r>
              <a:rPr lang="en-US" dirty="0"/>
              <a:t>One scope can result in numerous formulations – we need to develop one that is feasible and best informs our goals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4F2F47-A164-2C41-A1CD-CFD1AFCB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Turning the project goals/scope into an ML problem</a:t>
            </a:r>
          </a:p>
        </p:txBody>
      </p:sp>
    </p:spTree>
    <p:extLst>
      <p:ext uri="{BB962C8B-B14F-4D97-AF65-F5344CB8AC3E}">
        <p14:creationId xmlns:p14="http://schemas.microsoft.com/office/powerpoint/2010/main" val="3562142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FEC392E-A1E6-5663-AC48-6AB4E39FEA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US" sz="4000" dirty="0"/>
              <a:t>ML systems sometimes fail because the model design, development, and validation does not match the deployment and use case setting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C8E2D1A-55E3-1D83-A26A-70B8D7CBB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failure are we trying to avoid?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33167D-2D60-44CB-A36A-0B9CBA4B561D}"/>
              </a:ext>
            </a:extLst>
          </p:cNvPr>
          <p:cNvSpPr txBox="1"/>
          <p:nvPr/>
        </p:nvSpPr>
        <p:spPr>
          <a:xfrm>
            <a:off x="782198" y="4795772"/>
            <a:ext cx="10025349" cy="138499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2800" dirty="0"/>
              <a:t>The analytical formulation should be guided by –– and map back to –– how the system you’re building will be deployed and used</a:t>
            </a:r>
          </a:p>
        </p:txBody>
      </p:sp>
    </p:spTree>
    <p:extLst>
      <p:ext uri="{BB962C8B-B14F-4D97-AF65-F5344CB8AC3E}">
        <p14:creationId xmlns:p14="http://schemas.microsoft.com/office/powerpoint/2010/main" val="1538776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AD8AC8D-7187-DEFA-5F2E-07D29AB20B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Increase retention of users of a </a:t>
            </a:r>
            <a:r>
              <a:rPr lang="en-US" dirty="0" err="1"/>
              <a:t>genai</a:t>
            </a:r>
            <a:r>
              <a:rPr lang="en-US" dirty="0"/>
              <a:t> tool by offering them targeted offers</a:t>
            </a:r>
          </a:p>
          <a:p>
            <a:endParaRPr lang="en-US" dirty="0"/>
          </a:p>
          <a:p>
            <a:r>
              <a:rPr lang="en-US" dirty="0"/>
              <a:t>Reduce # of students who will not graduate college on time by offering extra support</a:t>
            </a:r>
          </a:p>
          <a:p>
            <a:endParaRPr lang="en-US" dirty="0"/>
          </a:p>
          <a:p>
            <a:r>
              <a:rPr lang="en-US" dirty="0"/>
              <a:t>Prevent people from getting late-stage Chronic Kidney Disease by doing early screening</a:t>
            </a:r>
          </a:p>
          <a:p>
            <a:endParaRPr lang="en-US" dirty="0"/>
          </a:p>
          <a:p>
            <a:r>
              <a:rPr lang="en-US" dirty="0"/>
              <a:t>Reduce fraudulent credit card transactions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5803BBD-FD18-92CB-DFFF-B963BD117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2370902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F90177E-EDBA-BC41-B606-574933A1A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type of analysis are we doing?</a:t>
            </a:r>
            <a:br>
              <a:rPr lang="en-US" dirty="0"/>
            </a:b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4F2F47-A164-2C41-A1CD-CFD1AFCB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we need to make</a:t>
            </a:r>
          </a:p>
        </p:txBody>
      </p:sp>
    </p:spTree>
    <p:extLst>
      <p:ext uri="{BB962C8B-B14F-4D97-AF65-F5344CB8AC3E}">
        <p14:creationId xmlns:p14="http://schemas.microsoft.com/office/powerpoint/2010/main" val="17681126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BF58D61-D951-4047-914F-96A26849E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Description</a:t>
            </a:r>
          </a:p>
          <a:p>
            <a:r>
              <a:rPr lang="en-US" dirty="0"/>
              <a:t>Classification</a:t>
            </a:r>
          </a:p>
          <a:p>
            <a:r>
              <a:rPr lang="en-US" dirty="0"/>
              <a:t>Detection</a:t>
            </a:r>
          </a:p>
          <a:p>
            <a:r>
              <a:rPr lang="en-US" dirty="0"/>
              <a:t>Prediction</a:t>
            </a:r>
          </a:p>
          <a:p>
            <a:r>
              <a:rPr lang="en-US" dirty="0"/>
              <a:t>Optimization</a:t>
            </a:r>
          </a:p>
          <a:p>
            <a:r>
              <a:rPr lang="en-US" dirty="0"/>
              <a:t>Causal Inference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E00A3A-9C26-1B42-A62C-4DB46B741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we need to make: analytical approach</a:t>
            </a:r>
          </a:p>
        </p:txBody>
      </p:sp>
    </p:spTree>
    <p:extLst>
      <p:ext uri="{BB962C8B-B14F-4D97-AF65-F5344CB8AC3E}">
        <p14:creationId xmlns:p14="http://schemas.microsoft.com/office/powerpoint/2010/main" val="625908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F90177E-EDBA-BC41-B606-574933A1A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type of analysis are you doing?</a:t>
            </a:r>
          </a:p>
          <a:p>
            <a:endParaRPr lang="en-US" dirty="0"/>
          </a:p>
          <a:p>
            <a:r>
              <a:rPr lang="en-US" dirty="0"/>
              <a:t>What are the relevant entities? How do you identify the cohort?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4F2F47-A164-2C41-A1CD-CFD1AFCB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we need to make</a:t>
            </a:r>
          </a:p>
        </p:txBody>
      </p:sp>
    </p:spTree>
    <p:extLst>
      <p:ext uri="{BB962C8B-B14F-4D97-AF65-F5344CB8AC3E}">
        <p14:creationId xmlns:p14="http://schemas.microsoft.com/office/powerpoint/2010/main" val="22441282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BF58D61-D951-4047-914F-96A26849E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entity that exists?</a:t>
            </a:r>
            <a:br>
              <a:rPr lang="en-US" dirty="0"/>
            </a:br>
            <a:endParaRPr lang="en-US" dirty="0"/>
          </a:p>
          <a:p>
            <a:r>
              <a:rPr lang="en-US" dirty="0"/>
              <a:t>“Active” entities?</a:t>
            </a:r>
            <a:br>
              <a:rPr lang="en-US" dirty="0"/>
            </a:br>
            <a:endParaRPr lang="en-US" dirty="0"/>
          </a:p>
          <a:p>
            <a:r>
              <a:rPr lang="en-US" dirty="0"/>
              <a:t>Event-based?</a:t>
            </a:r>
          </a:p>
          <a:p>
            <a:pPr lvl="1"/>
            <a:r>
              <a:rPr lang="en-US" dirty="0"/>
              <a:t>Making predictions when the events occur?</a:t>
            </a:r>
          </a:p>
          <a:p>
            <a:pPr lvl="1"/>
            <a:r>
              <a:rPr lang="en-US" dirty="0"/>
              <a:t>All entities that have had an event in a certain time window?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E00A3A-9C26-1B42-A62C-4DB46B741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we need to make: cohort definition</a:t>
            </a:r>
          </a:p>
        </p:txBody>
      </p:sp>
    </p:spTree>
    <p:extLst>
      <p:ext uri="{BB962C8B-B14F-4D97-AF65-F5344CB8AC3E}">
        <p14:creationId xmlns:p14="http://schemas.microsoft.com/office/powerpoint/2010/main" val="38230673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F90177E-EDBA-BC41-B606-574933A1A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type of analysis are you doing?</a:t>
            </a:r>
          </a:p>
          <a:p>
            <a:endParaRPr lang="en-US" dirty="0"/>
          </a:p>
          <a:p>
            <a:r>
              <a:rPr lang="en-US" dirty="0"/>
              <a:t>What are the relevant entities? How do you identify the cohort?</a:t>
            </a:r>
          </a:p>
          <a:p>
            <a:pPr marL="114300" indent="0">
              <a:buNone/>
            </a:pPr>
            <a:endParaRPr lang="en-US" dirty="0"/>
          </a:p>
          <a:p>
            <a:r>
              <a:rPr lang="en-US" dirty="0"/>
              <a:t>How do you define the outcome/label that you care about?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far into the future are you trying to predict?</a:t>
            </a:r>
          </a:p>
          <a:p>
            <a:pPr marL="114300" indent="0"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4F2F47-A164-2C41-A1CD-CFD1AFCB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we need to make</a:t>
            </a:r>
          </a:p>
        </p:txBody>
      </p:sp>
    </p:spTree>
    <p:extLst>
      <p:ext uri="{BB962C8B-B14F-4D97-AF65-F5344CB8AC3E}">
        <p14:creationId xmlns:p14="http://schemas.microsoft.com/office/powerpoint/2010/main" val="1409889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CAAA01-7C5B-076B-04B2-7AC15EDE26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US" dirty="0"/>
              <a:t> -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AF1668-A042-64F6-8777-4A87422E4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of formulation choices</a:t>
            </a:r>
          </a:p>
        </p:txBody>
      </p:sp>
    </p:spTree>
    <p:extLst>
      <p:ext uri="{BB962C8B-B14F-4D97-AF65-F5344CB8AC3E}">
        <p14:creationId xmlns:p14="http://schemas.microsoft.com/office/powerpoint/2010/main" val="37170059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5EDE9B-A257-2333-4DB4-CBD380E13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Analytical Formulation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628BEE-B8E7-C511-5764-E82AF6189A5B}"/>
              </a:ext>
            </a:extLst>
          </p:cNvPr>
          <p:cNvSpPr txBox="1"/>
          <p:nvPr/>
        </p:nvSpPr>
        <p:spPr>
          <a:xfrm>
            <a:off x="161381" y="1607442"/>
            <a:ext cx="3354513" cy="513986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br>
              <a:rPr lang="en-US" sz="2000" b="0" dirty="0">
                <a:effectLst/>
              </a:rPr>
            </a:br>
            <a:r>
              <a:rPr lang="en-US" sz="2000" b="0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How often is the recommendation/decision being made?</a:t>
            </a:r>
            <a:endParaRPr lang="en-US" sz="2000" b="0" dirty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br>
              <a:rPr lang="en-US" sz="2000" b="0" dirty="0">
                <a:effectLst/>
              </a:rPr>
            </a:br>
            <a:r>
              <a:rPr lang="en-US" sz="2000" b="0" i="0" u="none" strike="noStrike" dirty="0">
                <a:solidFill>
                  <a:srgbClr val="0000FF"/>
                </a:solidFill>
                <a:effectLst/>
                <a:latin typeface="Arial" panose="020B0604020202020204" pitchFamily="34" charset="0"/>
              </a:rPr>
              <a:t>Who/what is included in the cohort?</a:t>
            </a:r>
            <a:endParaRPr lang="en-US" sz="2000" b="0" dirty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br>
              <a:rPr lang="en-US" sz="2000" b="0" dirty="0">
                <a:effectLst/>
              </a:rPr>
            </a:br>
            <a:r>
              <a:rPr lang="en-US" sz="2000" b="0" i="0" u="none" strike="noStrike" dirty="0">
                <a:solidFill>
                  <a:srgbClr val="FF00FF"/>
                </a:solidFill>
                <a:effectLst/>
                <a:latin typeface="Arial" panose="020B0604020202020204" pitchFamily="34" charset="0"/>
              </a:rPr>
              <a:t>What is the output?</a:t>
            </a:r>
            <a:endParaRPr lang="en-US" sz="2000" b="0" dirty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br>
              <a:rPr lang="en-US" sz="2000" b="0" dirty="0">
                <a:effectLst/>
              </a:rPr>
            </a:br>
            <a:r>
              <a:rPr lang="en-US" sz="2000" b="0" i="0" u="none" strike="noStrike" dirty="0">
                <a:solidFill>
                  <a:srgbClr val="274E13"/>
                </a:solidFill>
                <a:effectLst/>
                <a:latin typeface="Arial" panose="020B0604020202020204" pitchFamily="34" charset="0"/>
              </a:rPr>
              <a:t>What outcome are you predicting/estimating/changing?</a:t>
            </a:r>
            <a:endParaRPr lang="en-US" sz="2000" b="0" dirty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br>
              <a:rPr lang="en-US" sz="2000" b="0" dirty="0">
                <a:effectLst/>
              </a:rPr>
            </a:br>
            <a:r>
              <a:rPr lang="en-US" sz="2000" b="0" i="0" u="none" strike="noStrike" dirty="0">
                <a:solidFill>
                  <a:srgbClr val="B45F06"/>
                </a:solidFill>
                <a:effectLst/>
                <a:latin typeface="Arial" panose="020B0604020202020204" pitchFamily="34" charset="0"/>
              </a:rPr>
              <a:t>For what purpose?</a:t>
            </a:r>
            <a:endParaRPr lang="en-US" sz="2000" b="0" dirty="0">
              <a:effectLst/>
            </a:endParaRPr>
          </a:p>
          <a:p>
            <a:br>
              <a:rPr lang="en-US" dirty="0"/>
            </a:b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220471-6DE3-15C3-47EA-D5F277E4C9DD}"/>
              </a:ext>
            </a:extLst>
          </p:cNvPr>
          <p:cNvSpPr txBox="1"/>
          <p:nvPr/>
        </p:nvSpPr>
        <p:spPr>
          <a:xfrm>
            <a:off x="3673012" y="1607442"/>
            <a:ext cx="8101172" cy="4052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lnSpc>
                <a:spcPct val="150000"/>
              </a:lnSpc>
              <a:spcBef>
                <a:spcPts val="0"/>
              </a:spcBef>
              <a:spcAft>
                <a:spcPts val="1600"/>
              </a:spcAft>
            </a:pPr>
            <a:r>
              <a:rPr lang="en-US" sz="2400" b="0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On the first day of every semester</a:t>
            </a: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, for </a:t>
            </a:r>
            <a:r>
              <a:rPr lang="en-US" sz="2400" b="0" i="0" u="none" strike="noStrike" dirty="0">
                <a:solidFill>
                  <a:srgbClr val="0000FF"/>
                </a:solidFill>
                <a:effectLst/>
                <a:latin typeface="Arial" panose="020B0604020202020204" pitchFamily="34" charset="0"/>
              </a:rPr>
              <a:t>all the students who are currently enrolled in an undergraduate degree program</a:t>
            </a: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, can we identify the </a:t>
            </a:r>
            <a:r>
              <a:rPr lang="en-US" sz="2400" dirty="0">
                <a:solidFill>
                  <a:srgbClr val="FF00FF"/>
                </a:solidFill>
                <a:latin typeface="Arial" panose="020B0604020202020204" pitchFamily="34" charset="0"/>
              </a:rPr>
              <a:t>1</a:t>
            </a:r>
            <a:r>
              <a:rPr lang="en-US" sz="2400" b="0" i="0" u="none" strike="noStrike" dirty="0">
                <a:solidFill>
                  <a:srgbClr val="FF00FF"/>
                </a:solidFill>
                <a:effectLst/>
                <a:latin typeface="Arial" panose="020B0604020202020204" pitchFamily="34" charset="0"/>
              </a:rPr>
              <a:t>00 highest risk students</a:t>
            </a: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 who are </a:t>
            </a:r>
            <a:r>
              <a:rPr lang="en-US" sz="2400" b="0" i="0" u="none" strike="noStrike" dirty="0">
                <a:solidFill>
                  <a:srgbClr val="38761D"/>
                </a:solidFill>
                <a:effectLst/>
                <a:latin typeface="Arial" panose="020B0604020202020204" pitchFamily="34" charset="0"/>
              </a:rPr>
              <a:t>likely to </a:t>
            </a:r>
            <a:r>
              <a:rPr lang="en-US" sz="2400" dirty="0">
                <a:solidFill>
                  <a:srgbClr val="38761D"/>
                </a:solidFill>
                <a:latin typeface="Arial" panose="020B0604020202020204" pitchFamily="34" charset="0"/>
              </a:rPr>
              <a:t>not graduate college within 5 years of their college start </a:t>
            </a:r>
            <a:r>
              <a:rPr lang="en-US" sz="2400" b="0" i="0" u="none" strike="noStrike" dirty="0">
                <a:solidFill>
                  <a:srgbClr val="B45F06"/>
                </a:solidFill>
                <a:effectLst/>
                <a:latin typeface="Arial" panose="020B0604020202020204" pitchFamily="34" charset="0"/>
              </a:rPr>
              <a:t>to prioritize for proactive academic or other interventions</a:t>
            </a: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?</a:t>
            </a:r>
            <a:endParaRPr lang="en-US" sz="2400" b="0" dirty="0">
              <a:effectLst/>
            </a:endParaRP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53998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C4F2F47-A164-2C41-A1CD-CFD1AFCB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CASE STUDY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7C8A1F-AE56-5146-B94D-D4E3FEFBC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676572"/>
            <a:ext cx="9144000" cy="303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70437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A2F7B32-9E66-8E5C-C019-A4D231FCA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Obermeyer et al. reading, what formulation decision is the focus of the paper?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00EB0DE-95C0-EFAB-3EBC-E7036AE92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Formulation Decisions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3541AF-EF0F-D7E7-CE20-EC98E6076CBB}"/>
              </a:ext>
            </a:extLst>
          </p:cNvPr>
          <p:cNvSpPr txBox="1"/>
          <p:nvPr/>
        </p:nvSpPr>
        <p:spPr>
          <a:xfrm>
            <a:off x="2908511" y="2907586"/>
            <a:ext cx="481253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 err="1"/>
              <a:t>Sli.do</a:t>
            </a:r>
            <a:r>
              <a:rPr lang="en-US" sz="4800" dirty="0"/>
              <a:t>      #10718</a:t>
            </a:r>
          </a:p>
          <a:p>
            <a:endParaRPr lang="en-US" sz="4800" dirty="0"/>
          </a:p>
          <a:p>
            <a:r>
              <a:rPr lang="en-US" sz="4800" dirty="0" err="1"/>
              <a:t>sli.do</a:t>
            </a:r>
            <a:r>
              <a:rPr lang="en-US" sz="4800" dirty="0"/>
              <a:t>/10718</a:t>
            </a:r>
          </a:p>
        </p:txBody>
      </p:sp>
      <p:sp>
        <p:nvSpPr>
          <p:cNvPr id="5" name="AutoShape 2" descr="qr code">
            <a:extLst>
              <a:ext uri="{FF2B5EF4-FFF2-40B4-BE49-F238E27FC236}">
                <a16:creationId xmlns:a16="http://schemas.microsoft.com/office/drawing/2014/main" id="{5056FB75-71B9-8967-2245-4270362FADD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246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ADAA22B-57EC-F5CA-F2FF-84BE8152443D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26AC3E-41FA-7AC6-0717-4A59914DE10E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800" b="1">
                <a:solidFill>
                  <a:srgbClr val="000000"/>
                </a:solidFill>
              </a:rPr>
              <a:t>In the Obermeyer et al. reading, what formulation decision is the focus of the paper?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9E104C-0AAC-485C-8B34-EF0DB6FAAA60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9255EAA-08AA-0727-4DA6-F6D84940B53D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71A14EFB-271A-BAC7-A919-9BDC73CA6FAE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F31820A-B415-CE7D-95D2-BECDB8F44E80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179185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E1A81-EB8A-6601-43BE-C895391C3E4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61259" y="3955145"/>
            <a:ext cx="11740242" cy="2694214"/>
          </a:xfrm>
        </p:spPr>
        <p:txBody>
          <a:bodyPr/>
          <a:lstStyle/>
          <a:p>
            <a:r>
              <a:rPr lang="en-US" sz="3600" dirty="0">
                <a:solidFill>
                  <a:schemeClr val="bg2"/>
                </a:solidFill>
              </a:rPr>
              <a:t>Why is this type of formulation necessary?</a:t>
            </a:r>
            <a:br>
              <a:rPr lang="en-US" sz="3600" dirty="0">
                <a:solidFill>
                  <a:schemeClr val="bg2"/>
                </a:solidFill>
              </a:rPr>
            </a:br>
            <a:br>
              <a:rPr lang="en-US" sz="3600" dirty="0">
                <a:solidFill>
                  <a:schemeClr val="bg2"/>
                </a:solidFill>
              </a:rPr>
            </a:br>
            <a:r>
              <a:rPr lang="en-US" sz="3600" dirty="0">
                <a:solidFill>
                  <a:schemeClr val="bg2"/>
                </a:solidFill>
              </a:rPr>
              <a:t>How does it help us with ML design decision?</a:t>
            </a:r>
            <a:br>
              <a:rPr lang="en-US" sz="3600" dirty="0">
                <a:solidFill>
                  <a:schemeClr val="bg2"/>
                </a:solidFill>
              </a:rPr>
            </a:br>
            <a:br>
              <a:rPr lang="en-US" sz="3600" dirty="0">
                <a:solidFill>
                  <a:schemeClr val="bg2"/>
                </a:solidFill>
              </a:rPr>
            </a:br>
            <a:r>
              <a:rPr lang="en-US" sz="3600" dirty="0">
                <a:solidFill>
                  <a:schemeClr val="bg2"/>
                </a:solidFill>
              </a:rPr>
              <a:t>What are the implications of each of these decisions?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9870D0-00A5-80FB-8C32-68B905F4AD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010"/>
          <a:stretch>
            <a:fillRect/>
          </a:stretch>
        </p:blipFill>
        <p:spPr>
          <a:xfrm>
            <a:off x="1729867" y="81641"/>
            <a:ext cx="8732265" cy="3862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7193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D84BF-5D54-2B00-D950-E194989E7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E1EE72E-1ABD-4D56-5FE9-7E85F6ACAF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010"/>
          <a:stretch>
            <a:fillRect/>
          </a:stretch>
        </p:blipFill>
        <p:spPr>
          <a:xfrm>
            <a:off x="205867" y="0"/>
            <a:ext cx="8732265" cy="38622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863DC1F-C0E8-2E23-8834-FF8BC80B7402}"/>
              </a:ext>
            </a:extLst>
          </p:cNvPr>
          <p:cNvSpPr txBox="1"/>
          <p:nvPr/>
        </p:nvSpPr>
        <p:spPr>
          <a:xfrm>
            <a:off x="2807969" y="2292590"/>
            <a:ext cx="893813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sz="3200" b="0" dirty="0">
                <a:effectLst/>
              </a:rPr>
            </a:br>
            <a:r>
              <a:rPr lang="en-US" sz="3200" dirty="0">
                <a:solidFill>
                  <a:srgbClr val="0000FF"/>
                </a:solidFill>
                <a:latin typeface="Arial" panose="020B0604020202020204" pitchFamily="34" charset="0"/>
              </a:rPr>
              <a:t>Who/what is included in the cohort?</a:t>
            </a:r>
            <a:endParaRPr lang="en-US" sz="3200" dirty="0"/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510773F3-A79D-9BB4-9387-CC8FB9F5C50A}"/>
              </a:ext>
            </a:extLst>
          </p:cNvPr>
          <p:cNvSpPr/>
          <p:nvPr/>
        </p:nvSpPr>
        <p:spPr>
          <a:xfrm>
            <a:off x="6206490" y="3703320"/>
            <a:ext cx="708660" cy="9944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89FCA8-E0AD-31A1-6C8F-7970830CC638}"/>
              </a:ext>
            </a:extLst>
          </p:cNvPr>
          <p:cNvSpPr txBox="1"/>
          <p:nvPr/>
        </p:nvSpPr>
        <p:spPr>
          <a:xfrm>
            <a:off x="1027093" y="5031242"/>
            <a:ext cx="110674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The rows in our “test” matrix – which people/</a:t>
            </a:r>
            <a:r>
              <a:rPr lang="en-US" sz="2400" dirty="0" err="1"/>
              <a:t>entites</a:t>
            </a:r>
            <a:r>
              <a:rPr lang="en-US" sz="2400" dirty="0"/>
              <a:t> are selected in each test set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AD777C-343D-55DF-CFED-F8E82822FA95}"/>
              </a:ext>
            </a:extLst>
          </p:cNvPr>
          <p:cNvSpPr txBox="1"/>
          <p:nvPr/>
        </p:nvSpPr>
        <p:spPr>
          <a:xfrm>
            <a:off x="1027093" y="5693175"/>
            <a:ext cx="50129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And possibly also in the training set</a:t>
            </a:r>
          </a:p>
        </p:txBody>
      </p:sp>
    </p:spTree>
    <p:extLst>
      <p:ext uri="{BB962C8B-B14F-4D97-AF65-F5344CB8AC3E}">
        <p14:creationId xmlns:p14="http://schemas.microsoft.com/office/powerpoint/2010/main" val="3626998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66860-0C83-18FF-145F-6BDC0788B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1BBEB4D-F8FB-F07F-702E-B4D26740B3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010"/>
          <a:stretch>
            <a:fillRect/>
          </a:stretch>
        </p:blipFill>
        <p:spPr>
          <a:xfrm>
            <a:off x="205867" y="0"/>
            <a:ext cx="8732265" cy="38622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27615F7-3D39-C848-F362-AF20940319B9}"/>
              </a:ext>
            </a:extLst>
          </p:cNvPr>
          <p:cNvSpPr txBox="1"/>
          <p:nvPr/>
        </p:nvSpPr>
        <p:spPr>
          <a:xfrm>
            <a:off x="3553035" y="2084610"/>
            <a:ext cx="893813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br>
              <a:rPr lang="en-US" sz="3200" b="0" dirty="0">
                <a:effectLst/>
              </a:rPr>
            </a:br>
            <a:r>
              <a:rPr lang="en-US" sz="3200" b="0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How often and when is the recommendation/decision being made?</a:t>
            </a:r>
            <a:endParaRPr lang="en-US" sz="3200" b="0" dirty="0">
              <a:effectLst/>
            </a:endParaRPr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FF6EA5DD-444D-BA55-0CC4-7E2218237C56}"/>
              </a:ext>
            </a:extLst>
          </p:cNvPr>
          <p:cNvSpPr/>
          <p:nvPr/>
        </p:nvSpPr>
        <p:spPr>
          <a:xfrm>
            <a:off x="6206490" y="3550921"/>
            <a:ext cx="708660" cy="9944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1056E9-EEE4-D290-D688-53FDCE56261B}"/>
              </a:ext>
            </a:extLst>
          </p:cNvPr>
          <p:cNvSpPr txBox="1"/>
          <p:nvPr/>
        </p:nvSpPr>
        <p:spPr>
          <a:xfrm>
            <a:off x="205867" y="4511463"/>
            <a:ext cx="1183373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 timestamp of each row in our test matrix – the cohort defines the who/what, and this choice defines the when</a:t>
            </a:r>
          </a:p>
          <a:p>
            <a:endParaRPr lang="en-US" sz="2400" dirty="0"/>
          </a:p>
          <a:p>
            <a:r>
              <a:rPr lang="en-US" sz="2400" dirty="0"/>
              <a:t>The timestamp boundary for the features that can be included in that row</a:t>
            </a:r>
          </a:p>
          <a:p>
            <a:endParaRPr lang="en-US" sz="2400" dirty="0"/>
          </a:p>
          <a:p>
            <a:r>
              <a:rPr lang="en-US" sz="2400" dirty="0"/>
              <a:t>How the train-validation-test sets are constructed</a:t>
            </a:r>
          </a:p>
        </p:txBody>
      </p:sp>
    </p:spTree>
    <p:extLst>
      <p:ext uri="{BB962C8B-B14F-4D97-AF65-F5344CB8AC3E}">
        <p14:creationId xmlns:p14="http://schemas.microsoft.com/office/powerpoint/2010/main" val="34969560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D138B-DB81-BACC-2C11-8C4834813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77579C-A774-4756-5E01-76CDF85C79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010"/>
          <a:stretch>
            <a:fillRect/>
          </a:stretch>
        </p:blipFill>
        <p:spPr>
          <a:xfrm>
            <a:off x="205867" y="0"/>
            <a:ext cx="8732265" cy="38622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D40C6A3-E240-FF96-72BA-CFD071D7C0A0}"/>
              </a:ext>
            </a:extLst>
          </p:cNvPr>
          <p:cNvSpPr txBox="1"/>
          <p:nvPr/>
        </p:nvSpPr>
        <p:spPr>
          <a:xfrm>
            <a:off x="3253867" y="2558368"/>
            <a:ext cx="893813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274E13"/>
                </a:solidFill>
                <a:latin typeface="Arial" panose="020B0604020202020204" pitchFamily="34" charset="0"/>
              </a:rPr>
              <a:t>What outcome are you predicting/estimating/changing?</a:t>
            </a:r>
            <a:endParaRPr lang="en-US" sz="3200" dirty="0"/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5BBCAADB-CFBA-1C5E-511F-2E56F3E51219}"/>
              </a:ext>
            </a:extLst>
          </p:cNvPr>
          <p:cNvSpPr/>
          <p:nvPr/>
        </p:nvSpPr>
        <p:spPr>
          <a:xfrm>
            <a:off x="6206490" y="3686385"/>
            <a:ext cx="708660" cy="9944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3BD4A46-986D-C4A9-20A1-651F9BACB9C6}"/>
              </a:ext>
            </a:extLst>
          </p:cNvPr>
          <p:cNvSpPr txBox="1"/>
          <p:nvPr/>
        </p:nvSpPr>
        <p:spPr>
          <a:xfrm>
            <a:off x="2542667" y="5036396"/>
            <a:ext cx="118337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Defines the what and when of the label for the ML models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864482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2F353-055F-633E-05C7-4CD2A1274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4E955B1-5AD5-A189-721F-6D8883CD7AC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010"/>
          <a:stretch>
            <a:fillRect/>
          </a:stretch>
        </p:blipFill>
        <p:spPr>
          <a:xfrm>
            <a:off x="205867" y="0"/>
            <a:ext cx="8732265" cy="38622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D7C139-6CDD-2C22-B9A5-AEFA8764AACC}"/>
              </a:ext>
            </a:extLst>
          </p:cNvPr>
          <p:cNvSpPr txBox="1"/>
          <p:nvPr/>
        </p:nvSpPr>
        <p:spPr>
          <a:xfrm>
            <a:off x="3253867" y="1620583"/>
            <a:ext cx="893813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sz="3200" b="0" dirty="0">
                <a:effectLst/>
              </a:rPr>
            </a:br>
            <a:br>
              <a:rPr lang="en-US" sz="3200" dirty="0"/>
            </a:br>
            <a:r>
              <a:rPr lang="en-US" sz="3200" dirty="0">
                <a:solidFill>
                  <a:srgbClr val="FF00FF"/>
                </a:solidFill>
                <a:latin typeface="Arial" panose="020B0604020202020204" pitchFamily="34" charset="0"/>
              </a:rPr>
              <a:t>What is the output?</a:t>
            </a:r>
            <a:endParaRPr lang="en-US" sz="3200" dirty="0"/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CE7950D3-703F-8AB6-08F2-41052249BD9A}"/>
              </a:ext>
            </a:extLst>
          </p:cNvPr>
          <p:cNvSpPr/>
          <p:nvPr/>
        </p:nvSpPr>
        <p:spPr>
          <a:xfrm>
            <a:off x="6206490" y="3533988"/>
            <a:ext cx="708660" cy="9944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E2671C-05B1-A3DF-4861-27E7377BE888}"/>
              </a:ext>
            </a:extLst>
          </p:cNvPr>
          <p:cNvSpPr txBox="1"/>
          <p:nvPr/>
        </p:nvSpPr>
        <p:spPr>
          <a:xfrm>
            <a:off x="205867" y="4782396"/>
            <a:ext cx="1183373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What the model needs to produce for the end-users</a:t>
            </a:r>
          </a:p>
          <a:p>
            <a:endParaRPr lang="en-US" sz="2400" dirty="0"/>
          </a:p>
          <a:p>
            <a:r>
              <a:rPr lang="en-US" sz="2400" dirty="0"/>
              <a:t>Also informs evaluation/model selection metrics at the model level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1919640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1BA0D-10F8-92D2-C9D3-52205F55F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Additional examples from real projects (will not cover in class but may be helpful)</a:t>
            </a:r>
          </a:p>
        </p:txBody>
      </p:sp>
    </p:spTree>
    <p:extLst>
      <p:ext uri="{BB962C8B-B14F-4D97-AF65-F5344CB8AC3E}">
        <p14:creationId xmlns:p14="http://schemas.microsoft.com/office/powerpoint/2010/main" val="10392423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99FE356-1ECD-E2A9-D4E2-8BCE7296D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5" name="Google Shape;145;p3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r>
              <a:rPr lang="en"/>
              <a:t>Analytical Formulation</a:t>
            </a:r>
            <a:endParaRPr/>
          </a:p>
        </p:txBody>
      </p:sp>
      <p:sp>
        <p:nvSpPr>
          <p:cNvPr id="146" name="Google Shape;146;p30"/>
          <p:cNvSpPr/>
          <p:nvPr/>
        </p:nvSpPr>
        <p:spPr>
          <a:xfrm>
            <a:off x="190320" y="1463207"/>
            <a:ext cx="3124000" cy="42044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1400"/>
            </a:pPr>
            <a:endParaRPr sz="1867"/>
          </a:p>
        </p:txBody>
      </p:sp>
      <p:sp>
        <p:nvSpPr>
          <p:cNvPr id="147" name="Google Shape;147;p30"/>
          <p:cNvSpPr txBox="1"/>
          <p:nvPr/>
        </p:nvSpPr>
        <p:spPr>
          <a:xfrm>
            <a:off x="3566453" y="1341573"/>
            <a:ext cx="8531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lnSpc>
                <a:spcPct val="115000"/>
              </a:lnSpc>
              <a:spcAft>
                <a:spcPts val="2133"/>
              </a:spcAft>
            </a:pPr>
            <a:r>
              <a:rPr lang="en" sz="3467" dirty="0">
                <a:solidFill>
                  <a:srgbClr val="FF0000"/>
                </a:solidFill>
              </a:rPr>
              <a:t>On the 1</a:t>
            </a:r>
            <a:r>
              <a:rPr lang="en" sz="3467" baseline="30000" dirty="0">
                <a:solidFill>
                  <a:srgbClr val="FF0000"/>
                </a:solidFill>
              </a:rPr>
              <a:t>st</a:t>
            </a:r>
            <a:r>
              <a:rPr lang="en" sz="3467" dirty="0">
                <a:solidFill>
                  <a:srgbClr val="FF0000"/>
                </a:solidFill>
              </a:rPr>
              <a:t> of every month</a:t>
            </a:r>
            <a:r>
              <a:rPr lang="en" sz="3467" dirty="0">
                <a:solidFill>
                  <a:srgbClr val="595959"/>
                </a:solidFill>
              </a:rPr>
              <a:t>, for </a:t>
            </a:r>
            <a:r>
              <a:rPr lang="en" sz="3467" dirty="0">
                <a:solidFill>
                  <a:srgbClr val="0000FF"/>
                </a:solidFill>
              </a:rPr>
              <a:t>all individuals who have interacted with the program in the last 3 years</a:t>
            </a:r>
            <a:r>
              <a:rPr lang="en" sz="3467" dirty="0">
                <a:solidFill>
                  <a:srgbClr val="595959"/>
                </a:solidFill>
              </a:rPr>
              <a:t>, can we identify the </a:t>
            </a:r>
            <a:r>
              <a:rPr lang="en" sz="3467" dirty="0">
                <a:solidFill>
                  <a:srgbClr val="FF00FF"/>
                </a:solidFill>
              </a:rPr>
              <a:t>100 individuals </a:t>
            </a:r>
            <a:r>
              <a:rPr lang="en" sz="3467" dirty="0">
                <a:solidFill>
                  <a:srgbClr val="595959"/>
                </a:solidFill>
              </a:rPr>
              <a:t>who are </a:t>
            </a:r>
            <a:r>
              <a:rPr lang="en" sz="3467" dirty="0">
                <a:solidFill>
                  <a:srgbClr val="38761D"/>
                </a:solidFill>
              </a:rPr>
              <a:t>at highest risk to die by suicide or overdose in the next 6 months </a:t>
            </a:r>
            <a:r>
              <a:rPr lang="en" sz="3467" dirty="0">
                <a:solidFill>
                  <a:srgbClr val="B45F06"/>
                </a:solidFill>
              </a:rPr>
              <a:t>to recommend for proactive behavioral health outreach</a:t>
            </a:r>
            <a:r>
              <a:rPr lang="en" sz="3467" dirty="0">
                <a:solidFill>
                  <a:srgbClr val="595959"/>
                </a:solidFill>
              </a:rPr>
              <a:t>?</a:t>
            </a:r>
            <a:endParaRPr sz="3467" dirty="0">
              <a:solidFill>
                <a:srgbClr val="595959"/>
              </a:solidFill>
            </a:endParaRPr>
          </a:p>
        </p:txBody>
      </p:sp>
      <p:sp>
        <p:nvSpPr>
          <p:cNvPr id="148" name="Google Shape;148;p30"/>
          <p:cNvSpPr txBox="1"/>
          <p:nvPr/>
        </p:nvSpPr>
        <p:spPr>
          <a:xfrm>
            <a:off x="248120" y="1463207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FF0000"/>
                </a:solidFill>
              </a:rPr>
              <a:t>When and How often is the recommendation / decision being made?</a:t>
            </a:r>
            <a:endParaRPr sz="1867">
              <a:solidFill>
                <a:srgbClr val="FF0000"/>
              </a:solidFill>
            </a:endParaRPr>
          </a:p>
        </p:txBody>
      </p:sp>
      <p:sp>
        <p:nvSpPr>
          <p:cNvPr id="149" name="Google Shape;149;p30"/>
          <p:cNvSpPr txBox="1"/>
          <p:nvPr/>
        </p:nvSpPr>
        <p:spPr>
          <a:xfrm>
            <a:off x="253253" y="2632740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0000FF"/>
                </a:solidFill>
              </a:rPr>
              <a:t>Who/what is included in the cohort?</a:t>
            </a:r>
            <a:endParaRPr sz="1867">
              <a:solidFill>
                <a:srgbClr val="0000FF"/>
              </a:solidFill>
            </a:endParaRPr>
          </a:p>
        </p:txBody>
      </p:sp>
      <p:sp>
        <p:nvSpPr>
          <p:cNvPr id="150" name="Google Shape;150;p30"/>
          <p:cNvSpPr txBox="1"/>
          <p:nvPr/>
        </p:nvSpPr>
        <p:spPr>
          <a:xfrm>
            <a:off x="253253" y="3497473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FF00FF"/>
                </a:solidFill>
              </a:rPr>
              <a:t>What is the output?</a:t>
            </a:r>
            <a:endParaRPr sz="1867">
              <a:solidFill>
                <a:srgbClr val="FF00FF"/>
              </a:solidFill>
            </a:endParaRPr>
          </a:p>
        </p:txBody>
      </p:sp>
      <p:sp>
        <p:nvSpPr>
          <p:cNvPr id="151" name="Google Shape;151;p30"/>
          <p:cNvSpPr txBox="1"/>
          <p:nvPr/>
        </p:nvSpPr>
        <p:spPr>
          <a:xfrm>
            <a:off x="248120" y="4191873"/>
            <a:ext cx="3008400" cy="14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274E13"/>
                </a:solidFill>
              </a:rPr>
              <a:t>What outcome are you predicting/estimating?</a:t>
            </a: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r>
              <a:rPr lang="en" sz="1867">
                <a:solidFill>
                  <a:srgbClr val="B45F06"/>
                </a:solidFill>
              </a:rPr>
              <a:t>For what purpose?</a:t>
            </a:r>
            <a:endParaRPr sz="1867">
              <a:solidFill>
                <a:srgbClr val="274E13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E49ADA-B971-3A74-683D-F7E6AB709A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3" name="Google Shape;203;p3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r>
              <a:rPr lang="en"/>
              <a:t>Analytical Formulation</a:t>
            </a:r>
            <a:endParaRPr/>
          </a:p>
        </p:txBody>
      </p:sp>
      <p:sp>
        <p:nvSpPr>
          <p:cNvPr id="204" name="Google Shape;204;p38"/>
          <p:cNvSpPr/>
          <p:nvPr/>
        </p:nvSpPr>
        <p:spPr>
          <a:xfrm>
            <a:off x="190320" y="1463207"/>
            <a:ext cx="3124000" cy="42044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1400"/>
            </a:pPr>
            <a:endParaRPr sz="1867"/>
          </a:p>
        </p:txBody>
      </p:sp>
      <p:sp>
        <p:nvSpPr>
          <p:cNvPr id="205" name="Google Shape;205;p38"/>
          <p:cNvSpPr txBox="1"/>
          <p:nvPr/>
        </p:nvSpPr>
        <p:spPr>
          <a:xfrm>
            <a:off x="3566453" y="1341573"/>
            <a:ext cx="8531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lnSpc>
                <a:spcPct val="115000"/>
              </a:lnSpc>
              <a:spcAft>
                <a:spcPts val="2133"/>
              </a:spcAft>
            </a:pPr>
            <a:r>
              <a:rPr lang="en" sz="3467" dirty="0">
                <a:solidFill>
                  <a:srgbClr val="FF0000"/>
                </a:solidFill>
              </a:rPr>
              <a:t>Every year, when new aerial data arrives</a:t>
            </a:r>
            <a:r>
              <a:rPr lang="en" sz="3467" dirty="0">
                <a:solidFill>
                  <a:srgbClr val="595959"/>
                </a:solidFill>
              </a:rPr>
              <a:t>, for </a:t>
            </a:r>
            <a:r>
              <a:rPr lang="en" sz="3467" dirty="0">
                <a:solidFill>
                  <a:srgbClr val="0000FF"/>
                </a:solidFill>
              </a:rPr>
              <a:t>all </a:t>
            </a:r>
            <a:r>
              <a:rPr lang="en" sz="3467" dirty="0" err="1">
                <a:solidFill>
                  <a:srgbClr val="0000FF"/>
                </a:solidFill>
              </a:rPr>
              <a:t>blocklots</a:t>
            </a:r>
            <a:r>
              <a:rPr lang="en" sz="3467" dirty="0">
                <a:solidFill>
                  <a:srgbClr val="0000FF"/>
                </a:solidFill>
              </a:rPr>
              <a:t> in Baltimore City</a:t>
            </a:r>
            <a:r>
              <a:rPr lang="en" sz="3467" dirty="0">
                <a:solidFill>
                  <a:srgbClr val="595959"/>
                </a:solidFill>
              </a:rPr>
              <a:t>, can we identify </a:t>
            </a:r>
            <a:r>
              <a:rPr lang="en" sz="3467" dirty="0">
                <a:solidFill>
                  <a:srgbClr val="FF00FF"/>
                </a:solidFill>
              </a:rPr>
              <a:t>1,000 </a:t>
            </a:r>
            <a:r>
              <a:rPr lang="en" sz="3467" dirty="0" err="1">
                <a:solidFill>
                  <a:srgbClr val="FF00FF"/>
                </a:solidFill>
              </a:rPr>
              <a:t>blocklots</a:t>
            </a:r>
            <a:r>
              <a:rPr lang="en" sz="3467" dirty="0">
                <a:solidFill>
                  <a:srgbClr val="FF00FF"/>
                </a:solidFill>
              </a:rPr>
              <a:t> </a:t>
            </a:r>
            <a:r>
              <a:rPr lang="en" sz="3467" dirty="0">
                <a:solidFill>
                  <a:srgbClr val="595959"/>
                </a:solidFill>
              </a:rPr>
              <a:t>with a </a:t>
            </a:r>
            <a:r>
              <a:rPr lang="en" sz="3467" dirty="0">
                <a:solidFill>
                  <a:srgbClr val="38761D"/>
                </a:solidFill>
              </a:rPr>
              <a:t>“high” level of roof damage </a:t>
            </a:r>
            <a:r>
              <a:rPr lang="en" sz="3467" dirty="0">
                <a:solidFill>
                  <a:srgbClr val="B45F06"/>
                </a:solidFill>
              </a:rPr>
              <a:t>to prioritize for demo or stabilization inspection in the next year</a:t>
            </a:r>
            <a:r>
              <a:rPr lang="en" sz="3467" dirty="0">
                <a:solidFill>
                  <a:srgbClr val="595959"/>
                </a:solidFill>
              </a:rPr>
              <a:t>?</a:t>
            </a:r>
            <a:endParaRPr sz="3467" dirty="0">
              <a:solidFill>
                <a:srgbClr val="595959"/>
              </a:solidFill>
            </a:endParaRPr>
          </a:p>
        </p:txBody>
      </p:sp>
      <p:sp>
        <p:nvSpPr>
          <p:cNvPr id="206" name="Google Shape;206;p38"/>
          <p:cNvSpPr txBox="1"/>
          <p:nvPr/>
        </p:nvSpPr>
        <p:spPr>
          <a:xfrm>
            <a:off x="248120" y="1463207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FF0000"/>
                </a:solidFill>
              </a:rPr>
              <a:t>When and How often is the recommendation / decision being made?</a:t>
            </a:r>
            <a:endParaRPr sz="1867">
              <a:solidFill>
                <a:srgbClr val="FF0000"/>
              </a:solidFill>
            </a:endParaRPr>
          </a:p>
        </p:txBody>
      </p:sp>
      <p:sp>
        <p:nvSpPr>
          <p:cNvPr id="207" name="Google Shape;207;p38"/>
          <p:cNvSpPr txBox="1"/>
          <p:nvPr/>
        </p:nvSpPr>
        <p:spPr>
          <a:xfrm>
            <a:off x="253253" y="2632740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0000FF"/>
                </a:solidFill>
              </a:rPr>
            </a:br>
            <a:r>
              <a:rPr lang="en" sz="1867">
                <a:solidFill>
                  <a:srgbClr val="0000FF"/>
                </a:solidFill>
              </a:rPr>
              <a:t>Who/what is included in the cohort?</a:t>
            </a:r>
            <a:endParaRPr sz="1867">
              <a:solidFill>
                <a:srgbClr val="0000FF"/>
              </a:solidFill>
            </a:endParaRPr>
          </a:p>
        </p:txBody>
      </p:sp>
      <p:sp>
        <p:nvSpPr>
          <p:cNvPr id="208" name="Google Shape;208;p38"/>
          <p:cNvSpPr txBox="1"/>
          <p:nvPr/>
        </p:nvSpPr>
        <p:spPr>
          <a:xfrm>
            <a:off x="253253" y="3497473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FF00FF"/>
                </a:solidFill>
              </a:rPr>
            </a:br>
            <a:r>
              <a:rPr lang="en" sz="1867">
                <a:solidFill>
                  <a:srgbClr val="FF00FF"/>
                </a:solidFill>
              </a:rPr>
              <a:t>What is the output?</a:t>
            </a:r>
            <a:endParaRPr sz="1867">
              <a:solidFill>
                <a:srgbClr val="FF00FF"/>
              </a:solidFill>
            </a:endParaRPr>
          </a:p>
        </p:txBody>
      </p:sp>
      <p:sp>
        <p:nvSpPr>
          <p:cNvPr id="209" name="Google Shape;209;p38"/>
          <p:cNvSpPr txBox="1"/>
          <p:nvPr/>
        </p:nvSpPr>
        <p:spPr>
          <a:xfrm>
            <a:off x="248120" y="4191873"/>
            <a:ext cx="3008400" cy="14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274E13"/>
                </a:solidFill>
              </a:rPr>
              <a:t>What outcome are you predicting/estimating?</a:t>
            </a: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r>
              <a:rPr lang="en" sz="1867">
                <a:solidFill>
                  <a:srgbClr val="B45F06"/>
                </a:solidFill>
              </a:rPr>
              <a:t>For what purpose?</a:t>
            </a:r>
            <a:endParaRPr sz="1867">
              <a:solidFill>
                <a:srgbClr val="274E13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1BBD25-1C37-5157-CF0F-11E6D2EA89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63" name="Google Shape;263;p4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r>
              <a:rPr lang="en"/>
              <a:t>Analytical Formulation</a:t>
            </a:r>
            <a:endParaRPr/>
          </a:p>
        </p:txBody>
      </p:sp>
      <p:sp>
        <p:nvSpPr>
          <p:cNvPr id="265" name="Google Shape;265;p46"/>
          <p:cNvSpPr txBox="1"/>
          <p:nvPr/>
        </p:nvSpPr>
        <p:spPr>
          <a:xfrm>
            <a:off x="3629033" y="1463200"/>
            <a:ext cx="8147200" cy="4588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en" sz="3067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Every time ACDHS gets eviction filing data (weekly),</a:t>
            </a:r>
            <a:r>
              <a:rPr lang="en" sz="3067" dirty="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 for all individuals who have interacted with ACDHS in the 12 months who are not currently homeless and have had an eviction filing in the last 4 months</a:t>
            </a:r>
            <a:r>
              <a:rPr lang="en" sz="3067" dirty="0">
                <a:latin typeface="Calibri"/>
                <a:ea typeface="Calibri"/>
                <a:cs typeface="Calibri"/>
                <a:sym typeface="Calibri"/>
              </a:rPr>
              <a:t>, can we identify the </a:t>
            </a:r>
            <a:r>
              <a:rPr lang="en" sz="3067" dirty="0">
                <a:solidFill>
                  <a:srgbClr val="FF00FF"/>
                </a:solidFill>
                <a:latin typeface="Calibri"/>
                <a:ea typeface="Calibri"/>
                <a:cs typeface="Calibri"/>
                <a:sym typeface="Calibri"/>
              </a:rPr>
              <a:t>50 individuals at highest risk</a:t>
            </a:r>
            <a:r>
              <a:rPr lang="en" sz="3067" dirty="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3067" dirty="0">
                <a:solidFill>
                  <a:srgbClr val="38761D"/>
                </a:solidFill>
                <a:latin typeface="Calibri"/>
                <a:ea typeface="Calibri"/>
                <a:cs typeface="Calibri"/>
                <a:sym typeface="Calibri"/>
              </a:rPr>
              <a:t>of entering into homelessness in the next 12 months </a:t>
            </a:r>
            <a:r>
              <a:rPr lang="en" sz="3067" dirty="0">
                <a:solidFill>
                  <a:srgbClr val="B45F06"/>
                </a:solidFill>
                <a:latin typeface="Calibri"/>
                <a:ea typeface="Calibri"/>
                <a:cs typeface="Calibri"/>
                <a:sym typeface="Calibri"/>
              </a:rPr>
              <a:t>to prioritize for distribution of rental assistance?</a:t>
            </a:r>
            <a:endParaRPr sz="3467" dirty="0">
              <a:solidFill>
                <a:srgbClr val="B45F0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46"/>
          <p:cNvSpPr/>
          <p:nvPr/>
        </p:nvSpPr>
        <p:spPr>
          <a:xfrm>
            <a:off x="190320" y="1463207"/>
            <a:ext cx="3124000" cy="42044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1400"/>
            </a:pPr>
            <a:endParaRPr sz="1867"/>
          </a:p>
        </p:txBody>
      </p:sp>
      <p:sp>
        <p:nvSpPr>
          <p:cNvPr id="267" name="Google Shape;267;p46"/>
          <p:cNvSpPr txBox="1"/>
          <p:nvPr/>
        </p:nvSpPr>
        <p:spPr>
          <a:xfrm>
            <a:off x="248120" y="1463207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FF0000"/>
                </a:solidFill>
              </a:rPr>
              <a:t>When and How often is the recommendation / decision being made?</a:t>
            </a:r>
            <a:endParaRPr sz="1867">
              <a:solidFill>
                <a:srgbClr val="FF0000"/>
              </a:solidFill>
            </a:endParaRPr>
          </a:p>
        </p:txBody>
      </p:sp>
      <p:sp>
        <p:nvSpPr>
          <p:cNvPr id="268" name="Google Shape;268;p46"/>
          <p:cNvSpPr txBox="1"/>
          <p:nvPr/>
        </p:nvSpPr>
        <p:spPr>
          <a:xfrm>
            <a:off x="253253" y="2632740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0000FF"/>
                </a:solidFill>
              </a:rPr>
            </a:br>
            <a:r>
              <a:rPr lang="en" sz="1867">
                <a:solidFill>
                  <a:srgbClr val="0000FF"/>
                </a:solidFill>
              </a:rPr>
              <a:t>Who/what is included in the cohort?</a:t>
            </a:r>
            <a:endParaRPr sz="1867">
              <a:solidFill>
                <a:srgbClr val="0000FF"/>
              </a:solidFill>
            </a:endParaRPr>
          </a:p>
        </p:txBody>
      </p:sp>
      <p:sp>
        <p:nvSpPr>
          <p:cNvPr id="269" name="Google Shape;269;p46"/>
          <p:cNvSpPr txBox="1"/>
          <p:nvPr/>
        </p:nvSpPr>
        <p:spPr>
          <a:xfrm>
            <a:off x="253253" y="3497473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FF00FF"/>
                </a:solidFill>
              </a:rPr>
            </a:br>
            <a:r>
              <a:rPr lang="en" sz="1867">
                <a:solidFill>
                  <a:srgbClr val="FF00FF"/>
                </a:solidFill>
              </a:rPr>
              <a:t>What is the output?</a:t>
            </a:r>
            <a:endParaRPr sz="1867">
              <a:solidFill>
                <a:srgbClr val="FF00FF"/>
              </a:solidFill>
            </a:endParaRPr>
          </a:p>
        </p:txBody>
      </p:sp>
      <p:sp>
        <p:nvSpPr>
          <p:cNvPr id="270" name="Google Shape;270;p46"/>
          <p:cNvSpPr txBox="1"/>
          <p:nvPr/>
        </p:nvSpPr>
        <p:spPr>
          <a:xfrm>
            <a:off x="248120" y="4191873"/>
            <a:ext cx="3008400" cy="14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274E13"/>
                </a:solidFill>
              </a:rPr>
              <a:t>What outcome are you predicting/estimating?</a:t>
            </a: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r>
              <a:rPr lang="en" sz="1867">
                <a:solidFill>
                  <a:srgbClr val="B45F06"/>
                </a:solidFill>
              </a:rPr>
              <a:t>For what purpose?</a:t>
            </a:r>
            <a:endParaRPr sz="1867">
              <a:solidFill>
                <a:srgbClr val="274E13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4B70A5-25A8-AD7E-2AC5-FBE8362F24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04" name="Google Shape;304;p5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r>
              <a:rPr lang="en"/>
              <a:t>Analytical Formulation - Top level</a:t>
            </a:r>
            <a:endParaRPr/>
          </a:p>
        </p:txBody>
      </p:sp>
      <p:sp>
        <p:nvSpPr>
          <p:cNvPr id="305" name="Google Shape;305;p51"/>
          <p:cNvSpPr/>
          <p:nvPr/>
        </p:nvSpPr>
        <p:spPr>
          <a:xfrm>
            <a:off x="190320" y="1463207"/>
            <a:ext cx="3124000" cy="42044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1400"/>
            </a:pPr>
            <a:endParaRPr sz="1867"/>
          </a:p>
        </p:txBody>
      </p:sp>
      <p:grpSp>
        <p:nvGrpSpPr>
          <p:cNvPr id="307" name="Google Shape;307;p51"/>
          <p:cNvGrpSpPr/>
          <p:nvPr/>
        </p:nvGrpSpPr>
        <p:grpSpPr>
          <a:xfrm>
            <a:off x="248120" y="1463207"/>
            <a:ext cx="3013533" cy="4056967"/>
            <a:chOff x="186090" y="1097405"/>
            <a:chExt cx="2260150" cy="3042725"/>
          </a:xfrm>
        </p:grpSpPr>
        <p:sp>
          <p:nvSpPr>
            <p:cNvPr id="308" name="Google Shape;308;p51"/>
            <p:cNvSpPr txBox="1"/>
            <p:nvPr/>
          </p:nvSpPr>
          <p:spPr>
            <a:xfrm>
              <a:off x="186090" y="1097405"/>
              <a:ext cx="2256300" cy="59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>
                <a:buSzPts val="1400"/>
              </a:pPr>
              <a:r>
                <a:rPr lang="en" sz="1867">
                  <a:solidFill>
                    <a:srgbClr val="FF0000"/>
                  </a:solidFill>
                </a:rPr>
                <a:t>When and How often is the recommendation / decision being made?</a:t>
              </a:r>
              <a:endParaRPr sz="1867">
                <a:solidFill>
                  <a:srgbClr val="FF0000"/>
                </a:solidFill>
              </a:endParaRPr>
            </a:p>
          </p:txBody>
        </p:sp>
        <p:sp>
          <p:nvSpPr>
            <p:cNvPr id="309" name="Google Shape;309;p51"/>
            <p:cNvSpPr txBox="1"/>
            <p:nvPr/>
          </p:nvSpPr>
          <p:spPr>
            <a:xfrm>
              <a:off x="189940" y="1974555"/>
              <a:ext cx="2256300" cy="59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>
                <a:buSzPts val="1400"/>
              </a:pPr>
              <a:r>
                <a:rPr lang="en" sz="1867">
                  <a:solidFill>
                    <a:srgbClr val="0000FF"/>
                  </a:solidFill>
                </a:rPr>
                <a:t>Who/what is included in the cohort?</a:t>
              </a:r>
              <a:endParaRPr sz="1867">
                <a:solidFill>
                  <a:srgbClr val="0000FF"/>
                </a:solidFill>
              </a:endParaRPr>
            </a:p>
          </p:txBody>
        </p:sp>
        <p:sp>
          <p:nvSpPr>
            <p:cNvPr id="310" name="Google Shape;310;p51"/>
            <p:cNvSpPr txBox="1"/>
            <p:nvPr/>
          </p:nvSpPr>
          <p:spPr>
            <a:xfrm>
              <a:off x="189940" y="2623105"/>
              <a:ext cx="2256300" cy="59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>
                <a:buSzPts val="1400"/>
              </a:pPr>
              <a:r>
                <a:rPr lang="en" sz="1867">
                  <a:solidFill>
                    <a:srgbClr val="FF00FF"/>
                  </a:solidFill>
                </a:rPr>
                <a:t>What is the output?</a:t>
              </a:r>
              <a:endParaRPr sz="1867">
                <a:solidFill>
                  <a:srgbClr val="FF00FF"/>
                </a:solidFill>
              </a:endParaRPr>
            </a:p>
          </p:txBody>
        </p:sp>
        <p:sp>
          <p:nvSpPr>
            <p:cNvPr id="311" name="Google Shape;311;p51"/>
            <p:cNvSpPr txBox="1"/>
            <p:nvPr/>
          </p:nvSpPr>
          <p:spPr>
            <a:xfrm>
              <a:off x="189940" y="3033430"/>
              <a:ext cx="2256300" cy="110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>
                <a:buSzPts val="1400"/>
              </a:pPr>
              <a:r>
                <a:rPr lang="en" sz="1867">
                  <a:solidFill>
                    <a:srgbClr val="274E13"/>
                  </a:solidFill>
                </a:rPr>
                <a:t>What outcome are you predicting/estimating?</a:t>
              </a:r>
              <a:endParaRPr sz="1867">
                <a:solidFill>
                  <a:srgbClr val="274E13"/>
                </a:solidFill>
              </a:endParaRPr>
            </a:p>
            <a:p>
              <a:pPr>
                <a:buSzPts val="1400"/>
              </a:pPr>
              <a:endParaRPr sz="1867">
                <a:solidFill>
                  <a:srgbClr val="274E13"/>
                </a:solidFill>
              </a:endParaRPr>
            </a:p>
            <a:p>
              <a:pPr>
                <a:buSzPts val="1400"/>
              </a:pPr>
              <a:r>
                <a:rPr lang="en" sz="1867">
                  <a:solidFill>
                    <a:srgbClr val="B45F06"/>
                  </a:solidFill>
                </a:rPr>
                <a:t>For what purpose?</a:t>
              </a:r>
              <a:endParaRPr sz="1867">
                <a:solidFill>
                  <a:srgbClr val="274E13"/>
                </a:solidFill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F6412C4-6B24-B1FD-241B-D181D0069C5F}"/>
              </a:ext>
            </a:extLst>
          </p:cNvPr>
          <p:cNvSpPr txBox="1"/>
          <p:nvPr/>
        </p:nvSpPr>
        <p:spPr>
          <a:xfrm>
            <a:off x="3706585" y="1499423"/>
            <a:ext cx="8126187" cy="4360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67" dirty="0">
                <a:solidFill>
                  <a:srgbClr val="FF0000"/>
                </a:solidFill>
                <a:latin typeface="Arial" panose="020B0604020202020204" pitchFamily="34" charset="0"/>
              </a:rPr>
              <a:t>For every time the doctor finishes taking notes during a patient visit</a:t>
            </a:r>
            <a:r>
              <a:rPr lang="en-US" sz="2667" dirty="0">
                <a:latin typeface="Arial" panose="020B0604020202020204" pitchFamily="34" charset="0"/>
              </a:rPr>
              <a:t>, for </a:t>
            </a:r>
            <a:r>
              <a:rPr lang="en-US" sz="2667" dirty="0">
                <a:solidFill>
                  <a:srgbClr val="0000FF"/>
                </a:solidFill>
                <a:latin typeface="Arial" panose="020B0604020202020204" pitchFamily="34" charset="0"/>
              </a:rPr>
              <a:t>all adult patients who come through the ED, </a:t>
            </a:r>
            <a:r>
              <a:rPr lang="en-US" sz="2667" dirty="0">
                <a:latin typeface="Arial" panose="020B0604020202020204" pitchFamily="34" charset="0"/>
              </a:rPr>
              <a:t>can we identify</a:t>
            </a:r>
            <a:r>
              <a:rPr lang="en-US" sz="2667" dirty="0">
                <a:solidFill>
                  <a:srgbClr val="FF00FF"/>
                </a:solidFill>
                <a:latin typeface="Arial" panose="020B0604020202020204" pitchFamily="34" charset="0"/>
              </a:rPr>
              <a:t> up to 10 possible ICD-10 categories* </a:t>
            </a:r>
            <a:r>
              <a:rPr lang="en-US" sz="2667" dirty="0">
                <a:latin typeface="Arial" panose="020B0604020202020204" pitchFamily="34" charset="0"/>
              </a:rPr>
              <a:t>that </a:t>
            </a:r>
            <a:r>
              <a:rPr lang="en-US" sz="2667" dirty="0">
                <a:solidFill>
                  <a:srgbClr val="38761D"/>
                </a:solidFill>
                <a:latin typeface="Arial" panose="020B0604020202020204" pitchFamily="34" charset="0"/>
              </a:rPr>
              <a:t>correspond to the patient’s condition </a:t>
            </a:r>
            <a:r>
              <a:rPr lang="en-US" sz="2667" dirty="0">
                <a:solidFill>
                  <a:srgbClr val="B45F06"/>
                </a:solidFill>
                <a:latin typeface="Arial" panose="020B0604020202020204" pitchFamily="34" charset="0"/>
              </a:rPr>
              <a:t>to provide appropriate and timely interventions</a:t>
            </a:r>
            <a:endParaRPr lang="en-US" sz="2667" dirty="0"/>
          </a:p>
          <a:p>
            <a:br>
              <a:rPr lang="en-US" sz="2667" dirty="0"/>
            </a:br>
            <a:r>
              <a:rPr lang="en-US" sz="2667" dirty="0">
                <a:latin typeface="Arial" panose="020B0604020202020204" pitchFamily="34" charset="0"/>
              </a:rPr>
              <a:t>*Categories are the first three characters of the ICD-10 code.</a:t>
            </a:r>
            <a:endParaRPr lang="en-US" sz="2667" dirty="0"/>
          </a:p>
          <a:p>
            <a:br>
              <a:rPr lang="en-US" sz="1867" dirty="0"/>
            </a:br>
            <a:endParaRPr lang="en-US" sz="1867" dirty="0"/>
          </a:p>
        </p:txBody>
      </p:sp>
    </p:spTree>
    <p:extLst>
      <p:ext uri="{BB962C8B-B14F-4D97-AF65-F5344CB8AC3E}">
        <p14:creationId xmlns:p14="http://schemas.microsoft.com/office/powerpoint/2010/main" val="7084879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6F0CF04-B42B-C044-ACCB-6C665E5B57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8210" y="2360141"/>
            <a:ext cx="11666400" cy="4182862"/>
          </a:xfrm>
        </p:spPr>
        <p:txBody>
          <a:bodyPr/>
          <a:lstStyle/>
          <a:p>
            <a:pPr marL="114300" indent="0" algn="ctr">
              <a:buNone/>
            </a:pPr>
            <a:r>
              <a:rPr lang="en-US" sz="4800" dirty="0"/>
              <a:t>What is the appropriate comparison to evaluate effectiveness of  your ML model?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049B21-A440-624B-941A-2CE526530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Baselines</a:t>
            </a:r>
          </a:p>
        </p:txBody>
      </p:sp>
    </p:spTree>
    <p:extLst>
      <p:ext uri="{BB962C8B-B14F-4D97-AF65-F5344CB8AC3E}">
        <p14:creationId xmlns:p14="http://schemas.microsoft.com/office/powerpoint/2010/main" val="13351102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6F0CF04-B42B-C044-ACCB-6C665E5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Sense</a:t>
            </a:r>
            <a:br>
              <a:rPr lang="en-US" dirty="0"/>
            </a:br>
            <a:endParaRPr lang="en-US" dirty="0"/>
          </a:p>
          <a:p>
            <a:r>
              <a:rPr lang="en-US" dirty="0"/>
              <a:t>What they do today</a:t>
            </a:r>
            <a:br>
              <a:rPr lang="en-US" dirty="0"/>
            </a:br>
            <a:endParaRPr lang="en-US" dirty="0"/>
          </a:p>
          <a:p>
            <a:r>
              <a:rPr lang="en-US" dirty="0"/>
              <a:t>What they could do today easily (without any or very simple ML involved)</a:t>
            </a:r>
            <a:br>
              <a:rPr lang="en-US" dirty="0"/>
            </a:br>
            <a:endParaRPr lang="en-US" dirty="0"/>
          </a:p>
          <a:p>
            <a:r>
              <a:rPr lang="en-US" dirty="0"/>
              <a:t>Prior/Base Rate</a:t>
            </a:r>
          </a:p>
          <a:p>
            <a:pPr lvl="1"/>
            <a:r>
              <a:rPr lang="en-US"/>
              <a:t>What expected value would you get if you just choose at random (based on the data distribution)?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049B21-A440-624B-941A-2CE526530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Baseline Options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7075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7B27DC9-378A-B50B-7138-EED9A5CC7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106" y="20548"/>
            <a:ext cx="11360700" cy="763500"/>
          </a:xfrm>
        </p:spPr>
        <p:txBody>
          <a:bodyPr/>
          <a:lstStyle/>
          <a:p>
            <a:r>
              <a:rPr lang="en-US" b="1" dirty="0"/>
              <a:t>For a social media post recommender baseline method that doesn't require using any ML?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D6D19F-3E25-E279-F9A2-3CE77C5E7B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68210" y="1588503"/>
            <a:ext cx="4482287" cy="27945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14300" indent="0">
              <a:buNone/>
            </a:pPr>
            <a:r>
              <a:rPr lang="en-US" sz="4800" dirty="0" err="1"/>
              <a:t>sli.do</a:t>
            </a:r>
            <a:r>
              <a:rPr lang="en-US" sz="4800" dirty="0"/>
              <a:t>    #10718</a:t>
            </a:r>
          </a:p>
          <a:p>
            <a:endParaRPr lang="en-US" sz="4800" dirty="0"/>
          </a:p>
          <a:p>
            <a:pPr marL="114300" indent="0">
              <a:buNone/>
            </a:pPr>
            <a:r>
              <a:rPr lang="en-US" sz="4800" dirty="0" err="1"/>
              <a:t>sli.do</a:t>
            </a:r>
            <a:r>
              <a:rPr lang="en-US" sz="4800" dirty="0"/>
              <a:t>/10718</a:t>
            </a:r>
          </a:p>
        </p:txBody>
      </p:sp>
    </p:spTree>
    <p:extLst>
      <p:ext uri="{BB962C8B-B14F-4D97-AF65-F5344CB8AC3E}">
        <p14:creationId xmlns:p14="http://schemas.microsoft.com/office/powerpoint/2010/main" val="41418531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86E07AB-60E2-FF60-1E55-FA25DFC20EA8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1DAD34-BF23-3A37-13FB-26496E16EFE5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700" b="1">
                <a:solidFill>
                  <a:srgbClr val="000000"/>
                </a:solidFill>
              </a:rPr>
              <a:t>What are some good baseline approaches that don’t require using any ML for a social media post recommender?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8342579-4005-A976-B0D5-9B045C544F6A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058EC9D-79B4-709F-86AB-E35C3E7CE77D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BB2459A8-6F47-1647-449B-F75925455042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9DBEC85-3A0E-C697-1B5A-A21776BE644E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268165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6F0CF04-B42B-C044-ACCB-6C665E5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much better than baselines does our system need to be in order to deploy?</a:t>
            </a:r>
            <a:br>
              <a:rPr lang="en-US" dirty="0"/>
            </a:br>
            <a:endParaRPr lang="en-US" dirty="0"/>
          </a:p>
          <a:p>
            <a:r>
              <a:rPr lang="en-US" dirty="0"/>
              <a:t>Important to compare performance against the base rate/prior, but this prior rarely represents a “common sense” baseline</a:t>
            </a:r>
            <a:br>
              <a:rPr lang="en-US" dirty="0"/>
            </a:br>
            <a:endParaRPr lang="en-US" dirty="0"/>
          </a:p>
          <a:p>
            <a:r>
              <a:rPr lang="en-US" dirty="0"/>
              <a:t>Good baselines should provide an ordering to sort the entities</a:t>
            </a:r>
          </a:p>
          <a:p>
            <a:pPr lvl="1"/>
            <a:r>
              <a:rPr lang="en-US" dirty="0"/>
              <a:t>Heuristic rules (or shallow decision trees) might reflect current practice, but can yield a small number of unique scores with lots of ties</a:t>
            </a:r>
            <a:br>
              <a:rPr lang="en-US" dirty="0"/>
            </a:br>
            <a:endParaRPr lang="en-US" dirty="0"/>
          </a:p>
          <a:p>
            <a:r>
              <a:rPr lang="en-US" dirty="0"/>
              <a:t>In many real-world problems, a good baseline can be difficult to beat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049B21-A440-624B-941A-2CE526530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Baseline Considerations</a:t>
            </a:r>
          </a:p>
        </p:txBody>
      </p:sp>
    </p:spTree>
    <p:extLst>
      <p:ext uri="{BB962C8B-B14F-4D97-AF65-F5344CB8AC3E}">
        <p14:creationId xmlns:p14="http://schemas.microsoft.com/office/powerpoint/2010/main" val="34808830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53D6B69-44D2-D449-B9CE-63D5E2BFE8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8210" y="1600078"/>
            <a:ext cx="11666400" cy="4954500"/>
          </a:xfrm>
        </p:spPr>
        <p:txBody>
          <a:bodyPr/>
          <a:lstStyle/>
          <a:p>
            <a:pPr marL="114300" indent="0">
              <a:buNone/>
            </a:pPr>
            <a:r>
              <a:rPr lang="en-US" dirty="0"/>
              <a:t>Non-ML based</a:t>
            </a:r>
          </a:p>
          <a:p>
            <a:pPr marL="114300" indent="0">
              <a:buNone/>
            </a:pPr>
            <a:endParaRPr lang="en-US" dirty="0"/>
          </a:p>
          <a:p>
            <a:pPr marL="114300" indent="0">
              <a:buNone/>
            </a:pPr>
            <a:endParaRPr lang="en-US" dirty="0"/>
          </a:p>
          <a:p>
            <a:pPr marL="114300" indent="0">
              <a:buNone/>
            </a:pPr>
            <a:endParaRPr lang="en-US" dirty="0"/>
          </a:p>
          <a:p>
            <a:pPr marL="114300" indent="0">
              <a:buNone/>
            </a:pPr>
            <a:r>
              <a:rPr lang="en-US" dirty="0"/>
              <a:t>Existing approaches</a:t>
            </a:r>
          </a:p>
          <a:p>
            <a:pPr marL="114300" indent="0">
              <a:buNone/>
            </a:pPr>
            <a:endParaRPr lang="en-US" dirty="0"/>
          </a:p>
          <a:p>
            <a:pPr marL="114300" indent="0">
              <a:buNone/>
            </a:pPr>
            <a:endParaRPr lang="en-US" dirty="0"/>
          </a:p>
          <a:p>
            <a:pPr marL="114300" indent="0">
              <a:buNone/>
            </a:pPr>
            <a:endParaRPr lang="en-US" dirty="0"/>
          </a:p>
          <a:p>
            <a:pPr marL="114300" indent="0">
              <a:buNone/>
            </a:pPr>
            <a:r>
              <a:rPr lang="en-US" dirty="0"/>
              <a:t>Simple ML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3765B02-360A-1F41-913A-E71E56120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Baseline Examples</a:t>
            </a:r>
          </a:p>
        </p:txBody>
      </p:sp>
    </p:spTree>
    <p:extLst>
      <p:ext uri="{BB962C8B-B14F-4D97-AF65-F5344CB8AC3E}">
        <p14:creationId xmlns:p14="http://schemas.microsoft.com/office/powerpoint/2010/main" val="41209484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Should be able to access: </a:t>
            </a:r>
            <a:r>
              <a:rPr lang="en-US" b="1" dirty="0" err="1"/>
              <a:t>github</a:t>
            </a:r>
            <a:r>
              <a:rPr lang="en-US" b="1" dirty="0"/>
              <a:t> and data (see canvas assignment for us to confirm)</a:t>
            </a:r>
          </a:p>
          <a:p>
            <a:endParaRPr lang="en-US" dirty="0"/>
          </a:p>
          <a:p>
            <a:pPr>
              <a:lnSpc>
                <a:spcPct val="100000"/>
              </a:lnSpc>
            </a:pPr>
            <a:r>
              <a:rPr lang="en-US" dirty="0"/>
              <a:t>Due Next Week:</a:t>
            </a:r>
          </a:p>
          <a:p>
            <a:pPr lvl="1">
              <a:lnSpc>
                <a:spcPct val="100000"/>
              </a:lnSpc>
              <a:spcBef>
                <a:spcPts val="800"/>
              </a:spcBef>
            </a:pPr>
            <a:r>
              <a:rPr lang="en-US" dirty="0"/>
              <a:t>Monday – project update assignment </a:t>
            </a:r>
            <a:r>
              <a:rPr lang="en-US" dirty="0">
                <a:hlinkClick r:id="rId2"/>
              </a:rPr>
              <a:t>(Formulation and Baselines)</a:t>
            </a:r>
            <a:endParaRPr lang="en-US" dirty="0"/>
          </a:p>
          <a:p>
            <a:pPr lvl="1">
              <a:lnSpc>
                <a:spcPct val="100000"/>
              </a:lnSpc>
              <a:spcBef>
                <a:spcPts val="800"/>
              </a:spcBef>
            </a:pPr>
            <a:r>
              <a:rPr lang="en-US" dirty="0"/>
              <a:t>Tuesday – weekly feedback form</a:t>
            </a:r>
            <a:br>
              <a:rPr lang="en-US" dirty="0"/>
            </a:br>
            <a:endParaRPr lang="en-US" dirty="0"/>
          </a:p>
          <a:p>
            <a:r>
              <a:rPr lang="en-US" dirty="0">
                <a:highlight>
                  <a:srgbClr val="FFFF00"/>
                </a:highlight>
              </a:rPr>
              <a:t>Readings </a:t>
            </a:r>
            <a:r>
              <a:rPr lang="en-US">
                <a:highlight>
                  <a:srgbClr val="FFFF00"/>
                </a:highlight>
              </a:rPr>
              <a:t>for Thursday</a:t>
            </a:r>
            <a:endParaRPr 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13140927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caabcf39-13dc-4be0-b149-ab96eb521f47"/>
  <p:tag name="SLIDO_EVENT_UUID" val="0161bee7-9b52-48ab-bd01-308fc07c8a33"/>
  <p:tag name="SLIDO_EVENT_SECTION_UUID" val="53f7b2fd-9b37-4ce9-89ff-a9a7d9b782a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59502b80-459f-417c-9ae7-7264e2710400"/>
  <p:tag name="SLIDO_TIMELINE" val="W3sic2hvd1Jlc3VsdHMiOmZhbHNlLCJwb2xsUXVlc3Rpb25VdWlkIjoiZjBiMjY3NWItOTE1MC00ZDc1LTkzMTctNzQ5ODllMTY0YzkzIn0seyJzaG93UmVzdWx0cyI6dHJ1ZSwicG9sbFF1ZXN0aW9uVXVpZCI6ImYwYjI2NzViLTkxNTAtNGQ3NS05MzE3LTc0OTg5ZTE2NGM5MyJ9XQ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OpenText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6c5a72f9-54d3-4dd2-ae37-6892c8d4fce8"/>
  <p:tag name="SLIDO_TIMELINE" val="W3sicG9sbFF1ZXN0aW9uVXVpZCI6IjU1M2VkNjYzLWY1YzctNDVjOC1iZDUzLWJlNWVmOGM0NmYxNiIsInNob3dSZXN1bHRzIjpmYWxzZX0seyJwb2xsUXVlc3Rpb25VdWlkIjoiNTUzZWQ2NjMtZjVjNy00NWM4LWJkNTMtYmU1ZWY4YzQ2ZjE2Iiwic2hvd1Jlc3VsdHMiOnRydWV9XQ=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OpenText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8743</TotalTime>
  <Words>1499</Words>
  <Application>Microsoft Macintosh PowerPoint</Application>
  <PresentationFormat>Widescreen</PresentationFormat>
  <Paragraphs>193</Paragraphs>
  <Slides>35</Slides>
  <Notes>5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Simple Light</vt:lpstr>
      <vt:lpstr>ML Formulation and Baselines</vt:lpstr>
      <vt:lpstr>Things to remember</vt:lpstr>
      <vt:lpstr>PowerPoint Presentation</vt:lpstr>
      <vt:lpstr>Plan for today</vt:lpstr>
      <vt:lpstr>Moving from Scope  to Analytical Formulation</vt:lpstr>
      <vt:lpstr>Turning the project goals/scope into an ML problem</vt:lpstr>
      <vt:lpstr>What failure are we trying to avoid?</vt:lpstr>
      <vt:lpstr>Use cases</vt:lpstr>
      <vt:lpstr>Decisions we need to make</vt:lpstr>
      <vt:lpstr>Decisions we need to make: analytical approach</vt:lpstr>
      <vt:lpstr>Decisions we need to make</vt:lpstr>
      <vt:lpstr>Decisions we need to make: cohort definition</vt:lpstr>
      <vt:lpstr>Decisions we need to make</vt:lpstr>
      <vt:lpstr>Impact of formulation choices</vt:lpstr>
      <vt:lpstr>Analytical Formulation</vt:lpstr>
      <vt:lpstr>CASE STUDY</vt:lpstr>
      <vt:lpstr>Formulation Decisions</vt:lpstr>
      <vt:lpstr>PowerPoint Presentation</vt:lpstr>
      <vt:lpstr>Why is this type of formulation necessary?  How does it help us with ML design decision?  What are the implications of each of these decisions?</vt:lpstr>
      <vt:lpstr>PowerPoint Presentation</vt:lpstr>
      <vt:lpstr>PowerPoint Presentation</vt:lpstr>
      <vt:lpstr>PowerPoint Presentation</vt:lpstr>
      <vt:lpstr>PowerPoint Presentation</vt:lpstr>
      <vt:lpstr>Additional examples from real projects (will not cover in class but may be helpful)</vt:lpstr>
      <vt:lpstr>Analytical Formulation</vt:lpstr>
      <vt:lpstr>Analytical Formulation</vt:lpstr>
      <vt:lpstr>Analytical Formulation</vt:lpstr>
      <vt:lpstr>Analytical Formulation - Top level</vt:lpstr>
      <vt:lpstr>Baselines</vt:lpstr>
      <vt:lpstr>Baseline Options</vt:lpstr>
      <vt:lpstr>For a social media post recommender baseline method that doesn't require using any ML?</vt:lpstr>
      <vt:lpstr>PowerPoint Presentation</vt:lpstr>
      <vt:lpstr>Baseline Considerations</vt:lpstr>
      <vt:lpstr>Baseline Examples</vt:lpstr>
      <vt:lpstr>Things to remember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60</cp:revision>
  <dcterms:created xsi:type="dcterms:W3CDTF">2020-01-14T19:43:43Z</dcterms:created>
  <dcterms:modified xsi:type="dcterms:W3CDTF">2025-09-16T14:19:54Z</dcterms:modified>
</cp:coreProperties>
</file>