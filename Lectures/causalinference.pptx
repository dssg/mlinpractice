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604" r:id="rId3"/>
    <p:sldId id="616" r:id="rId4"/>
    <p:sldId id="257" r:id="rId5"/>
    <p:sldId id="605" r:id="rId6"/>
    <p:sldId id="61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609" r:id="rId16"/>
    <p:sldId id="268" r:id="rId17"/>
    <p:sldId id="610" r:id="rId18"/>
    <p:sldId id="611" r:id="rId19"/>
    <p:sldId id="617" r:id="rId20"/>
    <p:sldId id="612" r:id="rId21"/>
    <p:sldId id="613" r:id="rId22"/>
    <p:sldId id="273" r:id="rId23"/>
    <p:sldId id="274" r:id="rId24"/>
    <p:sldId id="275" r:id="rId25"/>
    <p:sldId id="276" r:id="rId26"/>
    <p:sldId id="277" r:id="rId27"/>
    <p:sldId id="614" r:id="rId28"/>
    <p:sldId id="279" r:id="rId29"/>
    <p:sldId id="280" r:id="rId30"/>
    <p:sldId id="281" r:id="rId31"/>
    <p:sldId id="282" r:id="rId32"/>
    <p:sldId id="270" r:id="rId33"/>
    <p:sldId id="271" r:id="rId34"/>
    <p:sldId id="618" r:id="rId35"/>
    <p:sldId id="619" r:id="rId36"/>
    <p:sldId id="620" r:id="rId37"/>
    <p:sldId id="278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  <a:srgbClr val="FFD579"/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3"/>
    <p:restoredTop sz="93151"/>
  </p:normalViewPr>
  <p:slideViewPr>
    <p:cSldViewPr snapToGrid="0" snapToObjects="1">
      <p:cViewPr>
        <p:scale>
          <a:sx n="90" d="100"/>
          <a:sy n="90" d="100"/>
        </p:scale>
        <p:origin x="86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intuition rather than theory. I’ll do a little bit of it for kicks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4c861a4e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74c861a4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4c861a4e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74c861a4e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2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 rot="-5400000">
            <a:off x="11189125" y="5824645"/>
            <a:ext cx="131572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7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  <p:sldLayoutId id="214748365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XppqtW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rc.org/sites/default/files/RDD%20Guide_Full%20rev%202016_0.pdf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rc.org/sites/default/files/RDD%20Guide_Full%20rev%202016_0.pdf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ausal-machine-learning.github.io/kdd2021-tutorial/" TargetMode="External"/><Relationship Id="rId7" Type="http://schemas.openxmlformats.org/officeDocument/2006/relationships/hyperlink" Target="https://mitpress.mit.edu/books/elements-causal-inference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tp.cs.ucla.edu/pub/stat_ser/r481.pdf" TargetMode="External"/><Relationship Id="rId5" Type="http://schemas.openxmlformats.org/officeDocument/2006/relationships/hyperlink" Target="https://github.com/dssg/hitchhikers-guide/tree/master/sources/curriculum/3_modeling_and_machine_learning/quantitative-social-science" TargetMode="External"/><Relationship Id="rId4" Type="http://schemas.openxmlformats.org/officeDocument/2006/relationships/hyperlink" Target="https://www.amazon.com/Mostly-Harmless-Econometrics-Empiricists-Companion/dp/06911203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Causal Inference (using observational data)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The project focus of the next three weeks is to apply your selected topic to your class project model(s).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Check in with me or TAs during this time with plans or intermediate results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1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E936-CF8F-5D05-195D-2ACEA387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993755-F6F3-0105-4194-EF7445BDB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98992"/>
              </p:ext>
            </p:extLst>
          </p:nvPr>
        </p:nvGraphicFramePr>
        <p:xfrm>
          <a:off x="787079" y="1002826"/>
          <a:ext cx="11360700" cy="446488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40175">
                  <a:extLst>
                    <a:ext uri="{9D8B030D-6E8A-4147-A177-3AD203B41FA5}">
                      <a16:colId xmlns:a16="http://schemas.microsoft.com/office/drawing/2014/main" val="1580148390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1498690835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2930769774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3490413823"/>
                    </a:ext>
                  </a:extLst>
                </a:gridCol>
              </a:tblGrid>
              <a:tr h="94438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Approach is correct and enough features and models are tested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Approach is correct and good enough but still lacking features and models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up incorrect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650069"/>
                  </a:ext>
                </a:extLst>
              </a:tr>
              <a:tr h="493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Project Assignments and Presentation(s)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`2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70465"/>
                  </a:ext>
                </a:extLst>
              </a:tr>
              <a:tr h="49345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~85+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75-85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&lt; 75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862937"/>
                  </a:ext>
                </a:extLst>
              </a:tr>
              <a:tr h="493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Mid-Term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492439"/>
                  </a:ext>
                </a:extLst>
              </a:tr>
              <a:tr h="49345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Setup is correct and well done</a:t>
                      </a:r>
                    </a:p>
                  </a:txBody>
                  <a:tcPr marL="9525" marR="9525" marT="9525" marB="0" anchor="b"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Setup is correct but missing important things</a:t>
                      </a:r>
                    </a:p>
                  </a:txBody>
                  <a:tcPr marL="9525" marR="9525" marT="9525" marB="0" anchor="b"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approach is incorrect </a:t>
                      </a:r>
                    </a:p>
                  </a:txBody>
                  <a:tcPr marL="9525" marR="9525" marT="9525" marB="0" anchor="b">
                    <a:solidFill>
                      <a:srgbClr val="FFD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28975"/>
                  </a:ext>
                </a:extLst>
              </a:tr>
              <a:tr h="493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Module 2 Assignment and Presentation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>
                    <a:solidFill>
                      <a:srgbClr val="FFD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2409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563151-401B-161D-8B95-1D3187207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561239"/>
              </p:ext>
            </p:extLst>
          </p:nvPr>
        </p:nvGraphicFramePr>
        <p:xfrm>
          <a:off x="787079" y="5204823"/>
          <a:ext cx="11360700" cy="160706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40175">
                  <a:extLst>
                    <a:ext uri="{9D8B030D-6E8A-4147-A177-3AD203B41FA5}">
                      <a16:colId xmlns:a16="http://schemas.microsoft.com/office/drawing/2014/main" val="1286611205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3881891521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1940063378"/>
                    </a:ext>
                  </a:extLst>
                </a:gridCol>
                <a:gridCol w="2840175">
                  <a:extLst>
                    <a:ext uri="{9D8B030D-6E8A-4147-A177-3AD203B41FA5}">
                      <a16:colId xmlns:a16="http://schemas.microsoft.com/office/drawing/2014/main" val="1299143892"/>
                    </a:ext>
                  </a:extLst>
                </a:gridCol>
              </a:tblGrid>
              <a:tr h="3415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Coming to Class and Participating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Coming to Class and Not Participating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Coming to Class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37099"/>
                  </a:ext>
                </a:extLst>
              </a:tr>
              <a:tr h="341570">
                <a:tc>
                  <a:txBody>
                    <a:bodyPr/>
                    <a:lstStyle/>
                    <a:p>
                      <a:r>
                        <a:rPr lang="en-US" sz="1600" dirty="0"/>
                        <a:t>Attendance and Participation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3187"/>
                  </a:ext>
                </a:extLst>
              </a:tr>
              <a:tr h="3415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Thoughtful and Reflective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Good enough 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Missing important points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495884"/>
                  </a:ext>
                </a:extLst>
              </a:tr>
              <a:tr h="341570">
                <a:tc>
                  <a:txBody>
                    <a:bodyPr/>
                    <a:lstStyle/>
                    <a:p>
                      <a:r>
                        <a:rPr lang="en-US" sz="1800" dirty="0"/>
                        <a:t>Final Reflection Writeup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424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6926CA-9C87-4676-5B37-F9BFA0396852}"/>
              </a:ext>
            </a:extLst>
          </p:cNvPr>
          <p:cNvSpPr txBox="1"/>
          <p:nvPr/>
        </p:nvSpPr>
        <p:spPr>
          <a:xfrm>
            <a:off x="22057" y="2085975"/>
            <a:ext cx="9209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35%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20%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A4200-D065-7AA8-E972-9A459B4EF653}"/>
              </a:ext>
            </a:extLst>
          </p:cNvPr>
          <p:cNvSpPr txBox="1"/>
          <p:nvPr/>
        </p:nvSpPr>
        <p:spPr>
          <a:xfrm>
            <a:off x="72703" y="5824252"/>
            <a:ext cx="9209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20%</a:t>
            </a:r>
          </a:p>
          <a:p>
            <a:endParaRPr lang="en-US" sz="2000" dirty="0"/>
          </a:p>
          <a:p>
            <a:r>
              <a:rPr lang="en-US" sz="2000" dirty="0"/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184776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Things to cover today</a:t>
            </a:r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3600" dirty="0"/>
              <a:t>Causal Inference with observational data</a:t>
            </a:r>
          </a:p>
          <a:p>
            <a:pPr lvl="1" indent="-381000">
              <a:lnSpc>
                <a:spcPct val="150000"/>
              </a:lnSpc>
              <a:spcBef>
                <a:spcPts val="0"/>
              </a:spcBef>
              <a:buSzPts val="2400"/>
              <a:buChar char="●"/>
            </a:pPr>
            <a:r>
              <a:rPr lang="en-US" sz="2800" dirty="0"/>
              <a:t>The need</a:t>
            </a:r>
          </a:p>
          <a:p>
            <a:pPr lvl="1" indent="-381000">
              <a:lnSpc>
                <a:spcPct val="150000"/>
              </a:lnSpc>
              <a:spcBef>
                <a:spcPts val="0"/>
              </a:spcBef>
              <a:buSzPts val="2400"/>
              <a:buChar char="●"/>
            </a:pPr>
            <a:r>
              <a:rPr lang="en-US" sz="2800" dirty="0"/>
              <a:t>The intuition</a:t>
            </a:r>
          </a:p>
          <a:p>
            <a:pPr lvl="1" indent="-381000">
              <a:lnSpc>
                <a:spcPct val="150000"/>
              </a:lnSpc>
              <a:spcBef>
                <a:spcPts val="0"/>
              </a:spcBef>
              <a:buSzPts val="2400"/>
              <a:buChar char="●"/>
            </a:pPr>
            <a:r>
              <a:rPr lang="en-US" sz="2800" dirty="0"/>
              <a:t>The methods</a:t>
            </a:r>
          </a:p>
          <a:p>
            <a:pPr lvl="1" indent="-381000">
              <a:lnSpc>
                <a:spcPct val="150000"/>
              </a:lnSpc>
              <a:spcBef>
                <a:spcPts val="0"/>
              </a:spcBef>
              <a:buSzPts val="2400"/>
              <a:buChar char="●"/>
            </a:pPr>
            <a:r>
              <a:rPr lang="en-US" sz="2800" dirty="0"/>
              <a:t>The caveats</a:t>
            </a:r>
          </a:p>
          <a:p>
            <a:pPr lvl="1" indent="-381000">
              <a:lnSpc>
                <a:spcPct val="150000"/>
              </a:lnSpc>
              <a:spcBef>
                <a:spcPts val="0"/>
              </a:spcBef>
              <a:buSzPts val="2400"/>
              <a:buChar char="●"/>
            </a:pPr>
            <a:r>
              <a:rPr lang="en-US" sz="2800" dirty="0"/>
              <a:t>Some examples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E49C-2DA8-A21A-4037-7E7BDB4F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Causal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BB788-C8A6-8EA8-B133-6774085AF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real-world questions are what-if and why questions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 happens </a:t>
            </a:r>
            <a:r>
              <a:rPr lang="en-US" b="1" dirty="0"/>
              <a:t>if</a:t>
            </a:r>
            <a:r>
              <a:rPr lang="en-US" dirty="0"/>
              <a:t> I change X</a:t>
            </a:r>
          </a:p>
          <a:p>
            <a:endParaRPr lang="en-US" dirty="0"/>
          </a:p>
          <a:p>
            <a:r>
              <a:rPr lang="en-US" dirty="0"/>
              <a:t>We often want to answer counterfactual questions</a:t>
            </a:r>
          </a:p>
          <a:p>
            <a:pPr lvl="1"/>
            <a:r>
              <a:rPr lang="en-US" dirty="0"/>
              <a:t>Which projects would have gotten funded without any extra support?</a:t>
            </a:r>
          </a:p>
        </p:txBody>
      </p:sp>
    </p:spTree>
    <p:extLst>
      <p:ext uri="{BB962C8B-B14F-4D97-AF65-F5344CB8AC3E}">
        <p14:creationId xmlns:p14="http://schemas.microsoft.com/office/powerpoint/2010/main" val="280250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D8BE-A38A-D858-3308-47EBEAA0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Counterfactual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04C43-0A2E-2BF7-B2C3-F2E9FEB0C780}"/>
                  </a:ext>
                </a:extLst>
              </p:cNvPr>
              <p:cNvSpPr txBox="1"/>
              <p:nvPr/>
            </p:nvSpPr>
            <p:spPr>
              <a:xfrm>
                <a:off x="415600" y="1413063"/>
                <a:ext cx="10699666" cy="4031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1" dirty="0"/>
                  <a:t>Potential outcomes: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3200" dirty="0"/>
                  <a:t>, </a:t>
                </a:r>
                <a14:m>
                  <m:oMath xmlns:m="http://schemas.openxmlformats.org/officeDocument/2006/math">
                    <m:r>
                      <a:rPr lang="ar-AE" sz="32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200" dirty="0"/>
              </a:p>
              <a:p>
                <a:endParaRPr lang="ar-AE" sz="3200" dirty="0"/>
              </a:p>
              <a:p>
                <a:r>
                  <a:rPr lang="en-US" sz="3200" b="1" dirty="0"/>
                  <a:t>Treatment effect: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3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ar-A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sz="32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ar-A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2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ar-AE" sz="3200" dirty="0"/>
              </a:p>
              <a:p>
                <a:endParaRPr lang="en-US" sz="3200" b="1" dirty="0"/>
              </a:p>
              <a:p>
                <a:r>
                  <a:rPr lang="en-US" sz="3200" b="1" dirty="0"/>
                  <a:t>Fundamental problem:</a:t>
                </a:r>
                <a:r>
                  <a:rPr lang="en-US" sz="3200" dirty="0"/>
                  <a:t> we never observe both for the same unit(person/project/company).</a:t>
                </a:r>
              </a:p>
              <a:p>
                <a:endParaRPr lang="en-US" sz="3200" b="1" dirty="0"/>
              </a:p>
              <a:p>
                <a:r>
                  <a:rPr lang="en-US" sz="3200" b="1" dirty="0"/>
                  <a:t>Goal:</a:t>
                </a:r>
                <a:r>
                  <a:rPr lang="en-US" sz="3200" dirty="0"/>
                  <a:t> estimate causal effects despite this missing data.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04C43-0A2E-2BF7-B2C3-F2E9FEB0C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1413063"/>
                <a:ext cx="10699666" cy="4031873"/>
              </a:xfrm>
              <a:prstGeom prst="rect">
                <a:avLst/>
              </a:prstGeom>
              <a:blipFill>
                <a:blip r:embed="rId2"/>
                <a:stretch>
                  <a:fillRect l="-1422" t="-1887" b="-4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F975327-8BAF-0878-D1BE-1C95D4F5F045}"/>
              </a:ext>
            </a:extLst>
          </p:cNvPr>
          <p:cNvSpPr txBox="1"/>
          <p:nvPr/>
        </p:nvSpPr>
        <p:spPr>
          <a:xfrm>
            <a:off x="534390" y="5854047"/>
            <a:ext cx="11032176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Last week we talked about doing this with experiments. Today we’ll talk about how we can do this (with lots of caveats) with observational data.</a:t>
            </a:r>
          </a:p>
        </p:txBody>
      </p:sp>
    </p:spTree>
    <p:extLst>
      <p:ext uri="{BB962C8B-B14F-4D97-AF65-F5344CB8AC3E}">
        <p14:creationId xmlns:p14="http://schemas.microsoft.com/office/powerpoint/2010/main" val="68576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6317"/>
            <a:ext cx="12192000" cy="60520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3C69F-20BA-7EA7-3356-20399BEFF403}"/>
              </a:ext>
            </a:extLst>
          </p:cNvPr>
          <p:cNvSpPr txBox="1"/>
          <p:nvPr/>
        </p:nvSpPr>
        <p:spPr>
          <a:xfrm>
            <a:off x="93946" y="6311683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www.tylervigen.com</a:t>
            </a:r>
            <a:r>
              <a:rPr lang="en-US" dirty="0"/>
              <a:t>/spurious-correlations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Does free food improve student research output?</a:t>
            </a:r>
            <a:endParaRPr dirty="0"/>
          </a:p>
        </p:txBody>
      </p:sp>
      <p:sp>
        <p:nvSpPr>
          <p:cNvPr id="143" name="Google Shape;143;p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Free food</a:t>
            </a:r>
            <a:endParaRPr b="1" dirty="0"/>
          </a:p>
        </p:txBody>
      </p:sp>
      <p:sp>
        <p:nvSpPr>
          <p:cNvPr id="144" name="Google Shape;144;p2"/>
          <p:cNvSpPr txBox="1">
            <a:spLocks noGrp="1"/>
          </p:cNvSpPr>
          <p:nvPr>
            <p:ph type="body" idx="4294967295"/>
          </p:nvPr>
        </p:nvSpPr>
        <p:spPr>
          <a:xfrm>
            <a:off x="8987118" y="3603251"/>
            <a:ext cx="266700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b="1" dirty="0"/>
              <a:t>Student research output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endParaRPr b="1" dirty="0"/>
          </a:p>
        </p:txBody>
      </p:sp>
      <p:sp>
        <p:nvSpPr>
          <p:cNvPr id="145" name="Google Shape;145;p2"/>
          <p:cNvSpPr txBox="1">
            <a:spLocks noGrp="1"/>
          </p:cNvSpPr>
          <p:nvPr>
            <p:ph type="body" idx="4294967295"/>
          </p:nvPr>
        </p:nvSpPr>
        <p:spPr>
          <a:xfrm>
            <a:off x="5934996" y="3050646"/>
            <a:ext cx="6127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?</a:t>
            </a:r>
            <a:endParaRPr b="1"/>
          </a:p>
        </p:txBody>
      </p:sp>
      <p:cxnSp>
        <p:nvCxnSpPr>
          <p:cNvPr id="146" name="Google Shape;146;p2"/>
          <p:cNvCxnSpPr/>
          <p:nvPr/>
        </p:nvCxnSpPr>
        <p:spPr>
          <a:xfrm>
            <a:off x="3850950" y="3985045"/>
            <a:ext cx="4490000" cy="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Does free food improve student research output?</a:t>
            </a:r>
            <a:endParaRPr dirty="0"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Free food</a:t>
            </a:r>
            <a:endParaRPr b="1" dirty="0"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4294967295"/>
          </p:nvPr>
        </p:nvSpPr>
        <p:spPr>
          <a:xfrm>
            <a:off x="8987118" y="3603251"/>
            <a:ext cx="266700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b="1" dirty="0"/>
              <a:t>Student research output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endParaRPr b="1" dirty="0"/>
          </a:p>
        </p:txBody>
      </p:sp>
      <p:sp>
        <p:nvSpPr>
          <p:cNvPr id="154" name="Google Shape;154;p27"/>
          <p:cNvSpPr txBox="1">
            <a:spLocks noGrp="1"/>
          </p:cNvSpPr>
          <p:nvPr>
            <p:ph type="body" idx="4294967295"/>
          </p:nvPr>
        </p:nvSpPr>
        <p:spPr>
          <a:xfrm>
            <a:off x="5934996" y="3050646"/>
            <a:ext cx="6127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?</a:t>
            </a:r>
            <a:endParaRPr b="1"/>
          </a:p>
        </p:txBody>
      </p:sp>
      <p:cxnSp>
        <p:nvCxnSpPr>
          <p:cNvPr id="155" name="Google Shape;155;p27"/>
          <p:cNvCxnSpPr/>
          <p:nvPr/>
        </p:nvCxnSpPr>
        <p:spPr>
          <a:xfrm>
            <a:off x="3850950" y="3985045"/>
            <a:ext cx="4490000" cy="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6" name="Google Shape;156;p27"/>
          <p:cNvSpPr txBox="1"/>
          <p:nvPr/>
        </p:nvSpPr>
        <p:spPr>
          <a:xfrm>
            <a:off x="4601996" y="1574039"/>
            <a:ext cx="2666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Confounders</a:t>
            </a:r>
            <a:endParaRPr sz="2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27"/>
          <p:cNvCxnSpPr>
            <a:stCxn id="156" idx="2"/>
          </p:cNvCxnSpPr>
          <p:nvPr/>
        </p:nvCxnSpPr>
        <p:spPr>
          <a:xfrm>
            <a:off x="5934996" y="2337639"/>
            <a:ext cx="2535900" cy="1196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" name="Google Shape;158;p27"/>
          <p:cNvCxnSpPr>
            <a:stCxn id="156" idx="2"/>
          </p:cNvCxnSpPr>
          <p:nvPr/>
        </p:nvCxnSpPr>
        <p:spPr>
          <a:xfrm flipH="1">
            <a:off x="3762096" y="2337639"/>
            <a:ext cx="2172900" cy="116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Does free food improve student research output?</a:t>
            </a:r>
            <a:endParaRPr dirty="0"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Free food</a:t>
            </a:r>
            <a:endParaRPr b="1" dirty="0"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4294967295"/>
          </p:nvPr>
        </p:nvSpPr>
        <p:spPr>
          <a:xfrm>
            <a:off x="8987118" y="3603251"/>
            <a:ext cx="266700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Student research output</a:t>
            </a:r>
            <a:endParaRPr b="1" dirty="0"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4294967295"/>
          </p:nvPr>
        </p:nvSpPr>
        <p:spPr>
          <a:xfrm>
            <a:off x="5934996" y="3050646"/>
            <a:ext cx="6127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?</a:t>
            </a:r>
            <a:endParaRPr b="1"/>
          </a:p>
        </p:txBody>
      </p:sp>
      <p:cxnSp>
        <p:nvCxnSpPr>
          <p:cNvPr id="167" name="Google Shape;167;p28"/>
          <p:cNvCxnSpPr/>
          <p:nvPr/>
        </p:nvCxnSpPr>
        <p:spPr>
          <a:xfrm>
            <a:off x="3850950" y="3985045"/>
            <a:ext cx="4490000" cy="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28"/>
          <p:cNvSpPr txBox="1"/>
          <p:nvPr/>
        </p:nvSpPr>
        <p:spPr>
          <a:xfrm>
            <a:off x="4601996" y="1574039"/>
            <a:ext cx="2666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Confounders</a:t>
            </a:r>
            <a:endParaRPr sz="2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28"/>
          <p:cNvCxnSpPr>
            <a:stCxn id="168" idx="2"/>
          </p:cNvCxnSpPr>
          <p:nvPr/>
        </p:nvCxnSpPr>
        <p:spPr>
          <a:xfrm>
            <a:off x="5934996" y="2337639"/>
            <a:ext cx="2535900" cy="1196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28"/>
          <p:cNvCxnSpPr>
            <a:stCxn id="168" idx="2"/>
          </p:cNvCxnSpPr>
          <p:nvPr/>
        </p:nvCxnSpPr>
        <p:spPr>
          <a:xfrm flipH="1">
            <a:off x="3762096" y="2337639"/>
            <a:ext cx="2172900" cy="116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1" name="Google Shape;171;p28"/>
          <p:cNvSpPr txBox="1"/>
          <p:nvPr/>
        </p:nvSpPr>
        <p:spPr>
          <a:xfrm>
            <a:off x="968667" y="4947600"/>
            <a:ext cx="9379600" cy="1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marR="0" lvl="0" indent="-457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Examples?</a:t>
            </a:r>
            <a:endParaRPr sz="2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Causal Research Design</a:t>
            </a:r>
            <a:endParaRPr/>
          </a:p>
        </p:txBody>
      </p:sp>
      <p:sp>
        <p:nvSpPr>
          <p:cNvPr id="177" name="Google Shape;177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lvl="0" indent="-457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Experiments</a:t>
            </a:r>
            <a:endParaRPr/>
          </a:p>
          <a:p>
            <a:pPr marL="609585" lvl="0" indent="-457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Quasi-experiments</a:t>
            </a:r>
            <a:endParaRPr/>
          </a:p>
          <a:p>
            <a:pPr marL="609585" lvl="0" indent="-4571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Observational studies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Experiment</a:t>
            </a:r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US" b="1" dirty="0"/>
              <a:t>Free food</a:t>
            </a:r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4294967295"/>
          </p:nvPr>
        </p:nvSpPr>
        <p:spPr>
          <a:xfrm>
            <a:off x="8987118" y="3603251"/>
            <a:ext cx="266700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Student research outputs</a:t>
            </a:r>
            <a:endParaRPr b="1" dirty="0"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4294967295"/>
          </p:nvPr>
        </p:nvSpPr>
        <p:spPr>
          <a:xfrm>
            <a:off x="5934996" y="3050646"/>
            <a:ext cx="6127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?</a:t>
            </a:r>
            <a:endParaRPr b="1"/>
          </a:p>
        </p:txBody>
      </p:sp>
      <p:cxnSp>
        <p:nvCxnSpPr>
          <p:cNvPr id="186" name="Google Shape;186;p29"/>
          <p:cNvCxnSpPr/>
          <p:nvPr/>
        </p:nvCxnSpPr>
        <p:spPr>
          <a:xfrm>
            <a:off x="3850950" y="3985045"/>
            <a:ext cx="4490000" cy="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7" name="Google Shape;187;p29"/>
          <p:cNvSpPr txBox="1"/>
          <p:nvPr/>
        </p:nvSpPr>
        <p:spPr>
          <a:xfrm>
            <a:off x="4601996" y="1574039"/>
            <a:ext cx="2666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Confounders</a:t>
            </a:r>
            <a:endParaRPr sz="2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9"/>
          <p:cNvCxnSpPr>
            <a:stCxn id="187" idx="2"/>
          </p:cNvCxnSpPr>
          <p:nvPr/>
        </p:nvCxnSpPr>
        <p:spPr>
          <a:xfrm>
            <a:off x="5934996" y="2337639"/>
            <a:ext cx="2535900" cy="1196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p29"/>
          <p:cNvSpPr txBox="1"/>
          <p:nvPr/>
        </p:nvSpPr>
        <p:spPr>
          <a:xfrm>
            <a:off x="712267" y="5499045"/>
            <a:ext cx="308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Researcher randomly assigns who get free food</a:t>
            </a:r>
            <a:endParaRPr dirty="0"/>
          </a:p>
        </p:txBody>
      </p:sp>
      <p:cxnSp>
        <p:nvCxnSpPr>
          <p:cNvPr id="190" name="Google Shape;190;p29"/>
          <p:cNvCxnSpPr>
            <a:stCxn id="189" idx="0"/>
          </p:cNvCxnSpPr>
          <p:nvPr/>
        </p:nvCxnSpPr>
        <p:spPr>
          <a:xfrm rot="10800000" flipH="1">
            <a:off x="2252867" y="4257945"/>
            <a:ext cx="1200" cy="1241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Quasi-Experimental</a:t>
            </a:r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2400"/>
              <a:buNone/>
            </a:pPr>
            <a:r>
              <a:rPr lang="en-US" b="1" dirty="0"/>
              <a:t>Free food</a:t>
            </a:r>
            <a:endParaRPr b="1" dirty="0"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4294967295"/>
          </p:nvPr>
        </p:nvSpPr>
        <p:spPr>
          <a:xfrm>
            <a:off x="8987118" y="3603251"/>
            <a:ext cx="266700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graduation</a:t>
            </a:r>
            <a:endParaRPr b="1"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4294967295"/>
          </p:nvPr>
        </p:nvSpPr>
        <p:spPr>
          <a:xfrm>
            <a:off x="5934996" y="3050646"/>
            <a:ext cx="6127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SzPts val="2400"/>
              <a:buNone/>
            </a:pPr>
            <a:r>
              <a:rPr lang="en-US" b="1"/>
              <a:t>?</a:t>
            </a:r>
            <a:endParaRPr b="1"/>
          </a:p>
        </p:txBody>
      </p:sp>
      <p:cxnSp>
        <p:nvCxnSpPr>
          <p:cNvPr id="199" name="Google Shape;199;p30"/>
          <p:cNvCxnSpPr/>
          <p:nvPr/>
        </p:nvCxnSpPr>
        <p:spPr>
          <a:xfrm>
            <a:off x="3850950" y="3985045"/>
            <a:ext cx="4490000" cy="5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0" name="Google Shape;200;p30"/>
          <p:cNvSpPr txBox="1"/>
          <p:nvPr/>
        </p:nvSpPr>
        <p:spPr>
          <a:xfrm>
            <a:off x="4601996" y="1574039"/>
            <a:ext cx="2666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rgbClr val="434343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Confounders</a:t>
            </a:r>
            <a:endParaRPr sz="2400" b="1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30"/>
          <p:cNvCxnSpPr>
            <a:stCxn id="200" idx="2"/>
          </p:cNvCxnSpPr>
          <p:nvPr/>
        </p:nvCxnSpPr>
        <p:spPr>
          <a:xfrm>
            <a:off x="5934996" y="2337639"/>
            <a:ext cx="2535900" cy="1196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p30"/>
          <p:cNvSpPr txBox="1"/>
          <p:nvPr/>
        </p:nvSpPr>
        <p:spPr>
          <a:xfrm>
            <a:off x="759767" y="5500667"/>
            <a:ext cx="308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2133"/>
              </a:spcAft>
              <a:buClr>
                <a:srgbClr val="434343"/>
              </a:buClr>
              <a:buSzPts val="2400"/>
            </a:pPr>
            <a:r>
              <a:rPr lang="en-US" sz="2400" b="1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Nature/World </a:t>
            </a:r>
            <a:r>
              <a:rPr lang="en-US" sz="2400" b="1" dirty="0">
                <a:solidFill>
                  <a:srgbClr val="434343"/>
                </a:solidFill>
              </a:rPr>
              <a:t>randomly assigns who get free food</a:t>
            </a:r>
            <a:endParaRPr dirty="0"/>
          </a:p>
        </p:txBody>
      </p:sp>
      <p:cxnSp>
        <p:nvCxnSpPr>
          <p:cNvPr id="203" name="Google Shape;203;p30"/>
          <p:cNvCxnSpPr>
            <a:stCxn id="202" idx="0"/>
          </p:cNvCxnSpPr>
          <p:nvPr/>
        </p:nvCxnSpPr>
        <p:spPr>
          <a:xfrm rot="10800000" flipH="1">
            <a:off x="2300367" y="4259567"/>
            <a:ext cx="1200" cy="1241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Causal inference with observational data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Matching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Difference-in-Difference (DID)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Regression Discontinuity Design (RDD)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Instrumental Variables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Limitations?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The Fundamental Problem</a:t>
            </a:r>
            <a:endParaRPr dirty="0"/>
          </a:p>
        </p:txBody>
      </p:sp>
      <p:pic>
        <p:nvPicPr>
          <p:cNvPr id="214" name="Google Shape;21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3319" y="1975660"/>
            <a:ext cx="6278560" cy="3657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246349"/>
            <a:ext cx="29210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0"/>
          <p:cNvPicPr preferRelativeResize="0"/>
          <p:nvPr/>
        </p:nvPicPr>
        <p:blipFill rotWithShape="1">
          <a:blip r:embed="rId4">
            <a:alphaModFix/>
          </a:blip>
          <a:srcRect l="21205" r="15692"/>
          <a:stretch/>
        </p:blipFill>
        <p:spPr>
          <a:xfrm>
            <a:off x="6815429" y="2"/>
            <a:ext cx="3707635" cy="3173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0368" y="3684578"/>
            <a:ext cx="3583489" cy="3173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0"/>
          <p:cNvPicPr preferRelativeResize="0"/>
          <p:nvPr/>
        </p:nvPicPr>
        <p:blipFill rotWithShape="1">
          <a:blip r:embed="rId6">
            <a:alphaModFix/>
          </a:blip>
          <a:srcRect l="13426" t="5505" r="39357" b="7126"/>
          <a:stretch/>
        </p:blipFill>
        <p:spPr>
          <a:xfrm>
            <a:off x="4445001" y="455535"/>
            <a:ext cx="1419463" cy="196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0"/>
          <p:cNvPicPr preferRelativeResize="0"/>
          <p:nvPr/>
        </p:nvPicPr>
        <p:blipFill rotWithShape="1">
          <a:blip r:embed="rId6">
            <a:alphaModFix/>
          </a:blip>
          <a:srcRect l="13426" t="5505" r="39357" b="7126"/>
          <a:stretch/>
        </p:blipFill>
        <p:spPr>
          <a:xfrm>
            <a:off x="4712151" y="4188669"/>
            <a:ext cx="1419463" cy="196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0"/>
          <p:cNvSpPr/>
          <p:nvPr/>
        </p:nvSpPr>
        <p:spPr>
          <a:xfrm>
            <a:off x="4080169" y="3684577"/>
            <a:ext cx="2605012" cy="2669939"/>
          </a:xfrm>
          <a:prstGeom prst="noSmoking">
            <a:avLst>
              <a:gd name="adj" fmla="val 18750"/>
            </a:avLst>
          </a:prstGeom>
          <a:solidFill>
            <a:srgbClr val="FF0000"/>
          </a:solidFill>
          <a:ln w="12700" cap="flat" cmpd="sng">
            <a:solidFill>
              <a:srgbClr val="DA541E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 b="1">
              <a:solidFill>
                <a:srgbClr val="D5D5BA"/>
              </a:solidFill>
            </a:endParaRPr>
          </a:p>
        </p:txBody>
      </p:sp>
      <p:cxnSp>
        <p:nvCxnSpPr>
          <p:cNvPr id="225" name="Google Shape;225;p40"/>
          <p:cNvCxnSpPr>
            <a:stCxn id="222" idx="3"/>
          </p:cNvCxnSpPr>
          <p:nvPr/>
        </p:nvCxnSpPr>
        <p:spPr>
          <a:xfrm rot="10800000" flipH="1">
            <a:off x="5864463" y="1432683"/>
            <a:ext cx="951000" cy="7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6" name="Google Shape;226;p40"/>
          <p:cNvCxnSpPr/>
          <p:nvPr/>
        </p:nvCxnSpPr>
        <p:spPr>
          <a:xfrm>
            <a:off x="5594332" y="4997997"/>
            <a:ext cx="1366035" cy="3256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1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1"/>
          <p:cNvSpPr/>
          <p:nvPr/>
        </p:nvSpPr>
        <p:spPr>
          <a:xfrm>
            <a:off x="1778000" y="358164"/>
            <a:ext cx="4347115" cy="4037469"/>
          </a:xfrm>
          <a:prstGeom prst="noSmoking">
            <a:avLst>
              <a:gd name="adj" fmla="val 1875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246349"/>
            <a:ext cx="29210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60368" y="3684578"/>
            <a:ext cx="3583489" cy="3173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 preferRelativeResize="0"/>
          <p:nvPr/>
        </p:nvPicPr>
        <p:blipFill rotWithShape="1">
          <a:blip r:embed="rId5">
            <a:alphaModFix/>
          </a:blip>
          <a:srcRect l="13426" t="5505" r="39357" b="7126"/>
          <a:stretch/>
        </p:blipFill>
        <p:spPr>
          <a:xfrm>
            <a:off x="4712151" y="4188669"/>
            <a:ext cx="1419463" cy="19698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2"/>
          <p:cNvSpPr/>
          <p:nvPr/>
        </p:nvSpPr>
        <p:spPr>
          <a:xfrm>
            <a:off x="4080169" y="3684577"/>
            <a:ext cx="2605012" cy="2669939"/>
          </a:xfrm>
          <a:prstGeom prst="noSmoking">
            <a:avLst>
              <a:gd name="adj" fmla="val 18750"/>
            </a:avLst>
          </a:prstGeom>
          <a:solidFill>
            <a:srgbClr val="FF0000"/>
          </a:solidFill>
          <a:ln w="12700" cap="flat" cmpd="sng">
            <a:solidFill>
              <a:srgbClr val="DA541E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 b="1">
              <a:solidFill>
                <a:srgbClr val="D5D5BA"/>
              </a:solidFill>
            </a:endParaRPr>
          </a:p>
        </p:txBody>
      </p:sp>
      <p:cxnSp>
        <p:nvCxnSpPr>
          <p:cNvPr id="241" name="Google Shape;241;p42"/>
          <p:cNvCxnSpPr/>
          <p:nvPr/>
        </p:nvCxnSpPr>
        <p:spPr>
          <a:xfrm>
            <a:off x="5594332" y="4997997"/>
            <a:ext cx="1366035" cy="3256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D6E6-9180-7FBE-D467-1CB6E614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41CF5-8998-1457-3847-B8723ED6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1379624"/>
            <a:ext cx="4714875" cy="4714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9228B-3478-B152-F7FD-62D0415D090D}"/>
              </a:ext>
            </a:extLst>
          </p:cNvPr>
          <p:cNvSpPr txBox="1"/>
          <p:nvPr/>
        </p:nvSpPr>
        <p:spPr>
          <a:xfrm>
            <a:off x="6215062" y="3429284"/>
            <a:ext cx="61150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hlinkClick r:id="rId3"/>
              </a:rPr>
              <a:t>https://bit.ly/3XppqtW</a:t>
            </a:r>
            <a:endParaRPr lang="en-US" sz="44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5264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So Many Ways to be Wrong</a:t>
            </a:r>
            <a:endParaRPr dirty="0"/>
          </a:p>
        </p:txBody>
      </p:sp>
      <p:sp>
        <p:nvSpPr>
          <p:cNvPr id="248" name="Google Shape;248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189" lvl="1" indent="0">
              <a:spcBef>
                <a:spcPts val="0"/>
              </a:spcBef>
              <a:buNone/>
            </a:pPr>
            <a:r>
              <a:rPr lang="en-US" b="1"/>
              <a:t>We observe A is correlated with B</a:t>
            </a:r>
            <a:endParaRPr/>
          </a:p>
          <a:p>
            <a:pPr marL="457189" lvl="1" indent="0">
              <a:spcBef>
                <a:spcPts val="400"/>
              </a:spcBef>
              <a:buNone/>
            </a:pPr>
            <a:r>
              <a:rPr lang="en-US"/>
              <a:t>It could be that A causes B</a:t>
            </a:r>
            <a:endParaRPr/>
          </a:p>
          <a:p>
            <a:pPr marL="457189" lvl="1" indent="0">
              <a:spcBef>
                <a:spcPts val="400"/>
              </a:spcBef>
              <a:buNone/>
            </a:pPr>
            <a:r>
              <a:rPr lang="en-US"/>
              <a:t>Or it could be that…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B causes A         (Reverse Causation)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C causes A &amp; B  (Common cause or External causation)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A causes B and C causes B (Multiple causation)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A causes C causes B (Indirect causation)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C causes A causes B (Reverse indirect causation)</a:t>
            </a:r>
            <a:endParaRPr/>
          </a:p>
          <a:p>
            <a:pPr marL="800080" lvl="1" indent="-342891">
              <a:spcBef>
                <a:spcPts val="400"/>
              </a:spcBef>
            </a:pPr>
            <a:r>
              <a:rPr lang="en-US"/>
              <a:t>A and B are unrelated (Chance)</a:t>
            </a:r>
            <a:endParaRPr/>
          </a:p>
          <a:p>
            <a:pPr marL="800080" lvl="1" indent="-215895">
              <a:spcBef>
                <a:spcPts val="400"/>
              </a:spcBef>
              <a:buNone/>
            </a:pPr>
            <a:endParaRPr/>
          </a:p>
          <a:p>
            <a:pPr marL="800080" lvl="1" indent="-215895">
              <a:spcBef>
                <a:spcPts val="40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REVERSE CAUSATION</a:t>
            </a:r>
            <a:br>
              <a:rPr lang="en-US"/>
            </a:br>
            <a:r>
              <a:rPr lang="en-US" sz="2000"/>
              <a:t>CHILDREN’S BMI AND PARENTAL RESTRICTIONS ON DIET </a:t>
            </a:r>
            <a:endParaRPr sz="20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AA59B-2BCB-0841-48CC-7E61AB3DB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9024" y="1523634"/>
            <a:ext cx="3573376" cy="5073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>
            <a:spLocks noGrp="1"/>
          </p:cNvSpPr>
          <p:nvPr>
            <p:ph type="title"/>
          </p:nvPr>
        </p:nvSpPr>
        <p:spPr>
          <a:xfrm>
            <a:off x="415600" y="7827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Confounding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9BA703-A526-7AF0-EEF6-28764113A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0" name="Google Shape;26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0900" y="2162845"/>
            <a:ext cx="541020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Common Cause</a:t>
            </a:r>
            <a:endParaRPr dirty="0"/>
          </a:p>
        </p:txBody>
      </p:sp>
      <p:pic>
        <p:nvPicPr>
          <p:cNvPr id="266" name="Google Shape;2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0629" y="1562847"/>
            <a:ext cx="7499587" cy="475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Common Trend</a:t>
            </a:r>
            <a:br>
              <a:rPr lang="en-US" dirty="0"/>
            </a:br>
            <a:r>
              <a:rPr lang="en-US" sz="1800" dirty="0"/>
              <a:t>IT’S JUST A MATTER OF TIME</a:t>
            </a:r>
            <a:endParaRPr sz="18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26446-B9A0-052B-F3ED-3A25847D5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2" name="Google Shape;27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0074" y="1519808"/>
            <a:ext cx="6853837" cy="445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Our Goal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8344D7-C7FF-8F60-F344-456FCCAAD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8" name="Google Shape;27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6772" y="2247900"/>
            <a:ext cx="8611707" cy="34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8"/>
          <p:cNvSpPr txBox="1"/>
          <p:nvPr/>
        </p:nvSpPr>
        <p:spPr>
          <a:xfrm>
            <a:off x="8492409" y="6593448"/>
            <a:ext cx="2035167" cy="26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>
                <a:solidFill>
                  <a:schemeClr val="dk1"/>
                </a:solidFill>
              </a:rPr>
              <a:t>Source: XKCD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MULTIPLE CAUSATION?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49025C-4045-EEA2-87B5-2F75391D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5" name="Google Shape;28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4107" y="1290586"/>
            <a:ext cx="6962871" cy="52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INDIRECT CAUSATION</a:t>
            </a:r>
            <a:endParaRPr/>
          </a:p>
        </p:txBody>
      </p:sp>
      <p:sp>
        <p:nvSpPr>
          <p:cNvPr id="291" name="Google Shape;291;p5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/>
            <a:r>
              <a:rPr lang="en-US"/>
              <a:t>Chicago Summer of Learning</a:t>
            </a:r>
            <a:endParaRPr/>
          </a:p>
        </p:txBody>
      </p:sp>
      <p:sp>
        <p:nvSpPr>
          <p:cNvPr id="292" name="Google Shape;292;p50"/>
          <p:cNvSpPr/>
          <p:nvPr/>
        </p:nvSpPr>
        <p:spPr>
          <a:xfrm>
            <a:off x="3115733" y="3522134"/>
            <a:ext cx="592667" cy="47413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777777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rgbClr val="FF0000"/>
              </a:solidFill>
            </a:endParaRPr>
          </a:p>
        </p:txBody>
      </p:sp>
      <p:sp>
        <p:nvSpPr>
          <p:cNvPr id="293" name="Google Shape;293;p50"/>
          <p:cNvSpPr/>
          <p:nvPr/>
        </p:nvSpPr>
        <p:spPr>
          <a:xfrm>
            <a:off x="3911601" y="3522134"/>
            <a:ext cx="592667" cy="47413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777777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rgbClr val="FF0000"/>
              </a:solidFill>
            </a:endParaRPr>
          </a:p>
        </p:txBody>
      </p:sp>
      <p:sp>
        <p:nvSpPr>
          <p:cNvPr id="294" name="Google Shape;294;p50"/>
          <p:cNvSpPr/>
          <p:nvPr/>
        </p:nvSpPr>
        <p:spPr>
          <a:xfrm>
            <a:off x="4758267" y="3522134"/>
            <a:ext cx="592667" cy="47413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777777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rgbClr val="FF0000"/>
              </a:solidFill>
            </a:endParaRPr>
          </a:p>
        </p:txBody>
      </p:sp>
      <p:sp>
        <p:nvSpPr>
          <p:cNvPr id="295" name="Google Shape;295;p50"/>
          <p:cNvSpPr/>
          <p:nvPr/>
        </p:nvSpPr>
        <p:spPr>
          <a:xfrm>
            <a:off x="5672668" y="3522134"/>
            <a:ext cx="592667" cy="47413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777777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rgbClr val="FF0000"/>
              </a:solidFill>
            </a:endParaRPr>
          </a:p>
        </p:txBody>
      </p:sp>
      <p:sp>
        <p:nvSpPr>
          <p:cNvPr id="296" name="Google Shape;296;p50"/>
          <p:cNvSpPr/>
          <p:nvPr/>
        </p:nvSpPr>
        <p:spPr>
          <a:xfrm>
            <a:off x="6553201" y="3513666"/>
            <a:ext cx="592667" cy="48260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 cap="flat" cmpd="sng">
            <a:solidFill>
              <a:srgbClr val="777777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OMITTED VARIABLE BIAS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FBF5DA-37C3-76D5-BDA0-F1D1E4998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2" name="Google Shape;302;p51"/>
          <p:cNvSpPr txBox="1"/>
          <p:nvPr/>
        </p:nvSpPr>
        <p:spPr>
          <a:xfrm>
            <a:off x="1981200" y="2057485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2"/>
              </a:buClr>
              <a:buSzPts val="3600"/>
            </a:pPr>
            <a:r>
              <a:rPr lang="en-US" sz="36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SELECTION BIAS</a:t>
            </a:r>
            <a:endParaRPr sz="36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3" name="Google Shape;303;p51"/>
          <p:cNvSpPr txBox="1"/>
          <p:nvPr/>
        </p:nvSpPr>
        <p:spPr>
          <a:xfrm>
            <a:off x="2013763" y="5197632"/>
            <a:ext cx="77973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2"/>
              </a:buClr>
              <a:buSzPts val="3600"/>
            </a:pPr>
            <a:r>
              <a:rPr lang="en-US" sz="36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SINGULAR VARIABLE BIAS</a:t>
            </a:r>
            <a:endParaRPr sz="36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>
              <a:buClr>
                <a:schemeClr val="dk2"/>
              </a:buClr>
              <a:buSzPts val="3600"/>
            </a:pPr>
            <a:endParaRPr sz="36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>
              <a:buClr>
                <a:schemeClr val="dk2"/>
              </a:buClr>
              <a:buSzPts val="3600"/>
            </a:pPr>
            <a:r>
              <a:rPr lang="en-US" sz="36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INDIRECT CAUSATION</a:t>
            </a:r>
            <a:endParaRPr sz="36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4" name="Google Shape;304;p51"/>
          <p:cNvSpPr txBox="1"/>
          <p:nvPr/>
        </p:nvSpPr>
        <p:spPr>
          <a:xfrm>
            <a:off x="2013764" y="3103484"/>
            <a:ext cx="779743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2"/>
              </a:buClr>
              <a:buSzPts val="3600"/>
            </a:pPr>
            <a:r>
              <a:rPr lang="en-US" sz="36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MEASUREMENT ERROR/BIAS</a:t>
            </a:r>
            <a:endParaRPr sz="360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CHANCE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21EF44-3DF5-FA07-D3F4-B7A04C211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0" name="Google Shape;31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1524319"/>
            <a:ext cx="3810000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>
            <a:spLocks noGrp="1"/>
          </p:cNvSpPr>
          <p:nvPr>
            <p:ph type="title"/>
          </p:nvPr>
        </p:nvSpPr>
        <p:spPr>
          <a:xfrm>
            <a:off x="415600" y="315163"/>
            <a:ext cx="117764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DEALING WITH CHANCE:</a:t>
            </a:r>
            <a:br>
              <a:rPr lang="en-US" dirty="0"/>
            </a:br>
            <a:r>
              <a:rPr lang="en-US" dirty="0"/>
              <a:t>STATISTICAL INFERENCE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58AA86-2E4C-34E2-8279-646237102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6" name="Google Shape;31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9661" y="1866900"/>
            <a:ext cx="6243500" cy="438297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3"/>
          <p:cNvSpPr txBox="1"/>
          <p:nvPr/>
        </p:nvSpPr>
        <p:spPr>
          <a:xfrm>
            <a:off x="7629498" y="6398087"/>
            <a:ext cx="3038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>
                <a:solidFill>
                  <a:schemeClr val="dk1"/>
                </a:solidFill>
              </a:rPr>
              <a:t>Source: cvsg.k12.va.us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>
            <a:spLocks noGrp="1"/>
          </p:cNvSpPr>
          <p:nvPr>
            <p:ph type="title"/>
          </p:nvPr>
        </p:nvSpPr>
        <p:spPr>
          <a:xfrm>
            <a:off x="143457" y="293392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“Tricks” developed by different scientific disciplines over the years</a:t>
            </a:r>
            <a:endParaRPr dirty="0"/>
          </a:p>
        </p:txBody>
      </p:sp>
      <p:sp>
        <p:nvSpPr>
          <p:cNvPr id="323" name="Google Shape;323;p5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Unexpected Shocks (Natural Experiments)</a:t>
            </a:r>
            <a:endParaRPr dirty="0"/>
          </a:p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Instrumental Variables</a:t>
            </a:r>
            <a:endParaRPr dirty="0"/>
          </a:p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Cutoffs (Regression discontinuity)</a:t>
            </a:r>
          </a:p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Matching (comparing to similar units/people)</a:t>
            </a:r>
          </a:p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Differences in differences</a:t>
            </a:r>
            <a:endParaRPr dirty="0"/>
          </a:p>
          <a:p>
            <a:pPr marL="342891" indent="-342891">
              <a:spcBef>
                <a:spcPts val="1000"/>
              </a:spcBef>
              <a:buFont typeface="Arial"/>
              <a:buChar char="•"/>
            </a:pPr>
            <a:r>
              <a:rPr lang="en-US" dirty="0"/>
              <a:t>Controlling for other sources of variability</a:t>
            </a:r>
            <a:endParaRPr dirty="0"/>
          </a:p>
          <a:p>
            <a:pPr marL="0" indent="0">
              <a:spcBef>
                <a:spcPts val="1000"/>
              </a:spcBef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74c861a4ed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Regression Discontinuity</a:t>
            </a:r>
            <a:endParaRPr dirty="0"/>
          </a:p>
        </p:txBody>
      </p:sp>
      <p:pic>
        <p:nvPicPr>
          <p:cNvPr id="233" name="Google Shape;233;g74c861a4e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75" y="1465663"/>
            <a:ext cx="832485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74c861a4ed_0_0"/>
          <p:cNvSpPr txBox="1"/>
          <p:nvPr/>
        </p:nvSpPr>
        <p:spPr>
          <a:xfrm>
            <a:off x="0" y="6363600"/>
            <a:ext cx="11515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https://www.mdrc.org/sites/default/files/RDD%20Guide_Full%20rev%202016_0.pdf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4c861a4ed_0_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Regression Discontinuity</a:t>
            </a:r>
            <a:endParaRPr dirty="0"/>
          </a:p>
        </p:txBody>
      </p:sp>
      <p:pic>
        <p:nvPicPr>
          <p:cNvPr id="240" name="Google Shape;240;g74c861a4e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38" y="1520138"/>
            <a:ext cx="831532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74c861a4ed_0_6"/>
          <p:cNvSpPr txBox="1"/>
          <p:nvPr/>
        </p:nvSpPr>
        <p:spPr>
          <a:xfrm>
            <a:off x="0" y="6363600"/>
            <a:ext cx="11515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https://www.mdrc.org/sites/default/files/RDD%20Guide_Full%20rev%202016_0.pdf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3FE8-614A-2402-AF36-836C2FF1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RDD: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5471A-D501-B5BC-1674-9A66939F8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455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B56E-75FF-3FED-AEB6-578E02C2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Instrumental Variables: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98EE8-CA4D-5A3B-EDFD-22B270C2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Education &amp; Returns to Schooling (Angrist &amp; Krueger, 1991)</a:t>
            </a:r>
          </a:p>
          <a:p>
            <a:pPr lvl="1"/>
            <a:r>
              <a:rPr lang="en-US" b="1" dirty="0"/>
              <a:t>Question:</a:t>
            </a:r>
            <a:r>
              <a:rPr lang="en-US" dirty="0"/>
              <a:t> Does more compulsory schooling cause higher earnings?</a:t>
            </a:r>
          </a:p>
          <a:p>
            <a:pPr lvl="1"/>
            <a:r>
              <a:rPr lang="en-US" b="1" dirty="0"/>
              <a:t>Design:</a:t>
            </a:r>
            <a:r>
              <a:rPr lang="en-US" dirty="0"/>
              <a:t> Uses quarter-of-birth as IV for educational attainment (compulsory schooling laws).</a:t>
            </a:r>
          </a:p>
          <a:p>
            <a:pPr lvl="1"/>
            <a:r>
              <a:rPr lang="en-US" b="1" dirty="0"/>
              <a:t>Ref:</a:t>
            </a:r>
            <a:r>
              <a:rPr lang="en-US" dirty="0"/>
              <a:t> Summarized in Angrist (1996) </a:t>
            </a:r>
            <a:r>
              <a:rPr lang="en-US" i="1" dirty="0"/>
              <a:t>Identification of Causal Effects Using Instrumental Variables.</a:t>
            </a:r>
            <a:r>
              <a:rPr lang="en-US" dirty="0"/>
              <a:t> JASA. </a:t>
            </a:r>
          </a:p>
          <a:p>
            <a:pPr lvl="1"/>
            <a:endParaRPr lang="en-US" dirty="0"/>
          </a:p>
          <a:p>
            <a:pPr marL="56515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22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45A1-97C8-8B91-5C03-240BF105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Experiments: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394FB-D166-2653-B67C-6467330A6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Seat Belt Laws</a:t>
            </a:r>
          </a:p>
          <a:p>
            <a:pPr lvl="1"/>
            <a:r>
              <a:rPr lang="en-US" b="1" dirty="0"/>
              <a:t>Question:</a:t>
            </a:r>
            <a:r>
              <a:rPr lang="en-US" dirty="0"/>
              <a:t> Do mandatory seat belt laws reduce fatalities?</a:t>
            </a:r>
          </a:p>
          <a:p>
            <a:pPr lvl="1"/>
            <a:r>
              <a:rPr lang="en-US" b="1" dirty="0"/>
              <a:t>Design:</a:t>
            </a:r>
            <a:r>
              <a:rPr lang="en-US" dirty="0"/>
              <a:t> Exploit staggered adoption and enforcement intensity as policy shocks.</a:t>
            </a:r>
          </a:p>
          <a:p>
            <a:pPr lvl="1"/>
            <a:r>
              <a:rPr lang="en-US" b="1" dirty="0"/>
              <a:t>Ref:</a:t>
            </a:r>
            <a:r>
              <a:rPr lang="en-US" dirty="0"/>
              <a:t> Cohen, A., &amp; Einav, L. (2003). </a:t>
            </a:r>
            <a:r>
              <a:rPr lang="en-US" i="1" dirty="0"/>
              <a:t>The Effects of Mandatory Seat Belt Laws on Driving Behavior and Traffic Fatalities.</a:t>
            </a:r>
            <a:r>
              <a:rPr lang="en-US" dirty="0"/>
              <a:t> RESTAT.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80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Some Readings</a:t>
            </a:r>
            <a:endParaRPr/>
          </a:p>
        </p:txBody>
      </p:sp>
      <p:sp>
        <p:nvSpPr>
          <p:cNvPr id="284" name="Google Shape;284;p3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Tutorial</a:t>
            </a:r>
            <a:endParaRPr lang="en-US" u="sng" dirty="0">
              <a:solidFill>
                <a:schemeClr val="hlink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Short textbook: Mostly Harmless Econometrics</a:t>
            </a:r>
            <a:endParaRPr lang="en-US" u="sng" dirty="0">
              <a:solidFill>
                <a:schemeClr val="hlink"/>
              </a:solidFill>
              <a:hlinkClick r:id="rId5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References on causal inference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6"/>
              </a:rPr>
              <a:t>The seven tools of causal inference, with reflections on machine learning</a:t>
            </a:r>
            <a:r>
              <a:rPr lang="en-US" dirty="0"/>
              <a:t> by Pearl, J. Comm ACM. 2019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7"/>
              </a:rPr>
              <a:t>Elements of Causal Inference</a:t>
            </a:r>
            <a:r>
              <a:rPr lang="en-US" dirty="0"/>
              <a:t> by Peters et al. MIT Press. (Open Access Text)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Counterfactuals and Causal Inference: Methods and Principles for Social Research by Morgan and Winship. Cambridge University Press.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Data Analysis Using Regression and Multilevel/Hierarchical Models by Gelman and Hill. Cambridge University Press.</a:t>
            </a: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888</Words>
  <Application>Microsoft Macintosh PowerPoint</Application>
  <PresentationFormat>Widescreen</PresentationFormat>
  <Paragraphs>199</Paragraphs>
  <Slides>37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 Narrow</vt:lpstr>
      <vt:lpstr>Arial</vt:lpstr>
      <vt:lpstr>Arial Black</vt:lpstr>
      <vt:lpstr>Calibri</vt:lpstr>
      <vt:lpstr>Cambria Math</vt:lpstr>
      <vt:lpstr>Simple Light</vt:lpstr>
      <vt:lpstr>PowerPoint Presentation</vt:lpstr>
      <vt:lpstr>Reminders</vt:lpstr>
      <vt:lpstr>Grading</vt:lpstr>
      <vt:lpstr>Things to cover today</vt:lpstr>
      <vt:lpstr>Need for Causal Inference</vt:lpstr>
      <vt:lpstr>Counterfactual Framework</vt:lpstr>
      <vt:lpstr>PowerPoint Presentation</vt:lpstr>
      <vt:lpstr>Does free food improve student research output?</vt:lpstr>
      <vt:lpstr>Does free food improve student research output?</vt:lpstr>
      <vt:lpstr>Does free food improve student research output?</vt:lpstr>
      <vt:lpstr>Causal Research Design</vt:lpstr>
      <vt:lpstr>Experiment</vt:lpstr>
      <vt:lpstr>Quasi-Experimental</vt:lpstr>
      <vt:lpstr>Causal inference with observational data</vt:lpstr>
      <vt:lpstr>The Fundamental Problem</vt:lpstr>
      <vt:lpstr>PowerPoint Presentation</vt:lpstr>
      <vt:lpstr>PowerPoint Presentation</vt:lpstr>
      <vt:lpstr>PowerPoint Presentation</vt:lpstr>
      <vt:lpstr>Group Exercise</vt:lpstr>
      <vt:lpstr>So Many Ways to be Wrong</vt:lpstr>
      <vt:lpstr>REVERSE CAUSATION CHILDREN’S BMI AND PARENTAL RESTRICTIONS ON DIET </vt:lpstr>
      <vt:lpstr>Confounding</vt:lpstr>
      <vt:lpstr>Common Cause</vt:lpstr>
      <vt:lpstr>Common Trend IT’S JUST A MATTER OF TIME</vt:lpstr>
      <vt:lpstr>Our Goal</vt:lpstr>
      <vt:lpstr>MULTIPLE CAUSATION?</vt:lpstr>
      <vt:lpstr>INDIRECT CAUSATION</vt:lpstr>
      <vt:lpstr>OMITTED VARIABLE BIAS</vt:lpstr>
      <vt:lpstr>CHANCE</vt:lpstr>
      <vt:lpstr>DEALING WITH CHANCE: STATISTICAL INFERENCE</vt:lpstr>
      <vt:lpstr>“Tricks” developed by different scientific disciplines over the years</vt:lpstr>
      <vt:lpstr>Regression Discontinuity</vt:lpstr>
      <vt:lpstr>Regression Discontinuity</vt:lpstr>
      <vt:lpstr>RDD: Examples</vt:lpstr>
      <vt:lpstr>Instrumental Variables: Examples</vt:lpstr>
      <vt:lpstr>Natural Experiments: Examples</vt:lpstr>
      <vt:lpstr>Some 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19</cp:revision>
  <dcterms:created xsi:type="dcterms:W3CDTF">2020-01-14T19:43:43Z</dcterms:created>
  <dcterms:modified xsi:type="dcterms:W3CDTF">2025-11-11T19:42:13Z</dcterms:modified>
</cp:coreProperties>
</file>