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604" r:id="rId3"/>
    <p:sldId id="323" r:id="rId4"/>
    <p:sldId id="611" r:id="rId5"/>
    <p:sldId id="619" r:id="rId6"/>
    <p:sldId id="605" r:id="rId7"/>
    <p:sldId id="628" r:id="rId8"/>
    <p:sldId id="636" r:id="rId9"/>
    <p:sldId id="632" r:id="rId10"/>
    <p:sldId id="633" r:id="rId11"/>
    <p:sldId id="609" r:id="rId12"/>
    <p:sldId id="629" r:id="rId13"/>
    <p:sldId id="634" r:id="rId14"/>
    <p:sldId id="638" r:id="rId15"/>
    <p:sldId id="639" r:id="rId16"/>
    <p:sldId id="631" r:id="rId17"/>
    <p:sldId id="630" r:id="rId18"/>
    <p:sldId id="635" r:id="rId19"/>
    <p:sldId id="637" r:id="rId20"/>
  </p:sldIdLst>
  <p:sldSz cx="12192000" cy="6858000"/>
  <p:notesSz cx="6858000" cy="9144000"/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59"/>
    <p:restoredTop sz="71001"/>
  </p:normalViewPr>
  <p:slideViewPr>
    <p:cSldViewPr snapToGrid="0" snapToObjects="1">
      <p:cViewPr varScale="1">
        <p:scale>
          <a:sx n="93" d="100"/>
          <a:sy n="93" d="100"/>
        </p:scale>
        <p:origin x="6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4561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75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40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6321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737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A2DB7-A1E1-0847-6E19-E4F407EF723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slabs/deeq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lops.community/learn/monitoring/" TargetMode="External"/><Relationship Id="rId4" Type="http://schemas.openxmlformats.org/officeDocument/2006/relationships/hyperlink" Target="https://github.com/great-expectations/great_expectation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ldonIO/alibi-detec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Dealing with Temporal Drift and Domain Shift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Coming up:</a:t>
            </a:r>
          </a:p>
          <a:p>
            <a:r>
              <a:rPr lang="en-US" dirty="0"/>
              <a:t>Classes</a:t>
            </a:r>
          </a:p>
          <a:p>
            <a:pPr lvl="1"/>
            <a:r>
              <a:rPr lang="en-US" dirty="0"/>
              <a:t>ML Ops (next week) – skim through the readings to have a class discussion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Submit your updates anytime before Dec 2 to get full points</a:t>
            </a:r>
          </a:p>
          <a:p>
            <a:pPr lvl="1"/>
            <a:r>
              <a:rPr lang="en-US" dirty="0"/>
              <a:t>Module 2 assignment due Dec 2</a:t>
            </a:r>
          </a:p>
          <a:p>
            <a:pPr lvl="1"/>
            <a:r>
              <a:rPr lang="en-US" dirty="0"/>
              <a:t>Presentations on Dec 2 and 4 (will announce slots Thursday – randomly assigned)</a:t>
            </a:r>
          </a:p>
          <a:p>
            <a:pPr lvl="1"/>
            <a:r>
              <a:rPr lang="en-US" dirty="0"/>
              <a:t>Final reflection writeup due Dec 10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1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804679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2527C77-CBC3-2DB6-9C93-199C8C2D1307}"/>
              </a:ext>
            </a:extLst>
          </p:cNvPr>
          <p:cNvSpPr/>
          <p:nvPr/>
        </p:nvSpPr>
        <p:spPr>
          <a:xfrm>
            <a:off x="9397287" y="214278"/>
            <a:ext cx="2614246" cy="42782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37C83-FFC1-255E-705D-9FE5C8BCE2CA}"/>
              </a:ext>
            </a:extLst>
          </p:cNvPr>
          <p:cNvSpPr/>
          <p:nvPr/>
        </p:nvSpPr>
        <p:spPr>
          <a:xfrm>
            <a:off x="0" y="4835236"/>
            <a:ext cx="5846618" cy="18083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0744E6-4AFC-42B1-0F72-5670E4A19CC2}"/>
              </a:ext>
            </a:extLst>
          </p:cNvPr>
          <p:cNvSpPr/>
          <p:nvPr/>
        </p:nvSpPr>
        <p:spPr>
          <a:xfrm>
            <a:off x="3057646" y="214278"/>
            <a:ext cx="2614246" cy="18083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B8545-304B-A84D-214F-4A0C1396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today: Temporal Drift and Distribution Shift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9AA26-5164-F7C3-54D2-88E4C519A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/>
              <a:t>Why do we care about it?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What is it?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Why it happens?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How can we detect it?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How can we deal with it?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3050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6632-D8B0-CEF7-8EA2-53F0F616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0" y="27948"/>
            <a:ext cx="11776400" cy="763500"/>
          </a:xfrm>
        </p:spPr>
        <p:txBody>
          <a:bodyPr/>
          <a:lstStyle/>
          <a:p>
            <a:r>
              <a:rPr lang="en-US" sz="3600" dirty="0"/>
              <a:t>Why do we care about temporal/domain drift/shift in ML?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89F14-AB93-483D-1816-98B9BF62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Go back to our conversation on failures of ML Systems</a:t>
            </a:r>
          </a:p>
          <a:p>
            <a:endParaRPr lang="en-US" sz="3200" dirty="0"/>
          </a:p>
          <a:p>
            <a:r>
              <a:rPr lang="en-US" sz="3200" dirty="0"/>
              <a:t>Examples</a:t>
            </a:r>
          </a:p>
          <a:p>
            <a:pPr lvl="1"/>
            <a:r>
              <a:rPr lang="en-US" sz="2400" dirty="0"/>
              <a:t>Fraud</a:t>
            </a:r>
          </a:p>
          <a:p>
            <a:pPr lvl="1"/>
            <a:r>
              <a:rPr lang="en-US" sz="2400" dirty="0"/>
              <a:t>Covid</a:t>
            </a:r>
          </a:p>
          <a:p>
            <a:pPr lvl="1"/>
            <a:r>
              <a:rPr lang="en-US" sz="2400" dirty="0"/>
              <a:t>Trump</a:t>
            </a:r>
          </a:p>
          <a:p>
            <a:pPr lvl="1"/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171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3B2EA3-0D65-D7D9-C73E-03FE99F4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Drift and Shifts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7FC60AF-9A6C-A7D8-B1E1-B8F2AE8DF4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2626357"/>
                <a:ext cx="8714332" cy="3633766"/>
              </a:xfrm>
            </p:spPr>
            <p:txBody>
              <a:bodyPr/>
              <a:lstStyle/>
              <a:p>
                <a:r>
                  <a:rPr lang="en-US" dirty="0"/>
                  <a:t>Covariate/Feature Shift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​(x)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​(x)</a:t>
                </a:r>
              </a:p>
              <a:p>
                <a:r>
                  <a:rPr lang="en-US" dirty="0"/>
                  <a:t>Label Distribution Shift 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​(y)</a:t>
                </a:r>
              </a:p>
              <a:p>
                <a:r>
                  <a:rPr lang="en-US" dirty="0"/>
                  <a:t>Concept Drift                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</a:t>
                </a:r>
                <a:r>
                  <a:rPr lang="en-US" dirty="0" err="1"/>
                  <a:t>y|x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</a:t>
                </a:r>
                <a:r>
                  <a:rPr lang="en-US" dirty="0" err="1"/>
                  <a:t>y|x</a:t>
                </a:r>
                <a:r>
                  <a:rPr lang="en-US" dirty="0"/>
                  <a:t>) </a:t>
                </a:r>
              </a:p>
              <a:p>
                <a:endParaRPr lang="en-US" dirty="0"/>
              </a:p>
              <a:p>
                <a:pPr marL="76200" indent="0">
                  <a:buNone/>
                </a:pPr>
                <a:endParaRPr lang="en-US" dirty="0"/>
              </a:p>
              <a:p>
                <a:r>
                  <a:rPr lang="en-US" dirty="0"/>
                  <a:t>Domain Shift</a:t>
                </a:r>
              </a:p>
              <a:p>
                <a:r>
                  <a:rPr lang="en-US" dirty="0"/>
                  <a:t>Temporal Drift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7FC60AF-9A6C-A7D8-B1E1-B8F2AE8DF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2626357"/>
                <a:ext cx="8714332" cy="36337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F42873-2D37-DE20-DF9A-A8CE9A624EDB}"/>
                  </a:ext>
                </a:extLst>
              </p:cNvPr>
              <p:cNvSpPr txBox="1"/>
              <p:nvPr/>
            </p:nvSpPr>
            <p:spPr>
              <a:xfrm>
                <a:off x="2999933" y="1406770"/>
                <a:ext cx="742422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 err="1"/>
                  <a:t>p</a:t>
                </a:r>
                <a:r>
                  <a:rPr lang="en-US" sz="2800" baseline="-25000" dirty="0" err="1"/>
                  <a:t>train</a:t>
                </a:r>
                <a:r>
                  <a:rPr lang="en-US" sz="4000" dirty="0"/>
                  <a:t>​(</a:t>
                </a:r>
                <a:r>
                  <a:rPr lang="en-US" sz="4000" dirty="0" err="1"/>
                  <a:t>x,y</a:t>
                </a:r>
                <a:r>
                  <a:rPr lang="en-US" sz="4000" dirty="0"/>
                  <a:t>)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4000" dirty="0"/>
                  <a:t> p</a:t>
                </a:r>
                <a:r>
                  <a:rPr lang="en-US" sz="4000" baseline="-25000" dirty="0"/>
                  <a:t>test</a:t>
                </a:r>
                <a:r>
                  <a:rPr lang="en-US" sz="4000" dirty="0"/>
                  <a:t>​(</a:t>
                </a:r>
                <a:r>
                  <a:rPr lang="en-US" sz="4000" dirty="0" err="1"/>
                  <a:t>x,y</a:t>
                </a:r>
                <a:r>
                  <a:rPr lang="en-US" sz="40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F42873-2D37-DE20-DF9A-A8CE9A62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933" y="1406770"/>
                <a:ext cx="7424225" cy="707886"/>
              </a:xfrm>
              <a:prstGeom prst="rect">
                <a:avLst/>
              </a:prstGeom>
              <a:blipFill>
                <a:blip r:embed="rId3"/>
                <a:stretch>
                  <a:fillRect l="-2906" t="-14035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1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D99-5E66-A96A-69E7-9F471AC83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on examples on different types of drift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DED63-5264-678A-E5FD-5C8BAFDFA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96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4CE95-8A6B-7716-38EB-82B6BB1ABC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25E0A-2503-4D39-4887-415E5F87442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Can you give an example in the real world of each type of drift happening?
Feature Drift
Label Distribution Drift
Concept Drift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CD91D-443F-0634-7C25-F6AAE6948FB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64F942C-8F34-BCD6-633F-6FEB1E599A3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EF16307-01B5-054A-5320-9709527048A8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3FB6A5-0AEF-D8F0-429B-58377B51C54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546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1CB0-2361-A52B-8718-195B831D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741EE6-B63A-7B70-1844-41F290C6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Drift and Shifts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8DEF046-E8E6-338C-1263-89BEEE57CA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599" y="2626357"/>
                <a:ext cx="11360699" cy="3633766"/>
              </a:xfrm>
            </p:spPr>
            <p:txBody>
              <a:bodyPr/>
              <a:lstStyle/>
              <a:p>
                <a:r>
                  <a:rPr lang="en-US" dirty="0"/>
                  <a:t>Covariate/Feature Shift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​(x)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​(x)  -  customer mix changes</a:t>
                </a:r>
              </a:p>
              <a:p>
                <a:r>
                  <a:rPr lang="en-US" dirty="0"/>
                  <a:t>Label Distribution Shift 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​(y) – disease prevalence changes</a:t>
                </a:r>
              </a:p>
              <a:p>
                <a:r>
                  <a:rPr lang="en-US" dirty="0"/>
                  <a:t>Concept Drift                    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</a:t>
                </a:r>
                <a:r>
                  <a:rPr lang="en-US" dirty="0" err="1"/>
                  <a:t>y|x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</a:t>
                </a:r>
                <a:r>
                  <a:rPr lang="en-US" baseline="-25000" dirty="0"/>
                  <a:t>test</a:t>
                </a:r>
                <a:r>
                  <a:rPr lang="en-US" dirty="0"/>
                  <a:t>​(</a:t>
                </a:r>
                <a:r>
                  <a:rPr lang="en-US" dirty="0" err="1"/>
                  <a:t>y|x</a:t>
                </a:r>
                <a:r>
                  <a:rPr lang="en-US" dirty="0"/>
                  <a:t>) – behavior changes</a:t>
                </a:r>
              </a:p>
              <a:p>
                <a:endParaRPr lang="en-US" dirty="0"/>
              </a:p>
              <a:p>
                <a:pPr marL="76200" indent="0">
                  <a:buNone/>
                </a:pPr>
                <a:endParaRPr lang="en-US" dirty="0"/>
              </a:p>
              <a:p>
                <a:r>
                  <a:rPr lang="en-US" dirty="0"/>
                  <a:t>Domain Shift.   - new sensors</a:t>
                </a:r>
              </a:p>
              <a:p>
                <a:r>
                  <a:rPr lang="en-US" dirty="0"/>
                  <a:t>Temporal Drift – vaccines get better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8DEF046-E8E6-338C-1263-89BEEE57CA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599" y="2626357"/>
                <a:ext cx="11360699" cy="36337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FF072E-B418-88EB-3A7E-CC6FFF676F72}"/>
                  </a:ext>
                </a:extLst>
              </p:cNvPr>
              <p:cNvSpPr txBox="1"/>
              <p:nvPr/>
            </p:nvSpPr>
            <p:spPr>
              <a:xfrm>
                <a:off x="2999933" y="1406770"/>
                <a:ext cx="742422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 err="1"/>
                  <a:t>p</a:t>
                </a:r>
                <a:r>
                  <a:rPr lang="en-US" sz="2800" baseline="-25000" dirty="0" err="1"/>
                  <a:t>train</a:t>
                </a:r>
                <a:r>
                  <a:rPr lang="en-US" sz="4000" dirty="0"/>
                  <a:t>​(</a:t>
                </a:r>
                <a:r>
                  <a:rPr lang="en-US" sz="4000" dirty="0" err="1"/>
                  <a:t>x,y</a:t>
                </a:r>
                <a:r>
                  <a:rPr lang="en-US" sz="4000" dirty="0"/>
                  <a:t>)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4000" dirty="0"/>
                  <a:t> p</a:t>
                </a:r>
                <a:r>
                  <a:rPr lang="en-US" sz="4000" baseline="-25000" dirty="0"/>
                  <a:t>test</a:t>
                </a:r>
                <a:r>
                  <a:rPr lang="en-US" sz="4000" dirty="0"/>
                  <a:t>​(</a:t>
                </a:r>
                <a:r>
                  <a:rPr lang="en-US" sz="4000" dirty="0" err="1"/>
                  <a:t>x,y</a:t>
                </a:r>
                <a:r>
                  <a:rPr lang="en-US" sz="40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FF072E-B418-88EB-3A7E-CC6FFF676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933" y="1406770"/>
                <a:ext cx="7424225" cy="707886"/>
              </a:xfrm>
              <a:prstGeom prst="rect">
                <a:avLst/>
              </a:prstGeom>
              <a:blipFill>
                <a:blip r:embed="rId3"/>
                <a:stretch>
                  <a:fillRect l="-2906" t="-14035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35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8D2C6-E831-EA12-E846-56BB808A1B3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11877675" cy="76595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Behavioral changes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User preferences evolve.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fraud tactics change.</a:t>
            </a:r>
          </a:p>
          <a:p>
            <a:pPr marL="914400" lvl="3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Patients respond differently to treatment as medicine changes.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External shocks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COVID, recessions, regulatory shifts, natural disasters.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System interactions and Feedback loops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ML models influence behavior → </a:t>
            </a:r>
            <a:r>
              <a:rPr lang="en-US" b="1" dirty="0"/>
              <a:t>performative prediction</a:t>
            </a:r>
            <a:r>
              <a:rPr lang="en-US" dirty="0"/>
              <a:t> (people change because of the model).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Policing models → more patrols → more arrests → more predicted crime.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Loan models → denials → people disappear from training data.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System and Data pipeline changes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New sensors, new data schemas, A/B tests, feature deprecation.</a:t>
            </a:r>
            <a:br>
              <a:rPr lang="en-US" dirty="0"/>
            </a:br>
            <a:endParaRPr lang="en-US" b="1" dirty="0"/>
          </a:p>
          <a:p>
            <a:pPr>
              <a:lnSpc>
                <a:spcPct val="100000"/>
              </a:lnSpc>
            </a:pPr>
            <a:r>
              <a:rPr lang="en-US" b="1" dirty="0"/>
              <a:t>Market dynamics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Competitive incentives shift (ads bidding, fraud adaptation, pricing changes).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2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7480-988E-8E5C-301C-9FC9A8A0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934" y="86563"/>
            <a:ext cx="11776401" cy="763500"/>
          </a:xfrm>
        </p:spPr>
        <p:txBody>
          <a:bodyPr/>
          <a:lstStyle/>
          <a:p>
            <a:r>
              <a:rPr lang="en-US" sz="4400" dirty="0"/>
              <a:t>How do we detect it?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C6B19-008E-9E82-7DD8-E9FC9FEC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By Monitoring </a:t>
            </a:r>
          </a:p>
          <a:p>
            <a:endParaRPr lang="en-US" sz="3600" dirty="0"/>
          </a:p>
          <a:p>
            <a:r>
              <a:rPr lang="en-US" sz="3600" dirty="0"/>
              <a:t>What/How do we monitor?</a:t>
            </a:r>
          </a:p>
          <a:p>
            <a:endParaRPr lang="en-US" sz="3600" dirty="0"/>
          </a:p>
          <a:p>
            <a:pPr lvl="1"/>
            <a:r>
              <a:rPr lang="en-US" sz="3100" dirty="0"/>
              <a:t>Performance of model?</a:t>
            </a:r>
          </a:p>
          <a:p>
            <a:endParaRPr lang="en-US" sz="3600" dirty="0"/>
          </a:p>
          <a:p>
            <a:pPr marL="76200" indent="0">
              <a:buNone/>
            </a:pPr>
            <a:endParaRPr lang="en-US" sz="3600" dirty="0"/>
          </a:p>
          <a:p>
            <a:pPr marL="7620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5530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0080-C37E-8362-FAC1-000801CE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Feature/Covariate Shift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B1EF71-597C-8732-F20A-B8839F31FE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850063"/>
                <a:ext cx="11360700" cy="4555200"/>
              </a:xfrm>
            </p:spPr>
            <p:txBody>
              <a:bodyPr/>
              <a:lstStyle/>
              <a:p>
                <a:pPr marL="76200" indent="0" algn="ctr">
                  <a:buNone/>
                </a:pPr>
                <a:r>
                  <a:rPr lang="en-US" sz="3200" dirty="0">
                    <a:latin typeface="+mn-lt"/>
                  </a:rPr>
                  <a:t>p</a:t>
                </a:r>
                <a:r>
                  <a:rPr lang="en-US" sz="3200" baseline="-25000" dirty="0" err="1">
                    <a:latin typeface="+mn-lt"/>
                  </a:rPr>
                  <a:t>train</a:t>
                </a:r>
                <a:r>
                  <a:rPr lang="en-US" sz="3200" dirty="0">
                    <a:latin typeface="+mn-lt"/>
                  </a:rPr>
                  <a:t>​(x)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+mn-lt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200" dirty="0">
                    <a:latin typeface="+mn-lt"/>
                  </a:rPr>
                  <a:t> p</a:t>
                </a:r>
                <a:r>
                  <a:rPr lang="en-US" sz="3200" baseline="-25000" dirty="0">
                    <a:latin typeface="+mn-lt"/>
                  </a:rPr>
                  <a:t>test</a:t>
                </a:r>
                <a:r>
                  <a:rPr lang="en-US" sz="3200" dirty="0">
                    <a:latin typeface="+mn-lt"/>
                  </a:rPr>
                  <a:t>​(x)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B1EF71-597C-8732-F20A-B8839F31F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850063"/>
                <a:ext cx="11360700" cy="4555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D5945DD-36BC-51A7-D919-F13970C444DD}"/>
              </a:ext>
            </a:extLst>
          </p:cNvPr>
          <p:cNvSpPr txBox="1">
            <a:spLocks/>
          </p:cNvSpPr>
          <p:nvPr/>
        </p:nvSpPr>
        <p:spPr>
          <a:xfrm>
            <a:off x="415600" y="1826812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Univariate Tests</a:t>
            </a:r>
          </a:p>
          <a:p>
            <a:r>
              <a:rPr lang="en-US" sz="3600" dirty="0"/>
              <a:t>KL-divergence</a:t>
            </a:r>
          </a:p>
          <a:p>
            <a:r>
              <a:rPr lang="en-US" sz="3600" dirty="0"/>
              <a:t>Population Stability Index</a:t>
            </a:r>
          </a:p>
          <a:p>
            <a:r>
              <a:rPr lang="en-US" sz="3600" dirty="0"/>
              <a:t>KS, Wasserstein distance, …</a:t>
            </a:r>
          </a:p>
          <a:p>
            <a:r>
              <a:rPr lang="en-US" sz="3600" dirty="0"/>
              <a:t>Multivariate Tests</a:t>
            </a:r>
          </a:p>
          <a:p>
            <a:pPr lvl="1"/>
            <a:r>
              <a:rPr lang="en-US" sz="3100" dirty="0"/>
              <a:t>Build classifier to differentiate between train and test</a:t>
            </a:r>
          </a:p>
          <a:p>
            <a:pPr marL="76200" indent="0">
              <a:buFont typeface="Arial"/>
              <a:buNone/>
            </a:pPr>
            <a:endParaRPr lang="en-US" sz="3600" dirty="0"/>
          </a:p>
          <a:p>
            <a:pPr marL="76200" indent="0">
              <a:buFont typeface="Arial"/>
              <a:buNone/>
            </a:pPr>
            <a:endParaRPr lang="en-US" sz="3600" dirty="0"/>
          </a:p>
        </p:txBody>
      </p:sp>
      <p:pic>
        <p:nvPicPr>
          <p:cNvPr id="1026" name="Picture 2" descr="psi discrete equation">
            <a:extLst>
              <a:ext uri="{FF2B5EF4-FFF2-40B4-BE49-F238E27FC236}">
                <a16:creationId xmlns:a16="http://schemas.microsoft.com/office/drawing/2014/main" id="{B1EED5D7-EA05-2027-5FA0-D805FA95B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49" b="35660"/>
          <a:stretch>
            <a:fillRect/>
          </a:stretch>
        </p:blipFill>
        <p:spPr bwMode="auto">
          <a:xfrm>
            <a:off x="6219092" y="3127663"/>
            <a:ext cx="3382108" cy="76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21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8B2B-0F3B-454B-97EA-E0B2CAF5E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6D81-DDB1-B746-9B8D-7D272198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Label Distribution Shift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CD188B-DB6B-0412-1040-D354B639879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1020773"/>
                <a:ext cx="11360700" cy="4555200"/>
              </a:xfrm>
            </p:spPr>
            <p:txBody>
              <a:bodyPr/>
              <a:lstStyle/>
              <a:p>
                <a:pPr marL="76200" indent="0" algn="ctr">
                  <a:buNone/>
                </a:pPr>
                <a:r>
                  <a:rPr lang="en-US" dirty="0" err="1"/>
                  <a:t>p</a:t>
                </a:r>
                <a:r>
                  <a:rPr lang="en-US" baseline="-25000" dirty="0" err="1"/>
                  <a:t>train</a:t>
                </a:r>
                <a:r>
                  <a:rPr lang="en-US" dirty="0"/>
                  <a:t>​(y)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test</a:t>
                </a:r>
                <a:r>
                  <a:rPr lang="en-US" dirty="0"/>
                  <a:t>​(y)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CD188B-DB6B-0412-1040-D354B6398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020773"/>
                <a:ext cx="11360700" cy="4555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0C3D504-334E-8DE6-BB2A-89278F0F57CE}"/>
              </a:ext>
            </a:extLst>
          </p:cNvPr>
          <p:cNvSpPr txBox="1">
            <a:spLocks/>
          </p:cNvSpPr>
          <p:nvPr/>
        </p:nvSpPr>
        <p:spPr>
          <a:xfrm>
            <a:off x="415600" y="1877719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Univariate tests</a:t>
            </a:r>
          </a:p>
          <a:p>
            <a:endParaRPr lang="en-US" sz="3600" dirty="0"/>
          </a:p>
          <a:p>
            <a:pPr marL="76200" indent="0">
              <a:buFont typeface="Arial"/>
              <a:buNone/>
            </a:pPr>
            <a:endParaRPr lang="en-US" sz="3600" dirty="0"/>
          </a:p>
          <a:p>
            <a:pPr marL="76200" indent="0">
              <a:buFont typeface="Arial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4750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24A6-90E7-887F-3200-392A4AC0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5AAD-E226-E982-65FF-84B28603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Concept Drift Distribution Shift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8D97E4-897D-EA1E-21FB-7E858997B4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1020773"/>
                <a:ext cx="11360700" cy="4555200"/>
              </a:xfrm>
            </p:spPr>
            <p:txBody>
              <a:bodyPr/>
              <a:lstStyle/>
              <a:p>
                <a:pPr marL="76200" indent="0" algn="ctr">
                  <a:buNone/>
                </a:pPr>
                <a:r>
                  <a:rPr lang="en-US" sz="3200" dirty="0" err="1"/>
                  <a:t>p</a:t>
                </a:r>
                <a:r>
                  <a:rPr lang="en-US" sz="3200" baseline="-25000" dirty="0" err="1"/>
                  <a:t>train</a:t>
                </a:r>
                <a:r>
                  <a:rPr lang="en-US" sz="3200" dirty="0"/>
                  <a:t>​(</a:t>
                </a:r>
                <a:r>
                  <a:rPr lang="en-US" sz="3200" dirty="0" err="1"/>
                  <a:t>y|x</a:t>
                </a:r>
                <a:r>
                  <a:rPr lang="en-US" sz="3200" dirty="0"/>
                  <a:t>)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200" dirty="0"/>
                  <a:t> p</a:t>
                </a:r>
                <a:r>
                  <a:rPr lang="en-US" sz="3200" baseline="-25000" dirty="0"/>
                  <a:t>test</a:t>
                </a:r>
                <a:r>
                  <a:rPr lang="en-US" sz="3200" dirty="0"/>
                  <a:t>​(</a:t>
                </a:r>
                <a:r>
                  <a:rPr lang="en-US" sz="3200" dirty="0" err="1"/>
                  <a:t>y|x</a:t>
                </a:r>
                <a:r>
                  <a:rPr lang="en-US" sz="3200" dirty="0"/>
                  <a:t>)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8D97E4-897D-EA1E-21FB-7E858997B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020773"/>
                <a:ext cx="11360700" cy="4555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D4944D5-87B9-CFA8-9E91-C63418E34511}"/>
              </a:ext>
            </a:extLst>
          </p:cNvPr>
          <p:cNvSpPr txBox="1">
            <a:spLocks/>
          </p:cNvSpPr>
          <p:nvPr/>
        </p:nvSpPr>
        <p:spPr>
          <a:xfrm>
            <a:off x="415600" y="1877719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Non-trivial to detect given that we don’t have labels for all the test data or they take time to get</a:t>
            </a:r>
          </a:p>
          <a:p>
            <a:endParaRPr lang="en-US" sz="2800" dirty="0"/>
          </a:p>
          <a:p>
            <a:r>
              <a:rPr lang="en-US" sz="2800" dirty="0"/>
              <a:t>Prediction Score drift </a:t>
            </a:r>
          </a:p>
          <a:p>
            <a:r>
              <a:rPr lang="en-US" sz="2800" dirty="0"/>
              <a:t>Performance/Error monitoring</a:t>
            </a:r>
          </a:p>
          <a:p>
            <a:r>
              <a:rPr lang="en-US" sz="2800" dirty="0"/>
              <a:t>Error Analysis</a:t>
            </a:r>
          </a:p>
          <a:p>
            <a:r>
              <a:rPr lang="en-US" sz="2800" dirty="0"/>
              <a:t>Feature importance drift</a:t>
            </a:r>
          </a:p>
          <a:p>
            <a:endParaRPr lang="en-US" sz="2800" dirty="0"/>
          </a:p>
          <a:p>
            <a:endParaRPr lang="en-US" sz="3600" dirty="0"/>
          </a:p>
          <a:p>
            <a:pPr marL="76200" indent="0">
              <a:buFont typeface="Arial"/>
              <a:buNone/>
            </a:pPr>
            <a:endParaRPr lang="en-US" sz="3600" dirty="0"/>
          </a:p>
          <a:p>
            <a:pPr marL="76200" indent="0">
              <a:buFont typeface="Arial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224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3BC5-203C-8572-AF4B-C3AD3A5E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The scale is large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2E5C2-EE54-5533-A891-00AD8DC40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r>
              <a:rPr lang="en-US" dirty="0"/>
              <a:t>serve millions of predictions per second</a:t>
            </a:r>
          </a:p>
          <a:p>
            <a:r>
              <a:rPr lang="en-US" dirty="0"/>
              <a:t>operate on non-stationary environments</a:t>
            </a:r>
          </a:p>
          <a:p>
            <a:r>
              <a:rPr lang="en-US" dirty="0"/>
              <a:t>receive continuous feedback loops</a:t>
            </a:r>
          </a:p>
          <a:p>
            <a:r>
              <a:rPr lang="en-US" dirty="0"/>
              <a:t>must avoid interrupting mission-critical 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real-time or near-real-time</a:t>
            </a:r>
          </a:p>
          <a:p>
            <a:r>
              <a:rPr lang="en-US" dirty="0"/>
              <a:t>automated and scalable</a:t>
            </a:r>
          </a:p>
          <a:p>
            <a:r>
              <a:rPr lang="en-US" dirty="0"/>
              <a:t>highly granular (feature-level, model-level, segment-level)</a:t>
            </a:r>
          </a:p>
          <a:p>
            <a:r>
              <a:rPr lang="en-US" dirty="0"/>
              <a:t>versioned and traceable</a:t>
            </a:r>
          </a:p>
          <a:p>
            <a:r>
              <a:rPr lang="en-US" dirty="0"/>
              <a:t>human-override-friendly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3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F14B-1A1F-DAB1-795C-7CFE8500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AE14-8FCA-1345-5F17-1FE59D53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Monitoring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E5566-8C90-FC9B-0B9B-36B1E8DB2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/>
              <a:t>Data Pipeline monitoring (</a:t>
            </a:r>
            <a:r>
              <a:rPr lang="en-US" sz="3200" dirty="0">
                <a:hlinkClick r:id="rId3"/>
              </a:rPr>
              <a:t>Deequ</a:t>
            </a:r>
            <a:r>
              <a:rPr lang="en-US" sz="3200" dirty="0"/>
              <a:t> library)</a:t>
            </a:r>
            <a:br>
              <a:rPr lang="en-US" sz="3200" dirty="0"/>
            </a:br>
            <a:r>
              <a:rPr lang="en-US" sz="3200" dirty="0"/>
              <a:t>- changes in schema, missing, data types, new values</a:t>
            </a:r>
            <a:endParaRPr lang="en-US" sz="2700" dirty="0"/>
          </a:p>
          <a:p>
            <a:pPr>
              <a:lnSpc>
                <a:spcPct val="150000"/>
              </a:lnSpc>
            </a:pPr>
            <a:r>
              <a:rPr lang="en-US" sz="3200" dirty="0"/>
              <a:t>Feature Pipeline monitoring (</a:t>
            </a:r>
            <a:r>
              <a:rPr lang="en-US" sz="3200" dirty="0">
                <a:hlinkClick r:id="rId4"/>
              </a:rPr>
              <a:t>Great Expectations </a:t>
            </a:r>
            <a:r>
              <a:rPr lang="en-US" sz="3200" dirty="0"/>
              <a:t>library)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Model monitoring (</a:t>
            </a:r>
            <a:r>
              <a:rPr lang="en-US" sz="3200" dirty="0">
                <a:hlinkClick r:id="rId5"/>
              </a:rPr>
              <a:t>list of tools</a:t>
            </a:r>
            <a:r>
              <a:rPr lang="en-US" sz="3200" dirty="0"/>
              <a:t>)</a:t>
            </a:r>
            <a:br>
              <a:rPr lang="en-US" sz="3200" dirty="0"/>
            </a:br>
            <a:r>
              <a:rPr lang="en-US" sz="3200" dirty="0"/>
              <a:t>- pre-deployment shadow models	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Outcome/Label monitoring (for evaluation and monitoring)</a:t>
            </a:r>
          </a:p>
        </p:txBody>
      </p:sp>
    </p:spTree>
    <p:extLst>
      <p:ext uri="{BB962C8B-B14F-4D97-AF65-F5344CB8AC3E}">
        <p14:creationId xmlns:p14="http://schemas.microsoft.com/office/powerpoint/2010/main" val="429260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0D0D-51AF-B20D-5519-A352BA52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What happens if monitoring alerts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22FBF-C6C6-107E-8C72-FD9A64636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On-call staff</a:t>
            </a:r>
          </a:p>
          <a:p>
            <a:r>
              <a:rPr lang="en-US" dirty="0"/>
              <a:t>Retrain?</a:t>
            </a:r>
          </a:p>
          <a:p>
            <a:r>
              <a:rPr lang="en-US" dirty="0"/>
              <a:t>Override?</a:t>
            </a:r>
          </a:p>
          <a:p>
            <a:r>
              <a:rPr lang="en-US" dirty="0"/>
              <a:t>Escalate?</a:t>
            </a:r>
          </a:p>
          <a:p>
            <a:r>
              <a:rPr lang="en-US" dirty="0"/>
              <a:t>Roll back?</a:t>
            </a:r>
          </a:p>
          <a:p>
            <a:r>
              <a:rPr lang="en-US" dirty="0"/>
              <a:t>Other fixes?</a:t>
            </a:r>
          </a:p>
        </p:txBody>
      </p:sp>
    </p:spTree>
    <p:extLst>
      <p:ext uri="{BB962C8B-B14F-4D97-AF65-F5344CB8AC3E}">
        <p14:creationId xmlns:p14="http://schemas.microsoft.com/office/powerpoint/2010/main" val="184266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26D0-C032-A739-5608-EB40B7B3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deal with 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8F2A4-B8E1-F6B6-375F-1F3B07DF6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Robust models (temporal features: rolling window features, recent historical aggregates, time decayed features allow model to adapt)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Robust model selection (temporal model selection or deployment aware model selection)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Retraining (regular – at what schedule?, triggered, online)</a:t>
            </a:r>
          </a:p>
          <a:p>
            <a:pPr lvl="1"/>
            <a:r>
              <a:rPr lang="en-US" dirty="0"/>
              <a:t>Why is “always updating” a bad idea?</a:t>
            </a:r>
          </a:p>
          <a:p>
            <a:r>
              <a:rPr lang="en-US" dirty="0"/>
              <a:t>Adaptation (fine-tuning, importance weighting)</a:t>
            </a:r>
          </a:p>
          <a:p>
            <a:r>
              <a:rPr lang="en-US" dirty="0"/>
              <a:t>Uncertainty estimates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95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6301-6712-771C-A75E-0D748FD3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09C33-FB36-EB1F-48A4-5ABDE898B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Python package: </a:t>
            </a:r>
            <a:r>
              <a:rPr lang="en-US" dirty="0">
                <a:hlinkClick r:id="rId3"/>
              </a:rPr>
              <a:t>https://github.com/SeldonIO/alibi-detect</a:t>
            </a: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Blog post: https://</a:t>
            </a:r>
            <a:r>
              <a:rPr lang="en-US" dirty="0" err="1"/>
              <a:t>huyenchip.com</a:t>
            </a:r>
            <a:r>
              <a:rPr lang="en-US" dirty="0"/>
              <a:t>/2022/02/07/data-distribution-shifts-and-</a:t>
            </a:r>
            <a:r>
              <a:rPr lang="en-US" dirty="0" err="1"/>
              <a:t>monitoring.html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979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a168d9bc-0163-4cfb-94e3-a9fe10287b04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b0fe9e6-a0e9-40e6-88c3-fe0e32f055f0"/>
  <p:tag name="SLIDO_TIMELINE" val="W3sicG9sbFF1ZXN0aW9uVXVpZCI6IjdlODVlOWNiLTJjN2EtNDVhOC1hOTUxLTkyZTYxMzRlNjgzNSIsInNob3dSZXN1bHRzIjpmYWxzZX0seyJwb2xsUXVlc3Rpb25VdWlkIjoiN2U4NWU5Y2ItMmM3YS00NWE4LWE5NTEtOTJlNjEzNGU2ODM1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5960</TotalTime>
  <Words>842</Words>
  <Application>Microsoft Macintosh PowerPoint</Application>
  <PresentationFormat>Widescreen</PresentationFormat>
  <Paragraphs>158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 Math</vt:lpstr>
      <vt:lpstr>Simple Light</vt:lpstr>
      <vt:lpstr>PowerPoint Presentation</vt:lpstr>
      <vt:lpstr>Reminders</vt:lpstr>
      <vt:lpstr>PowerPoint Presentation</vt:lpstr>
      <vt:lpstr>Focus of today: Temporal Drift and Distribution Shift</vt:lpstr>
      <vt:lpstr>Why do we care about temporal/domain drift/shift in ML?</vt:lpstr>
      <vt:lpstr>Types of Drift and Shifts</vt:lpstr>
      <vt:lpstr>Poll on examples on different types of drift</vt:lpstr>
      <vt:lpstr>PowerPoint Presentation</vt:lpstr>
      <vt:lpstr>Types of Drift and Shifts</vt:lpstr>
      <vt:lpstr>PowerPoint Presentation</vt:lpstr>
      <vt:lpstr>How do we detect it? </vt:lpstr>
      <vt:lpstr>Monitoring Feature/Covariate Shift</vt:lpstr>
      <vt:lpstr>Monitoring Label Distribution Shift</vt:lpstr>
      <vt:lpstr>Monitoring Concept Drift Distribution Shift</vt:lpstr>
      <vt:lpstr>In Practice: The scale is large</vt:lpstr>
      <vt:lpstr>In Practice: Monitoring</vt:lpstr>
      <vt:lpstr>In Practice: What happens if monitoring alerts</vt:lpstr>
      <vt:lpstr>How do we deal with it?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36</cp:revision>
  <dcterms:created xsi:type="dcterms:W3CDTF">2020-01-14T19:43:43Z</dcterms:created>
  <dcterms:modified xsi:type="dcterms:W3CDTF">2025-11-20T20:34:00Z</dcterms:modified>
</cp:coreProperties>
</file>