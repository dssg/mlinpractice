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323" r:id="rId3"/>
    <p:sldId id="259" r:id="rId4"/>
    <p:sldId id="527" r:id="rId5"/>
    <p:sldId id="514" r:id="rId6"/>
    <p:sldId id="515" r:id="rId7"/>
    <p:sldId id="521" r:id="rId8"/>
    <p:sldId id="526" r:id="rId9"/>
    <p:sldId id="262" r:id="rId10"/>
    <p:sldId id="263" r:id="rId11"/>
    <p:sldId id="528" r:id="rId12"/>
    <p:sldId id="531" r:id="rId13"/>
    <p:sldId id="529" r:id="rId14"/>
    <p:sldId id="264" r:id="rId15"/>
    <p:sldId id="266" r:id="rId16"/>
    <p:sldId id="500" r:id="rId17"/>
    <p:sldId id="499" r:id="rId18"/>
    <p:sldId id="513" r:id="rId19"/>
    <p:sldId id="516" r:id="rId20"/>
    <p:sldId id="517" r:id="rId21"/>
    <p:sldId id="518" r:id="rId22"/>
    <p:sldId id="519" r:id="rId23"/>
    <p:sldId id="520" r:id="rId24"/>
    <p:sldId id="279" r:id="rId25"/>
    <p:sldId id="522" r:id="rId26"/>
    <p:sldId id="280" r:id="rId27"/>
    <p:sldId id="523" r:id="rId28"/>
    <p:sldId id="281" r:id="rId29"/>
    <p:sldId id="524" r:id="rId30"/>
    <p:sldId id="525" r:id="rId31"/>
    <p:sldId id="532" r:id="rId32"/>
    <p:sldId id="533" r:id="rId33"/>
    <p:sldId id="534" r:id="rId34"/>
    <p:sldId id="512" r:id="rId35"/>
  </p:sldIdLst>
  <p:sldSz cx="12192000" cy="6858000"/>
  <p:notesSz cx="6858000" cy="9144000"/>
  <p:custDataLst>
    <p:tags r:id="rId37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hE+28Dr6x2pr2JNXfuZKhsL7Kt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A5218"/>
    <a:srgbClr val="7FF346"/>
    <a:srgbClr val="E94B9E"/>
    <a:srgbClr val="356BF4"/>
    <a:srgbClr val="1EF8FF"/>
    <a:srgbClr val="FF44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A04CC6A-533F-41F1-990F-45FB056E221C}">
  <a:tblStyle styleId="{5A04CC6A-533F-41F1-990F-45FB056E221C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EFF0"/>
          </a:solidFill>
        </a:fill>
      </a:tcStyle>
    </a:wholeTbl>
    <a:band1H>
      <a:tcTxStyle/>
      <a:tcStyle>
        <a:tcBdr/>
        <a:fill>
          <a:solidFill>
            <a:srgbClr val="CADDE1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DDE1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5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5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4E1A14BE-B7BA-45C6-8C27-71DC4D195E25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700"/>
    <p:restoredTop sz="94658"/>
  </p:normalViewPr>
  <p:slideViewPr>
    <p:cSldViewPr snapToGrid="0" snapToObjects="1">
      <p:cViewPr varScale="1">
        <p:scale>
          <a:sx n="78" d="100"/>
          <a:sy n="78" d="100"/>
        </p:scale>
        <p:origin x="192" y="10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gs" Target="tags/tag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customschemas.google.com/relationships/presentationmetadata" Target="metadata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9" name="Google Shape;3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626490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71c82016f7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g71c82016f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150745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71c82016f7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g71c82016f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010582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71c82016f7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g71c82016f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507018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71c82016f7_0_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g71c82016f7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012671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033975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921548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91613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760707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4261871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841033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72639d37ef_1_1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4" name="Google Shape;194;g72639d37ef_1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72639d37ef_1_1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4" name="Google Shape;194;g72639d37ef_1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256912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72639d37ef_1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0" name="Google Shape;200;g72639d37ef_1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72639d37ef_1_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6" name="Google Shape;206;g72639d37ef_1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1566633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72639d37ef_1_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6" name="Google Shape;206;g72639d37ef_1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26653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282100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11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" name="Google Shape;21;g6dad9273e7_0_11"/>
          <p:cNvSpPr/>
          <p:nvPr/>
        </p:nvSpPr>
        <p:spPr>
          <a:xfrm>
            <a:off x="-14200" y="-36767"/>
            <a:ext cx="12220500" cy="1010161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4" name="Google Shape;24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4"/>
          <p:cNvSpPr txBox="1">
            <a:spLocks noGrp="1"/>
          </p:cNvSpPr>
          <p:nvPr>
            <p:ph type="body" idx="1"/>
          </p:nvPr>
        </p:nvSpPr>
        <p:spPr>
          <a:xfrm>
            <a:off x="297706" y="1353806"/>
            <a:ext cx="11666363" cy="4954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34" name="Google Shape;34;p34"/>
          <p:cNvSpPr/>
          <p:nvPr/>
        </p:nvSpPr>
        <p:spPr>
          <a:xfrm>
            <a:off x="0" y="6434064"/>
            <a:ext cx="12192000" cy="423936"/>
          </a:xfrm>
          <a:prstGeom prst="rect">
            <a:avLst/>
          </a:prstGeom>
          <a:solidFill>
            <a:schemeClr val="lt2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6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67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Rayid Ghani															@rayidghani				</a:t>
            </a:r>
            <a:endParaRPr sz="186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34"/>
          <p:cNvSpPr/>
          <p:nvPr/>
        </p:nvSpPr>
        <p:spPr>
          <a:xfrm>
            <a:off x="0" y="1"/>
            <a:ext cx="12192000" cy="1206639"/>
          </a:xfrm>
          <a:prstGeom prst="rect">
            <a:avLst/>
          </a:prstGeom>
          <a:solidFill>
            <a:schemeClr val="lt2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6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34"/>
          <p:cNvSpPr txBox="1">
            <a:spLocks noGrp="1"/>
          </p:cNvSpPr>
          <p:nvPr>
            <p:ph type="title"/>
          </p:nvPr>
        </p:nvSpPr>
        <p:spPr>
          <a:xfrm>
            <a:off x="0" y="23412"/>
            <a:ext cx="121920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13B2BA6-A831-01C3-7031-1D838D5FA426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563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●"/>
              <a:defRPr sz="2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6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4.xml"/><Relationship Id="rId7" Type="http://schemas.openxmlformats.org/officeDocument/2006/relationships/hyperlink" Target="https://www.slido.com/powerpoint-polling?utm_source=powerpoint&amp;utm_medium=placeholder-slide" TargetMode="External"/><Relationship Id="rId12" Type="http://schemas.openxmlformats.org/officeDocument/2006/relationships/image" Target="../media/image7.sv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svg"/><Relationship Id="rId11" Type="http://schemas.openxmlformats.org/officeDocument/2006/relationships/image" Target="../media/image6.png"/><Relationship Id="rId5" Type="http://schemas.openxmlformats.org/officeDocument/2006/relationships/image" Target="../media/image2.png"/><Relationship Id="rId10" Type="http://schemas.openxmlformats.org/officeDocument/2006/relationships/hyperlink" Target="https://www.slido.com/support/ppi/how-to-change-the-design" TargetMode="External"/><Relationship Id="rId4" Type="http://schemas.openxmlformats.org/officeDocument/2006/relationships/slideLayout" Target="../slideLayouts/slideLayout6.xml"/><Relationship Id="rId9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"/>
          <p:cNvSpPr txBox="1"/>
          <p:nvPr/>
        </p:nvSpPr>
        <p:spPr>
          <a:xfrm>
            <a:off x="0" y="1014225"/>
            <a:ext cx="12192000" cy="23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ML Interpretability: Overview and Use Cases 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Rayid Ghani</a:t>
            </a:r>
            <a:endParaRPr sz="2800" b="0" i="0" u="none" strike="noStrike" cap="none" dirty="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3" name="Google Shape;43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/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6388892" y="2534144"/>
            <a:ext cx="2534195" cy="178961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5472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4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/>
              <a:t>What we’ll cover today</a:t>
            </a:r>
            <a:endParaRPr/>
          </a:p>
        </p:txBody>
      </p:sp>
      <p:sp>
        <p:nvSpPr>
          <p:cNvPr id="61" name="Google Shape;61;p2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lnSpcReduction="10000"/>
          </a:bodyPr>
          <a:lstStyle/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Understand different goals for interpretability</a:t>
            </a:r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endParaRPr lang="en-US" dirty="0"/>
          </a:p>
          <a:p>
            <a:r>
              <a:rPr lang="en-US" dirty="0"/>
              <a:t>Types of Interpretability Methods</a:t>
            </a:r>
          </a:p>
          <a:p>
            <a:pPr marL="76200" indent="0">
              <a:buNone/>
            </a:pPr>
            <a:endParaRPr lang="en-US"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Compare classical post-hoc interpretability tools (e.g., SHAP, LIME, PDPs) and model-intrinsic approaches (e.g., GAMs, monotonic models).</a:t>
            </a:r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endParaRPr lang="en-US"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Recognize interpretability challenges in complex deep models and LLMs.</a:t>
            </a:r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endParaRPr lang="en-US"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Apply interpretability tools to real-world use cases and understand their limitations.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3606C91-0D2F-6A17-F549-449E2452B4B6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35C93E-95B8-0609-36FF-36CB4CF2D31D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000" b="1">
                <a:solidFill>
                  <a:srgbClr val="000000"/>
                </a:solidFill>
              </a:rPr>
              <a:t>Why do we want interpretablity of models in ML?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9CF2F-1324-865F-3C07-CF722D66E4D4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496A99A7-5564-2EEE-82A1-83146B9CEBB3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EA7CDE3A-199A-C070-F12D-225BA152FA8F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198038"/>
                </a:solidFill>
              </a:rPr>
              <a:t>Do not edit
</a:t>
            </a:r>
            <a:r>
              <a:rPr lang="en-US" sz="2200">
                <a:solidFill>
                  <a:srgbClr val="198038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198038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AD8B1F49-4534-B1B4-1442-C38815C4E329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362217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5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/>
              <a:t>Why do we want Interpretability?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6526563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71c82016f7_0_0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/>
              <a:t>Why do we want Interpretability?</a:t>
            </a:r>
            <a:endParaRPr/>
          </a:p>
        </p:txBody>
      </p:sp>
      <p:sp>
        <p:nvSpPr>
          <p:cNvPr id="72" name="Google Shape;72;g71c82016f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Debugging the Model</a:t>
            </a:r>
            <a:endParaRPr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Improving the performance of the system</a:t>
            </a:r>
            <a:endParaRPr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Creating and increasing trust and adoption</a:t>
            </a:r>
            <a:endParaRPr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Selecting appropriate actions/interventions</a:t>
            </a:r>
            <a:endParaRPr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Legal or Contractual Recourse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734768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71c82016f7_0_0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dirty="0"/>
              <a:t>Case Study: Pneumonia and Asthma</a:t>
            </a:r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F06B2-4170-F046-BBD8-C86CE500F0AF}"/>
              </a:ext>
            </a:extLst>
          </p:cNvPr>
          <p:cNvSpPr txBox="1"/>
          <p:nvPr/>
        </p:nvSpPr>
        <p:spPr>
          <a:xfrm>
            <a:off x="1194814" y="1648445"/>
            <a:ext cx="25635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Patient Record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28DA09-758C-D14D-846D-5F848C5C835B}"/>
              </a:ext>
            </a:extLst>
          </p:cNvPr>
          <p:cNvSpPr txBox="1"/>
          <p:nvPr/>
        </p:nvSpPr>
        <p:spPr>
          <a:xfrm>
            <a:off x="1774299" y="2988702"/>
            <a:ext cx="14045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2A5218"/>
                </a:solidFill>
              </a:rPr>
              <a:t>Healthy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2F6E1EC-A388-AF44-A40E-F2AC01D61CE5}"/>
              </a:ext>
            </a:extLst>
          </p:cNvPr>
          <p:cNvGrpSpPr/>
          <p:nvPr/>
        </p:nvGrpSpPr>
        <p:grpSpPr>
          <a:xfrm>
            <a:off x="4389120" y="2462784"/>
            <a:ext cx="1706830" cy="1514258"/>
            <a:chOff x="4389120" y="2462784"/>
            <a:chExt cx="1706830" cy="151425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94D98DD-7FE8-7E41-B04E-366BB53CDEA2}"/>
                </a:ext>
              </a:extLst>
            </p:cNvPr>
            <p:cNvSpPr/>
            <p:nvPr/>
          </p:nvSpPr>
          <p:spPr>
            <a:xfrm>
              <a:off x="4389120" y="2462784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6139C00F-2B42-364A-AF32-F9BEFA279E9A}"/>
                </a:ext>
              </a:extLst>
            </p:cNvPr>
            <p:cNvSpPr/>
            <p:nvPr/>
          </p:nvSpPr>
          <p:spPr>
            <a:xfrm>
              <a:off x="4389120" y="3018745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DAF3EE3-3362-1340-8EB5-DD7CFD98CCC6}"/>
                </a:ext>
              </a:extLst>
            </p:cNvPr>
            <p:cNvSpPr/>
            <p:nvPr/>
          </p:nvSpPr>
          <p:spPr>
            <a:xfrm>
              <a:off x="4389120" y="3574706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DC2D0F69-7E7F-2E40-B1C9-DE1702CBA34B}"/>
                </a:ext>
              </a:extLst>
            </p:cNvPr>
            <p:cNvSpPr/>
            <p:nvPr/>
          </p:nvSpPr>
          <p:spPr>
            <a:xfrm>
              <a:off x="5029200" y="2768809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0996293-3253-A24E-8620-B56032991E1E}"/>
                </a:ext>
              </a:extLst>
            </p:cNvPr>
            <p:cNvSpPr/>
            <p:nvPr/>
          </p:nvSpPr>
          <p:spPr>
            <a:xfrm>
              <a:off x="5029200" y="3350379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951131C4-FF60-224B-BC38-D87D8D6FA0CA}"/>
                </a:ext>
              </a:extLst>
            </p:cNvPr>
            <p:cNvSpPr/>
            <p:nvPr/>
          </p:nvSpPr>
          <p:spPr>
            <a:xfrm>
              <a:off x="5693614" y="2757135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B8B48489-9C69-4D40-BDFE-F1F3E18DB1B6}"/>
                </a:ext>
              </a:extLst>
            </p:cNvPr>
            <p:cNvSpPr/>
            <p:nvPr/>
          </p:nvSpPr>
          <p:spPr>
            <a:xfrm>
              <a:off x="5669280" y="3338187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A332EFC-6E20-404E-B273-6048E1BBD5E4}"/>
                </a:ext>
              </a:extLst>
            </p:cNvPr>
            <p:cNvCxnSpPr>
              <a:stCxn id="7" idx="6"/>
              <a:endCxn id="16" idx="2"/>
            </p:cNvCxnSpPr>
            <p:nvPr/>
          </p:nvCxnSpPr>
          <p:spPr>
            <a:xfrm>
              <a:off x="4791456" y="2663952"/>
              <a:ext cx="237744" cy="30602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D276510-2BAB-DF4F-9D9A-9520DFF87035}"/>
                </a:ext>
              </a:extLst>
            </p:cNvPr>
            <p:cNvCxnSpPr>
              <a:cxnSpLocks/>
              <a:stCxn id="7" idx="6"/>
            </p:cNvCxnSpPr>
            <p:nvPr/>
          </p:nvCxnSpPr>
          <p:spPr>
            <a:xfrm>
              <a:off x="4791456" y="2663952"/>
              <a:ext cx="237744" cy="86198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8B23D634-2805-7A49-8E34-8CE790A8CE0A}"/>
                </a:ext>
              </a:extLst>
            </p:cNvPr>
            <p:cNvCxnSpPr>
              <a:cxnSpLocks/>
              <a:stCxn id="14" idx="6"/>
              <a:endCxn id="16" idx="2"/>
            </p:cNvCxnSpPr>
            <p:nvPr/>
          </p:nvCxnSpPr>
          <p:spPr>
            <a:xfrm flipV="1">
              <a:off x="4791456" y="2969977"/>
              <a:ext cx="237744" cy="24993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FDF5D8D1-C1AE-E846-AB94-1D186FA0F07C}"/>
                </a:ext>
              </a:extLst>
            </p:cNvPr>
            <p:cNvCxnSpPr/>
            <p:nvPr/>
          </p:nvCxnSpPr>
          <p:spPr>
            <a:xfrm>
              <a:off x="4794479" y="3244297"/>
              <a:ext cx="237744" cy="30602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251C1193-62F2-354F-A8CE-0FA3D697DFC8}"/>
                </a:ext>
              </a:extLst>
            </p:cNvPr>
            <p:cNvCxnSpPr>
              <a:cxnSpLocks/>
              <a:endCxn id="16" idx="2"/>
            </p:cNvCxnSpPr>
            <p:nvPr/>
          </p:nvCxnSpPr>
          <p:spPr>
            <a:xfrm flipV="1">
              <a:off x="4791456" y="2969977"/>
              <a:ext cx="237744" cy="805897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573EECD-4B5A-8D41-8D34-E1AF38877AB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791456" y="3551547"/>
              <a:ext cx="237744" cy="224327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8772C40-0889-2A4E-8A8E-CFC581C7AB5A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 flipV="1">
              <a:off x="5431536" y="2958303"/>
              <a:ext cx="262078" cy="3301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9EE639C-E0D7-E04F-92F1-5D0DD82D4CE1}"/>
                </a:ext>
              </a:extLst>
            </p:cNvPr>
            <p:cNvCxnSpPr>
              <a:cxnSpLocks/>
              <a:endCxn id="19" idx="2"/>
            </p:cNvCxnSpPr>
            <p:nvPr/>
          </p:nvCxnSpPr>
          <p:spPr>
            <a:xfrm>
              <a:off x="5431536" y="3023616"/>
              <a:ext cx="237744" cy="51573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CFD7622E-658A-774D-BA68-C9F83CD09867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 flipV="1">
              <a:off x="5428513" y="2958303"/>
              <a:ext cx="265101" cy="58959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20673D27-4A5A-BC45-98FF-FD391846B24E}"/>
                </a:ext>
              </a:extLst>
            </p:cNvPr>
            <p:cNvCxnSpPr>
              <a:cxnSpLocks/>
              <a:endCxn id="19" idx="2"/>
            </p:cNvCxnSpPr>
            <p:nvPr/>
          </p:nvCxnSpPr>
          <p:spPr>
            <a:xfrm>
              <a:off x="5431536" y="3510697"/>
              <a:ext cx="237744" cy="2865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B1349F1-74AD-1A47-90B5-4501566FCB74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3178851" y="3250312"/>
            <a:ext cx="1092790" cy="0"/>
          </a:xfrm>
          <a:prstGeom prst="straightConnector1">
            <a:avLst/>
          </a:prstGeom>
          <a:ln w="57150">
            <a:solidFill>
              <a:srgbClr val="00206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5F4DDB1-CBB9-4341-9C96-F489B4D7350C}"/>
              </a:ext>
            </a:extLst>
          </p:cNvPr>
          <p:cNvCxnSpPr>
            <a:cxnSpLocks/>
          </p:cNvCxnSpPr>
          <p:nvPr/>
        </p:nvCxnSpPr>
        <p:spPr>
          <a:xfrm>
            <a:off x="6379251" y="3244297"/>
            <a:ext cx="1092790" cy="0"/>
          </a:xfrm>
          <a:prstGeom prst="straightConnector1">
            <a:avLst/>
          </a:prstGeom>
          <a:ln w="57150">
            <a:solidFill>
              <a:srgbClr val="00206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51C6E98E-8B89-1245-8CE2-EE1B33615474}"/>
              </a:ext>
            </a:extLst>
          </p:cNvPr>
          <p:cNvSpPr txBox="1"/>
          <p:nvPr/>
        </p:nvSpPr>
        <p:spPr>
          <a:xfrm>
            <a:off x="7876395" y="3024681"/>
            <a:ext cx="8851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0.21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31353B0-D63A-F34C-80B8-5C644A43840D}"/>
              </a:ext>
            </a:extLst>
          </p:cNvPr>
          <p:cNvSpPr txBox="1"/>
          <p:nvPr/>
        </p:nvSpPr>
        <p:spPr>
          <a:xfrm>
            <a:off x="6906578" y="1217558"/>
            <a:ext cx="282481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Risk of Death</a:t>
            </a:r>
          </a:p>
          <a:p>
            <a:pPr algn="ctr"/>
            <a:r>
              <a:rPr lang="en-US" sz="2800" dirty="0"/>
              <a:t>from Pneumonia</a:t>
            </a:r>
          </a:p>
        </p:txBody>
      </p:sp>
    </p:spTree>
    <p:extLst>
      <p:ext uri="{BB962C8B-B14F-4D97-AF65-F5344CB8AC3E}">
        <p14:creationId xmlns:p14="http://schemas.microsoft.com/office/powerpoint/2010/main" val="313230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71c82016f7_0_0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dirty="0"/>
              <a:t>Case Study: Pneumonia and Asthma</a:t>
            </a:r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F06B2-4170-F046-BBD8-C86CE500F0AF}"/>
              </a:ext>
            </a:extLst>
          </p:cNvPr>
          <p:cNvSpPr txBox="1"/>
          <p:nvPr/>
        </p:nvSpPr>
        <p:spPr>
          <a:xfrm>
            <a:off x="1194814" y="1648445"/>
            <a:ext cx="25635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Patient Record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28DA09-758C-D14D-846D-5F848C5C835B}"/>
              </a:ext>
            </a:extLst>
          </p:cNvPr>
          <p:cNvSpPr txBox="1"/>
          <p:nvPr/>
        </p:nvSpPr>
        <p:spPr>
          <a:xfrm>
            <a:off x="1774299" y="2988702"/>
            <a:ext cx="14045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2A5218"/>
                </a:solidFill>
              </a:rPr>
              <a:t>Healthy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A81FED-72A3-F14F-AF0D-A74F8E4A7063}"/>
              </a:ext>
            </a:extLst>
          </p:cNvPr>
          <p:cNvSpPr txBox="1"/>
          <p:nvPr/>
        </p:nvSpPr>
        <p:spPr>
          <a:xfrm>
            <a:off x="1393279" y="5004729"/>
            <a:ext cx="21419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Has Asthma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2F6E1EC-A388-AF44-A40E-F2AC01D61CE5}"/>
              </a:ext>
            </a:extLst>
          </p:cNvPr>
          <p:cNvGrpSpPr/>
          <p:nvPr/>
        </p:nvGrpSpPr>
        <p:grpSpPr>
          <a:xfrm>
            <a:off x="4389120" y="2462784"/>
            <a:ext cx="1706830" cy="1514258"/>
            <a:chOff x="4389120" y="2462784"/>
            <a:chExt cx="1706830" cy="151425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94D98DD-7FE8-7E41-B04E-366BB53CDEA2}"/>
                </a:ext>
              </a:extLst>
            </p:cNvPr>
            <p:cNvSpPr/>
            <p:nvPr/>
          </p:nvSpPr>
          <p:spPr>
            <a:xfrm>
              <a:off x="4389120" y="2462784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6139C00F-2B42-364A-AF32-F9BEFA279E9A}"/>
                </a:ext>
              </a:extLst>
            </p:cNvPr>
            <p:cNvSpPr/>
            <p:nvPr/>
          </p:nvSpPr>
          <p:spPr>
            <a:xfrm>
              <a:off x="4389120" y="3018745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DAF3EE3-3362-1340-8EB5-DD7CFD98CCC6}"/>
                </a:ext>
              </a:extLst>
            </p:cNvPr>
            <p:cNvSpPr/>
            <p:nvPr/>
          </p:nvSpPr>
          <p:spPr>
            <a:xfrm>
              <a:off x="4389120" y="3574706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DC2D0F69-7E7F-2E40-B1C9-DE1702CBA34B}"/>
                </a:ext>
              </a:extLst>
            </p:cNvPr>
            <p:cNvSpPr/>
            <p:nvPr/>
          </p:nvSpPr>
          <p:spPr>
            <a:xfrm>
              <a:off x="5029200" y="2768809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0996293-3253-A24E-8620-B56032991E1E}"/>
                </a:ext>
              </a:extLst>
            </p:cNvPr>
            <p:cNvSpPr/>
            <p:nvPr/>
          </p:nvSpPr>
          <p:spPr>
            <a:xfrm>
              <a:off x="5029200" y="3350379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951131C4-FF60-224B-BC38-D87D8D6FA0CA}"/>
                </a:ext>
              </a:extLst>
            </p:cNvPr>
            <p:cNvSpPr/>
            <p:nvPr/>
          </p:nvSpPr>
          <p:spPr>
            <a:xfrm>
              <a:off x="5693614" y="2757135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B8B48489-9C69-4D40-BDFE-F1F3E18DB1B6}"/>
                </a:ext>
              </a:extLst>
            </p:cNvPr>
            <p:cNvSpPr/>
            <p:nvPr/>
          </p:nvSpPr>
          <p:spPr>
            <a:xfrm>
              <a:off x="5669280" y="3338187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A332EFC-6E20-404E-B273-6048E1BBD5E4}"/>
                </a:ext>
              </a:extLst>
            </p:cNvPr>
            <p:cNvCxnSpPr>
              <a:stCxn id="7" idx="6"/>
              <a:endCxn id="16" idx="2"/>
            </p:cNvCxnSpPr>
            <p:nvPr/>
          </p:nvCxnSpPr>
          <p:spPr>
            <a:xfrm>
              <a:off x="4791456" y="2663952"/>
              <a:ext cx="237744" cy="30602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D276510-2BAB-DF4F-9D9A-9520DFF87035}"/>
                </a:ext>
              </a:extLst>
            </p:cNvPr>
            <p:cNvCxnSpPr>
              <a:cxnSpLocks/>
              <a:stCxn id="7" idx="6"/>
            </p:cNvCxnSpPr>
            <p:nvPr/>
          </p:nvCxnSpPr>
          <p:spPr>
            <a:xfrm>
              <a:off x="4791456" y="2663952"/>
              <a:ext cx="237744" cy="86198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8B23D634-2805-7A49-8E34-8CE790A8CE0A}"/>
                </a:ext>
              </a:extLst>
            </p:cNvPr>
            <p:cNvCxnSpPr>
              <a:cxnSpLocks/>
              <a:stCxn id="14" idx="6"/>
              <a:endCxn id="16" idx="2"/>
            </p:cNvCxnSpPr>
            <p:nvPr/>
          </p:nvCxnSpPr>
          <p:spPr>
            <a:xfrm flipV="1">
              <a:off x="4791456" y="2969977"/>
              <a:ext cx="237744" cy="24993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FDF5D8D1-C1AE-E846-AB94-1D186FA0F07C}"/>
                </a:ext>
              </a:extLst>
            </p:cNvPr>
            <p:cNvCxnSpPr/>
            <p:nvPr/>
          </p:nvCxnSpPr>
          <p:spPr>
            <a:xfrm>
              <a:off x="4794479" y="3244297"/>
              <a:ext cx="237744" cy="30602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251C1193-62F2-354F-A8CE-0FA3D697DFC8}"/>
                </a:ext>
              </a:extLst>
            </p:cNvPr>
            <p:cNvCxnSpPr>
              <a:cxnSpLocks/>
              <a:endCxn id="16" idx="2"/>
            </p:cNvCxnSpPr>
            <p:nvPr/>
          </p:nvCxnSpPr>
          <p:spPr>
            <a:xfrm flipV="1">
              <a:off x="4791456" y="2969977"/>
              <a:ext cx="237744" cy="805897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573EECD-4B5A-8D41-8D34-E1AF38877AB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791456" y="3551547"/>
              <a:ext cx="237744" cy="224327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8772C40-0889-2A4E-8A8E-CFC581C7AB5A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 flipV="1">
              <a:off x="5431536" y="2958303"/>
              <a:ext cx="262078" cy="3301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9EE639C-E0D7-E04F-92F1-5D0DD82D4CE1}"/>
                </a:ext>
              </a:extLst>
            </p:cNvPr>
            <p:cNvCxnSpPr>
              <a:cxnSpLocks/>
              <a:endCxn id="19" idx="2"/>
            </p:cNvCxnSpPr>
            <p:nvPr/>
          </p:nvCxnSpPr>
          <p:spPr>
            <a:xfrm>
              <a:off x="5431536" y="3023616"/>
              <a:ext cx="237744" cy="51573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CFD7622E-658A-774D-BA68-C9F83CD09867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 flipV="1">
              <a:off x="5428513" y="2958303"/>
              <a:ext cx="265101" cy="58959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20673D27-4A5A-BC45-98FF-FD391846B24E}"/>
                </a:ext>
              </a:extLst>
            </p:cNvPr>
            <p:cNvCxnSpPr>
              <a:cxnSpLocks/>
              <a:endCxn id="19" idx="2"/>
            </p:cNvCxnSpPr>
            <p:nvPr/>
          </p:nvCxnSpPr>
          <p:spPr>
            <a:xfrm>
              <a:off x="5431536" y="3510697"/>
              <a:ext cx="237744" cy="2865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FF9B0E9-30AE-8D49-BC39-31E6D2686F9C}"/>
              </a:ext>
            </a:extLst>
          </p:cNvPr>
          <p:cNvGrpSpPr/>
          <p:nvPr/>
        </p:nvGrpSpPr>
        <p:grpSpPr>
          <a:xfrm>
            <a:off x="4389120" y="4471759"/>
            <a:ext cx="1706830" cy="1514258"/>
            <a:chOff x="4389120" y="2462784"/>
            <a:chExt cx="1706830" cy="1514258"/>
          </a:xfrm>
        </p:grpSpPr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F3678FEA-DA4C-1D42-B54E-798DD02EA045}"/>
                </a:ext>
              </a:extLst>
            </p:cNvPr>
            <p:cNvSpPr/>
            <p:nvPr/>
          </p:nvSpPr>
          <p:spPr>
            <a:xfrm>
              <a:off x="4389120" y="2462784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8BD0C4A4-61CC-4641-83EB-679043C2CE92}"/>
                </a:ext>
              </a:extLst>
            </p:cNvPr>
            <p:cNvSpPr/>
            <p:nvPr/>
          </p:nvSpPr>
          <p:spPr>
            <a:xfrm>
              <a:off x="4389120" y="3018745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094ACF8C-4124-FC40-B89D-8F3F5B943B67}"/>
                </a:ext>
              </a:extLst>
            </p:cNvPr>
            <p:cNvSpPr/>
            <p:nvPr/>
          </p:nvSpPr>
          <p:spPr>
            <a:xfrm>
              <a:off x="4389120" y="3574706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E551F02C-D1AD-7A46-AEA4-A63425549F03}"/>
                </a:ext>
              </a:extLst>
            </p:cNvPr>
            <p:cNvSpPr/>
            <p:nvPr/>
          </p:nvSpPr>
          <p:spPr>
            <a:xfrm>
              <a:off x="5029200" y="2768809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3F6689A-B911-8F43-A7F1-B8C03BCD03F8}"/>
                </a:ext>
              </a:extLst>
            </p:cNvPr>
            <p:cNvSpPr/>
            <p:nvPr/>
          </p:nvSpPr>
          <p:spPr>
            <a:xfrm>
              <a:off x="5029200" y="3350379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FFE233F0-B424-1442-9368-0821404E1FD2}"/>
                </a:ext>
              </a:extLst>
            </p:cNvPr>
            <p:cNvSpPr/>
            <p:nvPr/>
          </p:nvSpPr>
          <p:spPr>
            <a:xfrm>
              <a:off x="5693614" y="2757135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3ACB3162-84AF-0B4A-ADBC-5DE59B2452D8}"/>
                </a:ext>
              </a:extLst>
            </p:cNvPr>
            <p:cNvSpPr/>
            <p:nvPr/>
          </p:nvSpPr>
          <p:spPr>
            <a:xfrm>
              <a:off x="5669280" y="3338187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C023187-82AB-FB42-BE83-58F26F54AE0F}"/>
                </a:ext>
              </a:extLst>
            </p:cNvPr>
            <p:cNvCxnSpPr>
              <a:stCxn id="44" idx="6"/>
              <a:endCxn id="47" idx="2"/>
            </p:cNvCxnSpPr>
            <p:nvPr/>
          </p:nvCxnSpPr>
          <p:spPr>
            <a:xfrm>
              <a:off x="4791456" y="2663952"/>
              <a:ext cx="237744" cy="30602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0C86BA74-1596-E24F-9D76-78FD46FE2DA7}"/>
                </a:ext>
              </a:extLst>
            </p:cNvPr>
            <p:cNvCxnSpPr>
              <a:cxnSpLocks/>
              <a:stCxn id="44" idx="6"/>
            </p:cNvCxnSpPr>
            <p:nvPr/>
          </p:nvCxnSpPr>
          <p:spPr>
            <a:xfrm>
              <a:off x="4791456" y="2663952"/>
              <a:ext cx="237744" cy="86198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FF7875F-74DE-1543-92B8-949A14325599}"/>
                </a:ext>
              </a:extLst>
            </p:cNvPr>
            <p:cNvCxnSpPr>
              <a:cxnSpLocks/>
              <a:stCxn id="45" idx="6"/>
              <a:endCxn id="47" idx="2"/>
            </p:cNvCxnSpPr>
            <p:nvPr/>
          </p:nvCxnSpPr>
          <p:spPr>
            <a:xfrm flipV="1">
              <a:off x="4791456" y="2969977"/>
              <a:ext cx="237744" cy="24993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C47BD6AB-6EF6-C547-BD49-BED71B870C67}"/>
                </a:ext>
              </a:extLst>
            </p:cNvPr>
            <p:cNvCxnSpPr/>
            <p:nvPr/>
          </p:nvCxnSpPr>
          <p:spPr>
            <a:xfrm>
              <a:off x="4794479" y="3244297"/>
              <a:ext cx="237744" cy="30602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2C8E76BC-5B57-A446-8C60-277EB8A6F445}"/>
                </a:ext>
              </a:extLst>
            </p:cNvPr>
            <p:cNvCxnSpPr>
              <a:cxnSpLocks/>
              <a:endCxn id="47" idx="2"/>
            </p:cNvCxnSpPr>
            <p:nvPr/>
          </p:nvCxnSpPr>
          <p:spPr>
            <a:xfrm flipV="1">
              <a:off x="4791456" y="2969977"/>
              <a:ext cx="237744" cy="805897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83D80A60-39C6-4E4A-AAE8-5EAECB7F989A}"/>
                </a:ext>
              </a:extLst>
            </p:cNvPr>
            <p:cNvCxnSpPr>
              <a:cxnSpLocks/>
              <a:endCxn id="48" idx="2"/>
            </p:cNvCxnSpPr>
            <p:nvPr/>
          </p:nvCxnSpPr>
          <p:spPr>
            <a:xfrm flipV="1">
              <a:off x="4791456" y="3551547"/>
              <a:ext cx="237744" cy="224327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8A514A94-3596-7740-B666-49A11D593029}"/>
                </a:ext>
              </a:extLst>
            </p:cNvPr>
            <p:cNvCxnSpPr>
              <a:cxnSpLocks/>
              <a:endCxn id="49" idx="2"/>
            </p:cNvCxnSpPr>
            <p:nvPr/>
          </p:nvCxnSpPr>
          <p:spPr>
            <a:xfrm flipV="1">
              <a:off x="5431536" y="2958303"/>
              <a:ext cx="262078" cy="3301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0955B991-A9F0-FD46-9CA0-2724A62AF010}"/>
                </a:ext>
              </a:extLst>
            </p:cNvPr>
            <p:cNvCxnSpPr>
              <a:cxnSpLocks/>
              <a:endCxn id="50" idx="2"/>
            </p:cNvCxnSpPr>
            <p:nvPr/>
          </p:nvCxnSpPr>
          <p:spPr>
            <a:xfrm>
              <a:off x="5431536" y="3023616"/>
              <a:ext cx="237744" cy="51573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8E2049A1-4F7E-BC4D-ABF5-CFDFEE650154}"/>
                </a:ext>
              </a:extLst>
            </p:cNvPr>
            <p:cNvCxnSpPr>
              <a:cxnSpLocks/>
              <a:endCxn id="49" idx="2"/>
            </p:cNvCxnSpPr>
            <p:nvPr/>
          </p:nvCxnSpPr>
          <p:spPr>
            <a:xfrm flipV="1">
              <a:off x="5428513" y="2958303"/>
              <a:ext cx="265101" cy="58959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19E276FE-F1A9-774E-9F18-6D59628A033A}"/>
                </a:ext>
              </a:extLst>
            </p:cNvPr>
            <p:cNvCxnSpPr>
              <a:cxnSpLocks/>
              <a:endCxn id="50" idx="2"/>
            </p:cNvCxnSpPr>
            <p:nvPr/>
          </p:nvCxnSpPr>
          <p:spPr>
            <a:xfrm>
              <a:off x="5431536" y="3510697"/>
              <a:ext cx="237744" cy="2865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B1349F1-74AD-1A47-90B5-4501566FCB74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3178851" y="3250312"/>
            <a:ext cx="1092790" cy="0"/>
          </a:xfrm>
          <a:prstGeom prst="straightConnector1">
            <a:avLst/>
          </a:prstGeom>
          <a:ln w="57150">
            <a:solidFill>
              <a:srgbClr val="00206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5D496C7-CF40-7249-9669-475EC32714D7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535212" y="5266339"/>
            <a:ext cx="707604" cy="0"/>
          </a:xfrm>
          <a:prstGeom prst="straightConnector1">
            <a:avLst/>
          </a:prstGeom>
          <a:ln w="57150">
            <a:solidFill>
              <a:srgbClr val="00206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5F4DDB1-CBB9-4341-9C96-F489B4D7350C}"/>
              </a:ext>
            </a:extLst>
          </p:cNvPr>
          <p:cNvCxnSpPr>
            <a:cxnSpLocks/>
          </p:cNvCxnSpPr>
          <p:nvPr/>
        </p:nvCxnSpPr>
        <p:spPr>
          <a:xfrm>
            <a:off x="6379251" y="3244297"/>
            <a:ext cx="1092790" cy="0"/>
          </a:xfrm>
          <a:prstGeom prst="straightConnector1">
            <a:avLst/>
          </a:prstGeom>
          <a:ln w="57150">
            <a:solidFill>
              <a:srgbClr val="00206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69F3E86-8946-9D44-B77D-2BF4E0102669}"/>
              </a:ext>
            </a:extLst>
          </p:cNvPr>
          <p:cNvCxnSpPr>
            <a:cxnSpLocks/>
          </p:cNvCxnSpPr>
          <p:nvPr/>
        </p:nvCxnSpPr>
        <p:spPr>
          <a:xfrm>
            <a:off x="6379251" y="5228888"/>
            <a:ext cx="1092790" cy="0"/>
          </a:xfrm>
          <a:prstGeom prst="straightConnector1">
            <a:avLst/>
          </a:prstGeom>
          <a:ln w="57150">
            <a:solidFill>
              <a:srgbClr val="00206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51C6E98E-8B89-1245-8CE2-EE1B33615474}"/>
              </a:ext>
            </a:extLst>
          </p:cNvPr>
          <p:cNvSpPr txBox="1"/>
          <p:nvPr/>
        </p:nvSpPr>
        <p:spPr>
          <a:xfrm>
            <a:off x="7876395" y="3024681"/>
            <a:ext cx="8851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0.21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CBAF4BD-C7EE-1648-A10A-269F0C748C38}"/>
              </a:ext>
            </a:extLst>
          </p:cNvPr>
          <p:cNvSpPr txBox="1"/>
          <p:nvPr/>
        </p:nvSpPr>
        <p:spPr>
          <a:xfrm>
            <a:off x="7876395" y="4918510"/>
            <a:ext cx="8851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2A5218"/>
                </a:solidFill>
              </a:rPr>
              <a:t>0.13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31353B0-D63A-F34C-80B8-5C644A43840D}"/>
              </a:ext>
            </a:extLst>
          </p:cNvPr>
          <p:cNvSpPr txBox="1"/>
          <p:nvPr/>
        </p:nvSpPr>
        <p:spPr>
          <a:xfrm>
            <a:off x="6906578" y="1217558"/>
            <a:ext cx="282481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Risk of Death</a:t>
            </a:r>
          </a:p>
          <a:p>
            <a:pPr algn="ctr"/>
            <a:r>
              <a:rPr lang="en-US" sz="2800" dirty="0"/>
              <a:t>from Pneumonia</a:t>
            </a:r>
          </a:p>
        </p:txBody>
      </p:sp>
    </p:spTree>
    <p:extLst>
      <p:ext uri="{BB962C8B-B14F-4D97-AF65-F5344CB8AC3E}">
        <p14:creationId xmlns:p14="http://schemas.microsoft.com/office/powerpoint/2010/main" val="13584053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6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dirty="0"/>
              <a:t>Deeper Dive into Use Cases</a:t>
            </a:r>
            <a:endParaRPr dirty="0"/>
          </a:p>
        </p:txBody>
      </p:sp>
      <p:graphicFrame>
        <p:nvGraphicFramePr>
          <p:cNvPr id="78" name="Google Shape;78;p26"/>
          <p:cNvGraphicFramePr/>
          <p:nvPr>
            <p:extLst>
              <p:ext uri="{D42A27DB-BD31-4B8C-83A1-F6EECF244321}">
                <p14:modId xmlns:p14="http://schemas.microsoft.com/office/powerpoint/2010/main" val="1465085978"/>
              </p:ext>
            </p:extLst>
          </p:nvPr>
        </p:nvGraphicFramePr>
        <p:xfrm>
          <a:off x="263476" y="1762929"/>
          <a:ext cx="11664950" cy="3410320"/>
        </p:xfrm>
        <a:graphic>
          <a:graphicData uri="http://schemas.openxmlformats.org/drawingml/2006/table">
            <a:tbl>
              <a:tblPr firstRow="1" bandRow="1">
                <a:noFill/>
                <a:tableStyleId>{5A04CC6A-533F-41F1-990F-45FB056E221C}</a:tableStyleId>
              </a:tblPr>
              <a:tblGrid>
                <a:gridCol w="2052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96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 dirty="0"/>
                        <a:t>Use Case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/>
                        <a:t>User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 dirty="0"/>
                        <a:t>Task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 dirty="0"/>
                        <a:t>What type of method?</a:t>
                      </a:r>
                      <a:endParaRPr dirty="0"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Debugging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0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Improving performance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Trust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 u="none" strike="noStrike" cap="none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Interventions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 u="none" strike="noStrike" cap="none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Recourse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71c82016f7_0_5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lvl="0"/>
            <a:r>
              <a:rPr lang="en-US" dirty="0"/>
              <a:t>Deeper Dive into Use Cases</a:t>
            </a:r>
            <a:endParaRPr dirty="0"/>
          </a:p>
        </p:txBody>
      </p:sp>
      <p:graphicFrame>
        <p:nvGraphicFramePr>
          <p:cNvPr id="84" name="Google Shape;84;g71c82016f7_0_5"/>
          <p:cNvGraphicFramePr/>
          <p:nvPr>
            <p:extLst>
              <p:ext uri="{D42A27DB-BD31-4B8C-83A1-F6EECF244321}">
                <p14:modId xmlns:p14="http://schemas.microsoft.com/office/powerpoint/2010/main" val="218261602"/>
              </p:ext>
            </p:extLst>
          </p:nvPr>
        </p:nvGraphicFramePr>
        <p:xfrm>
          <a:off x="263476" y="1762929"/>
          <a:ext cx="11664950" cy="3875970"/>
        </p:xfrm>
        <a:graphic>
          <a:graphicData uri="http://schemas.openxmlformats.org/drawingml/2006/table">
            <a:tbl>
              <a:tblPr firstRow="1" bandRow="1">
                <a:noFill/>
                <a:tableStyleId>{5A04CC6A-533F-41F1-990F-45FB056E221C}</a:tableStyleId>
              </a:tblPr>
              <a:tblGrid>
                <a:gridCol w="2052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96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/>
                        <a:t>Use Case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/>
                        <a:t>User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 dirty="0"/>
                        <a:t>Task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/>
                        <a:t>Global or Local</a:t>
                      </a: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Debugging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ML Developer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Sanity check and improve “correctness”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Both</a:t>
                      </a: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0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Improving performance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Action-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taker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Decide to agree or override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Local</a:t>
                      </a: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Trust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Policymaker/Action-Taker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/>
                        <a:t>Model use =&gt; better outcomes</a:t>
                      </a:r>
                      <a:endParaRPr sz="1900" u="none" strike="noStrike" cap="none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Both</a:t>
                      </a: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Interventions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Action-Taker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/>
                        <a:t>Improve outcomes</a:t>
                      </a:r>
                      <a:endParaRPr sz="1900" u="none" strike="noStrike" cap="none"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Local</a:t>
                      </a: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Recourse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Individual(s) affected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Provide information that the individual can understand and ideally change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Local</a:t>
                      </a:r>
                      <a:endParaRPr dirty="0"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87EF6-8B03-B0F4-F062-95ECED381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</a:t>
            </a:r>
            <a:r>
              <a:rPr lang="en-US" dirty="0" err="1"/>
              <a:t>Interpretablity</a:t>
            </a:r>
            <a:r>
              <a:rPr lang="en-US" dirty="0"/>
              <a:t> Methods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A79153-E496-ACBE-14A6-64DB9C6D5F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Global vs Local</a:t>
            </a:r>
          </a:p>
          <a:p>
            <a:r>
              <a:rPr lang="en-US" dirty="0"/>
              <a:t>Inherently Interpretable models vs Post-hoc model agnostic</a:t>
            </a:r>
          </a:p>
        </p:txBody>
      </p:sp>
    </p:spTree>
    <p:extLst>
      <p:ext uri="{BB962C8B-B14F-4D97-AF65-F5344CB8AC3E}">
        <p14:creationId xmlns:p14="http://schemas.microsoft.com/office/powerpoint/2010/main" val="24133948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C77D8-A61C-B890-1B4F-C13428B1B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1F420-D67D-3749-7796-D473050B3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vs. Local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F1DCF5-80BC-22B8-58C0-F939AE753D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endParaRPr lang="en-US" dirty="0"/>
          </a:p>
          <a:p>
            <a:r>
              <a:rPr lang="en-US" dirty="0"/>
              <a:t>Global: how the entire model behaves on average.</a:t>
            </a:r>
          </a:p>
          <a:p>
            <a:pPr marL="76200" indent="0">
              <a:buNone/>
            </a:pPr>
            <a:r>
              <a:rPr lang="en-US" dirty="0"/>
              <a:t>		e.g. feature importance, coefficients, partial-dependence plots.</a:t>
            </a:r>
          </a:p>
          <a:p>
            <a:endParaRPr lang="en-US" dirty="0"/>
          </a:p>
          <a:p>
            <a:r>
              <a:rPr lang="en-US" dirty="0"/>
              <a:t>Local: why one prediction was made.</a:t>
            </a:r>
          </a:p>
          <a:p>
            <a:pPr lvl="1"/>
            <a:r>
              <a:rPr lang="en-US" dirty="0"/>
              <a:t>e.g. SHAP or LIME explanation for a single case.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93196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BF58B-ED20-8B52-A6FE-0B1AA72FB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Intrinsic vs. Post-hoc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EA8144-03B2-777F-6E22-70E87D6C28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Intrinsic</a:t>
            </a:r>
            <a:r>
              <a:rPr lang="en-US" dirty="0"/>
              <a:t> — Model itself is understandable (e.g., linear regression, decision trees, generalized additive models).</a:t>
            </a:r>
          </a:p>
          <a:p>
            <a:r>
              <a:rPr lang="en-US" b="1" dirty="0"/>
              <a:t>Post-hoc</a:t>
            </a:r>
            <a:r>
              <a:rPr lang="en-US" dirty="0"/>
              <a:t> — Use secondary methods to explain black boxes (e.g., SHAP, LIME, Grad-CAM).</a:t>
            </a:r>
          </a:p>
          <a:p>
            <a:endParaRPr lang="en-US" dirty="0"/>
          </a:p>
          <a:p>
            <a:endParaRPr lang="en-US" dirty="0"/>
          </a:p>
          <a:p>
            <a:pPr marL="76200" indent="0" algn="ctr">
              <a:buNone/>
            </a:pPr>
            <a:r>
              <a:rPr lang="en-US" sz="4000" dirty="0"/>
              <a:t>Tradeoffs?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73186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sz="4320" dirty="0"/>
              <a:t>What do we want from a global explanation?</a:t>
            </a:r>
            <a:endParaRPr dirty="0"/>
          </a:p>
        </p:txBody>
      </p:sp>
      <p:sp>
        <p:nvSpPr>
          <p:cNvPr id="90" name="Google Shape;90;p27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-US" b="1" dirty="0"/>
              <a:t>Fidelity:</a:t>
            </a:r>
            <a:r>
              <a:rPr lang="en-US" dirty="0"/>
              <a:t> how accurately they reflect the model.</a:t>
            </a:r>
          </a:p>
          <a:p>
            <a:pPr lvl="1"/>
            <a:r>
              <a:rPr lang="en-US" dirty="0"/>
              <a:t>“Liking” an explanation versus it being correct and useful</a:t>
            </a:r>
          </a:p>
          <a:p>
            <a:pPr marL="565150" lvl="1" indent="0">
              <a:buNone/>
            </a:pPr>
            <a:endParaRPr lang="en-US" dirty="0"/>
          </a:p>
          <a:p>
            <a:r>
              <a:rPr lang="en-US" b="1" dirty="0"/>
              <a:t>Comprehensibility:</a:t>
            </a:r>
            <a:r>
              <a:rPr lang="en-US" dirty="0"/>
              <a:t> how well humans grasp them.</a:t>
            </a:r>
          </a:p>
          <a:p>
            <a:pPr lvl="1"/>
            <a:r>
              <a:rPr lang="en-US" dirty="0"/>
              <a:t>Correct vs understandable</a:t>
            </a:r>
          </a:p>
          <a:p>
            <a:pPr lvl="1"/>
            <a:endParaRPr lang="en-US" dirty="0"/>
          </a:p>
          <a:p>
            <a:r>
              <a:rPr lang="en-US" b="1" dirty="0"/>
              <a:t>Usefulness:</a:t>
            </a:r>
            <a:r>
              <a:rPr lang="en-US" dirty="0"/>
              <a:t> how well they support a goal (debugging, intervention, regulation).</a:t>
            </a:r>
          </a:p>
          <a:p>
            <a:pPr lvl="1"/>
            <a:r>
              <a:rPr lang="en-US" dirty="0"/>
              <a:t>Correct and understandable vs usable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9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/>
              <a:t>How to interpret specific models</a:t>
            </a:r>
            <a:endParaRPr/>
          </a:p>
        </p:txBody>
      </p:sp>
      <p:sp>
        <p:nvSpPr>
          <p:cNvPr id="102" name="Google Shape;102;p29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Decision Trees</a:t>
            </a:r>
            <a:endParaRPr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RFs</a:t>
            </a:r>
            <a:endParaRPr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NNs</a:t>
            </a:r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Are there other methods that are easier to interpret/understand out of the box?</a:t>
            </a: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sz="4320" dirty="0"/>
              <a:t>What do we want from a local explanation?</a:t>
            </a:r>
            <a:endParaRPr dirty="0"/>
          </a:p>
        </p:txBody>
      </p:sp>
      <p:sp>
        <p:nvSpPr>
          <p:cNvPr id="90" name="Google Shape;90;p27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75861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7CD10-BD92-E349-8B0A-410B8B631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How would we validate if an interpretability method is effective?</a:t>
            </a:r>
          </a:p>
        </p:txBody>
      </p:sp>
      <p:graphicFrame>
        <p:nvGraphicFramePr>
          <p:cNvPr id="4" name="Google Shape;78;p26">
            <a:extLst>
              <a:ext uri="{FF2B5EF4-FFF2-40B4-BE49-F238E27FC236}">
                <a16:creationId xmlns:a16="http://schemas.microsoft.com/office/drawing/2014/main" id="{BFCAA572-37A5-214E-AC62-0779C711026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43395883"/>
              </p:ext>
            </p:extLst>
          </p:nvPr>
        </p:nvGraphicFramePr>
        <p:xfrm>
          <a:off x="263475" y="1911047"/>
          <a:ext cx="11150759" cy="3163125"/>
        </p:xfrm>
        <a:graphic>
          <a:graphicData uri="http://schemas.openxmlformats.org/drawingml/2006/table">
            <a:tbl>
              <a:tblPr firstRow="1" bandRow="1">
                <a:noFill/>
                <a:tableStyleId>{5A04CC6A-533F-41F1-990F-45FB056E221C}</a:tableStyleId>
              </a:tblPr>
              <a:tblGrid>
                <a:gridCol w="30577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929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 dirty="0"/>
                        <a:t>Use Case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 dirty="0"/>
                        <a:t>Evaluation Methodology</a:t>
                      </a:r>
                      <a:endParaRPr dirty="0"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Debugging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0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Improving performance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Trust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Interventions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Recourse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82548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9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dirty="0"/>
              <a:t>Evaluating Explainable ML Methods</a:t>
            </a:r>
            <a:endParaRPr dirty="0"/>
          </a:p>
        </p:txBody>
      </p:sp>
      <p:sp>
        <p:nvSpPr>
          <p:cNvPr id="102" name="Google Shape;102;p29"/>
          <p:cNvSpPr txBox="1">
            <a:spLocks noGrp="1"/>
          </p:cNvSpPr>
          <p:nvPr>
            <p:ph type="body" idx="1"/>
          </p:nvPr>
        </p:nvSpPr>
        <p:spPr>
          <a:xfrm>
            <a:off x="415600" y="1090439"/>
            <a:ext cx="11360700" cy="568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How easy is the method to apply to a new setting (either with an existing implementation or from the description in the paper)?</a:t>
            </a:r>
            <a:br>
              <a:rPr lang="en-US" dirty="0"/>
            </a:br>
            <a:endParaRPr lang="en-US" sz="1600"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Are there parameters you need to choose? If so, how do you find good values and how sensitive are the results to these choices?</a:t>
            </a:r>
            <a:br>
              <a:rPr lang="en-US" dirty="0"/>
            </a:br>
            <a:endParaRPr lang="en-US" sz="1600"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Do the explanations “make sense”? Are they internally consistent? Do they seem consistent with what you know about the context and the data?</a:t>
            </a:r>
            <a:br>
              <a:rPr lang="en-US" dirty="0"/>
            </a:br>
            <a:endParaRPr lang="en-US" sz="1600"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Are the explanations useful? Would they actually improve outcomes for the given use case?</a:t>
            </a:r>
            <a:br>
              <a:rPr lang="en-US" dirty="0"/>
            </a:br>
            <a:endParaRPr lang="en-US" sz="1600"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Do you have to make any trade-offs to improve interpretability (e.g., computational time, model accuracy?)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81624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sz="4320" dirty="0" err="1"/>
              <a:t>Explainability</a:t>
            </a:r>
            <a:r>
              <a:rPr lang="en-US" sz="4320" dirty="0"/>
              <a:t> vs Accuracy?</a:t>
            </a:r>
            <a:endParaRPr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DC9417B-0447-C545-A79E-3FFC9C67C238}"/>
              </a:ext>
            </a:extLst>
          </p:cNvPr>
          <p:cNvCxnSpPr/>
          <p:nvPr/>
        </p:nvCxnSpPr>
        <p:spPr>
          <a:xfrm flipV="1">
            <a:off x="3218688" y="1527048"/>
            <a:ext cx="0" cy="392582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A71B561-453C-3948-A4B0-52DA35AF46EC}"/>
              </a:ext>
            </a:extLst>
          </p:cNvPr>
          <p:cNvCxnSpPr>
            <a:cxnSpLocks/>
          </p:cNvCxnSpPr>
          <p:nvPr/>
        </p:nvCxnSpPr>
        <p:spPr>
          <a:xfrm>
            <a:off x="3054096" y="5297424"/>
            <a:ext cx="5614416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9756852-E4B1-A545-9015-DEDB321C3A9A}"/>
              </a:ext>
            </a:extLst>
          </p:cNvPr>
          <p:cNvSpPr txBox="1"/>
          <p:nvPr/>
        </p:nvSpPr>
        <p:spPr>
          <a:xfrm>
            <a:off x="4953650" y="5452872"/>
            <a:ext cx="2284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Explainability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32A32A-D242-2C4E-8DC6-DB322945C650}"/>
              </a:ext>
            </a:extLst>
          </p:cNvPr>
          <p:cNvSpPr txBox="1"/>
          <p:nvPr/>
        </p:nvSpPr>
        <p:spPr>
          <a:xfrm rot="16200000">
            <a:off x="1961169" y="3167389"/>
            <a:ext cx="16626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Accuracy</a:t>
            </a:r>
          </a:p>
        </p:txBody>
      </p:sp>
    </p:spTree>
    <p:extLst>
      <p:ext uri="{BB962C8B-B14F-4D97-AF65-F5344CB8AC3E}">
        <p14:creationId xmlns:p14="http://schemas.microsoft.com/office/powerpoint/2010/main" val="18091957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sz="4320" dirty="0"/>
              <a:t>Explainability vs “Accuracy”?</a:t>
            </a:r>
            <a:endParaRPr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DC9417B-0447-C545-A79E-3FFC9C67C238}"/>
              </a:ext>
            </a:extLst>
          </p:cNvPr>
          <p:cNvCxnSpPr/>
          <p:nvPr/>
        </p:nvCxnSpPr>
        <p:spPr>
          <a:xfrm flipV="1">
            <a:off x="3218688" y="1527048"/>
            <a:ext cx="0" cy="392582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A71B561-453C-3948-A4B0-52DA35AF46EC}"/>
              </a:ext>
            </a:extLst>
          </p:cNvPr>
          <p:cNvCxnSpPr>
            <a:cxnSpLocks/>
          </p:cNvCxnSpPr>
          <p:nvPr/>
        </p:nvCxnSpPr>
        <p:spPr>
          <a:xfrm>
            <a:off x="3054096" y="5297424"/>
            <a:ext cx="5614416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9756852-E4B1-A545-9015-DEDB321C3A9A}"/>
              </a:ext>
            </a:extLst>
          </p:cNvPr>
          <p:cNvSpPr txBox="1"/>
          <p:nvPr/>
        </p:nvSpPr>
        <p:spPr>
          <a:xfrm>
            <a:off x="4953650" y="5452872"/>
            <a:ext cx="2284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Explainability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32A32A-D242-2C4E-8DC6-DB322945C650}"/>
              </a:ext>
            </a:extLst>
          </p:cNvPr>
          <p:cNvSpPr txBox="1"/>
          <p:nvPr/>
        </p:nvSpPr>
        <p:spPr>
          <a:xfrm rot="16200000">
            <a:off x="755714" y="3228943"/>
            <a:ext cx="40735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“Accuracy”  (P@10% for example)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6573E69-DA7E-6445-B352-D095D8E26F1F}"/>
              </a:ext>
            </a:extLst>
          </p:cNvPr>
          <p:cNvSpPr/>
          <p:nvPr/>
        </p:nvSpPr>
        <p:spPr>
          <a:xfrm>
            <a:off x="8058912" y="4888992"/>
            <a:ext cx="256032" cy="256032"/>
          </a:xfrm>
          <a:prstGeom prst="ellipse">
            <a:avLst/>
          </a:prstGeom>
          <a:solidFill>
            <a:srgbClr val="0070C0"/>
          </a:solidFill>
          <a:ln w="3175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EA4034-1899-0643-B94F-E7764F4FD139}"/>
              </a:ext>
            </a:extLst>
          </p:cNvPr>
          <p:cNvSpPr txBox="1"/>
          <p:nvPr/>
        </p:nvSpPr>
        <p:spPr>
          <a:xfrm>
            <a:off x="8010549" y="4505015"/>
            <a:ext cx="2531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rgbClr val="002060"/>
                </a:solidFill>
              </a:rPr>
              <a:t>2-Deep Decision Tree</a:t>
            </a:r>
          </a:p>
        </p:txBody>
      </p:sp>
    </p:spTree>
    <p:extLst>
      <p:ext uri="{BB962C8B-B14F-4D97-AF65-F5344CB8AC3E}">
        <p14:creationId xmlns:p14="http://schemas.microsoft.com/office/powerpoint/2010/main" val="974188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sz="4320" dirty="0" err="1"/>
              <a:t>Explainability</a:t>
            </a:r>
            <a:r>
              <a:rPr lang="en-US" sz="4320" dirty="0"/>
              <a:t> vs Accuracy?</a:t>
            </a:r>
            <a:endParaRPr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DC9417B-0447-C545-A79E-3FFC9C67C238}"/>
              </a:ext>
            </a:extLst>
          </p:cNvPr>
          <p:cNvCxnSpPr/>
          <p:nvPr/>
        </p:nvCxnSpPr>
        <p:spPr>
          <a:xfrm flipV="1">
            <a:off x="3218688" y="1527048"/>
            <a:ext cx="0" cy="392582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A71B561-453C-3948-A4B0-52DA35AF46EC}"/>
              </a:ext>
            </a:extLst>
          </p:cNvPr>
          <p:cNvCxnSpPr>
            <a:cxnSpLocks/>
          </p:cNvCxnSpPr>
          <p:nvPr/>
        </p:nvCxnSpPr>
        <p:spPr>
          <a:xfrm>
            <a:off x="3054096" y="5297424"/>
            <a:ext cx="5614416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9756852-E4B1-A545-9015-DEDB321C3A9A}"/>
              </a:ext>
            </a:extLst>
          </p:cNvPr>
          <p:cNvSpPr txBox="1"/>
          <p:nvPr/>
        </p:nvSpPr>
        <p:spPr>
          <a:xfrm>
            <a:off x="4953650" y="5452872"/>
            <a:ext cx="2284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Explainability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32A32A-D242-2C4E-8DC6-DB322945C650}"/>
              </a:ext>
            </a:extLst>
          </p:cNvPr>
          <p:cNvSpPr txBox="1"/>
          <p:nvPr/>
        </p:nvSpPr>
        <p:spPr>
          <a:xfrm rot="16200000">
            <a:off x="1961169" y="3167389"/>
            <a:ext cx="16626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Accuracy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6573E69-DA7E-6445-B352-D095D8E26F1F}"/>
              </a:ext>
            </a:extLst>
          </p:cNvPr>
          <p:cNvSpPr/>
          <p:nvPr/>
        </p:nvSpPr>
        <p:spPr>
          <a:xfrm>
            <a:off x="8058912" y="4888992"/>
            <a:ext cx="256032" cy="256032"/>
          </a:xfrm>
          <a:prstGeom prst="ellipse">
            <a:avLst/>
          </a:prstGeom>
          <a:solidFill>
            <a:srgbClr val="0070C0"/>
          </a:solidFill>
          <a:ln w="3175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EA4034-1899-0643-B94F-E7764F4FD139}"/>
              </a:ext>
            </a:extLst>
          </p:cNvPr>
          <p:cNvSpPr txBox="1"/>
          <p:nvPr/>
        </p:nvSpPr>
        <p:spPr>
          <a:xfrm>
            <a:off x="8010549" y="4505015"/>
            <a:ext cx="2531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rgbClr val="002060"/>
                </a:solidFill>
              </a:rPr>
              <a:t>2-Deep Decision Tree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BD4E6F7-29FA-A84A-8DCC-33AB47E49609}"/>
              </a:ext>
            </a:extLst>
          </p:cNvPr>
          <p:cNvSpPr/>
          <p:nvPr/>
        </p:nvSpPr>
        <p:spPr>
          <a:xfrm>
            <a:off x="3527558" y="1944552"/>
            <a:ext cx="256032" cy="256032"/>
          </a:xfrm>
          <a:prstGeom prst="ellipse">
            <a:avLst/>
          </a:prstGeom>
          <a:solidFill>
            <a:srgbClr val="0070C0"/>
          </a:solidFill>
          <a:ln w="3175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0AF49A-7F6E-E94B-AEF3-554E3713A7AA}"/>
              </a:ext>
            </a:extLst>
          </p:cNvPr>
          <p:cNvSpPr txBox="1"/>
          <p:nvPr/>
        </p:nvSpPr>
        <p:spPr>
          <a:xfrm>
            <a:off x="3479195" y="1560575"/>
            <a:ext cx="1967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rgbClr val="002060"/>
                </a:solidFill>
              </a:rPr>
              <a:t>Deep Neural Net</a:t>
            </a:r>
          </a:p>
        </p:txBody>
      </p:sp>
    </p:spTree>
    <p:extLst>
      <p:ext uri="{BB962C8B-B14F-4D97-AF65-F5344CB8AC3E}">
        <p14:creationId xmlns:p14="http://schemas.microsoft.com/office/powerpoint/2010/main" val="8824172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sz="4320" dirty="0" err="1"/>
              <a:t>Explainability</a:t>
            </a:r>
            <a:r>
              <a:rPr lang="en-US" sz="4320" dirty="0"/>
              <a:t> vs Accuracy?</a:t>
            </a:r>
            <a:endParaRPr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DC9417B-0447-C545-A79E-3FFC9C67C238}"/>
              </a:ext>
            </a:extLst>
          </p:cNvPr>
          <p:cNvCxnSpPr/>
          <p:nvPr/>
        </p:nvCxnSpPr>
        <p:spPr>
          <a:xfrm flipV="1">
            <a:off x="3218688" y="1527048"/>
            <a:ext cx="0" cy="392582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A71B561-453C-3948-A4B0-52DA35AF46EC}"/>
              </a:ext>
            </a:extLst>
          </p:cNvPr>
          <p:cNvCxnSpPr>
            <a:cxnSpLocks/>
          </p:cNvCxnSpPr>
          <p:nvPr/>
        </p:nvCxnSpPr>
        <p:spPr>
          <a:xfrm>
            <a:off x="3054096" y="5297424"/>
            <a:ext cx="5614416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9756852-E4B1-A545-9015-DEDB321C3A9A}"/>
              </a:ext>
            </a:extLst>
          </p:cNvPr>
          <p:cNvSpPr txBox="1"/>
          <p:nvPr/>
        </p:nvSpPr>
        <p:spPr>
          <a:xfrm>
            <a:off x="4953650" y="5452872"/>
            <a:ext cx="2284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Explainability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32A32A-D242-2C4E-8DC6-DB322945C650}"/>
              </a:ext>
            </a:extLst>
          </p:cNvPr>
          <p:cNvSpPr txBox="1"/>
          <p:nvPr/>
        </p:nvSpPr>
        <p:spPr>
          <a:xfrm rot="16200000">
            <a:off x="1961169" y="3167389"/>
            <a:ext cx="16626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Accuracy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6573E69-DA7E-6445-B352-D095D8E26F1F}"/>
              </a:ext>
            </a:extLst>
          </p:cNvPr>
          <p:cNvSpPr/>
          <p:nvPr/>
        </p:nvSpPr>
        <p:spPr>
          <a:xfrm>
            <a:off x="8058912" y="4888992"/>
            <a:ext cx="256032" cy="256032"/>
          </a:xfrm>
          <a:prstGeom prst="ellipse">
            <a:avLst/>
          </a:prstGeom>
          <a:solidFill>
            <a:srgbClr val="0070C0"/>
          </a:solidFill>
          <a:ln w="3175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EA4034-1899-0643-B94F-E7764F4FD139}"/>
              </a:ext>
            </a:extLst>
          </p:cNvPr>
          <p:cNvSpPr txBox="1"/>
          <p:nvPr/>
        </p:nvSpPr>
        <p:spPr>
          <a:xfrm>
            <a:off x="8010549" y="4505015"/>
            <a:ext cx="2531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rgbClr val="002060"/>
                </a:solidFill>
              </a:rPr>
              <a:t>2-Deep Decision Tree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BD4E6F7-29FA-A84A-8DCC-33AB47E49609}"/>
              </a:ext>
            </a:extLst>
          </p:cNvPr>
          <p:cNvSpPr/>
          <p:nvPr/>
        </p:nvSpPr>
        <p:spPr>
          <a:xfrm>
            <a:off x="3527558" y="1944552"/>
            <a:ext cx="256032" cy="256032"/>
          </a:xfrm>
          <a:prstGeom prst="ellipse">
            <a:avLst/>
          </a:prstGeom>
          <a:solidFill>
            <a:srgbClr val="0070C0"/>
          </a:solidFill>
          <a:ln w="3175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0AF49A-7F6E-E94B-AEF3-554E3713A7AA}"/>
              </a:ext>
            </a:extLst>
          </p:cNvPr>
          <p:cNvSpPr txBox="1"/>
          <p:nvPr/>
        </p:nvSpPr>
        <p:spPr>
          <a:xfrm>
            <a:off x="3479195" y="1560575"/>
            <a:ext cx="1967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rgbClr val="002060"/>
                </a:solidFill>
              </a:rPr>
              <a:t>Deep Neural Net</a:t>
            </a:r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F8DAF403-C13E-E244-AA72-BEB348F37F54}"/>
              </a:ext>
            </a:extLst>
          </p:cNvPr>
          <p:cNvSpPr/>
          <p:nvPr/>
        </p:nvSpPr>
        <p:spPr>
          <a:xfrm>
            <a:off x="3438144" y="1816608"/>
            <a:ext cx="4974336" cy="3267456"/>
          </a:xfrm>
          <a:custGeom>
            <a:avLst/>
            <a:gdLst>
              <a:gd name="connsiteX0" fmla="*/ 0 w 4974336"/>
              <a:gd name="connsiteY0" fmla="*/ 0 h 3267456"/>
              <a:gd name="connsiteX1" fmla="*/ 97536 w 4974336"/>
              <a:gd name="connsiteY1" fmla="*/ 24384 h 3267456"/>
              <a:gd name="connsiteX2" fmla="*/ 146304 w 4974336"/>
              <a:gd name="connsiteY2" fmla="*/ 134112 h 3267456"/>
              <a:gd name="connsiteX3" fmla="*/ 207264 w 4974336"/>
              <a:gd name="connsiteY3" fmla="*/ 207264 h 3267456"/>
              <a:gd name="connsiteX4" fmla="*/ 243840 w 4974336"/>
              <a:gd name="connsiteY4" fmla="*/ 231648 h 3267456"/>
              <a:gd name="connsiteX5" fmla="*/ 402336 w 4974336"/>
              <a:gd name="connsiteY5" fmla="*/ 243840 h 3267456"/>
              <a:gd name="connsiteX6" fmla="*/ 451104 w 4974336"/>
              <a:gd name="connsiteY6" fmla="*/ 316992 h 3267456"/>
              <a:gd name="connsiteX7" fmla="*/ 475488 w 4974336"/>
              <a:gd name="connsiteY7" fmla="*/ 353568 h 3267456"/>
              <a:gd name="connsiteX8" fmla="*/ 499872 w 4974336"/>
              <a:gd name="connsiteY8" fmla="*/ 426720 h 3267456"/>
              <a:gd name="connsiteX9" fmla="*/ 512064 w 4974336"/>
              <a:gd name="connsiteY9" fmla="*/ 463296 h 3267456"/>
              <a:gd name="connsiteX10" fmla="*/ 536448 w 4974336"/>
              <a:gd name="connsiteY10" fmla="*/ 499872 h 3267456"/>
              <a:gd name="connsiteX11" fmla="*/ 548640 w 4974336"/>
              <a:gd name="connsiteY11" fmla="*/ 548640 h 3267456"/>
              <a:gd name="connsiteX12" fmla="*/ 585216 w 4974336"/>
              <a:gd name="connsiteY12" fmla="*/ 658368 h 3267456"/>
              <a:gd name="connsiteX13" fmla="*/ 597408 w 4974336"/>
              <a:gd name="connsiteY13" fmla="*/ 694944 h 3267456"/>
              <a:gd name="connsiteX14" fmla="*/ 609600 w 4974336"/>
              <a:gd name="connsiteY14" fmla="*/ 755904 h 3267456"/>
              <a:gd name="connsiteX15" fmla="*/ 621792 w 4974336"/>
              <a:gd name="connsiteY15" fmla="*/ 853440 h 3267456"/>
              <a:gd name="connsiteX16" fmla="*/ 633984 w 4974336"/>
              <a:gd name="connsiteY16" fmla="*/ 890016 h 3267456"/>
              <a:gd name="connsiteX17" fmla="*/ 670560 w 4974336"/>
              <a:gd name="connsiteY17" fmla="*/ 914400 h 3267456"/>
              <a:gd name="connsiteX18" fmla="*/ 743712 w 4974336"/>
              <a:gd name="connsiteY18" fmla="*/ 938784 h 3267456"/>
              <a:gd name="connsiteX19" fmla="*/ 816864 w 4974336"/>
              <a:gd name="connsiteY19" fmla="*/ 1109472 h 3267456"/>
              <a:gd name="connsiteX20" fmla="*/ 829056 w 4974336"/>
              <a:gd name="connsiteY20" fmla="*/ 1158240 h 3267456"/>
              <a:gd name="connsiteX21" fmla="*/ 841248 w 4974336"/>
              <a:gd name="connsiteY21" fmla="*/ 1353312 h 3267456"/>
              <a:gd name="connsiteX22" fmla="*/ 914400 w 4974336"/>
              <a:gd name="connsiteY22" fmla="*/ 1377696 h 3267456"/>
              <a:gd name="connsiteX23" fmla="*/ 1170432 w 4974336"/>
              <a:gd name="connsiteY23" fmla="*/ 1389888 h 3267456"/>
              <a:gd name="connsiteX24" fmla="*/ 1207008 w 4974336"/>
              <a:gd name="connsiteY24" fmla="*/ 1426464 h 3267456"/>
              <a:gd name="connsiteX25" fmla="*/ 1280160 w 4974336"/>
              <a:gd name="connsiteY25" fmla="*/ 1475232 h 3267456"/>
              <a:gd name="connsiteX26" fmla="*/ 1353312 w 4974336"/>
              <a:gd name="connsiteY26" fmla="*/ 1536192 h 3267456"/>
              <a:gd name="connsiteX27" fmla="*/ 1402080 w 4974336"/>
              <a:gd name="connsiteY27" fmla="*/ 1609344 h 3267456"/>
              <a:gd name="connsiteX28" fmla="*/ 1438656 w 4974336"/>
              <a:gd name="connsiteY28" fmla="*/ 1645920 h 3267456"/>
              <a:gd name="connsiteX29" fmla="*/ 1524000 w 4974336"/>
              <a:gd name="connsiteY29" fmla="*/ 1731264 h 3267456"/>
              <a:gd name="connsiteX30" fmla="*/ 1804416 w 4974336"/>
              <a:gd name="connsiteY30" fmla="*/ 1743456 h 3267456"/>
              <a:gd name="connsiteX31" fmla="*/ 1877568 w 4974336"/>
              <a:gd name="connsiteY31" fmla="*/ 1780032 h 3267456"/>
              <a:gd name="connsiteX32" fmla="*/ 1926336 w 4974336"/>
              <a:gd name="connsiteY32" fmla="*/ 1853184 h 3267456"/>
              <a:gd name="connsiteX33" fmla="*/ 1950720 w 4974336"/>
              <a:gd name="connsiteY33" fmla="*/ 1889760 h 3267456"/>
              <a:gd name="connsiteX34" fmla="*/ 1975104 w 4974336"/>
              <a:gd name="connsiteY34" fmla="*/ 1926336 h 3267456"/>
              <a:gd name="connsiteX35" fmla="*/ 2011680 w 4974336"/>
              <a:gd name="connsiteY35" fmla="*/ 1950720 h 3267456"/>
              <a:gd name="connsiteX36" fmla="*/ 2048256 w 4974336"/>
              <a:gd name="connsiteY36" fmla="*/ 1987296 h 3267456"/>
              <a:gd name="connsiteX37" fmla="*/ 2121408 w 4974336"/>
              <a:gd name="connsiteY37" fmla="*/ 2011680 h 3267456"/>
              <a:gd name="connsiteX38" fmla="*/ 2218944 w 4974336"/>
              <a:gd name="connsiteY38" fmla="*/ 1999488 h 3267456"/>
              <a:gd name="connsiteX39" fmla="*/ 2304288 w 4974336"/>
              <a:gd name="connsiteY39" fmla="*/ 1987296 h 3267456"/>
              <a:gd name="connsiteX40" fmla="*/ 2377440 w 4974336"/>
              <a:gd name="connsiteY40" fmla="*/ 1999488 h 3267456"/>
              <a:gd name="connsiteX41" fmla="*/ 2450592 w 4974336"/>
              <a:gd name="connsiteY41" fmla="*/ 2048256 h 3267456"/>
              <a:gd name="connsiteX42" fmla="*/ 2474976 w 4974336"/>
              <a:gd name="connsiteY42" fmla="*/ 2084832 h 3267456"/>
              <a:gd name="connsiteX43" fmla="*/ 2511552 w 4974336"/>
              <a:gd name="connsiteY43" fmla="*/ 2109216 h 3267456"/>
              <a:gd name="connsiteX44" fmla="*/ 2584704 w 4974336"/>
              <a:gd name="connsiteY44" fmla="*/ 2182368 h 3267456"/>
              <a:gd name="connsiteX45" fmla="*/ 2657856 w 4974336"/>
              <a:gd name="connsiteY45" fmla="*/ 2255520 h 3267456"/>
              <a:gd name="connsiteX46" fmla="*/ 2694432 w 4974336"/>
              <a:gd name="connsiteY46" fmla="*/ 2292096 h 3267456"/>
              <a:gd name="connsiteX47" fmla="*/ 2767584 w 4974336"/>
              <a:gd name="connsiteY47" fmla="*/ 2328672 h 3267456"/>
              <a:gd name="connsiteX48" fmla="*/ 2840736 w 4974336"/>
              <a:gd name="connsiteY48" fmla="*/ 2377440 h 3267456"/>
              <a:gd name="connsiteX49" fmla="*/ 2950464 w 4974336"/>
              <a:gd name="connsiteY49" fmla="*/ 2426208 h 3267456"/>
              <a:gd name="connsiteX50" fmla="*/ 3084576 w 4974336"/>
              <a:gd name="connsiteY50" fmla="*/ 2438400 h 3267456"/>
              <a:gd name="connsiteX51" fmla="*/ 3133344 w 4974336"/>
              <a:gd name="connsiteY51" fmla="*/ 2511552 h 3267456"/>
              <a:gd name="connsiteX52" fmla="*/ 3157728 w 4974336"/>
              <a:gd name="connsiteY52" fmla="*/ 2584704 h 3267456"/>
              <a:gd name="connsiteX53" fmla="*/ 3182112 w 4974336"/>
              <a:gd name="connsiteY53" fmla="*/ 2621280 h 3267456"/>
              <a:gd name="connsiteX54" fmla="*/ 3194304 w 4974336"/>
              <a:gd name="connsiteY54" fmla="*/ 2657856 h 3267456"/>
              <a:gd name="connsiteX55" fmla="*/ 3255264 w 4974336"/>
              <a:gd name="connsiteY55" fmla="*/ 2718816 h 3267456"/>
              <a:gd name="connsiteX56" fmla="*/ 3328416 w 4974336"/>
              <a:gd name="connsiteY56" fmla="*/ 2743200 h 3267456"/>
              <a:gd name="connsiteX57" fmla="*/ 3364992 w 4974336"/>
              <a:gd name="connsiteY57" fmla="*/ 2755392 h 3267456"/>
              <a:gd name="connsiteX58" fmla="*/ 3401568 w 4974336"/>
              <a:gd name="connsiteY58" fmla="*/ 2767584 h 3267456"/>
              <a:gd name="connsiteX59" fmla="*/ 3450336 w 4974336"/>
              <a:gd name="connsiteY59" fmla="*/ 2779776 h 3267456"/>
              <a:gd name="connsiteX60" fmla="*/ 3523488 w 4974336"/>
              <a:gd name="connsiteY60" fmla="*/ 2804160 h 3267456"/>
              <a:gd name="connsiteX61" fmla="*/ 3657600 w 4974336"/>
              <a:gd name="connsiteY61" fmla="*/ 2926080 h 3267456"/>
              <a:gd name="connsiteX62" fmla="*/ 3681984 w 4974336"/>
              <a:gd name="connsiteY62" fmla="*/ 2962656 h 3267456"/>
              <a:gd name="connsiteX63" fmla="*/ 3828288 w 4974336"/>
              <a:gd name="connsiteY63" fmla="*/ 3035808 h 3267456"/>
              <a:gd name="connsiteX64" fmla="*/ 3864864 w 4974336"/>
              <a:gd name="connsiteY64" fmla="*/ 3048000 h 3267456"/>
              <a:gd name="connsiteX65" fmla="*/ 4206240 w 4974336"/>
              <a:gd name="connsiteY65" fmla="*/ 3072384 h 3267456"/>
              <a:gd name="connsiteX66" fmla="*/ 4279392 w 4974336"/>
              <a:gd name="connsiteY66" fmla="*/ 3121152 h 3267456"/>
              <a:gd name="connsiteX67" fmla="*/ 4340352 w 4974336"/>
              <a:gd name="connsiteY67" fmla="*/ 3194304 h 3267456"/>
              <a:gd name="connsiteX68" fmla="*/ 4413504 w 4974336"/>
              <a:gd name="connsiteY68" fmla="*/ 3218688 h 3267456"/>
              <a:gd name="connsiteX69" fmla="*/ 4730496 w 4974336"/>
              <a:gd name="connsiteY69" fmla="*/ 3218688 h 3267456"/>
              <a:gd name="connsiteX70" fmla="*/ 4767072 w 4974336"/>
              <a:gd name="connsiteY70" fmla="*/ 3255264 h 3267456"/>
              <a:gd name="connsiteX71" fmla="*/ 4803648 w 4974336"/>
              <a:gd name="connsiteY71" fmla="*/ 3267456 h 3267456"/>
              <a:gd name="connsiteX72" fmla="*/ 4962144 w 4974336"/>
              <a:gd name="connsiteY72" fmla="*/ 3243072 h 3267456"/>
              <a:gd name="connsiteX73" fmla="*/ 4974336 w 4974336"/>
              <a:gd name="connsiteY73" fmla="*/ 3230880 h 3267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</a:cxnLst>
            <a:rect l="l" t="t" r="r" b="b"/>
            <a:pathLst>
              <a:path w="4974336" h="3267456">
                <a:moveTo>
                  <a:pt x="0" y="0"/>
                </a:moveTo>
                <a:cubicBezTo>
                  <a:pt x="3036" y="607"/>
                  <a:pt x="85039" y="14387"/>
                  <a:pt x="97536" y="24384"/>
                </a:cubicBezTo>
                <a:cubicBezTo>
                  <a:pt x="132984" y="52743"/>
                  <a:pt x="122887" y="98987"/>
                  <a:pt x="146304" y="134112"/>
                </a:cubicBezTo>
                <a:cubicBezTo>
                  <a:pt x="170280" y="170076"/>
                  <a:pt x="172061" y="177928"/>
                  <a:pt x="207264" y="207264"/>
                </a:cubicBezTo>
                <a:cubicBezTo>
                  <a:pt x="218521" y="216645"/>
                  <a:pt x="229438" y="228948"/>
                  <a:pt x="243840" y="231648"/>
                </a:cubicBezTo>
                <a:cubicBezTo>
                  <a:pt x="295921" y="241413"/>
                  <a:pt x="349504" y="239776"/>
                  <a:pt x="402336" y="243840"/>
                </a:cubicBezTo>
                <a:lnTo>
                  <a:pt x="451104" y="316992"/>
                </a:lnTo>
                <a:cubicBezTo>
                  <a:pt x="459232" y="329184"/>
                  <a:pt x="470854" y="339667"/>
                  <a:pt x="475488" y="353568"/>
                </a:cubicBezTo>
                <a:lnTo>
                  <a:pt x="499872" y="426720"/>
                </a:lnTo>
                <a:cubicBezTo>
                  <a:pt x="503936" y="438912"/>
                  <a:pt x="504935" y="452603"/>
                  <a:pt x="512064" y="463296"/>
                </a:cubicBezTo>
                <a:lnTo>
                  <a:pt x="536448" y="499872"/>
                </a:lnTo>
                <a:cubicBezTo>
                  <a:pt x="540512" y="516128"/>
                  <a:pt x="543825" y="532590"/>
                  <a:pt x="548640" y="548640"/>
                </a:cubicBezTo>
                <a:lnTo>
                  <a:pt x="585216" y="658368"/>
                </a:lnTo>
                <a:cubicBezTo>
                  <a:pt x="589280" y="670560"/>
                  <a:pt x="594888" y="682342"/>
                  <a:pt x="597408" y="694944"/>
                </a:cubicBezTo>
                <a:cubicBezTo>
                  <a:pt x="601472" y="715264"/>
                  <a:pt x="606449" y="735423"/>
                  <a:pt x="609600" y="755904"/>
                </a:cubicBezTo>
                <a:cubicBezTo>
                  <a:pt x="614582" y="788288"/>
                  <a:pt x="615931" y="821203"/>
                  <a:pt x="621792" y="853440"/>
                </a:cubicBezTo>
                <a:cubicBezTo>
                  <a:pt x="624091" y="866084"/>
                  <a:pt x="625956" y="879981"/>
                  <a:pt x="633984" y="890016"/>
                </a:cubicBezTo>
                <a:cubicBezTo>
                  <a:pt x="643138" y="901458"/>
                  <a:pt x="657170" y="908449"/>
                  <a:pt x="670560" y="914400"/>
                </a:cubicBezTo>
                <a:cubicBezTo>
                  <a:pt x="694048" y="924839"/>
                  <a:pt x="743712" y="938784"/>
                  <a:pt x="743712" y="938784"/>
                </a:cubicBezTo>
                <a:cubicBezTo>
                  <a:pt x="811069" y="1039820"/>
                  <a:pt x="785372" y="983505"/>
                  <a:pt x="816864" y="1109472"/>
                </a:cubicBezTo>
                <a:lnTo>
                  <a:pt x="829056" y="1158240"/>
                </a:lnTo>
                <a:cubicBezTo>
                  <a:pt x="833120" y="1223264"/>
                  <a:pt x="817634" y="1292591"/>
                  <a:pt x="841248" y="1353312"/>
                </a:cubicBezTo>
                <a:cubicBezTo>
                  <a:pt x="850564" y="1377267"/>
                  <a:pt x="888726" y="1376473"/>
                  <a:pt x="914400" y="1377696"/>
                </a:cubicBezTo>
                <a:lnTo>
                  <a:pt x="1170432" y="1389888"/>
                </a:lnTo>
                <a:cubicBezTo>
                  <a:pt x="1182624" y="1402080"/>
                  <a:pt x="1193398" y="1415878"/>
                  <a:pt x="1207008" y="1426464"/>
                </a:cubicBezTo>
                <a:cubicBezTo>
                  <a:pt x="1230141" y="1444456"/>
                  <a:pt x="1259438" y="1454510"/>
                  <a:pt x="1280160" y="1475232"/>
                </a:cubicBezTo>
                <a:cubicBezTo>
                  <a:pt x="1327097" y="1522169"/>
                  <a:pt x="1302390" y="1502244"/>
                  <a:pt x="1353312" y="1536192"/>
                </a:cubicBezTo>
                <a:cubicBezTo>
                  <a:pt x="1369568" y="1560576"/>
                  <a:pt x="1381358" y="1588622"/>
                  <a:pt x="1402080" y="1609344"/>
                </a:cubicBezTo>
                <a:cubicBezTo>
                  <a:pt x="1414272" y="1621536"/>
                  <a:pt x="1428070" y="1632310"/>
                  <a:pt x="1438656" y="1645920"/>
                </a:cubicBezTo>
                <a:cubicBezTo>
                  <a:pt x="1473321" y="1690490"/>
                  <a:pt x="1468933" y="1727028"/>
                  <a:pt x="1524000" y="1731264"/>
                </a:cubicBezTo>
                <a:cubicBezTo>
                  <a:pt x="1617285" y="1738440"/>
                  <a:pt x="1710944" y="1739392"/>
                  <a:pt x="1804416" y="1743456"/>
                </a:cubicBezTo>
                <a:cubicBezTo>
                  <a:pt x="1830506" y="1752153"/>
                  <a:pt x="1858104" y="1757788"/>
                  <a:pt x="1877568" y="1780032"/>
                </a:cubicBezTo>
                <a:cubicBezTo>
                  <a:pt x="1896866" y="1802087"/>
                  <a:pt x="1910080" y="1828800"/>
                  <a:pt x="1926336" y="1853184"/>
                </a:cubicBezTo>
                <a:lnTo>
                  <a:pt x="1950720" y="1889760"/>
                </a:lnTo>
                <a:cubicBezTo>
                  <a:pt x="1958848" y="1901952"/>
                  <a:pt x="1962912" y="1918208"/>
                  <a:pt x="1975104" y="1926336"/>
                </a:cubicBezTo>
                <a:cubicBezTo>
                  <a:pt x="1987296" y="1934464"/>
                  <a:pt x="2000423" y="1941339"/>
                  <a:pt x="2011680" y="1950720"/>
                </a:cubicBezTo>
                <a:cubicBezTo>
                  <a:pt x="2024926" y="1961758"/>
                  <a:pt x="2033184" y="1978923"/>
                  <a:pt x="2048256" y="1987296"/>
                </a:cubicBezTo>
                <a:cubicBezTo>
                  <a:pt x="2070724" y="1999778"/>
                  <a:pt x="2121408" y="2011680"/>
                  <a:pt x="2121408" y="2011680"/>
                </a:cubicBezTo>
                <a:lnTo>
                  <a:pt x="2218944" y="1999488"/>
                </a:lnTo>
                <a:cubicBezTo>
                  <a:pt x="2247429" y="1995690"/>
                  <a:pt x="2275551" y="1987296"/>
                  <a:pt x="2304288" y="1987296"/>
                </a:cubicBezTo>
                <a:cubicBezTo>
                  <a:pt x="2329008" y="1987296"/>
                  <a:pt x="2353056" y="1995424"/>
                  <a:pt x="2377440" y="1999488"/>
                </a:cubicBezTo>
                <a:cubicBezTo>
                  <a:pt x="2401824" y="2015744"/>
                  <a:pt x="2434336" y="2023872"/>
                  <a:pt x="2450592" y="2048256"/>
                </a:cubicBezTo>
                <a:cubicBezTo>
                  <a:pt x="2458720" y="2060448"/>
                  <a:pt x="2464615" y="2074471"/>
                  <a:pt x="2474976" y="2084832"/>
                </a:cubicBezTo>
                <a:cubicBezTo>
                  <a:pt x="2485337" y="2095193"/>
                  <a:pt x="2500600" y="2099481"/>
                  <a:pt x="2511552" y="2109216"/>
                </a:cubicBezTo>
                <a:cubicBezTo>
                  <a:pt x="2537326" y="2132126"/>
                  <a:pt x="2560320" y="2157984"/>
                  <a:pt x="2584704" y="2182368"/>
                </a:cubicBezTo>
                <a:lnTo>
                  <a:pt x="2657856" y="2255520"/>
                </a:lnTo>
                <a:cubicBezTo>
                  <a:pt x="2670048" y="2267712"/>
                  <a:pt x="2680086" y="2282532"/>
                  <a:pt x="2694432" y="2292096"/>
                </a:cubicBezTo>
                <a:cubicBezTo>
                  <a:pt x="2856806" y="2400346"/>
                  <a:pt x="2616153" y="2244544"/>
                  <a:pt x="2767584" y="2328672"/>
                </a:cubicBezTo>
                <a:cubicBezTo>
                  <a:pt x="2793202" y="2342904"/>
                  <a:pt x="2816352" y="2361184"/>
                  <a:pt x="2840736" y="2377440"/>
                </a:cubicBezTo>
                <a:cubicBezTo>
                  <a:pt x="2877802" y="2402151"/>
                  <a:pt x="2900065" y="2421626"/>
                  <a:pt x="2950464" y="2426208"/>
                </a:cubicBezTo>
                <a:lnTo>
                  <a:pt x="3084576" y="2438400"/>
                </a:lnTo>
                <a:cubicBezTo>
                  <a:pt x="3100832" y="2462784"/>
                  <a:pt x="3124077" y="2483750"/>
                  <a:pt x="3133344" y="2511552"/>
                </a:cubicBezTo>
                <a:cubicBezTo>
                  <a:pt x="3141472" y="2535936"/>
                  <a:pt x="3143471" y="2563318"/>
                  <a:pt x="3157728" y="2584704"/>
                </a:cubicBezTo>
                <a:cubicBezTo>
                  <a:pt x="3165856" y="2596896"/>
                  <a:pt x="3175559" y="2608174"/>
                  <a:pt x="3182112" y="2621280"/>
                </a:cubicBezTo>
                <a:cubicBezTo>
                  <a:pt x="3187859" y="2632775"/>
                  <a:pt x="3188557" y="2646361"/>
                  <a:pt x="3194304" y="2657856"/>
                </a:cubicBezTo>
                <a:cubicBezTo>
                  <a:pt x="3209399" y="2688046"/>
                  <a:pt x="3223913" y="2704882"/>
                  <a:pt x="3255264" y="2718816"/>
                </a:cubicBezTo>
                <a:cubicBezTo>
                  <a:pt x="3278752" y="2729255"/>
                  <a:pt x="3304032" y="2735072"/>
                  <a:pt x="3328416" y="2743200"/>
                </a:cubicBezTo>
                <a:lnTo>
                  <a:pt x="3364992" y="2755392"/>
                </a:lnTo>
                <a:cubicBezTo>
                  <a:pt x="3377184" y="2759456"/>
                  <a:pt x="3389100" y="2764467"/>
                  <a:pt x="3401568" y="2767584"/>
                </a:cubicBezTo>
                <a:cubicBezTo>
                  <a:pt x="3417824" y="2771648"/>
                  <a:pt x="3434286" y="2774961"/>
                  <a:pt x="3450336" y="2779776"/>
                </a:cubicBezTo>
                <a:cubicBezTo>
                  <a:pt x="3474955" y="2787162"/>
                  <a:pt x="3523488" y="2804160"/>
                  <a:pt x="3523488" y="2804160"/>
                </a:cubicBezTo>
                <a:cubicBezTo>
                  <a:pt x="3570866" y="2839694"/>
                  <a:pt x="3624363" y="2876224"/>
                  <a:pt x="3657600" y="2926080"/>
                </a:cubicBezTo>
                <a:cubicBezTo>
                  <a:pt x="3665728" y="2938272"/>
                  <a:pt x="3670957" y="2953007"/>
                  <a:pt x="3681984" y="2962656"/>
                </a:cubicBezTo>
                <a:cubicBezTo>
                  <a:pt x="3740161" y="3013561"/>
                  <a:pt x="3759225" y="3012787"/>
                  <a:pt x="3828288" y="3035808"/>
                </a:cubicBezTo>
                <a:lnTo>
                  <a:pt x="3864864" y="3048000"/>
                </a:lnTo>
                <a:cubicBezTo>
                  <a:pt x="3997903" y="3092346"/>
                  <a:pt x="3888599" y="3059678"/>
                  <a:pt x="4206240" y="3072384"/>
                </a:cubicBezTo>
                <a:cubicBezTo>
                  <a:pt x="4251319" y="3087410"/>
                  <a:pt x="4244266" y="3079001"/>
                  <a:pt x="4279392" y="3121152"/>
                </a:cubicBezTo>
                <a:cubicBezTo>
                  <a:pt x="4301634" y="3147842"/>
                  <a:pt x="4307189" y="3175880"/>
                  <a:pt x="4340352" y="3194304"/>
                </a:cubicBezTo>
                <a:cubicBezTo>
                  <a:pt x="4362820" y="3206786"/>
                  <a:pt x="4413504" y="3218688"/>
                  <a:pt x="4413504" y="3218688"/>
                </a:cubicBezTo>
                <a:cubicBezTo>
                  <a:pt x="4533139" y="3205395"/>
                  <a:pt x="4597218" y="3192032"/>
                  <a:pt x="4730496" y="3218688"/>
                </a:cubicBezTo>
                <a:cubicBezTo>
                  <a:pt x="4747403" y="3222069"/>
                  <a:pt x="4752726" y="3245700"/>
                  <a:pt x="4767072" y="3255264"/>
                </a:cubicBezTo>
                <a:cubicBezTo>
                  <a:pt x="4777765" y="3262393"/>
                  <a:pt x="4791456" y="3263392"/>
                  <a:pt x="4803648" y="3267456"/>
                </a:cubicBezTo>
                <a:cubicBezTo>
                  <a:pt x="4838614" y="3263959"/>
                  <a:pt x="4918206" y="3265041"/>
                  <a:pt x="4962144" y="3243072"/>
                </a:cubicBezTo>
                <a:cubicBezTo>
                  <a:pt x="4967285" y="3240502"/>
                  <a:pt x="4970272" y="3234944"/>
                  <a:pt x="4974336" y="3230880"/>
                </a:cubicBezTo>
              </a:path>
            </a:pathLst>
          </a:custGeom>
          <a:noFill/>
          <a:ln w="381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29D04F-4422-C743-8BA5-9381B971F2E4}"/>
              </a:ext>
            </a:extLst>
          </p:cNvPr>
          <p:cNvSpPr txBox="1"/>
          <p:nvPr/>
        </p:nvSpPr>
        <p:spPr>
          <a:xfrm>
            <a:off x="4953650" y="3120628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rgbClr val="002060"/>
                </a:solidFill>
              </a:rPr>
              <a:t>Pareto Frontier</a:t>
            </a:r>
          </a:p>
        </p:txBody>
      </p:sp>
    </p:spTree>
    <p:extLst>
      <p:ext uri="{BB962C8B-B14F-4D97-AF65-F5344CB8AC3E}">
        <p14:creationId xmlns:p14="http://schemas.microsoft.com/office/powerpoint/2010/main" val="20190616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Up Arrow 4">
            <a:extLst>
              <a:ext uri="{FF2B5EF4-FFF2-40B4-BE49-F238E27FC236}">
                <a16:creationId xmlns:a16="http://schemas.microsoft.com/office/drawing/2014/main" id="{C5E690F2-652B-9A44-8549-6C5FE339E191}"/>
              </a:ext>
            </a:extLst>
          </p:cNvPr>
          <p:cNvSpPr/>
          <p:nvPr/>
        </p:nvSpPr>
        <p:spPr>
          <a:xfrm rot="2530546">
            <a:off x="5883126" y="2067255"/>
            <a:ext cx="1255776" cy="1865376"/>
          </a:xfrm>
          <a:prstGeom prst="upArrow">
            <a:avLst/>
          </a:prstGeom>
          <a:solidFill>
            <a:srgbClr val="FF000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Google Shape;89;p27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sz="4320" dirty="0" err="1"/>
              <a:t>Explainability</a:t>
            </a:r>
            <a:r>
              <a:rPr lang="en-US" sz="4320" dirty="0"/>
              <a:t> vs Accuracy?</a:t>
            </a:r>
            <a:endParaRPr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DC9417B-0447-C545-A79E-3FFC9C67C238}"/>
              </a:ext>
            </a:extLst>
          </p:cNvPr>
          <p:cNvCxnSpPr/>
          <p:nvPr/>
        </p:nvCxnSpPr>
        <p:spPr>
          <a:xfrm flipV="1">
            <a:off x="3218688" y="1527048"/>
            <a:ext cx="0" cy="392582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A71B561-453C-3948-A4B0-52DA35AF46EC}"/>
              </a:ext>
            </a:extLst>
          </p:cNvPr>
          <p:cNvCxnSpPr>
            <a:cxnSpLocks/>
          </p:cNvCxnSpPr>
          <p:nvPr/>
        </p:nvCxnSpPr>
        <p:spPr>
          <a:xfrm>
            <a:off x="3054096" y="5297424"/>
            <a:ext cx="5614416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9756852-E4B1-A545-9015-DEDB321C3A9A}"/>
              </a:ext>
            </a:extLst>
          </p:cNvPr>
          <p:cNvSpPr txBox="1"/>
          <p:nvPr/>
        </p:nvSpPr>
        <p:spPr>
          <a:xfrm>
            <a:off x="4953650" y="5452872"/>
            <a:ext cx="2284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Explainability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32A32A-D242-2C4E-8DC6-DB322945C650}"/>
              </a:ext>
            </a:extLst>
          </p:cNvPr>
          <p:cNvSpPr txBox="1"/>
          <p:nvPr/>
        </p:nvSpPr>
        <p:spPr>
          <a:xfrm rot="16200000">
            <a:off x="1961169" y="3167389"/>
            <a:ext cx="16626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Accuracy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6573E69-DA7E-6445-B352-D095D8E26F1F}"/>
              </a:ext>
            </a:extLst>
          </p:cNvPr>
          <p:cNvSpPr/>
          <p:nvPr/>
        </p:nvSpPr>
        <p:spPr>
          <a:xfrm>
            <a:off x="8058912" y="4888992"/>
            <a:ext cx="256032" cy="256032"/>
          </a:xfrm>
          <a:prstGeom prst="ellipse">
            <a:avLst/>
          </a:prstGeom>
          <a:solidFill>
            <a:srgbClr val="0070C0"/>
          </a:solidFill>
          <a:ln w="3175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EA4034-1899-0643-B94F-E7764F4FD139}"/>
              </a:ext>
            </a:extLst>
          </p:cNvPr>
          <p:cNvSpPr txBox="1"/>
          <p:nvPr/>
        </p:nvSpPr>
        <p:spPr>
          <a:xfrm>
            <a:off x="8010549" y="4505015"/>
            <a:ext cx="2531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rgbClr val="002060"/>
                </a:solidFill>
              </a:rPr>
              <a:t>2-Deep Decision Tree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BD4E6F7-29FA-A84A-8DCC-33AB47E49609}"/>
              </a:ext>
            </a:extLst>
          </p:cNvPr>
          <p:cNvSpPr/>
          <p:nvPr/>
        </p:nvSpPr>
        <p:spPr>
          <a:xfrm>
            <a:off x="3527558" y="1944552"/>
            <a:ext cx="256032" cy="256032"/>
          </a:xfrm>
          <a:prstGeom prst="ellipse">
            <a:avLst/>
          </a:prstGeom>
          <a:solidFill>
            <a:srgbClr val="0070C0"/>
          </a:solidFill>
          <a:ln w="3175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0AF49A-7F6E-E94B-AEF3-554E3713A7AA}"/>
              </a:ext>
            </a:extLst>
          </p:cNvPr>
          <p:cNvSpPr txBox="1"/>
          <p:nvPr/>
        </p:nvSpPr>
        <p:spPr>
          <a:xfrm>
            <a:off x="3479195" y="1560575"/>
            <a:ext cx="1967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rgbClr val="002060"/>
                </a:solidFill>
              </a:rPr>
              <a:t>Deep Neural Net</a:t>
            </a:r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F8DAF403-C13E-E244-AA72-BEB348F37F54}"/>
              </a:ext>
            </a:extLst>
          </p:cNvPr>
          <p:cNvSpPr/>
          <p:nvPr/>
        </p:nvSpPr>
        <p:spPr>
          <a:xfrm>
            <a:off x="3438144" y="1816608"/>
            <a:ext cx="4974336" cy="3267456"/>
          </a:xfrm>
          <a:custGeom>
            <a:avLst/>
            <a:gdLst>
              <a:gd name="connsiteX0" fmla="*/ 0 w 4974336"/>
              <a:gd name="connsiteY0" fmla="*/ 0 h 3267456"/>
              <a:gd name="connsiteX1" fmla="*/ 97536 w 4974336"/>
              <a:gd name="connsiteY1" fmla="*/ 24384 h 3267456"/>
              <a:gd name="connsiteX2" fmla="*/ 146304 w 4974336"/>
              <a:gd name="connsiteY2" fmla="*/ 134112 h 3267456"/>
              <a:gd name="connsiteX3" fmla="*/ 207264 w 4974336"/>
              <a:gd name="connsiteY3" fmla="*/ 207264 h 3267456"/>
              <a:gd name="connsiteX4" fmla="*/ 243840 w 4974336"/>
              <a:gd name="connsiteY4" fmla="*/ 231648 h 3267456"/>
              <a:gd name="connsiteX5" fmla="*/ 402336 w 4974336"/>
              <a:gd name="connsiteY5" fmla="*/ 243840 h 3267456"/>
              <a:gd name="connsiteX6" fmla="*/ 451104 w 4974336"/>
              <a:gd name="connsiteY6" fmla="*/ 316992 h 3267456"/>
              <a:gd name="connsiteX7" fmla="*/ 475488 w 4974336"/>
              <a:gd name="connsiteY7" fmla="*/ 353568 h 3267456"/>
              <a:gd name="connsiteX8" fmla="*/ 499872 w 4974336"/>
              <a:gd name="connsiteY8" fmla="*/ 426720 h 3267456"/>
              <a:gd name="connsiteX9" fmla="*/ 512064 w 4974336"/>
              <a:gd name="connsiteY9" fmla="*/ 463296 h 3267456"/>
              <a:gd name="connsiteX10" fmla="*/ 536448 w 4974336"/>
              <a:gd name="connsiteY10" fmla="*/ 499872 h 3267456"/>
              <a:gd name="connsiteX11" fmla="*/ 548640 w 4974336"/>
              <a:gd name="connsiteY11" fmla="*/ 548640 h 3267456"/>
              <a:gd name="connsiteX12" fmla="*/ 585216 w 4974336"/>
              <a:gd name="connsiteY12" fmla="*/ 658368 h 3267456"/>
              <a:gd name="connsiteX13" fmla="*/ 597408 w 4974336"/>
              <a:gd name="connsiteY13" fmla="*/ 694944 h 3267456"/>
              <a:gd name="connsiteX14" fmla="*/ 609600 w 4974336"/>
              <a:gd name="connsiteY14" fmla="*/ 755904 h 3267456"/>
              <a:gd name="connsiteX15" fmla="*/ 621792 w 4974336"/>
              <a:gd name="connsiteY15" fmla="*/ 853440 h 3267456"/>
              <a:gd name="connsiteX16" fmla="*/ 633984 w 4974336"/>
              <a:gd name="connsiteY16" fmla="*/ 890016 h 3267456"/>
              <a:gd name="connsiteX17" fmla="*/ 670560 w 4974336"/>
              <a:gd name="connsiteY17" fmla="*/ 914400 h 3267456"/>
              <a:gd name="connsiteX18" fmla="*/ 743712 w 4974336"/>
              <a:gd name="connsiteY18" fmla="*/ 938784 h 3267456"/>
              <a:gd name="connsiteX19" fmla="*/ 816864 w 4974336"/>
              <a:gd name="connsiteY19" fmla="*/ 1109472 h 3267456"/>
              <a:gd name="connsiteX20" fmla="*/ 829056 w 4974336"/>
              <a:gd name="connsiteY20" fmla="*/ 1158240 h 3267456"/>
              <a:gd name="connsiteX21" fmla="*/ 841248 w 4974336"/>
              <a:gd name="connsiteY21" fmla="*/ 1353312 h 3267456"/>
              <a:gd name="connsiteX22" fmla="*/ 914400 w 4974336"/>
              <a:gd name="connsiteY22" fmla="*/ 1377696 h 3267456"/>
              <a:gd name="connsiteX23" fmla="*/ 1170432 w 4974336"/>
              <a:gd name="connsiteY23" fmla="*/ 1389888 h 3267456"/>
              <a:gd name="connsiteX24" fmla="*/ 1207008 w 4974336"/>
              <a:gd name="connsiteY24" fmla="*/ 1426464 h 3267456"/>
              <a:gd name="connsiteX25" fmla="*/ 1280160 w 4974336"/>
              <a:gd name="connsiteY25" fmla="*/ 1475232 h 3267456"/>
              <a:gd name="connsiteX26" fmla="*/ 1353312 w 4974336"/>
              <a:gd name="connsiteY26" fmla="*/ 1536192 h 3267456"/>
              <a:gd name="connsiteX27" fmla="*/ 1402080 w 4974336"/>
              <a:gd name="connsiteY27" fmla="*/ 1609344 h 3267456"/>
              <a:gd name="connsiteX28" fmla="*/ 1438656 w 4974336"/>
              <a:gd name="connsiteY28" fmla="*/ 1645920 h 3267456"/>
              <a:gd name="connsiteX29" fmla="*/ 1524000 w 4974336"/>
              <a:gd name="connsiteY29" fmla="*/ 1731264 h 3267456"/>
              <a:gd name="connsiteX30" fmla="*/ 1804416 w 4974336"/>
              <a:gd name="connsiteY30" fmla="*/ 1743456 h 3267456"/>
              <a:gd name="connsiteX31" fmla="*/ 1877568 w 4974336"/>
              <a:gd name="connsiteY31" fmla="*/ 1780032 h 3267456"/>
              <a:gd name="connsiteX32" fmla="*/ 1926336 w 4974336"/>
              <a:gd name="connsiteY32" fmla="*/ 1853184 h 3267456"/>
              <a:gd name="connsiteX33" fmla="*/ 1950720 w 4974336"/>
              <a:gd name="connsiteY33" fmla="*/ 1889760 h 3267456"/>
              <a:gd name="connsiteX34" fmla="*/ 1975104 w 4974336"/>
              <a:gd name="connsiteY34" fmla="*/ 1926336 h 3267456"/>
              <a:gd name="connsiteX35" fmla="*/ 2011680 w 4974336"/>
              <a:gd name="connsiteY35" fmla="*/ 1950720 h 3267456"/>
              <a:gd name="connsiteX36" fmla="*/ 2048256 w 4974336"/>
              <a:gd name="connsiteY36" fmla="*/ 1987296 h 3267456"/>
              <a:gd name="connsiteX37" fmla="*/ 2121408 w 4974336"/>
              <a:gd name="connsiteY37" fmla="*/ 2011680 h 3267456"/>
              <a:gd name="connsiteX38" fmla="*/ 2218944 w 4974336"/>
              <a:gd name="connsiteY38" fmla="*/ 1999488 h 3267456"/>
              <a:gd name="connsiteX39" fmla="*/ 2304288 w 4974336"/>
              <a:gd name="connsiteY39" fmla="*/ 1987296 h 3267456"/>
              <a:gd name="connsiteX40" fmla="*/ 2377440 w 4974336"/>
              <a:gd name="connsiteY40" fmla="*/ 1999488 h 3267456"/>
              <a:gd name="connsiteX41" fmla="*/ 2450592 w 4974336"/>
              <a:gd name="connsiteY41" fmla="*/ 2048256 h 3267456"/>
              <a:gd name="connsiteX42" fmla="*/ 2474976 w 4974336"/>
              <a:gd name="connsiteY42" fmla="*/ 2084832 h 3267456"/>
              <a:gd name="connsiteX43" fmla="*/ 2511552 w 4974336"/>
              <a:gd name="connsiteY43" fmla="*/ 2109216 h 3267456"/>
              <a:gd name="connsiteX44" fmla="*/ 2584704 w 4974336"/>
              <a:gd name="connsiteY44" fmla="*/ 2182368 h 3267456"/>
              <a:gd name="connsiteX45" fmla="*/ 2657856 w 4974336"/>
              <a:gd name="connsiteY45" fmla="*/ 2255520 h 3267456"/>
              <a:gd name="connsiteX46" fmla="*/ 2694432 w 4974336"/>
              <a:gd name="connsiteY46" fmla="*/ 2292096 h 3267456"/>
              <a:gd name="connsiteX47" fmla="*/ 2767584 w 4974336"/>
              <a:gd name="connsiteY47" fmla="*/ 2328672 h 3267456"/>
              <a:gd name="connsiteX48" fmla="*/ 2840736 w 4974336"/>
              <a:gd name="connsiteY48" fmla="*/ 2377440 h 3267456"/>
              <a:gd name="connsiteX49" fmla="*/ 2950464 w 4974336"/>
              <a:gd name="connsiteY49" fmla="*/ 2426208 h 3267456"/>
              <a:gd name="connsiteX50" fmla="*/ 3084576 w 4974336"/>
              <a:gd name="connsiteY50" fmla="*/ 2438400 h 3267456"/>
              <a:gd name="connsiteX51" fmla="*/ 3133344 w 4974336"/>
              <a:gd name="connsiteY51" fmla="*/ 2511552 h 3267456"/>
              <a:gd name="connsiteX52" fmla="*/ 3157728 w 4974336"/>
              <a:gd name="connsiteY52" fmla="*/ 2584704 h 3267456"/>
              <a:gd name="connsiteX53" fmla="*/ 3182112 w 4974336"/>
              <a:gd name="connsiteY53" fmla="*/ 2621280 h 3267456"/>
              <a:gd name="connsiteX54" fmla="*/ 3194304 w 4974336"/>
              <a:gd name="connsiteY54" fmla="*/ 2657856 h 3267456"/>
              <a:gd name="connsiteX55" fmla="*/ 3255264 w 4974336"/>
              <a:gd name="connsiteY55" fmla="*/ 2718816 h 3267456"/>
              <a:gd name="connsiteX56" fmla="*/ 3328416 w 4974336"/>
              <a:gd name="connsiteY56" fmla="*/ 2743200 h 3267456"/>
              <a:gd name="connsiteX57" fmla="*/ 3364992 w 4974336"/>
              <a:gd name="connsiteY57" fmla="*/ 2755392 h 3267456"/>
              <a:gd name="connsiteX58" fmla="*/ 3401568 w 4974336"/>
              <a:gd name="connsiteY58" fmla="*/ 2767584 h 3267456"/>
              <a:gd name="connsiteX59" fmla="*/ 3450336 w 4974336"/>
              <a:gd name="connsiteY59" fmla="*/ 2779776 h 3267456"/>
              <a:gd name="connsiteX60" fmla="*/ 3523488 w 4974336"/>
              <a:gd name="connsiteY60" fmla="*/ 2804160 h 3267456"/>
              <a:gd name="connsiteX61" fmla="*/ 3657600 w 4974336"/>
              <a:gd name="connsiteY61" fmla="*/ 2926080 h 3267456"/>
              <a:gd name="connsiteX62" fmla="*/ 3681984 w 4974336"/>
              <a:gd name="connsiteY62" fmla="*/ 2962656 h 3267456"/>
              <a:gd name="connsiteX63" fmla="*/ 3828288 w 4974336"/>
              <a:gd name="connsiteY63" fmla="*/ 3035808 h 3267456"/>
              <a:gd name="connsiteX64" fmla="*/ 3864864 w 4974336"/>
              <a:gd name="connsiteY64" fmla="*/ 3048000 h 3267456"/>
              <a:gd name="connsiteX65" fmla="*/ 4206240 w 4974336"/>
              <a:gd name="connsiteY65" fmla="*/ 3072384 h 3267456"/>
              <a:gd name="connsiteX66" fmla="*/ 4279392 w 4974336"/>
              <a:gd name="connsiteY66" fmla="*/ 3121152 h 3267456"/>
              <a:gd name="connsiteX67" fmla="*/ 4340352 w 4974336"/>
              <a:gd name="connsiteY67" fmla="*/ 3194304 h 3267456"/>
              <a:gd name="connsiteX68" fmla="*/ 4413504 w 4974336"/>
              <a:gd name="connsiteY68" fmla="*/ 3218688 h 3267456"/>
              <a:gd name="connsiteX69" fmla="*/ 4730496 w 4974336"/>
              <a:gd name="connsiteY69" fmla="*/ 3218688 h 3267456"/>
              <a:gd name="connsiteX70" fmla="*/ 4767072 w 4974336"/>
              <a:gd name="connsiteY70" fmla="*/ 3255264 h 3267456"/>
              <a:gd name="connsiteX71" fmla="*/ 4803648 w 4974336"/>
              <a:gd name="connsiteY71" fmla="*/ 3267456 h 3267456"/>
              <a:gd name="connsiteX72" fmla="*/ 4962144 w 4974336"/>
              <a:gd name="connsiteY72" fmla="*/ 3243072 h 3267456"/>
              <a:gd name="connsiteX73" fmla="*/ 4974336 w 4974336"/>
              <a:gd name="connsiteY73" fmla="*/ 3230880 h 3267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</a:cxnLst>
            <a:rect l="l" t="t" r="r" b="b"/>
            <a:pathLst>
              <a:path w="4974336" h="3267456">
                <a:moveTo>
                  <a:pt x="0" y="0"/>
                </a:moveTo>
                <a:cubicBezTo>
                  <a:pt x="3036" y="607"/>
                  <a:pt x="85039" y="14387"/>
                  <a:pt x="97536" y="24384"/>
                </a:cubicBezTo>
                <a:cubicBezTo>
                  <a:pt x="132984" y="52743"/>
                  <a:pt x="122887" y="98987"/>
                  <a:pt x="146304" y="134112"/>
                </a:cubicBezTo>
                <a:cubicBezTo>
                  <a:pt x="170280" y="170076"/>
                  <a:pt x="172061" y="177928"/>
                  <a:pt x="207264" y="207264"/>
                </a:cubicBezTo>
                <a:cubicBezTo>
                  <a:pt x="218521" y="216645"/>
                  <a:pt x="229438" y="228948"/>
                  <a:pt x="243840" y="231648"/>
                </a:cubicBezTo>
                <a:cubicBezTo>
                  <a:pt x="295921" y="241413"/>
                  <a:pt x="349504" y="239776"/>
                  <a:pt x="402336" y="243840"/>
                </a:cubicBezTo>
                <a:lnTo>
                  <a:pt x="451104" y="316992"/>
                </a:lnTo>
                <a:cubicBezTo>
                  <a:pt x="459232" y="329184"/>
                  <a:pt x="470854" y="339667"/>
                  <a:pt x="475488" y="353568"/>
                </a:cubicBezTo>
                <a:lnTo>
                  <a:pt x="499872" y="426720"/>
                </a:lnTo>
                <a:cubicBezTo>
                  <a:pt x="503936" y="438912"/>
                  <a:pt x="504935" y="452603"/>
                  <a:pt x="512064" y="463296"/>
                </a:cubicBezTo>
                <a:lnTo>
                  <a:pt x="536448" y="499872"/>
                </a:lnTo>
                <a:cubicBezTo>
                  <a:pt x="540512" y="516128"/>
                  <a:pt x="543825" y="532590"/>
                  <a:pt x="548640" y="548640"/>
                </a:cubicBezTo>
                <a:lnTo>
                  <a:pt x="585216" y="658368"/>
                </a:lnTo>
                <a:cubicBezTo>
                  <a:pt x="589280" y="670560"/>
                  <a:pt x="594888" y="682342"/>
                  <a:pt x="597408" y="694944"/>
                </a:cubicBezTo>
                <a:cubicBezTo>
                  <a:pt x="601472" y="715264"/>
                  <a:pt x="606449" y="735423"/>
                  <a:pt x="609600" y="755904"/>
                </a:cubicBezTo>
                <a:cubicBezTo>
                  <a:pt x="614582" y="788288"/>
                  <a:pt x="615931" y="821203"/>
                  <a:pt x="621792" y="853440"/>
                </a:cubicBezTo>
                <a:cubicBezTo>
                  <a:pt x="624091" y="866084"/>
                  <a:pt x="625956" y="879981"/>
                  <a:pt x="633984" y="890016"/>
                </a:cubicBezTo>
                <a:cubicBezTo>
                  <a:pt x="643138" y="901458"/>
                  <a:pt x="657170" y="908449"/>
                  <a:pt x="670560" y="914400"/>
                </a:cubicBezTo>
                <a:cubicBezTo>
                  <a:pt x="694048" y="924839"/>
                  <a:pt x="743712" y="938784"/>
                  <a:pt x="743712" y="938784"/>
                </a:cubicBezTo>
                <a:cubicBezTo>
                  <a:pt x="811069" y="1039820"/>
                  <a:pt x="785372" y="983505"/>
                  <a:pt x="816864" y="1109472"/>
                </a:cubicBezTo>
                <a:lnTo>
                  <a:pt x="829056" y="1158240"/>
                </a:lnTo>
                <a:cubicBezTo>
                  <a:pt x="833120" y="1223264"/>
                  <a:pt x="817634" y="1292591"/>
                  <a:pt x="841248" y="1353312"/>
                </a:cubicBezTo>
                <a:cubicBezTo>
                  <a:pt x="850564" y="1377267"/>
                  <a:pt x="888726" y="1376473"/>
                  <a:pt x="914400" y="1377696"/>
                </a:cubicBezTo>
                <a:lnTo>
                  <a:pt x="1170432" y="1389888"/>
                </a:lnTo>
                <a:cubicBezTo>
                  <a:pt x="1182624" y="1402080"/>
                  <a:pt x="1193398" y="1415878"/>
                  <a:pt x="1207008" y="1426464"/>
                </a:cubicBezTo>
                <a:cubicBezTo>
                  <a:pt x="1230141" y="1444456"/>
                  <a:pt x="1259438" y="1454510"/>
                  <a:pt x="1280160" y="1475232"/>
                </a:cubicBezTo>
                <a:cubicBezTo>
                  <a:pt x="1327097" y="1522169"/>
                  <a:pt x="1302390" y="1502244"/>
                  <a:pt x="1353312" y="1536192"/>
                </a:cubicBezTo>
                <a:cubicBezTo>
                  <a:pt x="1369568" y="1560576"/>
                  <a:pt x="1381358" y="1588622"/>
                  <a:pt x="1402080" y="1609344"/>
                </a:cubicBezTo>
                <a:cubicBezTo>
                  <a:pt x="1414272" y="1621536"/>
                  <a:pt x="1428070" y="1632310"/>
                  <a:pt x="1438656" y="1645920"/>
                </a:cubicBezTo>
                <a:cubicBezTo>
                  <a:pt x="1473321" y="1690490"/>
                  <a:pt x="1468933" y="1727028"/>
                  <a:pt x="1524000" y="1731264"/>
                </a:cubicBezTo>
                <a:cubicBezTo>
                  <a:pt x="1617285" y="1738440"/>
                  <a:pt x="1710944" y="1739392"/>
                  <a:pt x="1804416" y="1743456"/>
                </a:cubicBezTo>
                <a:cubicBezTo>
                  <a:pt x="1830506" y="1752153"/>
                  <a:pt x="1858104" y="1757788"/>
                  <a:pt x="1877568" y="1780032"/>
                </a:cubicBezTo>
                <a:cubicBezTo>
                  <a:pt x="1896866" y="1802087"/>
                  <a:pt x="1910080" y="1828800"/>
                  <a:pt x="1926336" y="1853184"/>
                </a:cubicBezTo>
                <a:lnTo>
                  <a:pt x="1950720" y="1889760"/>
                </a:lnTo>
                <a:cubicBezTo>
                  <a:pt x="1958848" y="1901952"/>
                  <a:pt x="1962912" y="1918208"/>
                  <a:pt x="1975104" y="1926336"/>
                </a:cubicBezTo>
                <a:cubicBezTo>
                  <a:pt x="1987296" y="1934464"/>
                  <a:pt x="2000423" y="1941339"/>
                  <a:pt x="2011680" y="1950720"/>
                </a:cubicBezTo>
                <a:cubicBezTo>
                  <a:pt x="2024926" y="1961758"/>
                  <a:pt x="2033184" y="1978923"/>
                  <a:pt x="2048256" y="1987296"/>
                </a:cubicBezTo>
                <a:cubicBezTo>
                  <a:pt x="2070724" y="1999778"/>
                  <a:pt x="2121408" y="2011680"/>
                  <a:pt x="2121408" y="2011680"/>
                </a:cubicBezTo>
                <a:lnTo>
                  <a:pt x="2218944" y="1999488"/>
                </a:lnTo>
                <a:cubicBezTo>
                  <a:pt x="2247429" y="1995690"/>
                  <a:pt x="2275551" y="1987296"/>
                  <a:pt x="2304288" y="1987296"/>
                </a:cubicBezTo>
                <a:cubicBezTo>
                  <a:pt x="2329008" y="1987296"/>
                  <a:pt x="2353056" y="1995424"/>
                  <a:pt x="2377440" y="1999488"/>
                </a:cubicBezTo>
                <a:cubicBezTo>
                  <a:pt x="2401824" y="2015744"/>
                  <a:pt x="2434336" y="2023872"/>
                  <a:pt x="2450592" y="2048256"/>
                </a:cubicBezTo>
                <a:cubicBezTo>
                  <a:pt x="2458720" y="2060448"/>
                  <a:pt x="2464615" y="2074471"/>
                  <a:pt x="2474976" y="2084832"/>
                </a:cubicBezTo>
                <a:cubicBezTo>
                  <a:pt x="2485337" y="2095193"/>
                  <a:pt x="2500600" y="2099481"/>
                  <a:pt x="2511552" y="2109216"/>
                </a:cubicBezTo>
                <a:cubicBezTo>
                  <a:pt x="2537326" y="2132126"/>
                  <a:pt x="2560320" y="2157984"/>
                  <a:pt x="2584704" y="2182368"/>
                </a:cubicBezTo>
                <a:lnTo>
                  <a:pt x="2657856" y="2255520"/>
                </a:lnTo>
                <a:cubicBezTo>
                  <a:pt x="2670048" y="2267712"/>
                  <a:pt x="2680086" y="2282532"/>
                  <a:pt x="2694432" y="2292096"/>
                </a:cubicBezTo>
                <a:cubicBezTo>
                  <a:pt x="2856806" y="2400346"/>
                  <a:pt x="2616153" y="2244544"/>
                  <a:pt x="2767584" y="2328672"/>
                </a:cubicBezTo>
                <a:cubicBezTo>
                  <a:pt x="2793202" y="2342904"/>
                  <a:pt x="2816352" y="2361184"/>
                  <a:pt x="2840736" y="2377440"/>
                </a:cubicBezTo>
                <a:cubicBezTo>
                  <a:pt x="2877802" y="2402151"/>
                  <a:pt x="2900065" y="2421626"/>
                  <a:pt x="2950464" y="2426208"/>
                </a:cubicBezTo>
                <a:lnTo>
                  <a:pt x="3084576" y="2438400"/>
                </a:lnTo>
                <a:cubicBezTo>
                  <a:pt x="3100832" y="2462784"/>
                  <a:pt x="3124077" y="2483750"/>
                  <a:pt x="3133344" y="2511552"/>
                </a:cubicBezTo>
                <a:cubicBezTo>
                  <a:pt x="3141472" y="2535936"/>
                  <a:pt x="3143471" y="2563318"/>
                  <a:pt x="3157728" y="2584704"/>
                </a:cubicBezTo>
                <a:cubicBezTo>
                  <a:pt x="3165856" y="2596896"/>
                  <a:pt x="3175559" y="2608174"/>
                  <a:pt x="3182112" y="2621280"/>
                </a:cubicBezTo>
                <a:cubicBezTo>
                  <a:pt x="3187859" y="2632775"/>
                  <a:pt x="3188557" y="2646361"/>
                  <a:pt x="3194304" y="2657856"/>
                </a:cubicBezTo>
                <a:cubicBezTo>
                  <a:pt x="3209399" y="2688046"/>
                  <a:pt x="3223913" y="2704882"/>
                  <a:pt x="3255264" y="2718816"/>
                </a:cubicBezTo>
                <a:cubicBezTo>
                  <a:pt x="3278752" y="2729255"/>
                  <a:pt x="3304032" y="2735072"/>
                  <a:pt x="3328416" y="2743200"/>
                </a:cubicBezTo>
                <a:lnTo>
                  <a:pt x="3364992" y="2755392"/>
                </a:lnTo>
                <a:cubicBezTo>
                  <a:pt x="3377184" y="2759456"/>
                  <a:pt x="3389100" y="2764467"/>
                  <a:pt x="3401568" y="2767584"/>
                </a:cubicBezTo>
                <a:cubicBezTo>
                  <a:pt x="3417824" y="2771648"/>
                  <a:pt x="3434286" y="2774961"/>
                  <a:pt x="3450336" y="2779776"/>
                </a:cubicBezTo>
                <a:cubicBezTo>
                  <a:pt x="3474955" y="2787162"/>
                  <a:pt x="3523488" y="2804160"/>
                  <a:pt x="3523488" y="2804160"/>
                </a:cubicBezTo>
                <a:cubicBezTo>
                  <a:pt x="3570866" y="2839694"/>
                  <a:pt x="3624363" y="2876224"/>
                  <a:pt x="3657600" y="2926080"/>
                </a:cubicBezTo>
                <a:cubicBezTo>
                  <a:pt x="3665728" y="2938272"/>
                  <a:pt x="3670957" y="2953007"/>
                  <a:pt x="3681984" y="2962656"/>
                </a:cubicBezTo>
                <a:cubicBezTo>
                  <a:pt x="3740161" y="3013561"/>
                  <a:pt x="3759225" y="3012787"/>
                  <a:pt x="3828288" y="3035808"/>
                </a:cubicBezTo>
                <a:lnTo>
                  <a:pt x="3864864" y="3048000"/>
                </a:lnTo>
                <a:cubicBezTo>
                  <a:pt x="3997903" y="3092346"/>
                  <a:pt x="3888599" y="3059678"/>
                  <a:pt x="4206240" y="3072384"/>
                </a:cubicBezTo>
                <a:cubicBezTo>
                  <a:pt x="4251319" y="3087410"/>
                  <a:pt x="4244266" y="3079001"/>
                  <a:pt x="4279392" y="3121152"/>
                </a:cubicBezTo>
                <a:cubicBezTo>
                  <a:pt x="4301634" y="3147842"/>
                  <a:pt x="4307189" y="3175880"/>
                  <a:pt x="4340352" y="3194304"/>
                </a:cubicBezTo>
                <a:cubicBezTo>
                  <a:pt x="4362820" y="3206786"/>
                  <a:pt x="4413504" y="3218688"/>
                  <a:pt x="4413504" y="3218688"/>
                </a:cubicBezTo>
                <a:cubicBezTo>
                  <a:pt x="4533139" y="3205395"/>
                  <a:pt x="4597218" y="3192032"/>
                  <a:pt x="4730496" y="3218688"/>
                </a:cubicBezTo>
                <a:cubicBezTo>
                  <a:pt x="4747403" y="3222069"/>
                  <a:pt x="4752726" y="3245700"/>
                  <a:pt x="4767072" y="3255264"/>
                </a:cubicBezTo>
                <a:cubicBezTo>
                  <a:pt x="4777765" y="3262393"/>
                  <a:pt x="4791456" y="3263392"/>
                  <a:pt x="4803648" y="3267456"/>
                </a:cubicBezTo>
                <a:cubicBezTo>
                  <a:pt x="4838614" y="3263959"/>
                  <a:pt x="4918206" y="3265041"/>
                  <a:pt x="4962144" y="3243072"/>
                </a:cubicBezTo>
                <a:cubicBezTo>
                  <a:pt x="4967285" y="3240502"/>
                  <a:pt x="4970272" y="3234944"/>
                  <a:pt x="4974336" y="3230880"/>
                </a:cubicBezTo>
              </a:path>
            </a:pathLst>
          </a:custGeom>
          <a:noFill/>
          <a:ln w="381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29D04F-4422-C743-8BA5-9381B971F2E4}"/>
              </a:ext>
            </a:extLst>
          </p:cNvPr>
          <p:cNvSpPr txBox="1"/>
          <p:nvPr/>
        </p:nvSpPr>
        <p:spPr>
          <a:xfrm>
            <a:off x="4953650" y="3120628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rgbClr val="002060"/>
                </a:solidFill>
              </a:rPr>
              <a:t>Pareto Frontier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8E5B659-A226-FA4D-91C9-5043C5256D82}"/>
              </a:ext>
            </a:extLst>
          </p:cNvPr>
          <p:cNvSpPr txBox="1"/>
          <p:nvPr/>
        </p:nvSpPr>
        <p:spPr>
          <a:xfrm>
            <a:off x="6375752" y="1826209"/>
            <a:ext cx="2441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rgbClr val="C00000"/>
                </a:solidFill>
              </a:rPr>
              <a:t>Explainable ML Goal</a:t>
            </a:r>
          </a:p>
        </p:txBody>
      </p:sp>
    </p:spTree>
    <p:extLst>
      <p:ext uri="{BB962C8B-B14F-4D97-AF65-F5344CB8AC3E}">
        <p14:creationId xmlns:p14="http://schemas.microsoft.com/office/powerpoint/2010/main" val="39435494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72639d37ef_1_105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dirty="0"/>
              <a:t>Case Study: Evaluating an Explainable ML System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F18AB2-0051-AA41-BFF6-FC217CB0D4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950" y="1104900"/>
            <a:ext cx="11722100" cy="46482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72639d37ef_1_105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dirty="0"/>
              <a:t>Case Study: Evaluating an Explainable ML System</a:t>
            </a:r>
            <a:endParaRPr dirty="0"/>
          </a:p>
        </p:txBody>
      </p:sp>
      <p:sp>
        <p:nvSpPr>
          <p:cNvPr id="197" name="Google Shape;197;g72639d37ef_1_10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SzPts val="3000"/>
              <a:buChar char="●"/>
            </a:pPr>
            <a:r>
              <a:rPr lang="en-US" sz="3000" dirty="0"/>
              <a:t>Application: Preventing </a:t>
            </a:r>
            <a:r>
              <a:rPr lang="en-US" sz="3000" dirty="0" err="1"/>
              <a:t>Hypoxaemia</a:t>
            </a:r>
            <a:r>
              <a:rPr lang="en-US" sz="3000" dirty="0"/>
              <a:t> During Surgery</a:t>
            </a:r>
            <a:endParaRPr sz="3000" dirty="0"/>
          </a:p>
          <a:p>
            <a:pPr marL="914400" lvl="1" indent="-419100" algn="l" rtl="0">
              <a:spcBef>
                <a:spcPts val="2100"/>
              </a:spcBef>
              <a:spcAft>
                <a:spcPts val="0"/>
              </a:spcAft>
              <a:buSzPts val="3000"/>
              <a:buChar char="○"/>
            </a:pPr>
            <a:r>
              <a:rPr lang="en-US" sz="3000" dirty="0"/>
              <a:t>Low arterial blood oxygen tension</a:t>
            </a:r>
            <a:endParaRPr sz="3000" dirty="0"/>
          </a:p>
          <a:p>
            <a:pPr marL="914400" lvl="1" indent="-419100" algn="l" rtl="0">
              <a:spcBef>
                <a:spcPts val="2100"/>
              </a:spcBef>
              <a:spcAft>
                <a:spcPts val="0"/>
              </a:spcAft>
              <a:buSzPts val="3000"/>
              <a:buChar char="○"/>
            </a:pPr>
            <a:r>
              <a:rPr lang="en-US" sz="3000" dirty="0"/>
              <a:t>Good predictions would allow anesthesiologists to take preventative measures during surgery</a:t>
            </a:r>
            <a:br>
              <a:rPr lang="en-US" sz="3000" dirty="0"/>
            </a:br>
            <a:endParaRPr sz="3000" dirty="0"/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SzPts val="3000"/>
              <a:buChar char="●"/>
            </a:pPr>
            <a:r>
              <a:rPr lang="en-US" sz="3000" dirty="0"/>
              <a:t>User study comparing predictive performance of humans and models</a:t>
            </a:r>
            <a:endParaRPr sz="3000" dirty="0"/>
          </a:p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</a:pPr>
            <a:endParaRPr dirty="0"/>
          </a:p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936267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72639d37ef_1_20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Arial"/>
              <a:buNone/>
            </a:pPr>
            <a:r>
              <a:rPr lang="en-US" dirty="0"/>
              <a:t>Case Study: Evaluating an Explainable ML System</a:t>
            </a:r>
            <a:endParaRPr dirty="0"/>
          </a:p>
        </p:txBody>
      </p:sp>
      <p:pic>
        <p:nvPicPr>
          <p:cNvPr id="203" name="Google Shape;203;g72639d37ef_1_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01088" y="1193554"/>
            <a:ext cx="9389725" cy="5444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72639d37ef_1_26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Arial"/>
              <a:buNone/>
            </a:pPr>
            <a:r>
              <a:rPr lang="en-US" dirty="0"/>
              <a:t>Case Study: Evaluating an Explainable ML System</a:t>
            </a:r>
            <a:endParaRPr dirty="0"/>
          </a:p>
        </p:txBody>
      </p:sp>
      <p:pic>
        <p:nvPicPr>
          <p:cNvPr id="209" name="Google Shape;209;g72639d37ef_1_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5750" y="1499334"/>
            <a:ext cx="11020400" cy="48960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377255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72639d37ef_1_26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Arial"/>
              <a:buNone/>
            </a:pPr>
            <a:r>
              <a:rPr lang="en-US" dirty="0"/>
              <a:t>Case Study: Evaluating an Explainable ML System</a:t>
            </a:r>
            <a:endParaRPr dirty="0"/>
          </a:p>
        </p:txBody>
      </p:sp>
      <p:pic>
        <p:nvPicPr>
          <p:cNvPr id="209" name="Google Shape;209;g72639d37ef_1_26"/>
          <p:cNvPicPr preferRelativeResize="0"/>
          <p:nvPr/>
        </p:nvPicPr>
        <p:blipFill rotWithShape="1">
          <a:blip r:embed="rId3">
            <a:alphaModFix/>
          </a:blip>
          <a:srcRect r="50000"/>
          <a:stretch/>
        </p:blipFill>
        <p:spPr>
          <a:xfrm>
            <a:off x="78373" y="1048511"/>
            <a:ext cx="6440855" cy="572292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71AD207E-0B93-2645-9A02-1E2348A07737}"/>
              </a:ext>
            </a:extLst>
          </p:cNvPr>
          <p:cNvSpPr txBox="1">
            <a:spLocks/>
          </p:cNvSpPr>
          <p:nvPr/>
        </p:nvSpPr>
        <p:spPr>
          <a:xfrm>
            <a:off x="7399938" y="4626787"/>
            <a:ext cx="4235913" cy="1875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Font typeface="Arial"/>
              <a:buChar char="●"/>
              <a:defRPr sz="24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76200" indent="0" algn="ctr">
              <a:buNone/>
            </a:pPr>
            <a:r>
              <a:rPr lang="en-US" sz="5400" b="1" dirty="0" err="1">
                <a:solidFill>
                  <a:srgbClr val="C00000"/>
                </a:solidFill>
              </a:rPr>
              <a:t>slido.com</a:t>
            </a:r>
            <a:endParaRPr lang="en-US" sz="5400" b="1" dirty="0">
              <a:solidFill>
                <a:srgbClr val="C00000"/>
              </a:solidFill>
            </a:endParaRPr>
          </a:p>
          <a:p>
            <a:pPr marL="76200" indent="0" algn="ctr">
              <a:buNone/>
            </a:pPr>
            <a:r>
              <a:rPr lang="en-US" sz="5400" b="1" dirty="0">
                <a:solidFill>
                  <a:srgbClr val="C00000"/>
                </a:solidFill>
              </a:rPr>
              <a:t>#10718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FD438B-D5AF-0F4B-B584-5BEAE6C0566D}"/>
              </a:ext>
            </a:extLst>
          </p:cNvPr>
          <p:cNvSpPr txBox="1"/>
          <p:nvPr/>
        </p:nvSpPr>
        <p:spPr>
          <a:xfrm>
            <a:off x="7157313" y="1226116"/>
            <a:ext cx="472116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What can we conclude from </a:t>
            </a:r>
          </a:p>
          <a:p>
            <a:pPr algn="ctr"/>
            <a:r>
              <a:rPr lang="en-US" sz="2800" dirty="0"/>
              <a:t>these results?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6AC487-A725-7146-B2B5-0B0A15EB90D7}"/>
              </a:ext>
            </a:extLst>
          </p:cNvPr>
          <p:cNvSpPr txBox="1"/>
          <p:nvPr/>
        </p:nvSpPr>
        <p:spPr>
          <a:xfrm>
            <a:off x="5098573" y="2922691"/>
            <a:ext cx="25010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7FF346"/>
                </a:solidFill>
              </a:rPr>
              <a:t>Human Alone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F6C28AE-E036-FF46-A930-A27B2BF96891}"/>
              </a:ext>
            </a:extLst>
          </p:cNvPr>
          <p:cNvCxnSpPr>
            <a:cxnSpLocks/>
          </p:cNvCxnSpPr>
          <p:nvPr/>
        </p:nvCxnSpPr>
        <p:spPr>
          <a:xfrm flipH="1" flipV="1">
            <a:off x="4635732" y="2634842"/>
            <a:ext cx="473816" cy="518874"/>
          </a:xfrm>
          <a:prstGeom prst="straightConnector1">
            <a:avLst/>
          </a:prstGeom>
          <a:ln w="57150">
            <a:solidFill>
              <a:srgbClr val="7FF34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C567C7D-D073-8340-ABE9-9BE365F03723}"/>
              </a:ext>
            </a:extLst>
          </p:cNvPr>
          <p:cNvSpPr txBox="1"/>
          <p:nvPr/>
        </p:nvSpPr>
        <p:spPr>
          <a:xfrm>
            <a:off x="4373233" y="3426036"/>
            <a:ext cx="37096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356BF4"/>
                </a:solidFill>
              </a:rPr>
              <a:t>Human + ML System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0220F4-F5E0-564A-8945-F2460EB9B2D0}"/>
              </a:ext>
            </a:extLst>
          </p:cNvPr>
          <p:cNvSpPr txBox="1"/>
          <p:nvPr/>
        </p:nvSpPr>
        <p:spPr>
          <a:xfrm>
            <a:off x="3778904" y="4029606"/>
            <a:ext cx="31806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E94B9E"/>
                </a:solidFill>
              </a:rPr>
              <a:t>ML System Alone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F7F269-36CE-A148-8A1B-C1C158652C03}"/>
              </a:ext>
            </a:extLst>
          </p:cNvPr>
          <p:cNvSpPr/>
          <p:nvPr/>
        </p:nvSpPr>
        <p:spPr>
          <a:xfrm>
            <a:off x="3035808" y="4560712"/>
            <a:ext cx="3192260" cy="82815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56F0012-B6B8-5D4A-AE36-AF6BB4C7A3A5}"/>
              </a:ext>
            </a:extLst>
          </p:cNvPr>
          <p:cNvCxnSpPr>
            <a:cxnSpLocks/>
          </p:cNvCxnSpPr>
          <p:nvPr/>
        </p:nvCxnSpPr>
        <p:spPr>
          <a:xfrm flipH="1" flipV="1">
            <a:off x="3401568" y="2828394"/>
            <a:ext cx="956958" cy="903370"/>
          </a:xfrm>
          <a:prstGeom prst="straightConnector1">
            <a:avLst/>
          </a:prstGeom>
          <a:ln w="57150">
            <a:solidFill>
              <a:srgbClr val="356BF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CCB2113-B6F1-B446-8848-44361068F627}"/>
              </a:ext>
            </a:extLst>
          </p:cNvPr>
          <p:cNvCxnSpPr>
            <a:cxnSpLocks/>
          </p:cNvCxnSpPr>
          <p:nvPr/>
        </p:nvCxnSpPr>
        <p:spPr>
          <a:xfrm flipH="1" flipV="1">
            <a:off x="2480408" y="3053606"/>
            <a:ext cx="1298998" cy="1232894"/>
          </a:xfrm>
          <a:prstGeom prst="straightConnector1">
            <a:avLst/>
          </a:prstGeom>
          <a:ln w="57150">
            <a:solidFill>
              <a:srgbClr val="E94B9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16">
            <a:extLst>
              <a:ext uri="{FF2B5EF4-FFF2-40B4-BE49-F238E27FC236}">
                <a16:creationId xmlns:a16="http://schemas.microsoft.com/office/drawing/2014/main" id="{77A8866E-865F-574F-AB93-85C7A497D9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0745" y="2180223"/>
            <a:ext cx="2654300" cy="26416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sz="4320" dirty="0"/>
              <a:t>Many Approaches to Model Explanations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309EA63-AF1B-4349-948A-D131B77E62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42350"/>
            <a:ext cx="12192000" cy="35733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5945B49-8762-E342-B4F4-65D4FAB130D0}"/>
              </a:ext>
            </a:extLst>
          </p:cNvPr>
          <p:cNvSpPr txBox="1"/>
          <p:nvPr/>
        </p:nvSpPr>
        <p:spPr>
          <a:xfrm>
            <a:off x="0" y="6309772"/>
            <a:ext cx="46025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Bodria</a:t>
            </a:r>
            <a:r>
              <a:rPr lang="en-US" sz="2400" dirty="0"/>
              <a:t> et al, arxiv:2102.13076v1</a:t>
            </a:r>
          </a:p>
        </p:txBody>
      </p:sp>
    </p:spTree>
    <p:extLst>
      <p:ext uri="{BB962C8B-B14F-4D97-AF65-F5344CB8AC3E}">
        <p14:creationId xmlns:p14="http://schemas.microsoft.com/office/powerpoint/2010/main" val="1368328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sz="4320" dirty="0"/>
              <a:t>Some of the teams will explore the following…</a:t>
            </a:r>
            <a:endParaRPr dirty="0"/>
          </a:p>
        </p:txBody>
      </p:sp>
      <p:sp>
        <p:nvSpPr>
          <p:cNvPr id="5" name="Google Shape;197;g72639d37ef_1_105">
            <a:extLst>
              <a:ext uri="{FF2B5EF4-FFF2-40B4-BE49-F238E27FC236}">
                <a16:creationId xmlns:a16="http://schemas.microsoft.com/office/drawing/2014/main" id="{E8886E5F-8E40-E045-9E3E-1D768D1FE7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SzPts val="3000"/>
              <a:buChar char="●"/>
            </a:pPr>
            <a:r>
              <a:rPr lang="en-US" sz="3000" dirty="0"/>
              <a:t>Inherently-Interpretable Models</a:t>
            </a:r>
            <a:br>
              <a:rPr lang="en-US" sz="3000" dirty="0"/>
            </a:br>
            <a:endParaRPr sz="3000" dirty="0"/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SzPts val="3000"/>
              <a:buChar char="●"/>
            </a:pPr>
            <a:r>
              <a:rPr lang="en-US" sz="3000" dirty="0"/>
              <a:t>Post-Hoc Individual Feature </a:t>
            </a:r>
            <a:r>
              <a:rPr lang="en-US" sz="3000" dirty="0" err="1"/>
              <a:t>Importances</a:t>
            </a:r>
            <a:br>
              <a:rPr lang="en-US" sz="3000" dirty="0"/>
            </a:br>
            <a:endParaRPr lang="en-US" sz="3000" dirty="0"/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SzPts val="3000"/>
              <a:buChar char="●"/>
            </a:pPr>
            <a:r>
              <a:rPr lang="en-US" sz="3000" dirty="0"/>
              <a:t>Prototypes</a:t>
            </a:r>
            <a:br>
              <a:rPr lang="en-US" sz="3000" dirty="0"/>
            </a:br>
            <a:endParaRPr lang="en-US" sz="3000" dirty="0"/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SzPts val="3000"/>
              <a:buChar char="●"/>
            </a:pPr>
            <a:r>
              <a:rPr lang="en-US" sz="3000" dirty="0"/>
              <a:t>Counterfactuals</a:t>
            </a:r>
            <a:endParaRPr sz="3000" dirty="0"/>
          </a:p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</a:pPr>
            <a:endParaRPr dirty="0"/>
          </a:p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067580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D170B-7DB6-34AE-7826-A25DA8B21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Interpretability in Deep Learning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831D4D-C57B-C299-686B-2CCC554852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Representation Interpretability vs Important features</a:t>
            </a:r>
          </a:p>
          <a:p>
            <a:endParaRPr lang="en-US" dirty="0"/>
          </a:p>
          <a:p>
            <a:r>
              <a:rPr lang="en-US" dirty="0"/>
              <a:t>Inputs are high-dimensional (pixels, tokens, embeddings).</a:t>
            </a:r>
          </a:p>
          <a:p>
            <a:endParaRPr lang="en-US" dirty="0"/>
          </a:p>
          <a:p>
            <a:r>
              <a:rPr lang="en-US" dirty="0"/>
              <a:t>Learned features are distributed and hierarchical.</a:t>
            </a:r>
          </a:p>
          <a:p>
            <a:endParaRPr lang="en-US" dirty="0"/>
          </a:p>
          <a:p>
            <a:r>
              <a:rPr lang="en-US" dirty="0"/>
              <a:t>Internal activations don’t correspond directly to human-interpretable concepts.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6198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369E2-566C-2728-8D59-155CD935CF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F77C67-55D6-A510-ED69-62F80061EF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Saliency and Gradient-Based Methods</a:t>
            </a:r>
          </a:p>
          <a:p>
            <a:pPr lvl="1"/>
            <a:r>
              <a:rPr lang="en-US" dirty="0"/>
              <a:t>Attribute importance to input features by measuring how small changes in input affect model output.</a:t>
            </a:r>
          </a:p>
          <a:p>
            <a:pPr marL="565150" lvl="1" indent="0">
              <a:buNone/>
            </a:pPr>
            <a:endParaRPr lang="en-US" dirty="0"/>
          </a:p>
          <a:p>
            <a:r>
              <a:rPr lang="en-US" dirty="0"/>
              <a:t>Example- and Influence-Based Methods</a:t>
            </a:r>
          </a:p>
          <a:p>
            <a:pPr lvl="1"/>
            <a:r>
              <a:rPr lang="en-US" dirty="0"/>
              <a:t>explain </a:t>
            </a:r>
            <a:r>
              <a:rPr lang="en-US" i="1" dirty="0"/>
              <a:t>training examples</a:t>
            </a:r>
            <a:r>
              <a:rPr lang="en-US" dirty="0"/>
              <a:t> that most influenced a prediction.</a:t>
            </a:r>
          </a:p>
          <a:p>
            <a:pPr lvl="1"/>
            <a:endParaRPr lang="en-US" dirty="0"/>
          </a:p>
          <a:p>
            <a:r>
              <a:rPr lang="en-US" dirty="0"/>
              <a:t>Concept-Based Explanations</a:t>
            </a:r>
          </a:p>
        </p:txBody>
      </p:sp>
    </p:spTree>
    <p:extLst>
      <p:ext uri="{BB962C8B-B14F-4D97-AF65-F5344CB8AC3E}">
        <p14:creationId xmlns:p14="http://schemas.microsoft.com/office/powerpoint/2010/main" val="4623436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4A2BB-A997-4385-4A4C-A13DFE1A2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Explainability in Large Language Models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E2D825-5981-A2BB-AA42-5CF7D6EC98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151400"/>
            <a:ext cx="11360700" cy="4555200"/>
          </a:xfrm>
        </p:spPr>
        <p:txBody>
          <a:bodyPr/>
          <a:lstStyle/>
          <a:p>
            <a:r>
              <a:rPr lang="en-US" b="1" dirty="0"/>
              <a:t>Proxy interpretability</a:t>
            </a:r>
            <a:r>
              <a:rPr lang="en-US" dirty="0"/>
              <a:t> via attention, probing, and mechanistic inspection.</a:t>
            </a:r>
          </a:p>
          <a:p>
            <a:endParaRPr lang="en-US" dirty="0"/>
          </a:p>
          <a:p>
            <a:r>
              <a:rPr lang="en-US" b="1" dirty="0"/>
              <a:t>Attention-Based Explanations</a:t>
            </a:r>
          </a:p>
          <a:p>
            <a:pPr lvl="1"/>
            <a:r>
              <a:rPr lang="en-US" dirty="0"/>
              <a:t>Examine attention weights to see which input tokens influence output.</a:t>
            </a:r>
          </a:p>
          <a:p>
            <a:pPr lvl="1"/>
            <a:endParaRPr lang="en-US" dirty="0"/>
          </a:p>
          <a:p>
            <a:r>
              <a:rPr lang="en-US" dirty="0"/>
              <a:t>Probing and Representation Analysis</a:t>
            </a:r>
          </a:p>
          <a:p>
            <a:pPr lvl="1"/>
            <a:r>
              <a:rPr lang="en-US" dirty="0"/>
              <a:t>Identify what information is encoded in intermediate representations. Train simple probe classifiers on frozen embeddings (e.g., POS, gender, factuality).</a:t>
            </a:r>
          </a:p>
          <a:p>
            <a:r>
              <a:rPr lang="en-US" dirty="0"/>
              <a:t>Mechanistic Interpretability</a:t>
            </a:r>
          </a:p>
          <a:p>
            <a:pPr lvl="1"/>
            <a:r>
              <a:rPr lang="en-US" dirty="0"/>
              <a:t>Reverse-engineer neurons, circuits, and attention heads. Study individual components’ behavior to reveal structure or causal role.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7004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</p:spTree>
    <p:extLst>
      <p:ext uri="{BB962C8B-B14F-4D97-AF65-F5344CB8AC3E}">
        <p14:creationId xmlns:p14="http://schemas.microsoft.com/office/powerpoint/2010/main" val="290666853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0.0"/>
  <p:tag name="SLIDO_PRESENTATION_ID" val="46738545-1c62-4d84-8722-ef06e0a78309"/>
  <p:tag name="SLIDO_EVENT_UUID" val="0161bee7-9b52-48ab-bd01-308fc07c8a33"/>
  <p:tag name="SLIDO_EVENT_SECTION_UUID" val="53f7b2fd-9b37-4ce9-89ff-a9a7d9b782a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6fb1bf6c-a13f-4d5d-b81f-99402930cc12"/>
  <p:tag name="SLIDO_TIMELINE" val="W3sic2hvd1Jlc3VsdHMiOmZhbHNlLCJwb2xsUXVlc3Rpb25VdWlkIjoiYTc0OGVlMWYtNzY1NC00YjMyLTg1OTEtNjIxNGM0NzAzNTNlIn0seyJzaG93UmVzdWx0cyI6dHJ1ZSwicG9sbFF1ZXN0aW9uVXVpZCI6ImE3NDhlZTFmLTc2NTQtNGIzMi04NTkxLTYyMTRjNDcwMzUzZSJ9XQ=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OpenText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2182</TotalTime>
  <Words>1002</Words>
  <Application>Microsoft Macintosh PowerPoint</Application>
  <PresentationFormat>Widescreen</PresentationFormat>
  <Paragraphs>223</Paragraphs>
  <Slides>34</Slides>
  <Notes>24</Notes>
  <HiddenSlides>2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Simple Light</vt:lpstr>
      <vt:lpstr>PowerPoint Presentation</vt:lpstr>
      <vt:lpstr>PowerPoint Presentation</vt:lpstr>
      <vt:lpstr>What we’ll cover today</vt:lpstr>
      <vt:lpstr>PowerPoint Presentation</vt:lpstr>
      <vt:lpstr>Why do we want Interpretability?</vt:lpstr>
      <vt:lpstr>Why do we want Interpretability?</vt:lpstr>
      <vt:lpstr>Case Study: Pneumonia and Asthma</vt:lpstr>
      <vt:lpstr>Case Study: Pneumonia and Asthma</vt:lpstr>
      <vt:lpstr>Deeper Dive into Use Cases</vt:lpstr>
      <vt:lpstr>Deeper Dive into Use Cases</vt:lpstr>
      <vt:lpstr>Types of Interpretablity Methods</vt:lpstr>
      <vt:lpstr>Global vs. Local</vt:lpstr>
      <vt:lpstr>Intrinsic vs. Post-hoc </vt:lpstr>
      <vt:lpstr>What do we want from a global explanation?</vt:lpstr>
      <vt:lpstr>How to interpret specific models</vt:lpstr>
      <vt:lpstr>What do we want from a local explanation?</vt:lpstr>
      <vt:lpstr>How would we validate if an interpretability method is effective?</vt:lpstr>
      <vt:lpstr>Evaluating Explainable ML Methods</vt:lpstr>
      <vt:lpstr>Explainability vs Accuracy?</vt:lpstr>
      <vt:lpstr>Explainability vs “Accuracy”?</vt:lpstr>
      <vt:lpstr>Explainability vs Accuracy?</vt:lpstr>
      <vt:lpstr>Explainability vs Accuracy?</vt:lpstr>
      <vt:lpstr>Explainability vs Accuracy?</vt:lpstr>
      <vt:lpstr>Case Study: Evaluating an Explainable ML System</vt:lpstr>
      <vt:lpstr>Case Study: Evaluating an Explainable ML System</vt:lpstr>
      <vt:lpstr>Case Study: Evaluating an Explainable ML System</vt:lpstr>
      <vt:lpstr>Case Study: Evaluating an Explainable ML System</vt:lpstr>
      <vt:lpstr>Case Study: Evaluating an Explainable ML System</vt:lpstr>
      <vt:lpstr>Many Approaches to Model Explanations</vt:lpstr>
      <vt:lpstr>Some of the teams will explore the following…</vt:lpstr>
      <vt:lpstr>Interpretability in Deep Learning</vt:lpstr>
      <vt:lpstr>PowerPoint Presentation</vt:lpstr>
      <vt:lpstr>Explainability in Large Language Models</vt:lpstr>
      <vt:lpstr>Reminders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Rayid Ghani</cp:lastModifiedBy>
  <cp:revision>27</cp:revision>
  <dcterms:created xsi:type="dcterms:W3CDTF">2020-01-14T19:43:43Z</dcterms:created>
  <dcterms:modified xsi:type="dcterms:W3CDTF">2025-11-13T04:35:27Z</dcterms:modified>
</cp:coreProperties>
</file>