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23" r:id="rId3"/>
    <p:sldId id="259" r:id="rId4"/>
    <p:sldId id="527" r:id="rId5"/>
    <p:sldId id="514" r:id="rId6"/>
    <p:sldId id="515" r:id="rId7"/>
    <p:sldId id="521" r:id="rId8"/>
    <p:sldId id="526" r:id="rId9"/>
    <p:sldId id="262" r:id="rId10"/>
    <p:sldId id="263" r:id="rId11"/>
    <p:sldId id="264" r:id="rId12"/>
    <p:sldId id="266" r:id="rId13"/>
    <p:sldId id="500" r:id="rId14"/>
    <p:sldId id="499" r:id="rId15"/>
    <p:sldId id="513" r:id="rId16"/>
    <p:sldId id="516" r:id="rId17"/>
    <p:sldId id="517" r:id="rId18"/>
    <p:sldId id="518" r:id="rId19"/>
    <p:sldId id="519" r:id="rId20"/>
    <p:sldId id="520" r:id="rId21"/>
    <p:sldId id="279" r:id="rId22"/>
    <p:sldId id="522" r:id="rId23"/>
    <p:sldId id="280" r:id="rId24"/>
    <p:sldId id="523" r:id="rId25"/>
    <p:sldId id="281" r:id="rId26"/>
    <p:sldId id="524" r:id="rId27"/>
    <p:sldId id="525" r:id="rId28"/>
    <p:sldId id="512" r:id="rId29"/>
  </p:sldIdLst>
  <p:sldSz cx="12192000" cy="6858000"/>
  <p:notesSz cx="6858000" cy="9144000"/>
  <p:custDataLst>
    <p:tags r:id="rId3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hE+28Dr6x2pr2JNXfuZKhsL7Kt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5218"/>
    <a:srgbClr val="7FF346"/>
    <a:srgbClr val="E94B9E"/>
    <a:srgbClr val="356BF4"/>
    <a:srgbClr val="1EF8FF"/>
    <a:srgbClr val="FF4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A04CC6A-533F-41F1-990F-45FB056E221C}">
  <a:tblStyle styleId="{5A04CC6A-533F-41F1-990F-45FB056E221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FF0"/>
          </a:solidFill>
        </a:fill>
      </a:tcStyle>
    </a:wholeTbl>
    <a:band1H>
      <a:tcTxStyle/>
      <a:tcStyle>
        <a:tcBdr/>
        <a:fill>
          <a:solidFill>
            <a:srgbClr val="CADDE1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DE1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E1A14BE-B7BA-45C6-8C27-71DC4D195E2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07"/>
    <p:restoredTop sz="94658"/>
  </p:normalViewPr>
  <p:slideViewPr>
    <p:cSldViewPr snapToGrid="0" snapToObjects="1">
      <p:cViewPr varScale="1">
        <p:scale>
          <a:sx n="73" d="100"/>
          <a:sy n="73" d="100"/>
        </p:scale>
        <p:origin x="208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2649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5074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1058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0701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71c82016f7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71c82016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2671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33975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2154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1613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6070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26187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841033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6912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72639d37ef_1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72639d37ef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56663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665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8210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4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34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4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34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B2BA6-A831-01C3-7031-1D838D5FA42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 Interpretability: Overview and Use Cases 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88892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4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4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What we’ll cover today</a:t>
            </a:r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Why we want ML models to be interpretable?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Real-world use cases</a:t>
            </a: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Types of Interpretability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606C91-0D2F-6A17-F549-449E2452B4B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35C93E-95B8-0609-36FF-36CB4CF2D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Why do we want interpretablity of models in ML?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9CF2F-1324-865F-3C07-CF722D66E4D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6A99A7-5564-2EEE-82A1-83146B9CEBB3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EA7CDE3A-199A-C070-F12D-225BA152FA8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D8B1F49-4534-B1B4-1442-C38815C4E329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6221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52656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  <p:sp>
        <p:nvSpPr>
          <p:cNvPr id="72" name="Google Shape;72;g71c82016f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Debugging the Model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Improving the performance of the system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Creating and increasing trust and adoption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Selecting appropriate actions/interventions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Legal Recourse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3476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313230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A81FED-72A3-F14F-AF0D-A74F8E4A7063}"/>
              </a:ext>
            </a:extLst>
          </p:cNvPr>
          <p:cNvSpPr txBox="1"/>
          <p:nvPr/>
        </p:nvSpPr>
        <p:spPr>
          <a:xfrm>
            <a:off x="1393279" y="5004729"/>
            <a:ext cx="2141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Has Asthma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F9B0E9-30AE-8D49-BC39-31E6D2686F9C}"/>
              </a:ext>
            </a:extLst>
          </p:cNvPr>
          <p:cNvGrpSpPr/>
          <p:nvPr/>
        </p:nvGrpSpPr>
        <p:grpSpPr>
          <a:xfrm>
            <a:off x="4389120" y="4471759"/>
            <a:ext cx="1706830" cy="1514258"/>
            <a:chOff x="4389120" y="2462784"/>
            <a:chExt cx="1706830" cy="1514258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3678FEA-DA4C-1D42-B54E-798DD02EA045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BD0C4A4-61CC-4641-83EB-679043C2CE92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94ACF8C-4124-FC40-B89D-8F3F5B943B67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E551F02C-D1AD-7A46-AEA4-A63425549F03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F6689A-B911-8F43-A7F1-B8C03BCD03F8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E233F0-B424-1442-9368-0821404E1FD2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ACB3162-84AF-0B4A-ADBC-5DE59B2452D8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C023187-82AB-FB42-BE83-58F26F54AE0F}"/>
                </a:ext>
              </a:extLst>
            </p:cNvPr>
            <p:cNvCxnSpPr>
              <a:stCxn id="44" idx="6"/>
              <a:endCxn id="47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86BA74-1596-E24F-9D76-78FD46FE2DA7}"/>
                </a:ext>
              </a:extLst>
            </p:cNvPr>
            <p:cNvCxnSpPr>
              <a:cxnSpLocks/>
              <a:stCxn id="44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F7875F-74DE-1543-92B8-949A14325599}"/>
                </a:ext>
              </a:extLst>
            </p:cNvPr>
            <p:cNvCxnSpPr>
              <a:cxnSpLocks/>
              <a:stCxn id="45" idx="6"/>
              <a:endCxn id="47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47BD6AB-6EF6-C547-BD49-BED71B870C67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C8E76BC-5B57-A446-8C60-277EB8A6F445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3D80A60-39C6-4E4A-AAE8-5EAECB7F989A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A514A94-3596-7740-B666-49A11D593029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955B991-A9F0-FD46-9CA0-2724A62AF010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E2049A1-4F7E-BC4D-ABF5-CFDFEE650154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9E276FE-F1A9-774E-9F18-6D59628A033A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5D496C7-CF40-7249-9669-475EC32714D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5212" y="5266339"/>
            <a:ext cx="707604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69F3E86-8946-9D44-B77D-2BF4E0102669}"/>
              </a:ext>
            </a:extLst>
          </p:cNvPr>
          <p:cNvCxnSpPr>
            <a:cxnSpLocks/>
          </p:cNvCxnSpPr>
          <p:nvPr/>
        </p:nvCxnSpPr>
        <p:spPr>
          <a:xfrm>
            <a:off x="6379251" y="5228888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CBAF4BD-C7EE-1648-A10A-269F0C748C38}"/>
              </a:ext>
            </a:extLst>
          </p:cNvPr>
          <p:cNvSpPr txBox="1"/>
          <p:nvPr/>
        </p:nvSpPr>
        <p:spPr>
          <a:xfrm>
            <a:off x="7876395" y="4918510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0.13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1358405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78" name="Google Shape;78;p26"/>
          <p:cNvGraphicFramePr/>
          <p:nvPr>
            <p:extLst>
              <p:ext uri="{D42A27DB-BD31-4B8C-83A1-F6EECF244321}">
                <p14:modId xmlns:p14="http://schemas.microsoft.com/office/powerpoint/2010/main" val="1465085978"/>
              </p:ext>
            </p:extLst>
          </p:nvPr>
        </p:nvGraphicFramePr>
        <p:xfrm>
          <a:off x="263476" y="1762929"/>
          <a:ext cx="11664950" cy="341032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What type of method?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1c82016f7_0_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84" name="Google Shape;84;g71c82016f7_0_5"/>
          <p:cNvGraphicFramePr/>
          <p:nvPr>
            <p:extLst>
              <p:ext uri="{D42A27DB-BD31-4B8C-83A1-F6EECF244321}">
                <p14:modId xmlns:p14="http://schemas.microsoft.com/office/powerpoint/2010/main" val="218261602"/>
              </p:ext>
            </p:extLst>
          </p:nvPr>
        </p:nvGraphicFramePr>
        <p:xfrm>
          <a:off x="263476" y="1762929"/>
          <a:ext cx="11664950" cy="387597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 Case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Global or 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ML Developer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Sanity check and improve “correctness”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Decide to agree or override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Policymaker/Action-Taker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/>
                        <a:t>Model use =&gt; better outcomes</a:t>
                      </a: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Interventions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/>
                        <a:t>Improve outcomes</a:t>
                      </a:r>
                      <a:endParaRPr sz="1900" u="none" strike="noStrike" cap="none"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Recourse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Individual(s) affected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Provide information that the individual can understand and ideally change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Local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What do we want from a global explanation?</a:t>
            </a:r>
            <a:endParaRPr dirty="0"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How to interpret specific models</a:t>
            </a:r>
            <a:endParaRPr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Decision Trees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RFs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NNs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other methods that are easier to interpret/understand out of the box?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What do we want from a local explanation?</a:t>
            </a:r>
            <a:endParaRPr dirty="0"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586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7CD10-BD92-E349-8B0A-410B8B63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How would we validate if an interpretability method is effective?</a:t>
            </a:r>
          </a:p>
        </p:txBody>
      </p:sp>
      <p:graphicFrame>
        <p:nvGraphicFramePr>
          <p:cNvPr id="4" name="Google Shape;78;p26">
            <a:extLst>
              <a:ext uri="{FF2B5EF4-FFF2-40B4-BE49-F238E27FC236}">
                <a16:creationId xmlns:a16="http://schemas.microsoft.com/office/drawing/2014/main" id="{BFCAA572-37A5-214E-AC62-0779C7110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3395883"/>
              </p:ext>
            </p:extLst>
          </p:nvPr>
        </p:nvGraphicFramePr>
        <p:xfrm>
          <a:off x="263475" y="1911047"/>
          <a:ext cx="11150759" cy="3163125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305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2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Evaluation Methodology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254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Evaluating Explainable ML Methods</a:t>
            </a:r>
            <a:endParaRPr dirty="0"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090439"/>
            <a:ext cx="11360700" cy="56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How easy is the method to apply to a new setting (either with an existing implementation or from the description in the paper)?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parameters you need to choose? If so, how do you find good values and how sensitive are the results to these choices?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the explanations “make sense”? Are they internally consistent? Do they seem consistent with what you know about the context and the data?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 explanations useful? Would they actually improve outcomes for the given use case?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you have to make any trade-offs to improve interpretability (e.g., computational time, model accuracy?)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162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09195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</p:spTree>
    <p:extLst>
      <p:ext uri="{BB962C8B-B14F-4D97-AF65-F5344CB8AC3E}">
        <p14:creationId xmlns:p14="http://schemas.microsoft.com/office/powerpoint/2010/main" val="9741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</p:spTree>
    <p:extLst>
      <p:ext uri="{BB962C8B-B14F-4D97-AF65-F5344CB8AC3E}">
        <p14:creationId xmlns:p14="http://schemas.microsoft.com/office/powerpoint/2010/main" val="882417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</p:spTree>
    <p:extLst>
      <p:ext uri="{BB962C8B-B14F-4D97-AF65-F5344CB8AC3E}">
        <p14:creationId xmlns:p14="http://schemas.microsoft.com/office/powerpoint/2010/main" val="2019061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Up Arrow 4">
            <a:extLst>
              <a:ext uri="{FF2B5EF4-FFF2-40B4-BE49-F238E27FC236}">
                <a16:creationId xmlns:a16="http://schemas.microsoft.com/office/drawing/2014/main" id="{C5E690F2-652B-9A44-8549-6C5FE339E191}"/>
              </a:ext>
            </a:extLst>
          </p:cNvPr>
          <p:cNvSpPr/>
          <p:nvPr/>
        </p:nvSpPr>
        <p:spPr>
          <a:xfrm rot="2530546">
            <a:off x="5883126" y="2067255"/>
            <a:ext cx="1255776" cy="1865376"/>
          </a:xfrm>
          <a:prstGeom prst="upArrow">
            <a:avLst/>
          </a:prstGeom>
          <a:solidFill>
            <a:srgbClr val="FF000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E5B659-A226-FA4D-91C9-5043C5256D82}"/>
              </a:ext>
            </a:extLst>
          </p:cNvPr>
          <p:cNvSpPr txBox="1"/>
          <p:nvPr/>
        </p:nvSpPr>
        <p:spPr>
          <a:xfrm>
            <a:off x="6375752" y="1826209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C00000"/>
                </a:solidFill>
              </a:rPr>
              <a:t>Explainable ML Goal</a:t>
            </a:r>
          </a:p>
        </p:txBody>
      </p:sp>
    </p:spTree>
    <p:extLst>
      <p:ext uri="{BB962C8B-B14F-4D97-AF65-F5344CB8AC3E}">
        <p14:creationId xmlns:p14="http://schemas.microsoft.com/office/powerpoint/2010/main" val="3943549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18AB2-0051-AA41-BFF6-FC217CB0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" y="1104900"/>
            <a:ext cx="11722100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sp>
        <p:nvSpPr>
          <p:cNvPr id="197" name="Google Shape;197;g72639d37ef_1_10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Application: Preventing </a:t>
            </a:r>
            <a:r>
              <a:rPr lang="en-US" sz="3000" dirty="0" err="1"/>
              <a:t>Hypoxaemia</a:t>
            </a:r>
            <a:r>
              <a:rPr lang="en-US" sz="3000" dirty="0"/>
              <a:t> During Surgery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Low arterial blood oxygen tension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Good predictions would allow anesthesiologists to take preventative measures during surgery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User study comparing predictive performance of humans and models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626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72639d37ef_1_2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3" name="Google Shape;203;g72639d37ef_1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1088" y="1193554"/>
            <a:ext cx="9389725" cy="544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50" y="1499334"/>
            <a:ext cx="11020400" cy="4896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7725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 rotWithShape="1">
          <a:blip r:embed="rId3">
            <a:alphaModFix/>
          </a:blip>
          <a:srcRect r="50000"/>
          <a:stretch/>
        </p:blipFill>
        <p:spPr>
          <a:xfrm>
            <a:off x="78373" y="1048511"/>
            <a:ext cx="6440855" cy="572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1AD207E-0B93-2645-9A02-1E2348A07737}"/>
              </a:ext>
            </a:extLst>
          </p:cNvPr>
          <p:cNvSpPr txBox="1">
            <a:spLocks/>
          </p:cNvSpPr>
          <p:nvPr/>
        </p:nvSpPr>
        <p:spPr>
          <a:xfrm>
            <a:off x="7399938" y="4626787"/>
            <a:ext cx="4235913" cy="187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#10718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FD438B-D5AF-0F4B-B584-5BEAE6C0566D}"/>
              </a:ext>
            </a:extLst>
          </p:cNvPr>
          <p:cNvSpPr txBox="1"/>
          <p:nvPr/>
        </p:nvSpPr>
        <p:spPr>
          <a:xfrm>
            <a:off x="7157313" y="1226116"/>
            <a:ext cx="47211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What can we conclude from </a:t>
            </a:r>
          </a:p>
          <a:p>
            <a:pPr algn="ctr"/>
            <a:r>
              <a:rPr lang="en-US" sz="2800" dirty="0"/>
              <a:t>these results?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AC487-A725-7146-B2B5-0B0A15EB90D7}"/>
              </a:ext>
            </a:extLst>
          </p:cNvPr>
          <p:cNvSpPr txBox="1"/>
          <p:nvPr/>
        </p:nvSpPr>
        <p:spPr>
          <a:xfrm>
            <a:off x="5098573" y="2922691"/>
            <a:ext cx="25010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7FF346"/>
                </a:solidFill>
              </a:rPr>
              <a:t>Human Alone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6C28AE-E036-FF46-A930-A27B2BF96891}"/>
              </a:ext>
            </a:extLst>
          </p:cNvPr>
          <p:cNvCxnSpPr>
            <a:cxnSpLocks/>
          </p:cNvCxnSpPr>
          <p:nvPr/>
        </p:nvCxnSpPr>
        <p:spPr>
          <a:xfrm flipH="1" flipV="1">
            <a:off x="4635732" y="2634842"/>
            <a:ext cx="473816" cy="518874"/>
          </a:xfrm>
          <a:prstGeom prst="straightConnector1">
            <a:avLst/>
          </a:prstGeom>
          <a:ln w="57150">
            <a:solidFill>
              <a:srgbClr val="7FF34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567C7D-D073-8340-ABE9-9BE365F03723}"/>
              </a:ext>
            </a:extLst>
          </p:cNvPr>
          <p:cNvSpPr txBox="1"/>
          <p:nvPr/>
        </p:nvSpPr>
        <p:spPr>
          <a:xfrm>
            <a:off x="4373233" y="3426036"/>
            <a:ext cx="3709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356BF4"/>
                </a:solidFill>
              </a:rPr>
              <a:t>Human + ML System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0220F4-F5E0-564A-8945-F2460EB9B2D0}"/>
              </a:ext>
            </a:extLst>
          </p:cNvPr>
          <p:cNvSpPr txBox="1"/>
          <p:nvPr/>
        </p:nvSpPr>
        <p:spPr>
          <a:xfrm>
            <a:off x="3778904" y="4029606"/>
            <a:ext cx="3180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94B9E"/>
                </a:solidFill>
              </a:rPr>
              <a:t>ML System Alone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F7F269-36CE-A148-8A1B-C1C158652C03}"/>
              </a:ext>
            </a:extLst>
          </p:cNvPr>
          <p:cNvSpPr/>
          <p:nvPr/>
        </p:nvSpPr>
        <p:spPr>
          <a:xfrm>
            <a:off x="3035808" y="4560712"/>
            <a:ext cx="3192260" cy="8281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6F0012-B6B8-5D4A-AE36-AF6BB4C7A3A5}"/>
              </a:ext>
            </a:extLst>
          </p:cNvPr>
          <p:cNvCxnSpPr>
            <a:cxnSpLocks/>
          </p:cNvCxnSpPr>
          <p:nvPr/>
        </p:nvCxnSpPr>
        <p:spPr>
          <a:xfrm flipH="1" flipV="1">
            <a:off x="3401568" y="2828394"/>
            <a:ext cx="956958" cy="903370"/>
          </a:xfrm>
          <a:prstGeom prst="straightConnector1">
            <a:avLst/>
          </a:prstGeom>
          <a:ln w="57150">
            <a:solidFill>
              <a:srgbClr val="356BF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CB2113-B6F1-B446-8848-44361068F627}"/>
              </a:ext>
            </a:extLst>
          </p:cNvPr>
          <p:cNvCxnSpPr>
            <a:cxnSpLocks/>
          </p:cNvCxnSpPr>
          <p:nvPr/>
        </p:nvCxnSpPr>
        <p:spPr>
          <a:xfrm flipH="1" flipV="1">
            <a:off x="2480408" y="3053606"/>
            <a:ext cx="1298998" cy="1232894"/>
          </a:xfrm>
          <a:prstGeom prst="straightConnector1">
            <a:avLst/>
          </a:prstGeom>
          <a:ln w="57150">
            <a:solidFill>
              <a:srgbClr val="E94B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77A8866E-865F-574F-AB93-85C7A497D9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745" y="2180223"/>
            <a:ext cx="2654300" cy="2641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Many Approaches to Model Explanations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09EA63-AF1B-4349-948A-D131B77E6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2350"/>
            <a:ext cx="12192000" cy="3573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945B49-8762-E342-B4F4-65D4FAB130D0}"/>
              </a:ext>
            </a:extLst>
          </p:cNvPr>
          <p:cNvSpPr txBox="1"/>
          <p:nvPr/>
        </p:nvSpPr>
        <p:spPr>
          <a:xfrm>
            <a:off x="0" y="6309772"/>
            <a:ext cx="4602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Bodria</a:t>
            </a:r>
            <a:r>
              <a:rPr lang="en-US" sz="2400" dirty="0"/>
              <a:t> et al, arxiv:2102.13076v1</a:t>
            </a:r>
          </a:p>
        </p:txBody>
      </p:sp>
    </p:spTree>
    <p:extLst>
      <p:ext uri="{BB962C8B-B14F-4D97-AF65-F5344CB8AC3E}">
        <p14:creationId xmlns:p14="http://schemas.microsoft.com/office/powerpoint/2010/main" val="13683283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Some of the teams will explore the following…</a:t>
            </a:r>
            <a:endParaRPr dirty="0"/>
          </a:p>
        </p:txBody>
      </p:sp>
      <p:sp>
        <p:nvSpPr>
          <p:cNvPr id="5" name="Google Shape;197;g72639d37ef_1_105">
            <a:extLst>
              <a:ext uri="{FF2B5EF4-FFF2-40B4-BE49-F238E27FC236}">
                <a16:creationId xmlns:a16="http://schemas.microsoft.com/office/drawing/2014/main" id="{E8886E5F-8E40-E045-9E3E-1D768D1FE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Inherently-Interpretable Models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Post-Hoc Individual Feature </a:t>
            </a:r>
            <a:r>
              <a:rPr lang="en-US" sz="3000" dirty="0" err="1"/>
              <a:t>Importances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Prototypes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Counterfactuals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67580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</p:spTree>
    <p:extLst>
      <p:ext uri="{BB962C8B-B14F-4D97-AF65-F5344CB8AC3E}">
        <p14:creationId xmlns:p14="http://schemas.microsoft.com/office/powerpoint/2010/main" val="2906668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738545-1c62-4d84-8722-ef06e0a78309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fb1bf6c-a13f-4d5d-b81f-99402930cc12"/>
  <p:tag name="SLIDO_TIMELINE" val="W3sic2hvd1Jlc3VsdHMiOmZhbHNlLCJwb2xsUXVlc3Rpb25VdWlkIjoiYTc0OGVlMWYtNzY1NC00YjMyLTg1OTEtNjIxNGM0NzAzNTNlIn0seyJzaG93UmVzdWx0cyI6dHJ1ZSwicG9sbFF1ZXN0aW9uVXVpZCI6ImE3NDhlZTFmLTc2NTQtNGIzMi04NTkxLTYyMTRjNDcwMzUz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1910</TotalTime>
  <Words>629</Words>
  <Application>Microsoft Macintosh PowerPoint</Application>
  <PresentationFormat>Widescreen</PresentationFormat>
  <Paragraphs>164</Paragraphs>
  <Slides>28</Slides>
  <Notes>24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Simple Light</vt:lpstr>
      <vt:lpstr>PowerPoint Presentation</vt:lpstr>
      <vt:lpstr>PowerPoint Presentation</vt:lpstr>
      <vt:lpstr>What we’ll cover today</vt:lpstr>
      <vt:lpstr>PowerPoint Presentation</vt:lpstr>
      <vt:lpstr>Why do we want Interpretability?</vt:lpstr>
      <vt:lpstr>Why do we want Interpretability?</vt:lpstr>
      <vt:lpstr>Case Study: Pneumonia and Asthma</vt:lpstr>
      <vt:lpstr>Case Study: Pneumonia and Asthma</vt:lpstr>
      <vt:lpstr>Deeper Dive into Use Cases</vt:lpstr>
      <vt:lpstr>Deeper Dive into Use Cases</vt:lpstr>
      <vt:lpstr>What do we want from a global explanation?</vt:lpstr>
      <vt:lpstr>How to interpret specific models</vt:lpstr>
      <vt:lpstr>What do we want from a local explanation?</vt:lpstr>
      <vt:lpstr>How would we validate if an interpretability method is effective?</vt:lpstr>
      <vt:lpstr>Evaluating Explainable ML Methods</vt:lpstr>
      <vt:lpstr>Explainability vs Accuracy?</vt:lpstr>
      <vt:lpstr>Explainability vs Accuracy?</vt:lpstr>
      <vt:lpstr>Explainability vs Accuracy?</vt:lpstr>
      <vt:lpstr>Explainability vs Accuracy?</vt:lpstr>
      <vt:lpstr>Explainability vs Accuracy?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Many Approaches to Model Explanations</vt:lpstr>
      <vt:lpstr>Some of the teams will explore the following…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24</cp:revision>
  <dcterms:created xsi:type="dcterms:W3CDTF">2020-01-14T19:43:43Z</dcterms:created>
  <dcterms:modified xsi:type="dcterms:W3CDTF">2025-11-13T00:03:54Z</dcterms:modified>
</cp:coreProperties>
</file>