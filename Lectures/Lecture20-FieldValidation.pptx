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604" r:id="rId3"/>
    <p:sldId id="323" r:id="rId4"/>
    <p:sldId id="257" r:id="rId5"/>
    <p:sldId id="274" r:id="rId6"/>
    <p:sldId id="607" r:id="rId7"/>
    <p:sldId id="331" r:id="rId8"/>
    <p:sldId id="592" r:id="rId9"/>
    <p:sldId id="609" r:id="rId10"/>
    <p:sldId id="610" r:id="rId11"/>
    <p:sldId id="611" r:id="rId12"/>
    <p:sldId id="613" r:id="rId13"/>
    <p:sldId id="612" r:id="rId14"/>
    <p:sldId id="272" r:id="rId15"/>
    <p:sldId id="487" r:id="rId16"/>
    <p:sldId id="273" r:id="rId17"/>
    <p:sldId id="489" r:id="rId18"/>
    <p:sldId id="275" r:id="rId19"/>
    <p:sldId id="27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WqGpmJnm2LhSO/E7EgiMMs26K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1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2"/>
    <p:restoredTop sz="93082"/>
  </p:normalViewPr>
  <p:slideViewPr>
    <p:cSldViewPr snapToGrid="0" snapToObjects="1">
      <p:cViewPr varScale="1">
        <p:scale>
          <a:sx n="115" d="100"/>
          <a:sy n="115" d="100"/>
        </p:scale>
        <p:origin x="2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021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5b0c8fd486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5b0c8fd486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806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5b0c8fd486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5b0c8fd486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5025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5b0c8fd486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5b0c8fd486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231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5b0c8fd486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5b0c8fd486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784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5b0c8fd486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5b0c8fd486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815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5b0c8fd486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5b0c8fd486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3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5b0c8fd486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5b0c8fd486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5728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9244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297706" y="1353806"/>
            <a:ext cx="11666363" cy="495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0"/>
          <p:cNvSpPr/>
          <p:nvPr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								@rayidghani				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0"/>
          <p:cNvSpPr/>
          <p:nvPr/>
        </p:nvSpPr>
        <p:spPr>
          <a:xfrm>
            <a:off x="0" y="1"/>
            <a:ext cx="12192000" cy="120663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0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Causal Inference and ML Experiments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 and Kit Rodolfa</a:t>
            </a:r>
            <a:endParaRPr sz="2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Module 3 Presentations – Preprocessing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/>
              <a:t>Coming up the following week:</a:t>
            </a:r>
          </a:p>
          <a:p>
            <a:r>
              <a:rPr lang="en-US" dirty="0"/>
              <a:t>Module 3 Presentation Recordings (no class meetings)</a:t>
            </a:r>
          </a:p>
          <a:p>
            <a:pPr marL="762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1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49428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0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Things to cover today</a:t>
            </a:r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Causal Inference 001</a:t>
            </a:r>
            <a:br>
              <a:rPr lang="en-US" dirty="0"/>
            </a:br>
            <a:endParaRPr dirty="0"/>
          </a:p>
          <a:p>
            <a:pPr lvl="1" indent="-381000">
              <a:lnSpc>
                <a:spcPct val="100000"/>
              </a:lnSpc>
              <a:spcBef>
                <a:spcPts val="0"/>
              </a:spcBef>
              <a:buSzPts val="2400"/>
              <a:buChar char="●"/>
            </a:pPr>
            <a:r>
              <a:rPr lang="en-US" dirty="0"/>
              <a:t>With Observational Data</a:t>
            </a:r>
            <a:endParaRPr dirty="0"/>
          </a:p>
          <a:p>
            <a:pPr lvl="2">
              <a:lnSpc>
                <a:spcPct val="100000"/>
              </a:lnSpc>
              <a:spcBef>
                <a:spcPts val="0"/>
              </a:spcBef>
              <a:buChar char="○"/>
            </a:pPr>
            <a:r>
              <a:rPr lang="en-US" dirty="0"/>
              <a:t>Methods</a:t>
            </a:r>
            <a:endParaRPr dirty="0"/>
          </a:p>
          <a:p>
            <a:pPr lvl="2">
              <a:lnSpc>
                <a:spcPct val="100000"/>
              </a:lnSpc>
              <a:spcBef>
                <a:spcPts val="0"/>
              </a:spcBef>
              <a:buChar char="○"/>
            </a:pPr>
            <a:r>
              <a:rPr lang="en-US" dirty="0"/>
              <a:t>Examples</a:t>
            </a:r>
            <a:br>
              <a:rPr lang="en-US" dirty="0"/>
            </a:br>
            <a:endParaRPr dirty="0"/>
          </a:p>
          <a:p>
            <a:pPr lvl="1" indent="-381000">
              <a:lnSpc>
                <a:spcPct val="100000"/>
              </a:lnSpc>
              <a:spcBef>
                <a:spcPts val="0"/>
              </a:spcBef>
              <a:buSzPts val="2400"/>
              <a:buChar char="●"/>
            </a:pPr>
            <a:r>
              <a:rPr lang="en-US" dirty="0"/>
              <a:t>Experiments</a:t>
            </a:r>
            <a:endParaRPr dirty="0"/>
          </a:p>
          <a:p>
            <a:pPr lvl="2">
              <a:lnSpc>
                <a:spcPct val="100000"/>
              </a:lnSpc>
              <a:spcBef>
                <a:spcPts val="0"/>
              </a:spcBef>
              <a:buChar char="○"/>
            </a:pPr>
            <a:r>
              <a:rPr lang="en-US" dirty="0"/>
              <a:t>Standard Randomized Controlled Trials</a:t>
            </a:r>
            <a:endParaRPr dirty="0"/>
          </a:p>
          <a:p>
            <a:pPr lvl="3">
              <a:lnSpc>
                <a:spcPct val="100000"/>
              </a:lnSpc>
              <a:spcBef>
                <a:spcPts val="0"/>
              </a:spcBef>
              <a:buChar char="■"/>
            </a:pPr>
            <a:r>
              <a:rPr lang="en-US" dirty="0"/>
              <a:t>Trial Design</a:t>
            </a:r>
            <a:endParaRPr dirty="0"/>
          </a:p>
          <a:p>
            <a:pPr lvl="3">
              <a:lnSpc>
                <a:spcPct val="100000"/>
              </a:lnSpc>
              <a:spcBef>
                <a:spcPts val="0"/>
              </a:spcBef>
              <a:buChar char="■"/>
            </a:pPr>
            <a:r>
              <a:rPr lang="en-US" dirty="0"/>
              <a:t>Examples</a:t>
            </a:r>
            <a:endParaRPr dirty="0"/>
          </a:p>
          <a:p>
            <a:pPr lvl="2">
              <a:lnSpc>
                <a:spcPct val="100000"/>
              </a:lnSpc>
              <a:spcBef>
                <a:spcPts val="0"/>
              </a:spcBef>
              <a:buChar char="○"/>
            </a:pPr>
            <a:r>
              <a:rPr lang="en-US" dirty="0"/>
              <a:t>Validating ML models/systems</a:t>
            </a:r>
            <a:endParaRPr dirty="0"/>
          </a:p>
          <a:p>
            <a:pPr lvl="3">
              <a:lnSpc>
                <a:spcPct val="100000"/>
              </a:lnSpc>
              <a:spcBef>
                <a:spcPts val="0"/>
              </a:spcBef>
              <a:buChar char="■"/>
            </a:pPr>
            <a:r>
              <a:rPr lang="en-US" dirty="0"/>
              <a:t>Trial Design</a:t>
            </a:r>
            <a:endParaRPr dirty="0"/>
          </a:p>
          <a:p>
            <a:pPr lvl="3">
              <a:lnSpc>
                <a:spcPct val="100000"/>
              </a:lnSpc>
              <a:spcBef>
                <a:spcPts val="0"/>
              </a:spcBef>
              <a:buChar char="■"/>
            </a:pPr>
            <a:r>
              <a:rPr lang="en-US" dirty="0"/>
              <a:t>Examples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What is the purpose of doing field validation?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Field Validation: Beyond A/B Testing</a:t>
            </a:r>
            <a:endParaRPr dirty="0"/>
          </a:p>
        </p:txBody>
      </p:sp>
      <p:sp>
        <p:nvSpPr>
          <p:cNvPr id="259" name="Google Shape;259;p3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How well does the model perform in the real world?</a:t>
            </a:r>
          </a:p>
          <a:p>
            <a:pPr lvl="1" indent="-381000">
              <a:spcBef>
                <a:spcPts val="0"/>
              </a:spcBef>
              <a:buSzPts val="2400"/>
              <a:buChar char="●"/>
            </a:pPr>
            <a:r>
              <a:rPr lang="en-US" sz="2400" dirty="0"/>
              <a:t>Validation on truly unseen future data; only way to ensure against leakage</a:t>
            </a:r>
            <a:br>
              <a:rPr lang="en-US" dirty="0"/>
            </a:br>
            <a:endParaRPr lang="en-US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What key assumptions in our formulation need to be tested?</a:t>
            </a:r>
          </a:p>
          <a:p>
            <a:pPr lvl="1" indent="-381000">
              <a:spcBef>
                <a:spcPts val="0"/>
              </a:spcBef>
              <a:buSzPts val="2400"/>
              <a:buChar char="●"/>
            </a:pPr>
            <a:r>
              <a:rPr lang="en-US" sz="2400" dirty="0"/>
              <a:t>Are we intervening with the “right” people?</a:t>
            </a:r>
          </a:p>
          <a:p>
            <a:pPr lvl="1" indent="-381000">
              <a:spcBef>
                <a:spcPts val="0"/>
              </a:spcBef>
              <a:buSzPts val="2400"/>
              <a:buChar char="●"/>
            </a:pPr>
            <a:r>
              <a:rPr lang="en-US" sz="2400" dirty="0"/>
              <a:t>Are we intervening in the best way possible?</a:t>
            </a:r>
          </a:p>
          <a:p>
            <a:pPr lvl="1" indent="-381000">
              <a:spcBef>
                <a:spcPts val="0"/>
              </a:spcBef>
              <a:buSzPts val="2400"/>
              <a:buChar char="●"/>
            </a:pPr>
            <a:r>
              <a:rPr lang="en-US" sz="2400" dirty="0"/>
              <a:t>Impact of historical decision making / selective labels?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Most importantly: </a:t>
            </a:r>
            <a:r>
              <a:rPr lang="en-US" b="1" dirty="0"/>
              <a:t>how well does the ML system we’re building help the organization realize its goals?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08053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uiExpand="1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3200" dirty="0"/>
              <a:t>CASE STUDY: Mental Health and Incarceration</a:t>
            </a:r>
            <a:endParaRPr sz="3200" dirty="0"/>
          </a:p>
        </p:txBody>
      </p:sp>
      <p:sp>
        <p:nvSpPr>
          <p:cNvPr id="14" name="Google Shape;63;p9">
            <a:extLst>
              <a:ext uri="{FF2B5EF4-FFF2-40B4-BE49-F238E27FC236}">
                <a16:creationId xmlns:a16="http://schemas.microsoft.com/office/drawing/2014/main" id="{101348C2-B86F-FD43-A555-E138761C408A}"/>
              </a:ext>
            </a:extLst>
          </p:cNvPr>
          <p:cNvSpPr/>
          <p:nvPr/>
        </p:nvSpPr>
        <p:spPr>
          <a:xfrm>
            <a:off x="1382184" y="2163433"/>
            <a:ext cx="2036000" cy="11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UNMET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NEEDS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64;p9">
            <a:extLst>
              <a:ext uri="{FF2B5EF4-FFF2-40B4-BE49-F238E27FC236}">
                <a16:creationId xmlns:a16="http://schemas.microsoft.com/office/drawing/2014/main" id="{90B171BF-4614-864D-AD83-2EAB6E0F4918}"/>
              </a:ext>
            </a:extLst>
          </p:cNvPr>
          <p:cNvSpPr/>
          <p:nvPr/>
        </p:nvSpPr>
        <p:spPr>
          <a:xfrm>
            <a:off x="5078000" y="2163433"/>
            <a:ext cx="2036000" cy="11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MISDEMEANOR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ARREST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" name="Google Shape;65;p9">
            <a:extLst>
              <a:ext uri="{FF2B5EF4-FFF2-40B4-BE49-F238E27FC236}">
                <a16:creationId xmlns:a16="http://schemas.microsoft.com/office/drawing/2014/main" id="{DF55D5B7-716B-6D45-B6C9-4C3F3598882F}"/>
              </a:ext>
            </a:extLst>
          </p:cNvPr>
          <p:cNvSpPr/>
          <p:nvPr/>
        </p:nvSpPr>
        <p:spPr>
          <a:xfrm>
            <a:off x="8773817" y="2163433"/>
            <a:ext cx="2036000" cy="11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JAIL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" name="Google Shape;66;p9">
            <a:extLst>
              <a:ext uri="{FF2B5EF4-FFF2-40B4-BE49-F238E27FC236}">
                <a16:creationId xmlns:a16="http://schemas.microsoft.com/office/drawing/2014/main" id="{D7190CA9-3CAA-9C48-9722-3EA125A638DD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3418184" y="2750233"/>
            <a:ext cx="1660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67;p9">
            <a:extLst>
              <a:ext uri="{FF2B5EF4-FFF2-40B4-BE49-F238E27FC236}">
                <a16:creationId xmlns:a16="http://schemas.microsoft.com/office/drawing/2014/main" id="{A5B35F6F-F55D-834A-B034-67596A21B238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7114000" y="2750233"/>
            <a:ext cx="1660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68;p9">
            <a:extLst>
              <a:ext uri="{FF2B5EF4-FFF2-40B4-BE49-F238E27FC236}">
                <a16:creationId xmlns:a16="http://schemas.microsoft.com/office/drawing/2014/main" id="{02B36974-2DB9-264F-A114-77788DBC9A3A}"/>
              </a:ext>
            </a:extLst>
          </p:cNvPr>
          <p:cNvCxnSpPr>
            <a:stCxn id="16" idx="2"/>
            <a:endCxn id="14" idx="2"/>
          </p:cNvCxnSpPr>
          <p:nvPr/>
        </p:nvCxnSpPr>
        <p:spPr>
          <a:xfrm rot="5400000">
            <a:off x="6095617" y="-358367"/>
            <a:ext cx="800" cy="7391600"/>
          </a:xfrm>
          <a:prstGeom prst="curvedConnector3">
            <a:avLst>
              <a:gd name="adj1" fmla="val 174991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70;p9">
            <a:extLst>
              <a:ext uri="{FF2B5EF4-FFF2-40B4-BE49-F238E27FC236}">
                <a16:creationId xmlns:a16="http://schemas.microsoft.com/office/drawing/2014/main" id="{9CFFFC2A-EF74-6244-90BA-AE0EC1F84273}"/>
              </a:ext>
            </a:extLst>
          </p:cNvPr>
          <p:cNvSpPr txBox="1"/>
          <p:nvPr/>
        </p:nvSpPr>
        <p:spPr>
          <a:xfrm>
            <a:off x="4029967" y="4736967"/>
            <a:ext cx="4050400" cy="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worsening or failing to improve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" name="Google Shape;69;p9">
            <a:extLst>
              <a:ext uri="{FF2B5EF4-FFF2-40B4-BE49-F238E27FC236}">
                <a16:creationId xmlns:a16="http://schemas.microsoft.com/office/drawing/2014/main" id="{2EE88406-084C-7842-9ACA-C23A6C7E978E}"/>
              </a:ext>
            </a:extLst>
          </p:cNvPr>
          <p:cNvSpPr txBox="1"/>
          <p:nvPr/>
        </p:nvSpPr>
        <p:spPr>
          <a:xfrm>
            <a:off x="415600" y="1145433"/>
            <a:ext cx="11694000" cy="10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3200" dirty="0">
                <a:latin typeface="Century Gothic"/>
                <a:ea typeface="Century Gothic"/>
                <a:cs typeface="Century Gothic"/>
                <a:sym typeface="Century Gothic"/>
              </a:rPr>
              <a:t>Cycle of Incarceration</a:t>
            </a:r>
            <a:endParaRPr sz="32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8217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3200" dirty="0"/>
              <a:t>CASE STUDY: Mental Health and Incarceration</a:t>
            </a:r>
            <a:endParaRPr sz="3200" dirty="0"/>
          </a:p>
        </p:txBody>
      </p:sp>
      <p:sp>
        <p:nvSpPr>
          <p:cNvPr id="21" name="Google Shape;69;p9">
            <a:extLst>
              <a:ext uri="{FF2B5EF4-FFF2-40B4-BE49-F238E27FC236}">
                <a16:creationId xmlns:a16="http://schemas.microsoft.com/office/drawing/2014/main" id="{2EE88406-084C-7842-9ACA-C23A6C7E978E}"/>
              </a:ext>
            </a:extLst>
          </p:cNvPr>
          <p:cNvSpPr txBox="1"/>
          <p:nvPr/>
        </p:nvSpPr>
        <p:spPr>
          <a:xfrm>
            <a:off x="415600" y="1145433"/>
            <a:ext cx="11694000" cy="10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3200" dirty="0">
                <a:latin typeface="Century Gothic"/>
                <a:ea typeface="Century Gothic"/>
                <a:cs typeface="Century Gothic"/>
                <a:sym typeface="Century Gothic"/>
              </a:rPr>
              <a:t>Breaking the Cycle</a:t>
            </a:r>
            <a:endParaRPr sz="32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75;p10">
            <a:extLst>
              <a:ext uri="{FF2B5EF4-FFF2-40B4-BE49-F238E27FC236}">
                <a16:creationId xmlns:a16="http://schemas.microsoft.com/office/drawing/2014/main" id="{8C379909-E112-AF40-AB06-F3DCE0D1D789}"/>
              </a:ext>
            </a:extLst>
          </p:cNvPr>
          <p:cNvSpPr/>
          <p:nvPr/>
        </p:nvSpPr>
        <p:spPr>
          <a:xfrm>
            <a:off x="1382184" y="2163433"/>
            <a:ext cx="2036000" cy="11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UNMET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NEEDS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Google Shape;76;p10">
            <a:extLst>
              <a:ext uri="{FF2B5EF4-FFF2-40B4-BE49-F238E27FC236}">
                <a16:creationId xmlns:a16="http://schemas.microsoft.com/office/drawing/2014/main" id="{6B36B48D-D911-014D-8726-16E92C35FEF1}"/>
              </a:ext>
            </a:extLst>
          </p:cNvPr>
          <p:cNvSpPr/>
          <p:nvPr/>
        </p:nvSpPr>
        <p:spPr>
          <a:xfrm>
            <a:off x="5078000" y="2163433"/>
            <a:ext cx="2036000" cy="11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MISDEMEANOR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ARREST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" name="Google Shape;77;p10">
            <a:extLst>
              <a:ext uri="{FF2B5EF4-FFF2-40B4-BE49-F238E27FC236}">
                <a16:creationId xmlns:a16="http://schemas.microsoft.com/office/drawing/2014/main" id="{526C5470-8DB2-D149-BBE7-E072920510D1}"/>
              </a:ext>
            </a:extLst>
          </p:cNvPr>
          <p:cNvSpPr/>
          <p:nvPr/>
        </p:nvSpPr>
        <p:spPr>
          <a:xfrm>
            <a:off x="8773817" y="2163433"/>
            <a:ext cx="2036000" cy="11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867">
                <a:latin typeface="Century Gothic"/>
                <a:ea typeface="Century Gothic"/>
                <a:cs typeface="Century Gothic"/>
                <a:sym typeface="Century Gothic"/>
              </a:rPr>
              <a:t>JAIL</a:t>
            </a:r>
            <a:endParaRPr sz="1867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3" name="Google Shape;78;p10">
            <a:extLst>
              <a:ext uri="{FF2B5EF4-FFF2-40B4-BE49-F238E27FC236}">
                <a16:creationId xmlns:a16="http://schemas.microsoft.com/office/drawing/2014/main" id="{4BD5031D-B79B-4943-9F77-C6A4EDFBA6DD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418184" y="2750233"/>
            <a:ext cx="1660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80;p10">
            <a:extLst>
              <a:ext uri="{FF2B5EF4-FFF2-40B4-BE49-F238E27FC236}">
                <a16:creationId xmlns:a16="http://schemas.microsoft.com/office/drawing/2014/main" id="{5812E4DD-93C0-7B4E-BBDE-455D1E0ADBBC}"/>
              </a:ext>
            </a:extLst>
          </p:cNvPr>
          <p:cNvSpPr/>
          <p:nvPr/>
        </p:nvSpPr>
        <p:spPr>
          <a:xfrm>
            <a:off x="5077950" y="5125767"/>
            <a:ext cx="2036000" cy="11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867" dirty="0">
                <a:latin typeface="Century Gothic"/>
                <a:ea typeface="Century Gothic"/>
                <a:cs typeface="Century Gothic"/>
                <a:sym typeface="Century Gothic"/>
              </a:rPr>
              <a:t>MENTAL HEALTH OUTREACH</a:t>
            </a:r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6" name="Google Shape;82;p10">
            <a:extLst>
              <a:ext uri="{FF2B5EF4-FFF2-40B4-BE49-F238E27FC236}">
                <a16:creationId xmlns:a16="http://schemas.microsoft.com/office/drawing/2014/main" id="{CBABCD8C-EAB1-534C-BE67-A1BAAD3C30FE}"/>
              </a:ext>
            </a:extLst>
          </p:cNvPr>
          <p:cNvCxnSpPr>
            <a:cxnSpLocks/>
            <a:stCxn id="24" idx="1"/>
            <a:endCxn id="12" idx="2"/>
          </p:cNvCxnSpPr>
          <p:nvPr/>
        </p:nvCxnSpPr>
        <p:spPr>
          <a:xfrm rot="10800000">
            <a:off x="2400184" y="3337033"/>
            <a:ext cx="2677766" cy="2375534"/>
          </a:xfrm>
          <a:prstGeom prst="curvedConnector2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Google Shape;83;p10">
            <a:extLst>
              <a:ext uri="{FF2B5EF4-FFF2-40B4-BE49-F238E27FC236}">
                <a16:creationId xmlns:a16="http://schemas.microsoft.com/office/drawing/2014/main" id="{2BBE259E-9FFE-BD42-9E46-41C0038E27F8}"/>
              </a:ext>
            </a:extLst>
          </p:cNvPr>
          <p:cNvSpPr/>
          <p:nvPr/>
        </p:nvSpPr>
        <p:spPr>
          <a:xfrm rot="-1593903">
            <a:off x="2005185" y="3358794"/>
            <a:ext cx="748636" cy="44364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B982B-DB62-ED4B-BE21-46A790B61DF6}"/>
              </a:ext>
            </a:extLst>
          </p:cNvPr>
          <p:cNvSpPr txBox="1"/>
          <p:nvPr/>
        </p:nvSpPr>
        <p:spPr>
          <a:xfrm>
            <a:off x="3831243" y="2249721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55188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3200" dirty="0"/>
              <a:t>CASE STUDY: Mental Health and Incarceration</a:t>
            </a:r>
            <a:endParaRPr sz="3200" dirty="0"/>
          </a:p>
        </p:txBody>
      </p:sp>
      <p:sp>
        <p:nvSpPr>
          <p:cNvPr id="12" name="Google Shape;75;p10">
            <a:extLst>
              <a:ext uri="{FF2B5EF4-FFF2-40B4-BE49-F238E27FC236}">
                <a16:creationId xmlns:a16="http://schemas.microsoft.com/office/drawing/2014/main" id="{8C379909-E112-AF40-AB06-F3DCE0D1D789}"/>
              </a:ext>
            </a:extLst>
          </p:cNvPr>
          <p:cNvSpPr/>
          <p:nvPr/>
        </p:nvSpPr>
        <p:spPr>
          <a:xfrm>
            <a:off x="242315" y="1399344"/>
            <a:ext cx="3352656" cy="48887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431EB-4D8A-1442-9803-AA95ADA5372B}"/>
              </a:ext>
            </a:extLst>
          </p:cNvPr>
          <p:cNvSpPr txBox="1"/>
          <p:nvPr/>
        </p:nvSpPr>
        <p:spPr>
          <a:xfrm>
            <a:off x="415600" y="1479367"/>
            <a:ext cx="29594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Released From Jail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In Past 3 Years</a:t>
            </a:r>
          </a:p>
        </p:txBody>
      </p:sp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4DF198BD-39AA-964B-8EB5-FB1B260A34A5}"/>
              </a:ext>
            </a:extLst>
          </p:cNvPr>
          <p:cNvSpPr/>
          <p:nvPr/>
        </p:nvSpPr>
        <p:spPr>
          <a:xfrm>
            <a:off x="789142" y="3429000"/>
            <a:ext cx="2665062" cy="2734106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E42FA2-6A12-0044-AA06-B868FCDE372D}"/>
              </a:ext>
            </a:extLst>
          </p:cNvPr>
          <p:cNvSpPr txBox="1"/>
          <p:nvPr/>
        </p:nvSpPr>
        <p:spPr>
          <a:xfrm>
            <a:off x="890681" y="3610880"/>
            <a:ext cx="25635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…With History of</a:t>
            </a:r>
          </a:p>
          <a:p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Mental Health</a:t>
            </a:r>
          </a:p>
          <a:p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Needs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3B8E00-7081-1F47-9553-568F65765633}"/>
              </a:ext>
            </a:extLst>
          </p:cNvPr>
          <p:cNvGrpSpPr/>
          <p:nvPr/>
        </p:nvGrpSpPr>
        <p:grpSpPr>
          <a:xfrm>
            <a:off x="3857489" y="3829293"/>
            <a:ext cx="860597" cy="763501"/>
            <a:chOff x="4389120" y="2462784"/>
            <a:chExt cx="1706830" cy="151425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71938DB-AC52-2A4F-903C-9A0F093EEAA8}"/>
                </a:ext>
              </a:extLst>
            </p:cNvPr>
            <p:cNvSpPr/>
            <p:nvPr/>
          </p:nvSpPr>
          <p:spPr>
            <a:xfrm>
              <a:off x="4389120" y="2462784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43EB63D-67D3-4E45-B65B-3AE6C37117B7}"/>
                </a:ext>
              </a:extLst>
            </p:cNvPr>
            <p:cNvSpPr/>
            <p:nvPr/>
          </p:nvSpPr>
          <p:spPr>
            <a:xfrm>
              <a:off x="4389120" y="301874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868292F-40CE-8846-909D-8E042F9E7876}"/>
                </a:ext>
              </a:extLst>
            </p:cNvPr>
            <p:cNvSpPr/>
            <p:nvPr/>
          </p:nvSpPr>
          <p:spPr>
            <a:xfrm>
              <a:off x="4389120" y="3574706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7CBACA9-7504-BE46-A082-FA1F0DB3991A}"/>
                </a:ext>
              </a:extLst>
            </p:cNvPr>
            <p:cNvSpPr/>
            <p:nvPr/>
          </p:nvSpPr>
          <p:spPr>
            <a:xfrm>
              <a:off x="5029200" y="276880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E7DE2BA-187D-4144-BCB9-4822657FE213}"/>
                </a:ext>
              </a:extLst>
            </p:cNvPr>
            <p:cNvSpPr/>
            <p:nvPr/>
          </p:nvSpPr>
          <p:spPr>
            <a:xfrm>
              <a:off x="5029200" y="335037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A7BFEE9-9AB5-0E4D-ACF5-9DFA5671C333}"/>
                </a:ext>
              </a:extLst>
            </p:cNvPr>
            <p:cNvSpPr/>
            <p:nvPr/>
          </p:nvSpPr>
          <p:spPr>
            <a:xfrm>
              <a:off x="5693614" y="275713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6B3BF28-ABC9-CB4E-8050-B49E9B365028}"/>
                </a:ext>
              </a:extLst>
            </p:cNvPr>
            <p:cNvSpPr/>
            <p:nvPr/>
          </p:nvSpPr>
          <p:spPr>
            <a:xfrm>
              <a:off x="5669280" y="3338187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472FECF-6CFC-334F-BE08-5E927AAD8527}"/>
                </a:ext>
              </a:extLst>
            </p:cNvPr>
            <p:cNvCxnSpPr>
              <a:stCxn id="17" idx="6"/>
              <a:endCxn id="20" idx="2"/>
            </p:cNvCxnSpPr>
            <p:nvPr/>
          </p:nvCxnSpPr>
          <p:spPr>
            <a:xfrm>
              <a:off x="4791456" y="2663952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C2F4C-E9DD-E64A-8D0A-73CC3AEBD025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>
              <a:off x="4791456" y="2663952"/>
              <a:ext cx="237744" cy="86198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09DE789-770A-774A-9861-6E413217C2BC}"/>
                </a:ext>
              </a:extLst>
            </p:cNvPr>
            <p:cNvCxnSpPr>
              <a:cxnSpLocks/>
              <a:stCxn id="18" idx="6"/>
              <a:endCxn id="20" idx="2"/>
            </p:cNvCxnSpPr>
            <p:nvPr/>
          </p:nvCxnSpPr>
          <p:spPr>
            <a:xfrm flipV="1">
              <a:off x="4791456" y="2969977"/>
              <a:ext cx="237744" cy="2499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E7FF1A-B3F7-F844-B958-D27F45E1DC2D}"/>
                </a:ext>
              </a:extLst>
            </p:cNvPr>
            <p:cNvCxnSpPr/>
            <p:nvPr/>
          </p:nvCxnSpPr>
          <p:spPr>
            <a:xfrm>
              <a:off x="4794479" y="3244297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5E2131-B1EE-BC43-AF0F-76A74F8C8107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V="1">
              <a:off x="4791456" y="2969977"/>
              <a:ext cx="237744" cy="80589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DBFED98-B6FA-8B4E-876D-F52C114E6024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 flipV="1">
              <a:off x="4791456" y="3551547"/>
              <a:ext cx="237744" cy="224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91D79EA-EDB5-EB44-BFE1-4E1378E764D2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5431536" y="2958303"/>
              <a:ext cx="262078" cy="3301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8D7F98-F828-4749-89A9-70A2687F9B2D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5431536" y="3023616"/>
              <a:ext cx="237744" cy="5157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CAA8FC4-6819-0342-9A83-42B280E06237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5428513" y="2958303"/>
              <a:ext cx="265101" cy="58959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DB29A49-FD36-804C-B626-ECEBE343A946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5431536" y="3510697"/>
              <a:ext cx="237744" cy="2865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7FEABA3-487B-1046-962E-19F31B555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90566"/>
              </p:ext>
            </p:extLst>
          </p:nvPr>
        </p:nvGraphicFramePr>
        <p:xfrm>
          <a:off x="5382865" y="1803689"/>
          <a:ext cx="1654828" cy="487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7414">
                  <a:extLst>
                    <a:ext uri="{9D8B030D-6E8A-4147-A177-3AD203B41FA5}">
                      <a16:colId xmlns:a16="http://schemas.microsoft.com/office/drawing/2014/main" val="1088238618"/>
                    </a:ext>
                  </a:extLst>
                </a:gridCol>
                <a:gridCol w="827414">
                  <a:extLst>
                    <a:ext uri="{9D8B030D-6E8A-4147-A177-3AD203B41FA5}">
                      <a16:colId xmlns:a16="http://schemas.microsoft.com/office/drawing/2014/main" val="2545921369"/>
                    </a:ext>
                  </a:extLst>
                </a:gridCol>
              </a:tblGrid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1417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29026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916763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964280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836163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042522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555594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195445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902966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052668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450806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045432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666519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732854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839184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3681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9B6C0F7E-394D-C849-AEEA-57F9432B58C8}"/>
              </a:ext>
            </a:extLst>
          </p:cNvPr>
          <p:cNvSpPr/>
          <p:nvPr/>
        </p:nvSpPr>
        <p:spPr>
          <a:xfrm>
            <a:off x="3454203" y="4622104"/>
            <a:ext cx="1916392" cy="350729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8EA7B6-012E-3340-9E87-E323487E7303}"/>
              </a:ext>
            </a:extLst>
          </p:cNvPr>
          <p:cNvSpPr txBox="1"/>
          <p:nvPr/>
        </p:nvSpPr>
        <p:spPr>
          <a:xfrm>
            <a:off x="3696510" y="3272099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Model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13169F-ADA2-914B-8C32-2AD6FA04C976}"/>
              </a:ext>
            </a:extLst>
          </p:cNvPr>
          <p:cNvSpPr txBox="1"/>
          <p:nvPr/>
        </p:nvSpPr>
        <p:spPr>
          <a:xfrm>
            <a:off x="4955885" y="1187209"/>
            <a:ext cx="2709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Return to Jail Risk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FFD78-6ACB-084C-8897-FB70032B66B3}"/>
              </a:ext>
            </a:extLst>
          </p:cNvPr>
          <p:cNvSpPr/>
          <p:nvPr/>
        </p:nvSpPr>
        <p:spPr>
          <a:xfrm>
            <a:off x="5370595" y="2129425"/>
            <a:ext cx="1667098" cy="1481455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B29C028E-CDA4-604B-9B8F-64BDD06881B5}"/>
              </a:ext>
            </a:extLst>
          </p:cNvPr>
          <p:cNvSpPr/>
          <p:nvPr/>
        </p:nvSpPr>
        <p:spPr>
          <a:xfrm>
            <a:off x="7049963" y="2694787"/>
            <a:ext cx="1943723" cy="35072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Google Shape;75;p10">
            <a:extLst>
              <a:ext uri="{FF2B5EF4-FFF2-40B4-BE49-F238E27FC236}">
                <a16:creationId xmlns:a16="http://schemas.microsoft.com/office/drawing/2014/main" id="{80248251-D983-E945-852F-13ECC4C7A7A1}"/>
              </a:ext>
            </a:extLst>
          </p:cNvPr>
          <p:cNvSpPr/>
          <p:nvPr/>
        </p:nvSpPr>
        <p:spPr>
          <a:xfrm>
            <a:off x="8993687" y="2293565"/>
            <a:ext cx="1981242" cy="115317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819DD2-A9C7-A543-9B48-E32CF949C9FE}"/>
              </a:ext>
            </a:extLst>
          </p:cNvPr>
          <p:cNvSpPr txBox="1"/>
          <p:nvPr/>
        </p:nvSpPr>
        <p:spPr>
          <a:xfrm>
            <a:off x="9167417" y="2310364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 Gothic" panose="020B0502020202020204" pitchFamily="34" charset="0"/>
              </a:rPr>
              <a:t>Mental</a:t>
            </a:r>
          </a:p>
          <a:p>
            <a:pPr algn="ctr"/>
            <a:r>
              <a:rPr lang="en-US" sz="2400" dirty="0">
                <a:latin typeface="Century Gothic" panose="020B0502020202020204" pitchFamily="34" charset="0"/>
              </a:rPr>
              <a:t>Health</a:t>
            </a:r>
          </a:p>
          <a:p>
            <a:pPr algn="ctr"/>
            <a:r>
              <a:rPr lang="en-US" sz="2400" dirty="0">
                <a:latin typeface="Century Gothic" panose="020B0502020202020204" pitchFamily="34" charset="0"/>
              </a:rPr>
              <a:t>Outreach</a:t>
            </a:r>
          </a:p>
        </p:txBody>
      </p:sp>
      <p:sp>
        <p:nvSpPr>
          <p:cNvPr id="46" name="Google Shape;75;p10">
            <a:extLst>
              <a:ext uri="{FF2B5EF4-FFF2-40B4-BE49-F238E27FC236}">
                <a16:creationId xmlns:a16="http://schemas.microsoft.com/office/drawing/2014/main" id="{162E5AA6-9B51-DD4C-9E71-D5D0C0DE7EEC}"/>
              </a:ext>
            </a:extLst>
          </p:cNvPr>
          <p:cNvSpPr/>
          <p:nvPr/>
        </p:nvSpPr>
        <p:spPr>
          <a:xfrm>
            <a:off x="9020826" y="4644025"/>
            <a:ext cx="1981242" cy="115317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53B0C9-A395-0D4E-9870-A399AAC450A3}"/>
              </a:ext>
            </a:extLst>
          </p:cNvPr>
          <p:cNvSpPr txBox="1"/>
          <p:nvPr/>
        </p:nvSpPr>
        <p:spPr>
          <a:xfrm>
            <a:off x="9265200" y="4811209"/>
            <a:ext cx="1535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 Gothic" panose="020B0502020202020204" pitchFamily="34" charset="0"/>
              </a:rPr>
              <a:t>Return to</a:t>
            </a:r>
          </a:p>
          <a:p>
            <a:pPr algn="ctr"/>
            <a:r>
              <a:rPr lang="en-US" sz="2400" dirty="0">
                <a:latin typeface="Century Gothic" panose="020B0502020202020204" pitchFamily="34" charset="0"/>
              </a:rPr>
              <a:t>Jail</a:t>
            </a:r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703A189E-3971-8841-B588-03762A073818}"/>
              </a:ext>
            </a:extLst>
          </p:cNvPr>
          <p:cNvSpPr/>
          <p:nvPr/>
        </p:nvSpPr>
        <p:spPr>
          <a:xfrm rot="5400000">
            <a:off x="9467615" y="3882766"/>
            <a:ext cx="1033382" cy="350729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0228CA-82BC-764B-B936-59C954EB3F4A}"/>
              </a:ext>
            </a:extLst>
          </p:cNvPr>
          <p:cNvSpPr txBox="1"/>
          <p:nvPr/>
        </p:nvSpPr>
        <p:spPr>
          <a:xfrm>
            <a:off x="9635492" y="3446737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01318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3200" dirty="0"/>
              <a:t>CASE STUDY: Mental Health and Incarceration</a:t>
            </a:r>
            <a:endParaRPr sz="3200" dirty="0"/>
          </a:p>
        </p:txBody>
      </p:sp>
      <p:sp>
        <p:nvSpPr>
          <p:cNvPr id="12" name="Google Shape;75;p10">
            <a:extLst>
              <a:ext uri="{FF2B5EF4-FFF2-40B4-BE49-F238E27FC236}">
                <a16:creationId xmlns:a16="http://schemas.microsoft.com/office/drawing/2014/main" id="{8C379909-E112-AF40-AB06-F3DCE0D1D789}"/>
              </a:ext>
            </a:extLst>
          </p:cNvPr>
          <p:cNvSpPr/>
          <p:nvPr/>
        </p:nvSpPr>
        <p:spPr>
          <a:xfrm>
            <a:off x="242315" y="1399344"/>
            <a:ext cx="3352656" cy="48887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431EB-4D8A-1442-9803-AA95ADA5372B}"/>
              </a:ext>
            </a:extLst>
          </p:cNvPr>
          <p:cNvSpPr txBox="1"/>
          <p:nvPr/>
        </p:nvSpPr>
        <p:spPr>
          <a:xfrm>
            <a:off x="415600" y="1479367"/>
            <a:ext cx="29594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Released From Jail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In Past 3 Years</a:t>
            </a:r>
          </a:p>
        </p:txBody>
      </p:sp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4DF198BD-39AA-964B-8EB5-FB1B260A34A5}"/>
              </a:ext>
            </a:extLst>
          </p:cNvPr>
          <p:cNvSpPr/>
          <p:nvPr/>
        </p:nvSpPr>
        <p:spPr>
          <a:xfrm>
            <a:off x="789142" y="3429000"/>
            <a:ext cx="2665062" cy="2734106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E42FA2-6A12-0044-AA06-B868FCDE372D}"/>
              </a:ext>
            </a:extLst>
          </p:cNvPr>
          <p:cNvSpPr txBox="1"/>
          <p:nvPr/>
        </p:nvSpPr>
        <p:spPr>
          <a:xfrm>
            <a:off x="890681" y="3610880"/>
            <a:ext cx="25635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…With History of</a:t>
            </a:r>
          </a:p>
          <a:p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Mental Health</a:t>
            </a:r>
          </a:p>
          <a:p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Needs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3B8E00-7081-1F47-9553-568F65765633}"/>
              </a:ext>
            </a:extLst>
          </p:cNvPr>
          <p:cNvGrpSpPr/>
          <p:nvPr/>
        </p:nvGrpSpPr>
        <p:grpSpPr>
          <a:xfrm>
            <a:off x="3857489" y="3829293"/>
            <a:ext cx="860597" cy="763501"/>
            <a:chOff x="4389120" y="2462784"/>
            <a:chExt cx="1706830" cy="151425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71938DB-AC52-2A4F-903C-9A0F093EEAA8}"/>
                </a:ext>
              </a:extLst>
            </p:cNvPr>
            <p:cNvSpPr/>
            <p:nvPr/>
          </p:nvSpPr>
          <p:spPr>
            <a:xfrm>
              <a:off x="4389120" y="2462784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43EB63D-67D3-4E45-B65B-3AE6C37117B7}"/>
                </a:ext>
              </a:extLst>
            </p:cNvPr>
            <p:cNvSpPr/>
            <p:nvPr/>
          </p:nvSpPr>
          <p:spPr>
            <a:xfrm>
              <a:off x="4389120" y="301874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868292F-40CE-8846-909D-8E042F9E7876}"/>
                </a:ext>
              </a:extLst>
            </p:cNvPr>
            <p:cNvSpPr/>
            <p:nvPr/>
          </p:nvSpPr>
          <p:spPr>
            <a:xfrm>
              <a:off x="4389120" y="3574706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7CBACA9-7504-BE46-A082-FA1F0DB3991A}"/>
                </a:ext>
              </a:extLst>
            </p:cNvPr>
            <p:cNvSpPr/>
            <p:nvPr/>
          </p:nvSpPr>
          <p:spPr>
            <a:xfrm>
              <a:off x="5029200" y="276880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E7DE2BA-187D-4144-BCB9-4822657FE213}"/>
                </a:ext>
              </a:extLst>
            </p:cNvPr>
            <p:cNvSpPr/>
            <p:nvPr/>
          </p:nvSpPr>
          <p:spPr>
            <a:xfrm>
              <a:off x="5029200" y="335037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A7BFEE9-9AB5-0E4D-ACF5-9DFA5671C333}"/>
                </a:ext>
              </a:extLst>
            </p:cNvPr>
            <p:cNvSpPr/>
            <p:nvPr/>
          </p:nvSpPr>
          <p:spPr>
            <a:xfrm>
              <a:off x="5693614" y="275713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6B3BF28-ABC9-CB4E-8050-B49E9B365028}"/>
                </a:ext>
              </a:extLst>
            </p:cNvPr>
            <p:cNvSpPr/>
            <p:nvPr/>
          </p:nvSpPr>
          <p:spPr>
            <a:xfrm>
              <a:off x="5669280" y="3338187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472FECF-6CFC-334F-BE08-5E927AAD8527}"/>
                </a:ext>
              </a:extLst>
            </p:cNvPr>
            <p:cNvCxnSpPr>
              <a:stCxn id="17" idx="6"/>
              <a:endCxn id="20" idx="2"/>
            </p:cNvCxnSpPr>
            <p:nvPr/>
          </p:nvCxnSpPr>
          <p:spPr>
            <a:xfrm>
              <a:off x="4791456" y="2663952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C2F4C-E9DD-E64A-8D0A-73CC3AEBD025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>
              <a:off x="4791456" y="2663952"/>
              <a:ext cx="237744" cy="86198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09DE789-770A-774A-9861-6E413217C2BC}"/>
                </a:ext>
              </a:extLst>
            </p:cNvPr>
            <p:cNvCxnSpPr>
              <a:cxnSpLocks/>
              <a:stCxn id="18" idx="6"/>
              <a:endCxn id="20" idx="2"/>
            </p:cNvCxnSpPr>
            <p:nvPr/>
          </p:nvCxnSpPr>
          <p:spPr>
            <a:xfrm flipV="1">
              <a:off x="4791456" y="2969977"/>
              <a:ext cx="237744" cy="2499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E7FF1A-B3F7-F844-B958-D27F45E1DC2D}"/>
                </a:ext>
              </a:extLst>
            </p:cNvPr>
            <p:cNvCxnSpPr/>
            <p:nvPr/>
          </p:nvCxnSpPr>
          <p:spPr>
            <a:xfrm>
              <a:off x="4794479" y="3244297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5E2131-B1EE-BC43-AF0F-76A74F8C8107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V="1">
              <a:off x="4791456" y="2969977"/>
              <a:ext cx="237744" cy="80589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DBFED98-B6FA-8B4E-876D-F52C114E6024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 flipV="1">
              <a:off x="4791456" y="3551547"/>
              <a:ext cx="237744" cy="224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91D79EA-EDB5-EB44-BFE1-4E1378E764D2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5431536" y="2958303"/>
              <a:ext cx="262078" cy="3301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8D7F98-F828-4749-89A9-70A2687F9B2D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5431536" y="3023616"/>
              <a:ext cx="237744" cy="5157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CAA8FC4-6819-0342-9A83-42B280E06237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5428513" y="2958303"/>
              <a:ext cx="265101" cy="58959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DB29A49-FD36-804C-B626-ECEBE343A946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5431536" y="3510697"/>
              <a:ext cx="237744" cy="2865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7FEABA3-487B-1046-962E-19F31B5554DD}"/>
              </a:ext>
            </a:extLst>
          </p:cNvPr>
          <p:cNvGraphicFramePr>
            <a:graphicFrameLocks noGrp="1"/>
          </p:cNvGraphicFramePr>
          <p:nvPr/>
        </p:nvGraphicFramePr>
        <p:xfrm>
          <a:off x="5382865" y="1803689"/>
          <a:ext cx="1654828" cy="487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7414">
                  <a:extLst>
                    <a:ext uri="{9D8B030D-6E8A-4147-A177-3AD203B41FA5}">
                      <a16:colId xmlns:a16="http://schemas.microsoft.com/office/drawing/2014/main" val="1088238618"/>
                    </a:ext>
                  </a:extLst>
                </a:gridCol>
                <a:gridCol w="827414">
                  <a:extLst>
                    <a:ext uri="{9D8B030D-6E8A-4147-A177-3AD203B41FA5}">
                      <a16:colId xmlns:a16="http://schemas.microsoft.com/office/drawing/2014/main" val="2545921369"/>
                    </a:ext>
                  </a:extLst>
                </a:gridCol>
              </a:tblGrid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1417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29026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916763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964280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836163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042522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555594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195445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902966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052668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450806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045432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666519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732854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839184"/>
                  </a:ext>
                </a:extLst>
              </a:tr>
              <a:tr h="258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3681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9B6C0F7E-394D-C849-AEEA-57F9432B58C8}"/>
              </a:ext>
            </a:extLst>
          </p:cNvPr>
          <p:cNvSpPr/>
          <p:nvPr/>
        </p:nvSpPr>
        <p:spPr>
          <a:xfrm>
            <a:off x="3454203" y="4622104"/>
            <a:ext cx="1916392" cy="350729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8EA7B6-012E-3340-9E87-E323487E7303}"/>
              </a:ext>
            </a:extLst>
          </p:cNvPr>
          <p:cNvSpPr txBox="1"/>
          <p:nvPr/>
        </p:nvSpPr>
        <p:spPr>
          <a:xfrm>
            <a:off x="3696510" y="3272099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Model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13169F-ADA2-914B-8C32-2AD6FA04C976}"/>
              </a:ext>
            </a:extLst>
          </p:cNvPr>
          <p:cNvSpPr txBox="1"/>
          <p:nvPr/>
        </p:nvSpPr>
        <p:spPr>
          <a:xfrm>
            <a:off x="4955885" y="1187209"/>
            <a:ext cx="2709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Return to Jail Risk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FFD78-6ACB-084C-8897-FB70032B66B3}"/>
              </a:ext>
            </a:extLst>
          </p:cNvPr>
          <p:cNvSpPr/>
          <p:nvPr/>
        </p:nvSpPr>
        <p:spPr>
          <a:xfrm>
            <a:off x="5370595" y="2129425"/>
            <a:ext cx="1667098" cy="1481455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B29C028E-CDA4-604B-9B8F-64BDD06881B5}"/>
              </a:ext>
            </a:extLst>
          </p:cNvPr>
          <p:cNvSpPr/>
          <p:nvPr/>
        </p:nvSpPr>
        <p:spPr>
          <a:xfrm>
            <a:off x="7049963" y="2694787"/>
            <a:ext cx="1943723" cy="35072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Google Shape;75;p10">
            <a:extLst>
              <a:ext uri="{FF2B5EF4-FFF2-40B4-BE49-F238E27FC236}">
                <a16:creationId xmlns:a16="http://schemas.microsoft.com/office/drawing/2014/main" id="{80248251-D983-E945-852F-13ECC4C7A7A1}"/>
              </a:ext>
            </a:extLst>
          </p:cNvPr>
          <p:cNvSpPr/>
          <p:nvPr/>
        </p:nvSpPr>
        <p:spPr>
          <a:xfrm>
            <a:off x="8993687" y="2293565"/>
            <a:ext cx="1981242" cy="115317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819DD2-A9C7-A543-9B48-E32CF949C9FE}"/>
              </a:ext>
            </a:extLst>
          </p:cNvPr>
          <p:cNvSpPr txBox="1"/>
          <p:nvPr/>
        </p:nvSpPr>
        <p:spPr>
          <a:xfrm>
            <a:off x="9167417" y="2310364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 Gothic" panose="020B0502020202020204" pitchFamily="34" charset="0"/>
              </a:rPr>
              <a:t>Mental</a:t>
            </a:r>
          </a:p>
          <a:p>
            <a:pPr algn="ctr"/>
            <a:r>
              <a:rPr lang="en-US" sz="2400" dirty="0">
                <a:latin typeface="Century Gothic" panose="020B0502020202020204" pitchFamily="34" charset="0"/>
              </a:rPr>
              <a:t>Health</a:t>
            </a:r>
          </a:p>
          <a:p>
            <a:pPr algn="ctr"/>
            <a:r>
              <a:rPr lang="en-US" sz="2400" dirty="0">
                <a:latin typeface="Century Gothic" panose="020B0502020202020204" pitchFamily="34" charset="0"/>
              </a:rPr>
              <a:t>Outreach</a:t>
            </a:r>
          </a:p>
        </p:txBody>
      </p:sp>
      <p:sp>
        <p:nvSpPr>
          <p:cNvPr id="46" name="Google Shape;75;p10">
            <a:extLst>
              <a:ext uri="{FF2B5EF4-FFF2-40B4-BE49-F238E27FC236}">
                <a16:creationId xmlns:a16="http://schemas.microsoft.com/office/drawing/2014/main" id="{162E5AA6-9B51-DD4C-9E71-D5D0C0DE7EEC}"/>
              </a:ext>
            </a:extLst>
          </p:cNvPr>
          <p:cNvSpPr/>
          <p:nvPr/>
        </p:nvSpPr>
        <p:spPr>
          <a:xfrm>
            <a:off x="9020826" y="4644025"/>
            <a:ext cx="1981242" cy="115317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53B0C9-A395-0D4E-9870-A399AAC450A3}"/>
              </a:ext>
            </a:extLst>
          </p:cNvPr>
          <p:cNvSpPr txBox="1"/>
          <p:nvPr/>
        </p:nvSpPr>
        <p:spPr>
          <a:xfrm>
            <a:off x="9265200" y="4811209"/>
            <a:ext cx="1535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entury Gothic" panose="020B0502020202020204" pitchFamily="34" charset="0"/>
              </a:rPr>
              <a:t>Return to</a:t>
            </a:r>
          </a:p>
          <a:p>
            <a:pPr algn="ctr"/>
            <a:r>
              <a:rPr lang="en-US" sz="2400" dirty="0">
                <a:latin typeface="Century Gothic" panose="020B0502020202020204" pitchFamily="34" charset="0"/>
              </a:rPr>
              <a:t>Jail</a:t>
            </a:r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703A189E-3971-8841-B588-03762A073818}"/>
              </a:ext>
            </a:extLst>
          </p:cNvPr>
          <p:cNvSpPr/>
          <p:nvPr/>
        </p:nvSpPr>
        <p:spPr>
          <a:xfrm rot="5400000">
            <a:off x="9467615" y="3882766"/>
            <a:ext cx="1033382" cy="350729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0228CA-82BC-764B-B936-59C954EB3F4A}"/>
              </a:ext>
            </a:extLst>
          </p:cNvPr>
          <p:cNvSpPr txBox="1"/>
          <p:nvPr/>
        </p:nvSpPr>
        <p:spPr>
          <a:xfrm>
            <a:off x="9635492" y="3446737"/>
            <a:ext cx="697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3" name="Google Shape;75;p10">
            <a:extLst>
              <a:ext uri="{FF2B5EF4-FFF2-40B4-BE49-F238E27FC236}">
                <a16:creationId xmlns:a16="http://schemas.microsoft.com/office/drawing/2014/main" id="{D5082920-162F-DD44-BA9B-9E6805CC049C}"/>
              </a:ext>
            </a:extLst>
          </p:cNvPr>
          <p:cNvSpPr/>
          <p:nvPr/>
        </p:nvSpPr>
        <p:spPr>
          <a:xfrm>
            <a:off x="2172442" y="5310660"/>
            <a:ext cx="7323293" cy="1125750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E37C1E-E6DD-DB42-A7ED-5F5845AED4BE}"/>
              </a:ext>
            </a:extLst>
          </p:cNvPr>
          <p:cNvSpPr txBox="1"/>
          <p:nvPr/>
        </p:nvSpPr>
        <p:spPr>
          <a:xfrm>
            <a:off x="2297921" y="5389511"/>
            <a:ext cx="7197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A61B00"/>
                </a:solidFill>
                <a:latin typeface="Century Gothic" panose="020B0502020202020204" pitchFamily="34" charset="0"/>
              </a:rPr>
              <a:t>What would you want to learn </a:t>
            </a:r>
          </a:p>
          <a:p>
            <a:pPr algn="ctr"/>
            <a:r>
              <a:rPr lang="en-US" sz="2800" b="1" dirty="0">
                <a:solidFill>
                  <a:srgbClr val="A61B00"/>
                </a:solidFill>
                <a:latin typeface="Century Gothic" panose="020B0502020202020204" pitchFamily="34" charset="0"/>
              </a:rPr>
              <a:t>through a field trial?</a:t>
            </a:r>
          </a:p>
        </p:txBody>
      </p:sp>
    </p:spTree>
    <p:extLst>
      <p:ext uri="{BB962C8B-B14F-4D97-AF65-F5344CB8AC3E}">
        <p14:creationId xmlns:p14="http://schemas.microsoft.com/office/powerpoint/2010/main" val="267164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B8D4DC2-30CB-6944-8E76-8DE673FA4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848" y="0"/>
            <a:ext cx="7588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00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3200" dirty="0"/>
              <a:t>Q1: Is the Model Predictive?</a:t>
            </a:r>
            <a:endParaRPr sz="3200" dirty="0"/>
          </a:p>
        </p:txBody>
      </p:sp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3BD6E424-42EC-EB4B-A9F4-30D8CD97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689100"/>
            <a:ext cx="51816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57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3200" dirty="0"/>
              <a:t>Q2: Does </a:t>
            </a:r>
            <a:r>
              <a:rPr lang="en-US" sz="3200" dirty="0" err="1"/>
              <a:t>Model+Intervention</a:t>
            </a:r>
            <a:r>
              <a:rPr lang="en-US" sz="3200" dirty="0"/>
              <a:t> Affect Outcomes? For Whom?</a:t>
            </a:r>
            <a:endParaRPr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E4B9AA-BD93-304F-ACD3-441BB45FB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2148"/>
            <a:ext cx="12192000" cy="594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23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Causal inference with experiments</a:t>
            </a:r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Standard “Randomized Controlled Trials”</a:t>
            </a:r>
            <a:endParaRPr dirty="0"/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Trial Design</a:t>
            </a:r>
            <a:endParaRPr dirty="0"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 dirty="0"/>
              <a:t>Outcome</a:t>
            </a:r>
            <a:endParaRPr dirty="0"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 dirty="0"/>
              <a:t>Sample size</a:t>
            </a:r>
            <a:endParaRPr dirty="0"/>
          </a:p>
          <a:p>
            <a:pPr marL="137160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</a:pPr>
            <a:r>
              <a:rPr lang="en-US" dirty="0"/>
              <a:t>Power</a:t>
            </a:r>
            <a:endParaRPr dirty="0"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 dirty="0"/>
              <a:t>Randomization</a:t>
            </a:r>
            <a:endParaRPr dirty="0"/>
          </a:p>
          <a:p>
            <a:pPr marL="914400" lvl="1" indent="-2286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</a:pPr>
            <a:endParaRPr dirty="0"/>
          </a:p>
          <a:p>
            <a:pPr marL="450850" indent="-342900"/>
            <a:r>
              <a:rPr lang="en-US" dirty="0"/>
              <a:t>Ethical Concerns</a:t>
            </a:r>
            <a:endParaRPr dirty="0"/>
          </a:p>
          <a:p>
            <a:pPr marL="914400" lvl="1" indent="-2286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</a:pPr>
            <a:endParaRPr dirty="0"/>
          </a:p>
          <a:p>
            <a:pPr marL="914400" lvl="1" indent="-2286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91AA-5412-CD4A-8776-BA0DF9A1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things to keep in mind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2586B-2CF9-8747-B0B9-1DDAB6C5A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914585"/>
            <a:ext cx="11360700" cy="4555200"/>
          </a:xfrm>
        </p:spPr>
        <p:txBody>
          <a:bodyPr/>
          <a:lstStyle/>
          <a:p>
            <a:pPr marL="76200" indent="0" algn="ctr">
              <a:buNone/>
            </a:pPr>
            <a:r>
              <a:rPr lang="en-US" sz="4000" b="1" dirty="0"/>
              <a:t>Sample Size</a:t>
            </a:r>
          </a:p>
          <a:p>
            <a:pPr marL="76200" indent="0" algn="ctr">
              <a:buNone/>
            </a:pPr>
            <a:endParaRPr lang="en-US" sz="4000" b="1" dirty="0"/>
          </a:p>
          <a:p>
            <a:pPr marL="76200" indent="0" algn="ctr">
              <a:buNone/>
            </a:pPr>
            <a:r>
              <a:rPr lang="en-US" sz="4000" b="1" dirty="0"/>
              <a:t>Power		Effect Size		 Significance Level</a:t>
            </a:r>
          </a:p>
        </p:txBody>
      </p:sp>
      <p:sp>
        <p:nvSpPr>
          <p:cNvPr id="4" name="Up Arrow 3">
            <a:extLst>
              <a:ext uri="{FF2B5EF4-FFF2-40B4-BE49-F238E27FC236}">
                <a16:creationId xmlns:a16="http://schemas.microsoft.com/office/drawing/2014/main" id="{B14A2D3F-E5B2-694D-9C26-32B7C4FB3ADF}"/>
              </a:ext>
            </a:extLst>
          </p:cNvPr>
          <p:cNvSpPr/>
          <p:nvPr/>
        </p:nvSpPr>
        <p:spPr>
          <a:xfrm>
            <a:off x="7717536" y="1914585"/>
            <a:ext cx="402336" cy="841248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 Arrow 4">
            <a:extLst>
              <a:ext uri="{FF2B5EF4-FFF2-40B4-BE49-F238E27FC236}">
                <a16:creationId xmlns:a16="http://schemas.microsoft.com/office/drawing/2014/main" id="{409D6D70-0E52-9240-9EF5-36CE82B39FB7}"/>
              </a:ext>
            </a:extLst>
          </p:cNvPr>
          <p:cNvSpPr/>
          <p:nvPr/>
        </p:nvSpPr>
        <p:spPr>
          <a:xfrm rot="10800000">
            <a:off x="5992318" y="3399705"/>
            <a:ext cx="402336" cy="841248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8DDCD-7764-B647-AEC4-4CE2ECFDA70C}"/>
              </a:ext>
            </a:extLst>
          </p:cNvPr>
          <p:cNvSpPr txBox="1"/>
          <p:nvPr/>
        </p:nvSpPr>
        <p:spPr>
          <a:xfrm>
            <a:off x="1631435" y="5266944"/>
            <a:ext cx="852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Effect size &gt; what is practically useful and significant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774E5-1E28-3B48-A9A2-1634C3F0D632}"/>
              </a:ext>
            </a:extLst>
          </p:cNvPr>
          <p:cNvSpPr txBox="1"/>
          <p:nvPr/>
        </p:nvSpPr>
        <p:spPr>
          <a:xfrm>
            <a:off x="790659" y="5790164"/>
            <a:ext cx="10469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Significance Level ~ cost of implementing the new system/model</a:t>
            </a:r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DEDF5BC7-8405-BD40-8C4A-DF1BF10C5DC8}"/>
              </a:ext>
            </a:extLst>
          </p:cNvPr>
          <p:cNvSpPr/>
          <p:nvPr/>
        </p:nvSpPr>
        <p:spPr>
          <a:xfrm>
            <a:off x="2243278" y="3370985"/>
            <a:ext cx="402336" cy="841248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752910B2-E129-114B-BD83-B0AB6529D1AE}"/>
              </a:ext>
            </a:extLst>
          </p:cNvPr>
          <p:cNvSpPr/>
          <p:nvPr/>
        </p:nvSpPr>
        <p:spPr>
          <a:xfrm>
            <a:off x="11642187" y="3350937"/>
            <a:ext cx="402336" cy="841248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1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Designing Trials to Validate ML Systems</a:t>
            </a:r>
            <a:endParaRPr/>
          </a:p>
        </p:txBody>
      </p:sp>
      <p:sp>
        <p:nvSpPr>
          <p:cNvPr id="253" name="Google Shape;253;p3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What can we do with historical data?</a:t>
            </a:r>
            <a:endParaRPr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Model Selection</a:t>
            </a:r>
            <a:endParaRPr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Performance Estimation</a:t>
            </a: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How do we select the model to deploy?</a:t>
            </a:r>
            <a:endParaRPr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/>
              <a:t>Compare shortlisted models against baseline</a:t>
            </a: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How do we validate whether our ML system will work when deployed?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Designing an experiment</a:t>
            </a:r>
            <a:endParaRPr/>
          </a:p>
        </p:txBody>
      </p:sp>
      <p:sp>
        <p:nvSpPr>
          <p:cNvPr id="259" name="Google Shape;259;p3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What are we trying to test? 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How do we create different arms of the experiment?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How we do we run the experiment?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What do we measure?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How do we evaluate?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2259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What are we testing in an experiment?</a:t>
            </a:r>
            <a:endParaRPr/>
          </a:p>
        </p:txBody>
      </p:sp>
      <p:sp>
        <p:nvSpPr>
          <p:cNvPr id="265" name="Google Shape;265;p3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Lift?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Classification?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Probability estimates?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Ranking?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How does the experiment design change?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2400"/>
              <a:t>How many [students, inspections, projects] should we include in our trial?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C2FB7B-F091-354D-AB4F-45D5E6CEE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Doing a trial over </a:t>
            </a:r>
            <a:r>
              <a:rPr lang="en-US" dirty="0">
                <a:solidFill>
                  <a:srgbClr val="FF0000"/>
                </a:solidFill>
              </a:rPr>
              <a:t>[y] years </a:t>
            </a: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[n</a:t>
            </a:r>
            <a:r>
              <a:rPr lang="en-US">
                <a:solidFill>
                  <a:srgbClr val="FF0000"/>
                </a:solidFill>
              </a:rPr>
              <a:t>] projects </a:t>
            </a:r>
            <a:r>
              <a:rPr lang="en-US" dirty="0"/>
              <a:t>every week will give us a </a:t>
            </a:r>
            <a:r>
              <a:rPr lang="en-US" dirty="0">
                <a:solidFill>
                  <a:srgbClr val="FF0000"/>
                </a:solidFill>
              </a:rPr>
              <a:t>[p%] chance </a:t>
            </a:r>
            <a:r>
              <a:rPr lang="en-US" dirty="0"/>
              <a:t>to detect an </a:t>
            </a:r>
            <a:r>
              <a:rPr lang="en-US" dirty="0">
                <a:solidFill>
                  <a:srgbClr val="FF0000"/>
                </a:solidFill>
              </a:rPr>
              <a:t>[e%] increase </a:t>
            </a:r>
            <a:r>
              <a:rPr lang="en-US" dirty="0"/>
              <a:t>in [outcome] with a </a:t>
            </a:r>
            <a:r>
              <a:rPr lang="en-US" dirty="0">
                <a:solidFill>
                  <a:srgbClr val="FF0000"/>
                </a:solidFill>
              </a:rPr>
              <a:t>statistical significance of [s%]</a:t>
            </a:r>
          </a:p>
          <a:p>
            <a:pPr marL="762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632</Words>
  <Application>Microsoft Macintosh PowerPoint</Application>
  <PresentationFormat>Widescreen</PresentationFormat>
  <Paragraphs>212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Century Gothic</vt:lpstr>
      <vt:lpstr>Simple Light</vt:lpstr>
      <vt:lpstr>PowerPoint Presentation</vt:lpstr>
      <vt:lpstr>Reminders</vt:lpstr>
      <vt:lpstr>PowerPoint Presentation</vt:lpstr>
      <vt:lpstr>Things to cover today</vt:lpstr>
      <vt:lpstr>What is the purpose of doing field validation?</vt:lpstr>
      <vt:lpstr>Field Validation: Beyond A/B Testing</vt:lpstr>
      <vt:lpstr>CASE STUDY: Mental Health and Incarceration</vt:lpstr>
      <vt:lpstr>CASE STUDY: Mental Health and Incarceration</vt:lpstr>
      <vt:lpstr>CASE STUDY: Mental Health and Incarceration</vt:lpstr>
      <vt:lpstr>CASE STUDY: Mental Health and Incarceration</vt:lpstr>
      <vt:lpstr>PowerPoint Presentation</vt:lpstr>
      <vt:lpstr>Q1: Is the Model Predictive?</vt:lpstr>
      <vt:lpstr>Q2: Does Model+Intervention Affect Outcomes? For Whom?</vt:lpstr>
      <vt:lpstr>Causal inference with experiments</vt:lpstr>
      <vt:lpstr>Some things to keep in mind</vt:lpstr>
      <vt:lpstr>Designing Trials to Validate ML Systems</vt:lpstr>
      <vt:lpstr>Designing an experiment</vt:lpstr>
      <vt:lpstr>What are we testing in an experiment?</vt:lpstr>
      <vt:lpstr>How many [students, inspections, projects] should we include in our trial?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14</cp:revision>
  <dcterms:created xsi:type="dcterms:W3CDTF">2020-01-14T19:43:43Z</dcterms:created>
  <dcterms:modified xsi:type="dcterms:W3CDTF">2025-10-31T14:15:01Z</dcterms:modified>
</cp:coreProperties>
</file>