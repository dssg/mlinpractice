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52"/>
  </p:notesMasterIdLst>
  <p:sldIdLst>
    <p:sldId id="256" r:id="rId3"/>
    <p:sldId id="486" r:id="rId4"/>
    <p:sldId id="492" r:id="rId5"/>
    <p:sldId id="557" r:id="rId6"/>
    <p:sldId id="323" r:id="rId7"/>
    <p:sldId id="286" r:id="rId8"/>
    <p:sldId id="472" r:id="rId9"/>
    <p:sldId id="287" r:id="rId10"/>
    <p:sldId id="478" r:id="rId11"/>
    <p:sldId id="558" r:id="rId12"/>
    <p:sldId id="468" r:id="rId13"/>
    <p:sldId id="473" r:id="rId14"/>
    <p:sldId id="288" r:id="rId15"/>
    <p:sldId id="474" r:id="rId16"/>
    <p:sldId id="555" r:id="rId17"/>
    <p:sldId id="297" r:id="rId18"/>
    <p:sldId id="479" r:id="rId19"/>
    <p:sldId id="480" r:id="rId20"/>
    <p:sldId id="481" r:id="rId21"/>
    <p:sldId id="482" r:id="rId22"/>
    <p:sldId id="493" r:id="rId23"/>
    <p:sldId id="544" r:id="rId24"/>
    <p:sldId id="546" r:id="rId25"/>
    <p:sldId id="547" r:id="rId26"/>
    <p:sldId id="545" r:id="rId27"/>
    <p:sldId id="548" r:id="rId28"/>
    <p:sldId id="549" r:id="rId29"/>
    <p:sldId id="494" r:id="rId30"/>
    <p:sldId id="495" r:id="rId31"/>
    <p:sldId id="496" r:id="rId32"/>
    <p:sldId id="483" r:id="rId33"/>
    <p:sldId id="489" r:id="rId34"/>
    <p:sldId id="487" r:id="rId35"/>
    <p:sldId id="556" r:id="rId36"/>
    <p:sldId id="488" r:id="rId37"/>
    <p:sldId id="289" r:id="rId38"/>
    <p:sldId id="290" r:id="rId39"/>
    <p:sldId id="291" r:id="rId40"/>
    <p:sldId id="292" r:id="rId41"/>
    <p:sldId id="293" r:id="rId42"/>
    <p:sldId id="469" r:id="rId43"/>
    <p:sldId id="470" r:id="rId44"/>
    <p:sldId id="296" r:id="rId45"/>
    <p:sldId id="454" r:id="rId46"/>
    <p:sldId id="550" r:id="rId47"/>
    <p:sldId id="533" r:id="rId48"/>
    <p:sldId id="543" r:id="rId49"/>
    <p:sldId id="554" r:id="rId50"/>
    <p:sldId id="531" r:id="rId51"/>
  </p:sldIdLst>
  <p:sldSz cx="12192000" cy="6858000"/>
  <p:notesSz cx="6858000" cy="9144000"/>
  <p:custDataLst>
    <p:tags r:id="rId53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C122D811-96CB-9F49-A8AB-CD2D1B40ED98}">
          <p14:sldIdLst>
            <p14:sldId id="256"/>
            <p14:sldId id="486"/>
            <p14:sldId id="492"/>
            <p14:sldId id="557"/>
            <p14:sldId id="323"/>
            <p14:sldId id="286"/>
            <p14:sldId id="472"/>
            <p14:sldId id="287"/>
            <p14:sldId id="478"/>
            <p14:sldId id="558"/>
            <p14:sldId id="468"/>
            <p14:sldId id="473"/>
            <p14:sldId id="288"/>
            <p14:sldId id="474"/>
            <p14:sldId id="555"/>
            <p14:sldId id="297"/>
            <p14:sldId id="479"/>
            <p14:sldId id="480"/>
            <p14:sldId id="481"/>
            <p14:sldId id="482"/>
            <p14:sldId id="493"/>
            <p14:sldId id="544"/>
            <p14:sldId id="546"/>
            <p14:sldId id="547"/>
            <p14:sldId id="545"/>
            <p14:sldId id="548"/>
            <p14:sldId id="549"/>
            <p14:sldId id="494"/>
            <p14:sldId id="495"/>
            <p14:sldId id="496"/>
            <p14:sldId id="483"/>
            <p14:sldId id="489"/>
            <p14:sldId id="487"/>
          </p14:sldIdLst>
        </p14:section>
        <p14:section name="extra slides" id="{D89B9D84-8AED-794E-B826-66350CFCD900}">
          <p14:sldIdLst>
            <p14:sldId id="556"/>
            <p14:sldId id="488"/>
            <p14:sldId id="289"/>
            <p14:sldId id="290"/>
            <p14:sldId id="291"/>
            <p14:sldId id="292"/>
            <p14:sldId id="293"/>
            <p14:sldId id="469"/>
            <p14:sldId id="470"/>
            <p14:sldId id="296"/>
            <p14:sldId id="454"/>
            <p14:sldId id="550"/>
            <p14:sldId id="533"/>
            <p14:sldId id="543"/>
            <p14:sldId id="554"/>
            <p14:sldId id="531"/>
          </p14:sldIdLst>
        </p14:section>
      </p14:sectionLst>
    </p:ex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8" roundtripDataSignature="AMtx7mjFyVUGRZWio+dc9dxzYsimUxNJ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64"/>
    <p:restoredTop sz="93173"/>
  </p:normalViewPr>
  <p:slideViewPr>
    <p:cSldViewPr snapToGrid="0" snapToObjects="1">
      <p:cViewPr varScale="1">
        <p:scale>
          <a:sx n="93" d="100"/>
          <a:sy n="93" d="100"/>
        </p:scale>
        <p:origin x="248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68" Type="http://customschemas.google.com/relationships/presentationmetadata" Target="metadata"/><Relationship Id="rId7" Type="http://schemas.openxmlformats.org/officeDocument/2006/relationships/slide" Target="slides/slide5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ags" Target="tags/tag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9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3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FB0F4E-6967-3B44-A32F-E8B1C7AE98D5}" type="doc">
      <dgm:prSet loTypeId="urn:microsoft.com/office/officeart/2005/8/layout/process5" loCatId="" qsTypeId="urn:microsoft.com/office/officeart/2005/8/quickstyle/simple1#3" qsCatId="simple" csTypeId="urn:microsoft.com/office/officeart/2005/8/colors/colorful1#3" csCatId="colorful" phldr="1"/>
      <dgm:spPr/>
      <dgm:t>
        <a:bodyPr/>
        <a:lstStyle/>
        <a:p>
          <a:endParaRPr lang="en-US"/>
        </a:p>
      </dgm:t>
    </dgm:pt>
    <dgm:pt modelId="{75350DEC-25F7-F240-A4BF-3A92E80C52F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Scope</a:t>
          </a:r>
        </a:p>
      </dgm:t>
    </dgm:pt>
    <dgm:pt modelId="{965794C1-5767-E94D-8105-ED104B4D33E2}" type="parTrans" cxnId="{81D07A23-EA35-C94F-81FA-E72150079877}">
      <dgm:prSet/>
      <dgm:spPr/>
      <dgm:t>
        <a:bodyPr/>
        <a:lstStyle/>
        <a:p>
          <a:endParaRPr lang="en-US"/>
        </a:p>
      </dgm:t>
    </dgm:pt>
    <dgm:pt modelId="{BAC284C6-3986-1C48-93AC-8FEBC662ECEE}" type="sibTrans" cxnId="{81D07A23-EA35-C94F-81FA-E72150079877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4F2509E8-87E6-2347-B926-EB9BDDECA6FD}">
      <dgm:prSet phldrT="[Text]"/>
      <dgm:spPr/>
      <dgm:t>
        <a:bodyPr/>
        <a:lstStyle/>
        <a:p>
          <a:r>
            <a:rPr lang="en-US" dirty="0"/>
            <a:t>Data</a:t>
          </a:r>
        </a:p>
      </dgm:t>
    </dgm:pt>
    <dgm:pt modelId="{B4B1EEE1-8225-A643-B681-A7F3FC14ECAD}" type="parTrans" cxnId="{9BF83777-08E0-6140-9D35-BF7D8AF8A067}">
      <dgm:prSet/>
      <dgm:spPr/>
      <dgm:t>
        <a:bodyPr/>
        <a:lstStyle/>
        <a:p>
          <a:endParaRPr lang="en-US"/>
        </a:p>
      </dgm:t>
    </dgm:pt>
    <dgm:pt modelId="{748D4455-259E-4245-ADD2-8DDAC2A60773}" type="sibTrans" cxnId="{9BF83777-08E0-6140-9D35-BF7D8AF8A067}">
      <dgm:prSet/>
      <dgm:spPr/>
      <dgm:t>
        <a:bodyPr/>
        <a:lstStyle/>
        <a:p>
          <a:endParaRPr lang="en-US"/>
        </a:p>
      </dgm:t>
    </dgm:pt>
    <dgm:pt modelId="{7B079A50-DF5E-0A4C-9491-2FBAFC0F785B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Exploration</a:t>
          </a:r>
        </a:p>
      </dgm:t>
    </dgm:pt>
    <dgm:pt modelId="{BA902E5D-518F-0749-86BA-04AA510BA959}" type="parTrans" cxnId="{A454DBA0-21A9-3941-9DF2-4DD870F537A3}">
      <dgm:prSet/>
      <dgm:spPr/>
      <dgm:t>
        <a:bodyPr/>
        <a:lstStyle/>
        <a:p>
          <a:endParaRPr lang="en-US"/>
        </a:p>
      </dgm:t>
    </dgm:pt>
    <dgm:pt modelId="{00735B98-C924-5743-B429-DBBBDEA50165}" type="sibTrans" cxnId="{A454DBA0-21A9-3941-9DF2-4DD870F537A3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EB4866D8-1266-8945-89C4-F4CD4F9D8A6F}">
      <dgm:prSet phldrT="[Text]"/>
      <dgm:spPr/>
      <dgm:t>
        <a:bodyPr/>
        <a:lstStyle/>
        <a:p>
          <a:r>
            <a:rPr lang="en-US" dirty="0"/>
            <a:t>Modeling</a:t>
          </a:r>
        </a:p>
      </dgm:t>
    </dgm:pt>
    <dgm:pt modelId="{4276625C-E1F0-F840-90D6-CE76DDBB799C}" type="parTrans" cxnId="{A1CEA2E5-F1DD-EF48-A85B-4A04D4565509}">
      <dgm:prSet/>
      <dgm:spPr/>
      <dgm:t>
        <a:bodyPr/>
        <a:lstStyle/>
        <a:p>
          <a:endParaRPr lang="en-US"/>
        </a:p>
      </dgm:t>
    </dgm:pt>
    <dgm:pt modelId="{206E47A8-99B6-484A-AD35-04DCB9238B9B}" type="sibTrans" cxnId="{A1CEA2E5-F1DD-EF48-A85B-4A04D4565509}">
      <dgm:prSet/>
      <dgm:spPr/>
      <dgm:t>
        <a:bodyPr/>
        <a:lstStyle/>
        <a:p>
          <a:endParaRPr lang="en-US"/>
        </a:p>
      </dgm:t>
    </dgm:pt>
    <dgm:pt modelId="{F9BD6EF9-8382-F144-B9CD-FB838C6C03F9}">
      <dgm:prSet phldrT="[Text]"/>
      <dgm:spPr/>
      <dgm:t>
        <a:bodyPr/>
        <a:lstStyle/>
        <a:p>
          <a:r>
            <a:rPr lang="en-US" dirty="0"/>
            <a:t>Get Data</a:t>
          </a:r>
        </a:p>
      </dgm:t>
    </dgm:pt>
    <dgm:pt modelId="{137D12B5-70FE-6847-BD89-CA99FC0D41AD}" type="parTrans" cxnId="{890194DD-304B-C447-9AF3-AFAE634C6D43}">
      <dgm:prSet/>
      <dgm:spPr/>
      <dgm:t>
        <a:bodyPr/>
        <a:lstStyle/>
        <a:p>
          <a:endParaRPr lang="en-US"/>
        </a:p>
      </dgm:t>
    </dgm:pt>
    <dgm:pt modelId="{49EC0DFE-61E7-374D-A1BD-7617E9E9166B}" type="sibTrans" cxnId="{890194DD-304B-C447-9AF3-AFAE634C6D43}">
      <dgm:prSet/>
      <dgm:spPr/>
      <dgm:t>
        <a:bodyPr/>
        <a:lstStyle/>
        <a:p>
          <a:endParaRPr lang="en-US"/>
        </a:p>
      </dgm:t>
    </dgm:pt>
    <dgm:pt modelId="{C8AF58C4-450C-0C4C-83CB-1474D3ADA25F}">
      <dgm:prSet phldrT="[Text]"/>
      <dgm:spPr/>
      <dgm:t>
        <a:bodyPr/>
        <a:lstStyle/>
        <a:p>
          <a:r>
            <a:rPr lang="en-US" dirty="0"/>
            <a:t>Store Data</a:t>
          </a:r>
        </a:p>
      </dgm:t>
    </dgm:pt>
    <dgm:pt modelId="{DEBC2A1C-65D7-5E43-945C-60BBA4631011}" type="parTrans" cxnId="{43B9E771-FA74-B642-9EED-7FE4A7CDF11A}">
      <dgm:prSet/>
      <dgm:spPr/>
      <dgm:t>
        <a:bodyPr/>
        <a:lstStyle/>
        <a:p>
          <a:endParaRPr lang="en-US"/>
        </a:p>
      </dgm:t>
    </dgm:pt>
    <dgm:pt modelId="{51773514-44C5-134E-A69D-D30DCA75AB37}" type="sibTrans" cxnId="{43B9E771-FA74-B642-9EED-7FE4A7CDF11A}">
      <dgm:prSet/>
      <dgm:spPr/>
      <dgm:t>
        <a:bodyPr/>
        <a:lstStyle/>
        <a:p>
          <a:endParaRPr lang="en-US"/>
        </a:p>
      </dgm:t>
    </dgm:pt>
    <dgm:pt modelId="{761579F4-10DF-F244-9532-25DEF4807D83}">
      <dgm:prSet phldrT="[Text]"/>
      <dgm:spPr/>
      <dgm:t>
        <a:bodyPr/>
        <a:lstStyle/>
        <a:p>
          <a:r>
            <a:rPr lang="en-US" dirty="0"/>
            <a:t>Link Data</a:t>
          </a:r>
        </a:p>
      </dgm:t>
    </dgm:pt>
    <dgm:pt modelId="{4C55FAFB-140B-EA49-9492-2DC8E373D8C0}" type="parTrans" cxnId="{445B7ADC-F7C5-5046-9BEE-3618E0EEE919}">
      <dgm:prSet/>
      <dgm:spPr/>
      <dgm:t>
        <a:bodyPr/>
        <a:lstStyle/>
        <a:p>
          <a:endParaRPr lang="en-US"/>
        </a:p>
      </dgm:t>
    </dgm:pt>
    <dgm:pt modelId="{3543ED0F-366F-8D44-8E9F-A843D81464D5}" type="sibTrans" cxnId="{445B7ADC-F7C5-5046-9BEE-3618E0EEE919}">
      <dgm:prSet/>
      <dgm:spPr/>
      <dgm:t>
        <a:bodyPr/>
        <a:lstStyle/>
        <a:p>
          <a:endParaRPr lang="en-US"/>
        </a:p>
      </dgm:t>
    </dgm:pt>
    <dgm:pt modelId="{5FE83F24-F694-6A4B-99C0-78300CB546E1}">
      <dgm:prSet phldrT="[Text]"/>
      <dgm:spPr/>
      <dgm:t>
        <a:bodyPr/>
        <a:lstStyle/>
        <a:p>
          <a:r>
            <a:rPr lang="en-US" dirty="0"/>
            <a:t>Rows</a:t>
          </a:r>
        </a:p>
      </dgm:t>
    </dgm:pt>
    <dgm:pt modelId="{E15C2973-AC33-0145-8745-682DFB76DED0}" type="parTrans" cxnId="{ED970163-ECEE-D849-9B40-616074ECBD3F}">
      <dgm:prSet/>
      <dgm:spPr/>
      <dgm:t>
        <a:bodyPr/>
        <a:lstStyle/>
        <a:p>
          <a:endParaRPr lang="en-US"/>
        </a:p>
      </dgm:t>
    </dgm:pt>
    <dgm:pt modelId="{A1EBC4F8-774A-B045-880A-03E7D798D46B}" type="sibTrans" cxnId="{ED970163-ECEE-D849-9B40-616074ECBD3F}">
      <dgm:prSet/>
      <dgm:spPr/>
      <dgm:t>
        <a:bodyPr/>
        <a:lstStyle/>
        <a:p>
          <a:endParaRPr lang="en-US"/>
        </a:p>
      </dgm:t>
    </dgm:pt>
    <dgm:pt modelId="{471C43CE-832D-774D-BB7A-57512EFB5879}">
      <dgm:prSet phldrT="[Text]"/>
      <dgm:spPr/>
      <dgm:t>
        <a:bodyPr/>
        <a:lstStyle/>
        <a:p>
          <a:r>
            <a:rPr lang="en-US" dirty="0"/>
            <a:t>Features</a:t>
          </a:r>
        </a:p>
      </dgm:t>
    </dgm:pt>
    <dgm:pt modelId="{C2B9F4EE-A410-1B4C-9D53-DB22DB03D31F}" type="parTrans" cxnId="{E7042CE6-A233-CB47-A6F5-D0D71F329C45}">
      <dgm:prSet/>
      <dgm:spPr/>
      <dgm:t>
        <a:bodyPr/>
        <a:lstStyle/>
        <a:p>
          <a:endParaRPr lang="en-US"/>
        </a:p>
      </dgm:t>
    </dgm:pt>
    <dgm:pt modelId="{DE50C641-CD08-A846-B7EB-02241BA70688}" type="sibTrans" cxnId="{E7042CE6-A233-CB47-A6F5-D0D71F329C45}">
      <dgm:prSet/>
      <dgm:spPr/>
      <dgm:t>
        <a:bodyPr/>
        <a:lstStyle/>
        <a:p>
          <a:endParaRPr lang="en-US"/>
        </a:p>
      </dgm:t>
    </dgm:pt>
    <dgm:pt modelId="{6E882DEC-3034-E942-B5AA-2835D77DD5C8}">
      <dgm:prSet phldrT="[Text]"/>
      <dgm:spPr/>
      <dgm:t>
        <a:bodyPr/>
        <a:lstStyle/>
        <a:p>
          <a:r>
            <a:rPr lang="en-US" dirty="0"/>
            <a:t>Labels</a:t>
          </a:r>
        </a:p>
      </dgm:t>
    </dgm:pt>
    <dgm:pt modelId="{11E32BAA-4A06-9844-B381-3F8D7D686934}" type="parTrans" cxnId="{9A8098B2-9CE9-D942-9547-38EF361DD3D4}">
      <dgm:prSet/>
      <dgm:spPr/>
      <dgm:t>
        <a:bodyPr/>
        <a:lstStyle/>
        <a:p>
          <a:endParaRPr lang="en-US"/>
        </a:p>
      </dgm:t>
    </dgm:pt>
    <dgm:pt modelId="{DE8B183B-7E7F-5749-9A67-A6C365A09A85}" type="sibTrans" cxnId="{9A8098B2-9CE9-D942-9547-38EF361DD3D4}">
      <dgm:prSet/>
      <dgm:spPr/>
      <dgm:t>
        <a:bodyPr/>
        <a:lstStyle/>
        <a:p>
          <a:endParaRPr lang="en-US"/>
        </a:p>
      </dgm:t>
    </dgm:pt>
    <dgm:pt modelId="{AE199458-77CF-8440-8970-F024006EA226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Model Selection</a:t>
          </a:r>
        </a:p>
      </dgm:t>
    </dgm:pt>
    <dgm:pt modelId="{8FD87771-F4E1-DC47-B38A-8EDD08A5C725}" type="parTrans" cxnId="{8497B9D0-5691-E848-8EE3-C51BC656F8B1}">
      <dgm:prSet/>
      <dgm:spPr/>
      <dgm:t>
        <a:bodyPr/>
        <a:lstStyle/>
        <a:p>
          <a:endParaRPr lang="en-US"/>
        </a:p>
      </dgm:t>
    </dgm:pt>
    <dgm:pt modelId="{89DBDFDC-5EB5-0B49-A8D0-DB22ECB982AF}" type="sibTrans" cxnId="{8497B9D0-5691-E848-8EE3-C51BC656F8B1}">
      <dgm:prSet/>
      <dgm:spPr>
        <a:solidFill>
          <a:srgbClr val="00B0F0"/>
        </a:solidFill>
      </dgm:spPr>
      <dgm:t>
        <a:bodyPr/>
        <a:lstStyle/>
        <a:p>
          <a:endParaRPr lang="en-US"/>
        </a:p>
      </dgm:t>
    </dgm:pt>
    <dgm:pt modelId="{86AA592B-D489-5D4D-93FE-79A538493DA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Train-Test Splits</a:t>
          </a:r>
        </a:p>
      </dgm:t>
    </dgm:pt>
    <dgm:pt modelId="{06E1BE15-F8C7-9C4D-A90E-557728BBB1D3}" type="parTrans" cxnId="{09F5B15E-E1AD-2E4A-AFF2-C91E75C311A9}">
      <dgm:prSet/>
      <dgm:spPr/>
      <dgm:t>
        <a:bodyPr/>
        <a:lstStyle/>
        <a:p>
          <a:endParaRPr lang="en-US"/>
        </a:p>
      </dgm:t>
    </dgm:pt>
    <dgm:pt modelId="{9EB8E24C-CDF4-7B49-8A25-38E38E64AA9F}" type="sibTrans" cxnId="{09F5B15E-E1AD-2E4A-AFF2-C91E75C311A9}">
      <dgm:prSet/>
      <dgm:spPr/>
      <dgm:t>
        <a:bodyPr/>
        <a:lstStyle/>
        <a:p>
          <a:endParaRPr lang="en-US"/>
        </a:p>
      </dgm:t>
    </dgm:pt>
    <dgm:pt modelId="{69F25C00-F7E1-8B47-8544-B81240B6C7F2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Performance Metrics</a:t>
          </a:r>
        </a:p>
      </dgm:t>
    </dgm:pt>
    <dgm:pt modelId="{258EB4FC-8DB3-204B-AE19-757E57DBF8E2}" type="parTrans" cxnId="{FC1AC939-5A01-D84B-8800-0E045D0F93C8}">
      <dgm:prSet/>
      <dgm:spPr/>
      <dgm:t>
        <a:bodyPr/>
        <a:lstStyle/>
        <a:p>
          <a:endParaRPr lang="en-US"/>
        </a:p>
      </dgm:t>
    </dgm:pt>
    <dgm:pt modelId="{2C4AF3F2-4BEF-1E41-A9DC-C2CCA7D68218}" type="sibTrans" cxnId="{FC1AC939-5A01-D84B-8800-0E045D0F93C8}">
      <dgm:prSet/>
      <dgm:spPr/>
      <dgm:t>
        <a:bodyPr/>
        <a:lstStyle/>
        <a:p>
          <a:endParaRPr lang="en-US"/>
        </a:p>
      </dgm:t>
    </dgm:pt>
    <dgm:pt modelId="{882FED25-8C48-F941-A0FE-6B2DFF5CD464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Model Interpretation</a:t>
          </a:r>
        </a:p>
      </dgm:t>
    </dgm:pt>
    <dgm:pt modelId="{B419AD8C-EBD7-5443-9C93-E4B849DE07B6}" type="parTrans" cxnId="{467F9BED-D392-3940-B061-1699282DB62A}">
      <dgm:prSet/>
      <dgm:spPr/>
      <dgm:t>
        <a:bodyPr/>
        <a:lstStyle/>
        <a:p>
          <a:endParaRPr lang="en-US"/>
        </a:p>
      </dgm:t>
    </dgm:pt>
    <dgm:pt modelId="{030A6B87-CA32-C340-A552-365F7A05C57F}" type="sibTrans" cxnId="{467F9BED-D392-3940-B061-1699282DB62A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60FEA49A-52E5-FB49-B9D7-919B8E8D64F4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Entities</a:t>
          </a:r>
        </a:p>
      </dgm:t>
    </dgm:pt>
    <dgm:pt modelId="{7E8F7D45-586B-A641-B509-72E0E3DB9800}" type="parTrans" cxnId="{B650C331-3E4A-9142-9766-ADC1499BB1FB}">
      <dgm:prSet/>
      <dgm:spPr/>
      <dgm:t>
        <a:bodyPr/>
        <a:lstStyle/>
        <a:p>
          <a:endParaRPr lang="en-US"/>
        </a:p>
      </dgm:t>
    </dgm:pt>
    <dgm:pt modelId="{E893C522-81CE-8546-BA58-AAD1F1CCD417}" type="sibTrans" cxnId="{B650C331-3E4A-9142-9766-ADC1499BB1FB}">
      <dgm:prSet/>
      <dgm:spPr/>
      <dgm:t>
        <a:bodyPr/>
        <a:lstStyle/>
        <a:p>
          <a:endParaRPr lang="en-US"/>
        </a:p>
      </dgm:t>
    </dgm:pt>
    <dgm:pt modelId="{8933D80B-03CB-154C-805F-13221DB1B82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temporal</a:t>
          </a:r>
        </a:p>
      </dgm:t>
    </dgm:pt>
    <dgm:pt modelId="{05F6BE08-6836-6D4D-951F-A258F2E08662}" type="parTrans" cxnId="{01877F06-0601-234E-B04A-2AADE4C2D154}">
      <dgm:prSet/>
      <dgm:spPr/>
      <dgm:t>
        <a:bodyPr/>
        <a:lstStyle/>
        <a:p>
          <a:endParaRPr lang="en-US"/>
        </a:p>
      </dgm:t>
    </dgm:pt>
    <dgm:pt modelId="{59F6EB62-364A-E44D-A61C-CEA12AA8589C}" type="sibTrans" cxnId="{01877F06-0601-234E-B04A-2AADE4C2D154}">
      <dgm:prSet/>
      <dgm:spPr/>
      <dgm:t>
        <a:bodyPr/>
        <a:lstStyle/>
        <a:p>
          <a:endParaRPr lang="en-US"/>
        </a:p>
      </dgm:t>
    </dgm:pt>
    <dgm:pt modelId="{B1557D1B-A1F8-FC4B-B50D-EA46AEAC83E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Spatial</a:t>
          </a:r>
        </a:p>
      </dgm:t>
    </dgm:pt>
    <dgm:pt modelId="{301BEF8E-62FD-F942-ABEC-722E78A30EAC}" type="parTrans" cxnId="{0D418D49-B127-3C44-AF37-A060A5F8F42E}">
      <dgm:prSet/>
      <dgm:spPr/>
      <dgm:t>
        <a:bodyPr/>
        <a:lstStyle/>
        <a:p>
          <a:endParaRPr lang="en-US"/>
        </a:p>
      </dgm:t>
    </dgm:pt>
    <dgm:pt modelId="{76EC83BA-130D-EA44-8EE3-6264D4A2F0C7}" type="sibTrans" cxnId="{0D418D49-B127-3C44-AF37-A060A5F8F42E}">
      <dgm:prSet/>
      <dgm:spPr/>
      <dgm:t>
        <a:bodyPr/>
        <a:lstStyle/>
        <a:p>
          <a:endParaRPr lang="en-US"/>
        </a:p>
      </dgm:t>
    </dgm:pt>
    <dgm:pt modelId="{DDAC47D6-F859-4340-B28C-6D49EE097740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…</a:t>
          </a:r>
        </a:p>
      </dgm:t>
    </dgm:pt>
    <dgm:pt modelId="{5B556703-BE01-8848-BE27-5969CF3D2B5D}" type="parTrans" cxnId="{B5AA2D8B-61D5-DB43-8D06-4875A7EB0CBD}">
      <dgm:prSet/>
      <dgm:spPr/>
      <dgm:t>
        <a:bodyPr/>
        <a:lstStyle/>
        <a:p>
          <a:endParaRPr lang="en-US"/>
        </a:p>
      </dgm:t>
    </dgm:pt>
    <dgm:pt modelId="{0A2D5029-F7E5-6C47-9CF0-D5505B2F8FFB}" type="sibTrans" cxnId="{B5AA2D8B-61D5-DB43-8D06-4875A7EB0CBD}">
      <dgm:prSet/>
      <dgm:spPr/>
      <dgm:t>
        <a:bodyPr/>
        <a:lstStyle/>
        <a:p>
          <a:endParaRPr lang="en-US"/>
        </a:p>
      </dgm:t>
    </dgm:pt>
    <dgm:pt modelId="{4861F807-1580-8C4F-9C33-66D2EDE9ABAD}">
      <dgm:prSet phldrT="[Text]"/>
      <dgm:spPr/>
      <dgm:t>
        <a:bodyPr/>
        <a:lstStyle/>
        <a:p>
          <a:r>
            <a:rPr lang="en-US" dirty="0"/>
            <a:t>Models</a:t>
          </a:r>
        </a:p>
      </dgm:t>
    </dgm:pt>
    <dgm:pt modelId="{8CC078C6-7EFD-9A46-B445-021F345DCF5A}" type="parTrans" cxnId="{881C745A-6BF5-1846-9762-D162446F8EE8}">
      <dgm:prSet/>
      <dgm:spPr/>
      <dgm:t>
        <a:bodyPr/>
        <a:lstStyle/>
        <a:p>
          <a:endParaRPr lang="en-US"/>
        </a:p>
      </dgm:t>
    </dgm:pt>
    <dgm:pt modelId="{5D77E747-1467-6249-A64A-E8E192C48D64}" type="sibTrans" cxnId="{881C745A-6BF5-1846-9762-D162446F8EE8}">
      <dgm:prSet/>
      <dgm:spPr/>
      <dgm:t>
        <a:bodyPr/>
        <a:lstStyle/>
        <a:p>
          <a:endParaRPr lang="en-US"/>
        </a:p>
      </dgm:t>
    </dgm:pt>
    <dgm:pt modelId="{917501D8-12A6-0D43-82EB-9B8BF9A095D6}">
      <dgm:prSet phldrT="[Text]"/>
      <dgm:spPr/>
      <dgm:t>
        <a:bodyPr/>
        <a:lstStyle/>
        <a:p>
          <a:r>
            <a:rPr lang="en-US" dirty="0"/>
            <a:t>Dealing with Bias and Fairness</a:t>
          </a:r>
        </a:p>
      </dgm:t>
    </dgm:pt>
    <dgm:pt modelId="{2189082E-6C82-944A-BE92-D9BC72270382}" type="parTrans" cxnId="{0E3C2485-CAF8-434B-89F0-893517E042E7}">
      <dgm:prSet/>
      <dgm:spPr/>
      <dgm:t>
        <a:bodyPr/>
        <a:lstStyle/>
        <a:p>
          <a:endParaRPr lang="en-US"/>
        </a:p>
      </dgm:t>
    </dgm:pt>
    <dgm:pt modelId="{04D5671A-AE7F-BD4E-9B86-A6A6425F59A8}" type="sibTrans" cxnId="{0E3C2485-CAF8-434B-89F0-893517E042E7}">
      <dgm:prSet/>
      <dgm:spPr/>
      <dgm:t>
        <a:bodyPr/>
        <a:lstStyle/>
        <a:p>
          <a:endParaRPr lang="en-US"/>
        </a:p>
      </dgm:t>
    </dgm:pt>
    <dgm:pt modelId="{1F12B085-E167-9940-8DCF-A46224752E8F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Field Trial Design</a:t>
          </a:r>
        </a:p>
      </dgm:t>
    </dgm:pt>
    <dgm:pt modelId="{7A893FC9-C7B2-A646-8934-DEE2F8F265BA}" type="parTrans" cxnId="{87E2372F-44B8-7346-94AD-1B6CD49001EC}">
      <dgm:prSet/>
      <dgm:spPr/>
      <dgm:t>
        <a:bodyPr/>
        <a:lstStyle/>
        <a:p>
          <a:endParaRPr lang="en-US"/>
        </a:p>
      </dgm:t>
    </dgm:pt>
    <dgm:pt modelId="{59E7433E-EA1A-A445-8F72-1DCCEC9CF854}" type="sibTrans" cxnId="{87E2372F-44B8-7346-94AD-1B6CD49001EC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4300FFA5-0FE1-0644-9B26-EF0EC29D2E58}">
      <dgm:prSet phldrT="[Text]"/>
      <dgm:spPr/>
      <dgm:t>
        <a:bodyPr/>
        <a:lstStyle/>
        <a:p>
          <a:r>
            <a:rPr lang="en-US" dirty="0"/>
            <a:t>Deployment</a:t>
          </a:r>
        </a:p>
      </dgm:t>
    </dgm:pt>
    <dgm:pt modelId="{CD73BF7D-329F-4F42-9B2D-1C22A52FFC9D}" type="parTrans" cxnId="{E9A0EB78-92A5-5E4E-8437-0C6B9359762F}">
      <dgm:prSet/>
      <dgm:spPr/>
      <dgm:t>
        <a:bodyPr/>
        <a:lstStyle/>
        <a:p>
          <a:endParaRPr lang="en-US"/>
        </a:p>
      </dgm:t>
    </dgm:pt>
    <dgm:pt modelId="{2C4637A3-9257-AA41-A5B8-B87451C5F477}" type="sibTrans" cxnId="{E9A0EB78-92A5-5E4E-8437-0C6B9359762F}">
      <dgm:prSet/>
      <dgm:spPr/>
      <dgm:t>
        <a:bodyPr/>
        <a:lstStyle/>
        <a:p>
          <a:endParaRPr lang="en-US"/>
        </a:p>
      </dgm:t>
    </dgm:pt>
    <dgm:pt modelId="{B86E1618-0E2D-E84D-BCEB-2453703211F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Monitoring</a:t>
          </a:r>
        </a:p>
      </dgm:t>
    </dgm:pt>
    <dgm:pt modelId="{4EFD42D0-7098-564F-980C-3F3CECAA5410}" type="parTrans" cxnId="{BE324233-F9AC-DC43-A89C-3F7FD9B5D466}">
      <dgm:prSet/>
      <dgm:spPr/>
      <dgm:t>
        <a:bodyPr/>
        <a:lstStyle/>
        <a:p>
          <a:endParaRPr lang="en-US"/>
        </a:p>
      </dgm:t>
    </dgm:pt>
    <dgm:pt modelId="{877FBD8C-7A3B-5E45-8830-1FEAB09A55C5}" type="sibTrans" cxnId="{BE324233-F9AC-DC43-A89C-3F7FD9B5D466}">
      <dgm:prSet/>
      <dgm:spPr/>
      <dgm:t>
        <a:bodyPr/>
        <a:lstStyle/>
        <a:p>
          <a:endParaRPr lang="en-US"/>
        </a:p>
      </dgm:t>
    </dgm:pt>
    <dgm:pt modelId="{63B03111-9832-1646-BDF4-5D9B749EF79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Goals, Actions, Data, Analysis, Ethics</a:t>
          </a:r>
        </a:p>
      </dgm:t>
    </dgm:pt>
    <dgm:pt modelId="{1C812E3F-39E1-CF47-BBBD-159FAEC5C786}" type="parTrans" cxnId="{9F4BBA63-304C-604B-A391-58E4720B5BE5}">
      <dgm:prSet/>
      <dgm:spPr/>
      <dgm:t>
        <a:bodyPr/>
        <a:lstStyle/>
        <a:p>
          <a:endParaRPr lang="en-US"/>
        </a:p>
      </dgm:t>
    </dgm:pt>
    <dgm:pt modelId="{702B8123-1BB3-E349-AB4A-1A9D41698317}" type="sibTrans" cxnId="{9F4BBA63-304C-604B-A391-58E4720B5BE5}">
      <dgm:prSet/>
      <dgm:spPr/>
      <dgm:t>
        <a:bodyPr/>
        <a:lstStyle/>
        <a:p>
          <a:endParaRPr lang="en-US"/>
        </a:p>
      </dgm:t>
    </dgm:pt>
    <dgm:pt modelId="{CBF254FA-D4E0-B74E-A18D-AE53AEBD67CD}" type="pres">
      <dgm:prSet presAssocID="{E9FB0F4E-6967-3B44-A32F-E8B1C7AE98D5}" presName="diagram" presStyleCnt="0">
        <dgm:presLayoutVars>
          <dgm:dir/>
          <dgm:resizeHandles val="exact"/>
        </dgm:presLayoutVars>
      </dgm:prSet>
      <dgm:spPr/>
    </dgm:pt>
    <dgm:pt modelId="{B4D5E3D8-47D8-1A4C-9387-6DE60324DF6F}" type="pres">
      <dgm:prSet presAssocID="{75350DEC-25F7-F240-A4BF-3A92E80C52F5}" presName="node" presStyleLbl="node1" presStyleIdx="0" presStyleCnt="10">
        <dgm:presLayoutVars>
          <dgm:bulletEnabled val="1"/>
        </dgm:presLayoutVars>
      </dgm:prSet>
      <dgm:spPr/>
    </dgm:pt>
    <dgm:pt modelId="{A58869D2-B78E-DD40-ACB3-9F052F33CBCE}" type="pres">
      <dgm:prSet presAssocID="{BAC284C6-3986-1C48-93AC-8FEBC662ECEE}" presName="sibTrans" presStyleLbl="sibTrans2D1" presStyleIdx="0" presStyleCnt="9"/>
      <dgm:spPr/>
    </dgm:pt>
    <dgm:pt modelId="{814C8FA7-CFA6-FA42-8BC8-CD119ED58623}" type="pres">
      <dgm:prSet presAssocID="{BAC284C6-3986-1C48-93AC-8FEBC662ECEE}" presName="connectorText" presStyleLbl="sibTrans2D1" presStyleIdx="0" presStyleCnt="9"/>
      <dgm:spPr/>
    </dgm:pt>
    <dgm:pt modelId="{C234DD4B-5CB7-E549-AD0E-83532D584FCF}" type="pres">
      <dgm:prSet presAssocID="{4F2509E8-87E6-2347-B926-EB9BDDECA6FD}" presName="node" presStyleLbl="node1" presStyleIdx="1" presStyleCnt="10">
        <dgm:presLayoutVars>
          <dgm:bulletEnabled val="1"/>
        </dgm:presLayoutVars>
      </dgm:prSet>
      <dgm:spPr/>
    </dgm:pt>
    <dgm:pt modelId="{16C02E65-2210-C24E-8692-38A2A70EC148}" type="pres">
      <dgm:prSet presAssocID="{748D4455-259E-4245-ADD2-8DDAC2A60773}" presName="sibTrans" presStyleLbl="sibTrans2D1" presStyleIdx="1" presStyleCnt="9"/>
      <dgm:spPr/>
    </dgm:pt>
    <dgm:pt modelId="{7060A806-1549-3F45-A072-7BB9691C2D8D}" type="pres">
      <dgm:prSet presAssocID="{748D4455-259E-4245-ADD2-8DDAC2A60773}" presName="connectorText" presStyleLbl="sibTrans2D1" presStyleIdx="1" presStyleCnt="9"/>
      <dgm:spPr/>
    </dgm:pt>
    <dgm:pt modelId="{FBF1C564-B2B8-4C41-BE63-B8171F8EB76E}" type="pres">
      <dgm:prSet presAssocID="{7B079A50-DF5E-0A4C-9491-2FBAFC0F785B}" presName="node" presStyleLbl="node1" presStyleIdx="2" presStyleCnt="10">
        <dgm:presLayoutVars>
          <dgm:bulletEnabled val="1"/>
        </dgm:presLayoutVars>
      </dgm:prSet>
      <dgm:spPr/>
    </dgm:pt>
    <dgm:pt modelId="{680472FB-1DED-B043-9C18-8E9AFCBED6E9}" type="pres">
      <dgm:prSet presAssocID="{00735B98-C924-5743-B429-DBBBDEA50165}" presName="sibTrans" presStyleLbl="sibTrans2D1" presStyleIdx="2" presStyleCnt="9"/>
      <dgm:spPr/>
    </dgm:pt>
    <dgm:pt modelId="{002AA36D-CAF6-0343-B244-6F6849B9EB75}" type="pres">
      <dgm:prSet presAssocID="{00735B98-C924-5743-B429-DBBBDEA50165}" presName="connectorText" presStyleLbl="sibTrans2D1" presStyleIdx="2" presStyleCnt="9"/>
      <dgm:spPr/>
    </dgm:pt>
    <dgm:pt modelId="{CC8F3904-974E-2647-9B88-B6062079D1ED}" type="pres">
      <dgm:prSet presAssocID="{EB4866D8-1266-8945-89C4-F4CD4F9D8A6F}" presName="node" presStyleLbl="node1" presStyleIdx="3" presStyleCnt="10">
        <dgm:presLayoutVars>
          <dgm:bulletEnabled val="1"/>
        </dgm:presLayoutVars>
      </dgm:prSet>
      <dgm:spPr/>
    </dgm:pt>
    <dgm:pt modelId="{5383FDA3-64FA-604A-8CAF-995772572DB0}" type="pres">
      <dgm:prSet presAssocID="{206E47A8-99B6-484A-AD35-04DCB9238B9B}" presName="sibTrans" presStyleLbl="sibTrans2D1" presStyleIdx="3" presStyleCnt="9"/>
      <dgm:spPr/>
    </dgm:pt>
    <dgm:pt modelId="{AC48ED73-8B05-6041-911E-F23E178815C4}" type="pres">
      <dgm:prSet presAssocID="{206E47A8-99B6-484A-AD35-04DCB9238B9B}" presName="connectorText" presStyleLbl="sibTrans2D1" presStyleIdx="3" presStyleCnt="9"/>
      <dgm:spPr/>
    </dgm:pt>
    <dgm:pt modelId="{F11F753D-D453-BC4F-BACE-C4F8A11ECEA5}" type="pres">
      <dgm:prSet presAssocID="{AE199458-77CF-8440-8970-F024006EA226}" presName="node" presStyleLbl="node1" presStyleIdx="4" presStyleCnt="10">
        <dgm:presLayoutVars>
          <dgm:bulletEnabled val="1"/>
        </dgm:presLayoutVars>
      </dgm:prSet>
      <dgm:spPr/>
    </dgm:pt>
    <dgm:pt modelId="{F8E19199-589F-1946-8222-73EA4584121E}" type="pres">
      <dgm:prSet presAssocID="{89DBDFDC-5EB5-0B49-A8D0-DB22ECB982AF}" presName="sibTrans" presStyleLbl="sibTrans2D1" presStyleIdx="4" presStyleCnt="9"/>
      <dgm:spPr/>
    </dgm:pt>
    <dgm:pt modelId="{1E3ABFF9-C6C0-0441-8FEA-3F98FEF0374E}" type="pres">
      <dgm:prSet presAssocID="{89DBDFDC-5EB5-0B49-A8D0-DB22ECB982AF}" presName="connectorText" presStyleLbl="sibTrans2D1" presStyleIdx="4" presStyleCnt="9"/>
      <dgm:spPr/>
    </dgm:pt>
    <dgm:pt modelId="{529FCC09-4687-E147-80E8-2EB7609DC9CF}" type="pres">
      <dgm:prSet presAssocID="{882FED25-8C48-F941-A0FE-6B2DFF5CD464}" presName="node" presStyleLbl="node1" presStyleIdx="5" presStyleCnt="10">
        <dgm:presLayoutVars>
          <dgm:bulletEnabled val="1"/>
        </dgm:presLayoutVars>
      </dgm:prSet>
      <dgm:spPr/>
    </dgm:pt>
    <dgm:pt modelId="{5381123D-2C93-3241-8E06-B77D04CAE8EC}" type="pres">
      <dgm:prSet presAssocID="{030A6B87-CA32-C340-A552-365F7A05C57F}" presName="sibTrans" presStyleLbl="sibTrans2D1" presStyleIdx="5" presStyleCnt="9"/>
      <dgm:spPr/>
    </dgm:pt>
    <dgm:pt modelId="{2E3787C8-BF17-C343-9F7D-55355502CEE3}" type="pres">
      <dgm:prSet presAssocID="{030A6B87-CA32-C340-A552-365F7A05C57F}" presName="connectorText" presStyleLbl="sibTrans2D1" presStyleIdx="5" presStyleCnt="9"/>
      <dgm:spPr/>
    </dgm:pt>
    <dgm:pt modelId="{1850AAD1-4903-FE47-A71D-0B73E666CD99}" type="pres">
      <dgm:prSet presAssocID="{917501D8-12A6-0D43-82EB-9B8BF9A095D6}" presName="node" presStyleLbl="node1" presStyleIdx="6" presStyleCnt="10">
        <dgm:presLayoutVars>
          <dgm:bulletEnabled val="1"/>
        </dgm:presLayoutVars>
      </dgm:prSet>
      <dgm:spPr/>
    </dgm:pt>
    <dgm:pt modelId="{D7CE2DAE-ABF0-9641-AE1A-0DB79AEBD84A}" type="pres">
      <dgm:prSet presAssocID="{04D5671A-AE7F-BD4E-9B86-A6A6425F59A8}" presName="sibTrans" presStyleLbl="sibTrans2D1" presStyleIdx="6" presStyleCnt="9"/>
      <dgm:spPr/>
    </dgm:pt>
    <dgm:pt modelId="{DC4C8257-9496-D04B-A26B-2200A3FFE3E7}" type="pres">
      <dgm:prSet presAssocID="{04D5671A-AE7F-BD4E-9B86-A6A6425F59A8}" presName="connectorText" presStyleLbl="sibTrans2D1" presStyleIdx="6" presStyleCnt="9"/>
      <dgm:spPr/>
    </dgm:pt>
    <dgm:pt modelId="{0538887E-FF31-324E-B401-E87E44AFF0AA}" type="pres">
      <dgm:prSet presAssocID="{1F12B085-E167-9940-8DCF-A46224752E8F}" presName="node" presStyleLbl="node1" presStyleIdx="7" presStyleCnt="10">
        <dgm:presLayoutVars>
          <dgm:bulletEnabled val="1"/>
        </dgm:presLayoutVars>
      </dgm:prSet>
      <dgm:spPr/>
    </dgm:pt>
    <dgm:pt modelId="{92EB25B1-D4AE-754E-BD44-115E26D1FF80}" type="pres">
      <dgm:prSet presAssocID="{59E7433E-EA1A-A445-8F72-1DCCEC9CF854}" presName="sibTrans" presStyleLbl="sibTrans2D1" presStyleIdx="7" presStyleCnt="9"/>
      <dgm:spPr/>
    </dgm:pt>
    <dgm:pt modelId="{B4D2AADB-2320-D741-9683-970A9AF56C3E}" type="pres">
      <dgm:prSet presAssocID="{59E7433E-EA1A-A445-8F72-1DCCEC9CF854}" presName="connectorText" presStyleLbl="sibTrans2D1" presStyleIdx="7" presStyleCnt="9"/>
      <dgm:spPr/>
    </dgm:pt>
    <dgm:pt modelId="{C225C079-1737-3742-99A0-0A7B593214FB}" type="pres">
      <dgm:prSet presAssocID="{4300FFA5-0FE1-0644-9B26-EF0EC29D2E58}" presName="node" presStyleLbl="node1" presStyleIdx="8" presStyleCnt="10">
        <dgm:presLayoutVars>
          <dgm:bulletEnabled val="1"/>
        </dgm:presLayoutVars>
      </dgm:prSet>
      <dgm:spPr/>
    </dgm:pt>
    <dgm:pt modelId="{C8297064-9915-AB4E-A9CB-FFEA8FC197B9}" type="pres">
      <dgm:prSet presAssocID="{2C4637A3-9257-AA41-A5B8-B87451C5F477}" presName="sibTrans" presStyleLbl="sibTrans2D1" presStyleIdx="8" presStyleCnt="9"/>
      <dgm:spPr/>
    </dgm:pt>
    <dgm:pt modelId="{EDC8E22C-F874-6448-9DE8-54F7348385E0}" type="pres">
      <dgm:prSet presAssocID="{2C4637A3-9257-AA41-A5B8-B87451C5F477}" presName="connectorText" presStyleLbl="sibTrans2D1" presStyleIdx="8" presStyleCnt="9"/>
      <dgm:spPr/>
    </dgm:pt>
    <dgm:pt modelId="{098F0226-B690-1B45-B506-7C933BFB7998}" type="pres">
      <dgm:prSet presAssocID="{B86E1618-0E2D-E84D-BCEB-2453703211F3}" presName="node" presStyleLbl="node1" presStyleIdx="9" presStyleCnt="10">
        <dgm:presLayoutVars>
          <dgm:bulletEnabled val="1"/>
        </dgm:presLayoutVars>
      </dgm:prSet>
      <dgm:spPr/>
    </dgm:pt>
  </dgm:ptLst>
  <dgm:cxnLst>
    <dgm:cxn modelId="{B95DCD03-4AAD-4B42-9243-666F8DB599E8}" type="presOf" srcId="{8933D80B-03CB-154C-805F-13221DB1B822}" destId="{FBF1C564-B2B8-4C41-BE63-B8171F8EB76E}" srcOrd="0" destOrd="2" presId="urn:microsoft.com/office/officeart/2005/8/layout/process5"/>
    <dgm:cxn modelId="{30E4E603-88A2-FC48-B384-BE3A5BB6B8C0}" type="presOf" srcId="{BAC284C6-3986-1C48-93AC-8FEBC662ECEE}" destId="{814C8FA7-CFA6-FA42-8BC8-CD119ED58623}" srcOrd="1" destOrd="0" presId="urn:microsoft.com/office/officeart/2005/8/layout/process5"/>
    <dgm:cxn modelId="{B3721305-A4DC-1D4B-9870-E1245EA94AA1}" type="presOf" srcId="{5FE83F24-F694-6A4B-99C0-78300CB546E1}" destId="{CC8F3904-974E-2647-9B88-B6062079D1ED}" srcOrd="0" destOrd="1" presId="urn:microsoft.com/office/officeart/2005/8/layout/process5"/>
    <dgm:cxn modelId="{01877F06-0601-234E-B04A-2AADE4C2D154}" srcId="{7B079A50-DF5E-0A4C-9491-2FBAFC0F785B}" destId="{8933D80B-03CB-154C-805F-13221DB1B822}" srcOrd="1" destOrd="0" parTransId="{05F6BE08-6836-6D4D-951F-A258F2E08662}" sibTransId="{59F6EB62-364A-E44D-A61C-CEA12AA8589C}"/>
    <dgm:cxn modelId="{0E10E907-0ADA-4D45-9069-B9A3AC9E0310}" type="presOf" srcId="{7B079A50-DF5E-0A4C-9491-2FBAFC0F785B}" destId="{FBF1C564-B2B8-4C41-BE63-B8171F8EB76E}" srcOrd="0" destOrd="0" presId="urn:microsoft.com/office/officeart/2005/8/layout/process5"/>
    <dgm:cxn modelId="{D5992D08-7598-A94A-AD4C-62B4CD474D26}" type="presOf" srcId="{761579F4-10DF-F244-9532-25DEF4807D83}" destId="{C234DD4B-5CB7-E549-AD0E-83532D584FCF}" srcOrd="0" destOrd="3" presId="urn:microsoft.com/office/officeart/2005/8/layout/process5"/>
    <dgm:cxn modelId="{F62E5C0C-C9DB-474B-99E5-505C0287727A}" type="presOf" srcId="{B86E1618-0E2D-E84D-BCEB-2453703211F3}" destId="{098F0226-B690-1B45-B506-7C933BFB7998}" srcOrd="0" destOrd="0" presId="urn:microsoft.com/office/officeart/2005/8/layout/process5"/>
    <dgm:cxn modelId="{81D07A23-EA35-C94F-81FA-E72150079877}" srcId="{E9FB0F4E-6967-3B44-A32F-E8B1C7AE98D5}" destId="{75350DEC-25F7-F240-A4BF-3A92E80C52F5}" srcOrd="0" destOrd="0" parTransId="{965794C1-5767-E94D-8105-ED104B4D33E2}" sibTransId="{BAC284C6-3986-1C48-93AC-8FEBC662ECEE}"/>
    <dgm:cxn modelId="{BFD8C726-235C-FD40-B9F6-87513427E29C}" type="presOf" srcId="{4861F807-1580-8C4F-9C33-66D2EDE9ABAD}" destId="{CC8F3904-974E-2647-9B88-B6062079D1ED}" srcOrd="0" destOrd="4" presId="urn:microsoft.com/office/officeart/2005/8/layout/process5"/>
    <dgm:cxn modelId="{A5814027-F41C-1F45-84CD-3391AC53F8A5}" type="presOf" srcId="{DDAC47D6-F859-4340-B28C-6D49EE097740}" destId="{FBF1C564-B2B8-4C41-BE63-B8171F8EB76E}" srcOrd="0" destOrd="4" presId="urn:microsoft.com/office/officeart/2005/8/layout/process5"/>
    <dgm:cxn modelId="{4252FF2A-9D9C-154A-8E00-7845AEFA42A3}" type="presOf" srcId="{AE199458-77CF-8440-8970-F024006EA226}" destId="{F11F753D-D453-BC4F-BACE-C4F8A11ECEA5}" srcOrd="0" destOrd="0" presId="urn:microsoft.com/office/officeart/2005/8/layout/process5"/>
    <dgm:cxn modelId="{87E2372F-44B8-7346-94AD-1B6CD49001EC}" srcId="{E9FB0F4E-6967-3B44-A32F-E8B1C7AE98D5}" destId="{1F12B085-E167-9940-8DCF-A46224752E8F}" srcOrd="7" destOrd="0" parTransId="{7A893FC9-C7B2-A646-8934-DEE2F8F265BA}" sibTransId="{59E7433E-EA1A-A445-8F72-1DCCEC9CF854}"/>
    <dgm:cxn modelId="{B650C331-3E4A-9142-9766-ADC1499BB1FB}" srcId="{7B079A50-DF5E-0A4C-9491-2FBAFC0F785B}" destId="{60FEA49A-52E5-FB49-B9D7-919B8E8D64F4}" srcOrd="0" destOrd="0" parTransId="{7E8F7D45-586B-A641-B509-72E0E3DB9800}" sibTransId="{E893C522-81CE-8546-BA58-AAD1F1CCD417}"/>
    <dgm:cxn modelId="{BD857532-F26B-7C43-A239-905B90EF1A8C}" type="presOf" srcId="{E9FB0F4E-6967-3B44-A32F-E8B1C7AE98D5}" destId="{CBF254FA-D4E0-B74E-A18D-AE53AEBD67CD}" srcOrd="0" destOrd="0" presId="urn:microsoft.com/office/officeart/2005/8/layout/process5"/>
    <dgm:cxn modelId="{BE324233-F9AC-DC43-A89C-3F7FD9B5D466}" srcId="{E9FB0F4E-6967-3B44-A32F-E8B1C7AE98D5}" destId="{B86E1618-0E2D-E84D-BCEB-2453703211F3}" srcOrd="9" destOrd="0" parTransId="{4EFD42D0-7098-564F-980C-3F3CECAA5410}" sibTransId="{877FBD8C-7A3B-5E45-8830-1FEAB09A55C5}"/>
    <dgm:cxn modelId="{27375D36-313F-2A44-B2E2-0C6FE9D62D1A}" type="presOf" srcId="{75350DEC-25F7-F240-A4BF-3A92E80C52F5}" destId="{B4D5E3D8-47D8-1A4C-9387-6DE60324DF6F}" srcOrd="0" destOrd="0" presId="urn:microsoft.com/office/officeart/2005/8/layout/process5"/>
    <dgm:cxn modelId="{FC1AC939-5A01-D84B-8800-0E045D0F93C8}" srcId="{AE199458-77CF-8440-8970-F024006EA226}" destId="{69F25C00-F7E1-8B47-8544-B81240B6C7F2}" srcOrd="1" destOrd="0" parTransId="{258EB4FC-8DB3-204B-AE19-757E57DBF8E2}" sibTransId="{2C4AF3F2-4BEF-1E41-A9DC-C2CCA7D68218}"/>
    <dgm:cxn modelId="{DF8FAA3E-AA34-BD4E-87F8-31F1AB63A13B}" type="presOf" srcId="{748D4455-259E-4245-ADD2-8DDAC2A60773}" destId="{16C02E65-2210-C24E-8692-38A2A70EC148}" srcOrd="0" destOrd="0" presId="urn:microsoft.com/office/officeart/2005/8/layout/process5"/>
    <dgm:cxn modelId="{0D418D49-B127-3C44-AF37-A060A5F8F42E}" srcId="{7B079A50-DF5E-0A4C-9491-2FBAFC0F785B}" destId="{B1557D1B-A1F8-FC4B-B50D-EA46AEAC83E2}" srcOrd="2" destOrd="0" parTransId="{301BEF8E-62FD-F942-ABEC-722E78A30EAC}" sibTransId="{76EC83BA-130D-EA44-8EE3-6264D4A2F0C7}"/>
    <dgm:cxn modelId="{6A32B64F-6964-414F-AD07-B5887751C75C}" type="presOf" srcId="{882FED25-8C48-F941-A0FE-6B2DFF5CD464}" destId="{529FCC09-4687-E147-80E8-2EB7609DC9CF}" srcOrd="0" destOrd="0" presId="urn:microsoft.com/office/officeart/2005/8/layout/process5"/>
    <dgm:cxn modelId="{57E78F58-C4F1-C642-9A8E-4D1032FFACD8}" type="presOf" srcId="{471C43CE-832D-774D-BB7A-57512EFB5879}" destId="{CC8F3904-974E-2647-9B88-B6062079D1ED}" srcOrd="0" destOrd="3" presId="urn:microsoft.com/office/officeart/2005/8/layout/process5"/>
    <dgm:cxn modelId="{881C745A-6BF5-1846-9762-D162446F8EE8}" srcId="{EB4866D8-1266-8945-89C4-F4CD4F9D8A6F}" destId="{4861F807-1580-8C4F-9C33-66D2EDE9ABAD}" srcOrd="3" destOrd="0" parTransId="{8CC078C6-7EFD-9A46-B445-021F345DCF5A}" sibTransId="{5D77E747-1467-6249-A64A-E8E192C48D64}"/>
    <dgm:cxn modelId="{4D5E675C-49B8-1948-9D17-9FC44F33719A}" type="presOf" srcId="{59E7433E-EA1A-A445-8F72-1DCCEC9CF854}" destId="{B4D2AADB-2320-D741-9683-970A9AF56C3E}" srcOrd="1" destOrd="0" presId="urn:microsoft.com/office/officeart/2005/8/layout/process5"/>
    <dgm:cxn modelId="{09F5B15E-E1AD-2E4A-AFF2-C91E75C311A9}" srcId="{AE199458-77CF-8440-8970-F024006EA226}" destId="{86AA592B-D489-5D4D-93FE-79A538493DA3}" srcOrd="0" destOrd="0" parTransId="{06E1BE15-F8C7-9C4D-A90E-557728BBB1D3}" sibTransId="{9EB8E24C-CDF4-7B49-8A25-38E38E64AA9F}"/>
    <dgm:cxn modelId="{ED970163-ECEE-D849-9B40-616074ECBD3F}" srcId="{EB4866D8-1266-8945-89C4-F4CD4F9D8A6F}" destId="{5FE83F24-F694-6A4B-99C0-78300CB546E1}" srcOrd="0" destOrd="0" parTransId="{E15C2973-AC33-0145-8745-682DFB76DED0}" sibTransId="{A1EBC4F8-774A-B045-880A-03E7D798D46B}"/>
    <dgm:cxn modelId="{6C791863-053A-EA42-B1FD-F40E2AC8732E}" type="presOf" srcId="{6E882DEC-3034-E942-B5AA-2835D77DD5C8}" destId="{CC8F3904-974E-2647-9B88-B6062079D1ED}" srcOrd="0" destOrd="2" presId="urn:microsoft.com/office/officeart/2005/8/layout/process5"/>
    <dgm:cxn modelId="{9F4BBA63-304C-604B-A391-58E4720B5BE5}" srcId="{75350DEC-25F7-F240-A4BF-3A92E80C52F5}" destId="{63B03111-9832-1646-BDF4-5D9B749EF795}" srcOrd="0" destOrd="0" parTransId="{1C812E3F-39E1-CF47-BBBD-159FAEC5C786}" sibTransId="{702B8123-1BB3-E349-AB4A-1A9D41698317}"/>
    <dgm:cxn modelId="{315CA365-BBD4-8349-91E9-B1E78879A052}" type="presOf" srcId="{2C4637A3-9257-AA41-A5B8-B87451C5F477}" destId="{EDC8E22C-F874-6448-9DE8-54F7348385E0}" srcOrd="1" destOrd="0" presId="urn:microsoft.com/office/officeart/2005/8/layout/process5"/>
    <dgm:cxn modelId="{C0BF1A68-E872-0A45-B831-114F7AEF9B31}" type="presOf" srcId="{BAC284C6-3986-1C48-93AC-8FEBC662ECEE}" destId="{A58869D2-B78E-DD40-ACB3-9F052F33CBCE}" srcOrd="0" destOrd="0" presId="urn:microsoft.com/office/officeart/2005/8/layout/process5"/>
    <dgm:cxn modelId="{CCD2446D-140E-2448-AD38-D7354F2F5BD0}" type="presOf" srcId="{86AA592B-D489-5D4D-93FE-79A538493DA3}" destId="{F11F753D-D453-BC4F-BACE-C4F8A11ECEA5}" srcOrd="0" destOrd="1" presId="urn:microsoft.com/office/officeart/2005/8/layout/process5"/>
    <dgm:cxn modelId="{E1407870-18DB-5544-A0A5-2DE0EF6D62BF}" type="presOf" srcId="{EB4866D8-1266-8945-89C4-F4CD4F9D8A6F}" destId="{CC8F3904-974E-2647-9B88-B6062079D1ED}" srcOrd="0" destOrd="0" presId="urn:microsoft.com/office/officeart/2005/8/layout/process5"/>
    <dgm:cxn modelId="{43B9E771-FA74-B642-9EED-7FE4A7CDF11A}" srcId="{4F2509E8-87E6-2347-B926-EB9BDDECA6FD}" destId="{C8AF58C4-450C-0C4C-83CB-1474D3ADA25F}" srcOrd="1" destOrd="0" parTransId="{DEBC2A1C-65D7-5E43-945C-60BBA4631011}" sibTransId="{51773514-44C5-134E-A69D-D30DCA75AB37}"/>
    <dgm:cxn modelId="{BB741775-A4C8-C54B-B161-F15E4AF928EC}" type="presOf" srcId="{B1557D1B-A1F8-FC4B-B50D-EA46AEAC83E2}" destId="{FBF1C564-B2B8-4C41-BE63-B8171F8EB76E}" srcOrd="0" destOrd="3" presId="urn:microsoft.com/office/officeart/2005/8/layout/process5"/>
    <dgm:cxn modelId="{9BF83777-08E0-6140-9D35-BF7D8AF8A067}" srcId="{E9FB0F4E-6967-3B44-A32F-E8B1C7AE98D5}" destId="{4F2509E8-87E6-2347-B926-EB9BDDECA6FD}" srcOrd="1" destOrd="0" parTransId="{B4B1EEE1-8225-A643-B681-A7F3FC14ECAD}" sibTransId="{748D4455-259E-4245-ADD2-8DDAC2A60773}"/>
    <dgm:cxn modelId="{E9A0EB78-92A5-5E4E-8437-0C6B9359762F}" srcId="{E9FB0F4E-6967-3B44-A32F-E8B1C7AE98D5}" destId="{4300FFA5-0FE1-0644-9B26-EF0EC29D2E58}" srcOrd="8" destOrd="0" parTransId="{CD73BF7D-329F-4F42-9B2D-1C22A52FFC9D}" sibTransId="{2C4637A3-9257-AA41-A5B8-B87451C5F477}"/>
    <dgm:cxn modelId="{E1BE627B-6B84-9F41-8C17-2CB0A302B158}" type="presOf" srcId="{04D5671A-AE7F-BD4E-9B86-A6A6425F59A8}" destId="{D7CE2DAE-ABF0-9641-AE1A-0DB79AEBD84A}" srcOrd="0" destOrd="0" presId="urn:microsoft.com/office/officeart/2005/8/layout/process5"/>
    <dgm:cxn modelId="{1195907C-1741-0E4D-8E5E-6B3B4B259DEF}" type="presOf" srcId="{030A6B87-CA32-C340-A552-365F7A05C57F}" destId="{5381123D-2C93-3241-8E06-B77D04CAE8EC}" srcOrd="0" destOrd="0" presId="urn:microsoft.com/office/officeart/2005/8/layout/process5"/>
    <dgm:cxn modelId="{99C2797F-C2E2-3A4C-AAF0-DCC30D2AF05D}" type="presOf" srcId="{4F2509E8-87E6-2347-B926-EB9BDDECA6FD}" destId="{C234DD4B-5CB7-E549-AD0E-83532D584FCF}" srcOrd="0" destOrd="0" presId="urn:microsoft.com/office/officeart/2005/8/layout/process5"/>
    <dgm:cxn modelId="{85D7D382-FAAC-4F4E-84D6-7849E5E8FF0C}" type="presOf" srcId="{917501D8-12A6-0D43-82EB-9B8BF9A095D6}" destId="{1850AAD1-4903-FE47-A71D-0B73E666CD99}" srcOrd="0" destOrd="0" presId="urn:microsoft.com/office/officeart/2005/8/layout/process5"/>
    <dgm:cxn modelId="{0E3C2485-CAF8-434B-89F0-893517E042E7}" srcId="{E9FB0F4E-6967-3B44-A32F-E8B1C7AE98D5}" destId="{917501D8-12A6-0D43-82EB-9B8BF9A095D6}" srcOrd="6" destOrd="0" parTransId="{2189082E-6C82-944A-BE92-D9BC72270382}" sibTransId="{04D5671A-AE7F-BD4E-9B86-A6A6425F59A8}"/>
    <dgm:cxn modelId="{5F1D6487-750A-A04B-B6FA-5348ADB40AA1}" type="presOf" srcId="{2C4637A3-9257-AA41-A5B8-B87451C5F477}" destId="{C8297064-9915-AB4E-A9CB-FFEA8FC197B9}" srcOrd="0" destOrd="0" presId="urn:microsoft.com/office/officeart/2005/8/layout/process5"/>
    <dgm:cxn modelId="{B5AA2D8B-61D5-DB43-8D06-4875A7EB0CBD}" srcId="{7B079A50-DF5E-0A4C-9491-2FBAFC0F785B}" destId="{DDAC47D6-F859-4340-B28C-6D49EE097740}" srcOrd="3" destOrd="0" parTransId="{5B556703-BE01-8848-BE27-5969CF3D2B5D}" sibTransId="{0A2D5029-F7E5-6C47-9CF0-D5505B2F8FFB}"/>
    <dgm:cxn modelId="{94756F8D-4FC3-2F4F-8093-95D1E8FDA07D}" type="presOf" srcId="{89DBDFDC-5EB5-0B49-A8D0-DB22ECB982AF}" destId="{1E3ABFF9-C6C0-0441-8FEA-3F98FEF0374E}" srcOrd="1" destOrd="0" presId="urn:microsoft.com/office/officeart/2005/8/layout/process5"/>
    <dgm:cxn modelId="{78913F91-30D2-D14B-B80B-1BDF3244B2A6}" type="presOf" srcId="{1F12B085-E167-9940-8DCF-A46224752E8F}" destId="{0538887E-FF31-324E-B401-E87E44AFF0AA}" srcOrd="0" destOrd="0" presId="urn:microsoft.com/office/officeart/2005/8/layout/process5"/>
    <dgm:cxn modelId="{B494B79C-7119-2745-954F-0FE480A17145}" type="presOf" srcId="{C8AF58C4-450C-0C4C-83CB-1474D3ADA25F}" destId="{C234DD4B-5CB7-E549-AD0E-83532D584FCF}" srcOrd="0" destOrd="2" presId="urn:microsoft.com/office/officeart/2005/8/layout/process5"/>
    <dgm:cxn modelId="{A454DBA0-21A9-3941-9DF2-4DD870F537A3}" srcId="{E9FB0F4E-6967-3B44-A32F-E8B1C7AE98D5}" destId="{7B079A50-DF5E-0A4C-9491-2FBAFC0F785B}" srcOrd="2" destOrd="0" parTransId="{BA902E5D-518F-0749-86BA-04AA510BA959}" sibTransId="{00735B98-C924-5743-B429-DBBBDEA50165}"/>
    <dgm:cxn modelId="{8C017CA3-42AB-BD48-8C05-A5BDA2B79E4B}" type="presOf" srcId="{59E7433E-EA1A-A445-8F72-1DCCEC9CF854}" destId="{92EB25B1-D4AE-754E-BD44-115E26D1FF80}" srcOrd="0" destOrd="0" presId="urn:microsoft.com/office/officeart/2005/8/layout/process5"/>
    <dgm:cxn modelId="{88A5F4A3-745B-D44B-AEC4-67B96700A686}" type="presOf" srcId="{206E47A8-99B6-484A-AD35-04DCB9238B9B}" destId="{AC48ED73-8B05-6041-911E-F23E178815C4}" srcOrd="1" destOrd="0" presId="urn:microsoft.com/office/officeart/2005/8/layout/process5"/>
    <dgm:cxn modelId="{2038CBA5-A8B4-2F4F-88D5-D270FCD148DC}" type="presOf" srcId="{89DBDFDC-5EB5-0B49-A8D0-DB22ECB982AF}" destId="{F8E19199-589F-1946-8222-73EA4584121E}" srcOrd="0" destOrd="0" presId="urn:microsoft.com/office/officeart/2005/8/layout/process5"/>
    <dgm:cxn modelId="{9A8098B2-9CE9-D942-9547-38EF361DD3D4}" srcId="{EB4866D8-1266-8945-89C4-F4CD4F9D8A6F}" destId="{6E882DEC-3034-E942-B5AA-2835D77DD5C8}" srcOrd="1" destOrd="0" parTransId="{11E32BAA-4A06-9844-B381-3F8D7D686934}" sibTransId="{DE8B183B-7E7F-5749-9A67-A6C365A09A85}"/>
    <dgm:cxn modelId="{AA15AFB2-2C77-3142-AD36-8D6ED0CAACDE}" type="presOf" srcId="{04D5671A-AE7F-BD4E-9B86-A6A6425F59A8}" destId="{DC4C8257-9496-D04B-A26B-2200A3FFE3E7}" srcOrd="1" destOrd="0" presId="urn:microsoft.com/office/officeart/2005/8/layout/process5"/>
    <dgm:cxn modelId="{A56E20BA-CE81-3845-B63D-BDC1718CA0DA}" type="presOf" srcId="{F9BD6EF9-8382-F144-B9CD-FB838C6C03F9}" destId="{C234DD4B-5CB7-E549-AD0E-83532D584FCF}" srcOrd="0" destOrd="1" presId="urn:microsoft.com/office/officeart/2005/8/layout/process5"/>
    <dgm:cxn modelId="{B77E5BBC-E48A-9F44-93AA-F124CC378B7E}" type="presOf" srcId="{00735B98-C924-5743-B429-DBBBDEA50165}" destId="{680472FB-1DED-B043-9C18-8E9AFCBED6E9}" srcOrd="0" destOrd="0" presId="urn:microsoft.com/office/officeart/2005/8/layout/process5"/>
    <dgm:cxn modelId="{3DE395BD-2A5C-D449-AF86-99D3C112784F}" type="presOf" srcId="{748D4455-259E-4245-ADD2-8DDAC2A60773}" destId="{7060A806-1549-3F45-A072-7BB9691C2D8D}" srcOrd="1" destOrd="0" presId="urn:microsoft.com/office/officeart/2005/8/layout/process5"/>
    <dgm:cxn modelId="{871584CA-547D-DB48-94C4-0F86427D355B}" type="presOf" srcId="{63B03111-9832-1646-BDF4-5D9B749EF795}" destId="{B4D5E3D8-47D8-1A4C-9387-6DE60324DF6F}" srcOrd="0" destOrd="1" presId="urn:microsoft.com/office/officeart/2005/8/layout/process5"/>
    <dgm:cxn modelId="{7508F7CB-76FC-3043-811E-8A4CE7CBEBA3}" type="presOf" srcId="{60FEA49A-52E5-FB49-B9D7-919B8E8D64F4}" destId="{FBF1C564-B2B8-4C41-BE63-B8171F8EB76E}" srcOrd="0" destOrd="1" presId="urn:microsoft.com/office/officeart/2005/8/layout/process5"/>
    <dgm:cxn modelId="{A0E506CD-09B9-3549-9920-3C48F6D1CA55}" type="presOf" srcId="{69F25C00-F7E1-8B47-8544-B81240B6C7F2}" destId="{F11F753D-D453-BC4F-BACE-C4F8A11ECEA5}" srcOrd="0" destOrd="2" presId="urn:microsoft.com/office/officeart/2005/8/layout/process5"/>
    <dgm:cxn modelId="{8497B9D0-5691-E848-8EE3-C51BC656F8B1}" srcId="{E9FB0F4E-6967-3B44-A32F-E8B1C7AE98D5}" destId="{AE199458-77CF-8440-8970-F024006EA226}" srcOrd="4" destOrd="0" parTransId="{8FD87771-F4E1-DC47-B38A-8EDD08A5C725}" sibTransId="{89DBDFDC-5EB5-0B49-A8D0-DB22ECB982AF}"/>
    <dgm:cxn modelId="{445B7ADC-F7C5-5046-9BEE-3618E0EEE919}" srcId="{4F2509E8-87E6-2347-B926-EB9BDDECA6FD}" destId="{761579F4-10DF-F244-9532-25DEF4807D83}" srcOrd="2" destOrd="0" parTransId="{4C55FAFB-140B-EA49-9492-2DC8E373D8C0}" sibTransId="{3543ED0F-366F-8D44-8E9F-A843D81464D5}"/>
    <dgm:cxn modelId="{890194DD-304B-C447-9AF3-AFAE634C6D43}" srcId="{4F2509E8-87E6-2347-B926-EB9BDDECA6FD}" destId="{F9BD6EF9-8382-F144-B9CD-FB838C6C03F9}" srcOrd="0" destOrd="0" parTransId="{137D12B5-70FE-6847-BD89-CA99FC0D41AD}" sibTransId="{49EC0DFE-61E7-374D-A1BD-7617E9E9166B}"/>
    <dgm:cxn modelId="{2CEF06DE-6258-7440-8A8D-E90FA2F30839}" type="presOf" srcId="{4300FFA5-0FE1-0644-9B26-EF0EC29D2E58}" destId="{C225C079-1737-3742-99A0-0A7B593214FB}" srcOrd="0" destOrd="0" presId="urn:microsoft.com/office/officeart/2005/8/layout/process5"/>
    <dgm:cxn modelId="{A1CEA2E5-F1DD-EF48-A85B-4A04D4565509}" srcId="{E9FB0F4E-6967-3B44-A32F-E8B1C7AE98D5}" destId="{EB4866D8-1266-8945-89C4-F4CD4F9D8A6F}" srcOrd="3" destOrd="0" parTransId="{4276625C-E1F0-F840-90D6-CE76DDBB799C}" sibTransId="{206E47A8-99B6-484A-AD35-04DCB9238B9B}"/>
    <dgm:cxn modelId="{E7042CE6-A233-CB47-A6F5-D0D71F329C45}" srcId="{EB4866D8-1266-8945-89C4-F4CD4F9D8A6F}" destId="{471C43CE-832D-774D-BB7A-57512EFB5879}" srcOrd="2" destOrd="0" parTransId="{C2B9F4EE-A410-1B4C-9D53-DB22DB03D31F}" sibTransId="{DE50C641-CD08-A846-B7EB-02241BA70688}"/>
    <dgm:cxn modelId="{45F7F9E8-95D2-CA40-854F-9EFFBA8C51D6}" type="presOf" srcId="{206E47A8-99B6-484A-AD35-04DCB9238B9B}" destId="{5383FDA3-64FA-604A-8CAF-995772572DB0}" srcOrd="0" destOrd="0" presId="urn:microsoft.com/office/officeart/2005/8/layout/process5"/>
    <dgm:cxn modelId="{467F9BED-D392-3940-B061-1699282DB62A}" srcId="{E9FB0F4E-6967-3B44-A32F-E8B1C7AE98D5}" destId="{882FED25-8C48-F941-A0FE-6B2DFF5CD464}" srcOrd="5" destOrd="0" parTransId="{B419AD8C-EBD7-5443-9C93-E4B849DE07B6}" sibTransId="{030A6B87-CA32-C340-A552-365F7A05C57F}"/>
    <dgm:cxn modelId="{ACB3C1F8-AF17-F641-83DF-2B77AC2173F2}" type="presOf" srcId="{030A6B87-CA32-C340-A552-365F7A05C57F}" destId="{2E3787C8-BF17-C343-9F7D-55355502CEE3}" srcOrd="1" destOrd="0" presId="urn:microsoft.com/office/officeart/2005/8/layout/process5"/>
    <dgm:cxn modelId="{E57CD3FB-72DE-F644-89FB-39D8FB6599FA}" type="presOf" srcId="{00735B98-C924-5743-B429-DBBBDEA50165}" destId="{002AA36D-CAF6-0343-B244-6F6849B9EB75}" srcOrd="1" destOrd="0" presId="urn:microsoft.com/office/officeart/2005/8/layout/process5"/>
    <dgm:cxn modelId="{7F8A83C4-DF92-674F-9901-9E29B216E0A2}" type="presParOf" srcId="{CBF254FA-D4E0-B74E-A18D-AE53AEBD67CD}" destId="{B4D5E3D8-47D8-1A4C-9387-6DE60324DF6F}" srcOrd="0" destOrd="0" presId="urn:microsoft.com/office/officeart/2005/8/layout/process5"/>
    <dgm:cxn modelId="{A08B2B19-5656-5E46-BB58-7FE7B6C3A7C9}" type="presParOf" srcId="{CBF254FA-D4E0-B74E-A18D-AE53AEBD67CD}" destId="{A58869D2-B78E-DD40-ACB3-9F052F33CBCE}" srcOrd="1" destOrd="0" presId="urn:microsoft.com/office/officeart/2005/8/layout/process5"/>
    <dgm:cxn modelId="{C454612D-F0F0-E14D-8E48-86577D0681D6}" type="presParOf" srcId="{A58869D2-B78E-DD40-ACB3-9F052F33CBCE}" destId="{814C8FA7-CFA6-FA42-8BC8-CD119ED58623}" srcOrd="0" destOrd="0" presId="urn:microsoft.com/office/officeart/2005/8/layout/process5"/>
    <dgm:cxn modelId="{71DD84D1-0B88-C84F-AE6E-112D74268CE8}" type="presParOf" srcId="{CBF254FA-D4E0-B74E-A18D-AE53AEBD67CD}" destId="{C234DD4B-5CB7-E549-AD0E-83532D584FCF}" srcOrd="2" destOrd="0" presId="urn:microsoft.com/office/officeart/2005/8/layout/process5"/>
    <dgm:cxn modelId="{A6608B84-5BAF-A846-85DB-0D0B91E37986}" type="presParOf" srcId="{CBF254FA-D4E0-B74E-A18D-AE53AEBD67CD}" destId="{16C02E65-2210-C24E-8692-38A2A70EC148}" srcOrd="3" destOrd="0" presId="urn:microsoft.com/office/officeart/2005/8/layout/process5"/>
    <dgm:cxn modelId="{DDA86523-6C9F-E448-845B-0A42D6E12684}" type="presParOf" srcId="{16C02E65-2210-C24E-8692-38A2A70EC148}" destId="{7060A806-1549-3F45-A072-7BB9691C2D8D}" srcOrd="0" destOrd="0" presId="urn:microsoft.com/office/officeart/2005/8/layout/process5"/>
    <dgm:cxn modelId="{E512A88E-2481-0A4E-9C24-EB75ACF64300}" type="presParOf" srcId="{CBF254FA-D4E0-B74E-A18D-AE53AEBD67CD}" destId="{FBF1C564-B2B8-4C41-BE63-B8171F8EB76E}" srcOrd="4" destOrd="0" presId="urn:microsoft.com/office/officeart/2005/8/layout/process5"/>
    <dgm:cxn modelId="{9D8126B7-D264-0641-A0BE-EA0877F06B45}" type="presParOf" srcId="{CBF254FA-D4E0-B74E-A18D-AE53AEBD67CD}" destId="{680472FB-1DED-B043-9C18-8E9AFCBED6E9}" srcOrd="5" destOrd="0" presId="urn:microsoft.com/office/officeart/2005/8/layout/process5"/>
    <dgm:cxn modelId="{56198BEB-49F7-2C4B-8D22-8DBDD2B6C84D}" type="presParOf" srcId="{680472FB-1DED-B043-9C18-8E9AFCBED6E9}" destId="{002AA36D-CAF6-0343-B244-6F6849B9EB75}" srcOrd="0" destOrd="0" presId="urn:microsoft.com/office/officeart/2005/8/layout/process5"/>
    <dgm:cxn modelId="{5C2B0342-8FFD-164D-AD17-CD41A98EF156}" type="presParOf" srcId="{CBF254FA-D4E0-B74E-A18D-AE53AEBD67CD}" destId="{CC8F3904-974E-2647-9B88-B6062079D1ED}" srcOrd="6" destOrd="0" presId="urn:microsoft.com/office/officeart/2005/8/layout/process5"/>
    <dgm:cxn modelId="{9C15ACB1-1411-DD42-A865-934CA5C7156B}" type="presParOf" srcId="{CBF254FA-D4E0-B74E-A18D-AE53AEBD67CD}" destId="{5383FDA3-64FA-604A-8CAF-995772572DB0}" srcOrd="7" destOrd="0" presId="urn:microsoft.com/office/officeart/2005/8/layout/process5"/>
    <dgm:cxn modelId="{DC9BD835-FC77-4E4F-ACB0-CA983131FD0B}" type="presParOf" srcId="{5383FDA3-64FA-604A-8CAF-995772572DB0}" destId="{AC48ED73-8B05-6041-911E-F23E178815C4}" srcOrd="0" destOrd="0" presId="urn:microsoft.com/office/officeart/2005/8/layout/process5"/>
    <dgm:cxn modelId="{5C74A403-0B11-AF4B-9244-65D39232F884}" type="presParOf" srcId="{CBF254FA-D4E0-B74E-A18D-AE53AEBD67CD}" destId="{F11F753D-D453-BC4F-BACE-C4F8A11ECEA5}" srcOrd="8" destOrd="0" presId="urn:microsoft.com/office/officeart/2005/8/layout/process5"/>
    <dgm:cxn modelId="{485F9726-05AC-F441-8FE0-385E5B103E36}" type="presParOf" srcId="{CBF254FA-D4E0-B74E-A18D-AE53AEBD67CD}" destId="{F8E19199-589F-1946-8222-73EA4584121E}" srcOrd="9" destOrd="0" presId="urn:microsoft.com/office/officeart/2005/8/layout/process5"/>
    <dgm:cxn modelId="{678B64E3-BB14-9443-9C28-BAF379A94C2A}" type="presParOf" srcId="{F8E19199-589F-1946-8222-73EA4584121E}" destId="{1E3ABFF9-C6C0-0441-8FEA-3F98FEF0374E}" srcOrd="0" destOrd="0" presId="urn:microsoft.com/office/officeart/2005/8/layout/process5"/>
    <dgm:cxn modelId="{82332E0B-3DF2-A24D-BC83-2EBFB8E2E536}" type="presParOf" srcId="{CBF254FA-D4E0-B74E-A18D-AE53AEBD67CD}" destId="{529FCC09-4687-E147-80E8-2EB7609DC9CF}" srcOrd="10" destOrd="0" presId="urn:microsoft.com/office/officeart/2005/8/layout/process5"/>
    <dgm:cxn modelId="{84E727FC-8DF8-9948-B439-07C8E787C3A6}" type="presParOf" srcId="{CBF254FA-D4E0-B74E-A18D-AE53AEBD67CD}" destId="{5381123D-2C93-3241-8E06-B77D04CAE8EC}" srcOrd="11" destOrd="0" presId="urn:microsoft.com/office/officeart/2005/8/layout/process5"/>
    <dgm:cxn modelId="{782EF668-7538-6A4E-B319-8B048FFE4044}" type="presParOf" srcId="{5381123D-2C93-3241-8E06-B77D04CAE8EC}" destId="{2E3787C8-BF17-C343-9F7D-55355502CEE3}" srcOrd="0" destOrd="0" presId="urn:microsoft.com/office/officeart/2005/8/layout/process5"/>
    <dgm:cxn modelId="{6AEAA92D-C4D5-D643-8CD4-71C3C81BEC92}" type="presParOf" srcId="{CBF254FA-D4E0-B74E-A18D-AE53AEBD67CD}" destId="{1850AAD1-4903-FE47-A71D-0B73E666CD99}" srcOrd="12" destOrd="0" presId="urn:microsoft.com/office/officeart/2005/8/layout/process5"/>
    <dgm:cxn modelId="{063A4DBB-D75A-ED40-B0C7-C31F5B69AAC9}" type="presParOf" srcId="{CBF254FA-D4E0-B74E-A18D-AE53AEBD67CD}" destId="{D7CE2DAE-ABF0-9641-AE1A-0DB79AEBD84A}" srcOrd="13" destOrd="0" presId="urn:microsoft.com/office/officeart/2005/8/layout/process5"/>
    <dgm:cxn modelId="{0AD1E0B4-C417-0647-9C40-7D0AFD2699D0}" type="presParOf" srcId="{D7CE2DAE-ABF0-9641-AE1A-0DB79AEBD84A}" destId="{DC4C8257-9496-D04B-A26B-2200A3FFE3E7}" srcOrd="0" destOrd="0" presId="urn:microsoft.com/office/officeart/2005/8/layout/process5"/>
    <dgm:cxn modelId="{345AAA4E-7EE1-C44D-B312-3D470151EE07}" type="presParOf" srcId="{CBF254FA-D4E0-B74E-A18D-AE53AEBD67CD}" destId="{0538887E-FF31-324E-B401-E87E44AFF0AA}" srcOrd="14" destOrd="0" presId="urn:microsoft.com/office/officeart/2005/8/layout/process5"/>
    <dgm:cxn modelId="{274BBA1F-00C9-4243-B04B-070A035D8E9F}" type="presParOf" srcId="{CBF254FA-D4E0-B74E-A18D-AE53AEBD67CD}" destId="{92EB25B1-D4AE-754E-BD44-115E26D1FF80}" srcOrd="15" destOrd="0" presId="urn:microsoft.com/office/officeart/2005/8/layout/process5"/>
    <dgm:cxn modelId="{3F5A20A5-5E14-734D-BDC8-243E9B365827}" type="presParOf" srcId="{92EB25B1-D4AE-754E-BD44-115E26D1FF80}" destId="{B4D2AADB-2320-D741-9683-970A9AF56C3E}" srcOrd="0" destOrd="0" presId="urn:microsoft.com/office/officeart/2005/8/layout/process5"/>
    <dgm:cxn modelId="{9D22F929-339A-844D-9885-66AB1512A8AB}" type="presParOf" srcId="{CBF254FA-D4E0-B74E-A18D-AE53AEBD67CD}" destId="{C225C079-1737-3742-99A0-0A7B593214FB}" srcOrd="16" destOrd="0" presId="urn:microsoft.com/office/officeart/2005/8/layout/process5"/>
    <dgm:cxn modelId="{8E9D851C-5056-C849-9EBF-A78085CCC5D8}" type="presParOf" srcId="{CBF254FA-D4E0-B74E-A18D-AE53AEBD67CD}" destId="{C8297064-9915-AB4E-A9CB-FFEA8FC197B9}" srcOrd="17" destOrd="0" presId="urn:microsoft.com/office/officeart/2005/8/layout/process5"/>
    <dgm:cxn modelId="{94895D36-40FD-1046-B05E-C751DB16DF6D}" type="presParOf" srcId="{C8297064-9915-AB4E-A9CB-FFEA8FC197B9}" destId="{EDC8E22C-F874-6448-9DE8-54F7348385E0}" srcOrd="0" destOrd="0" presId="urn:microsoft.com/office/officeart/2005/8/layout/process5"/>
    <dgm:cxn modelId="{AEDD76F6-F2A2-594E-A0EE-C6571AC46FF2}" type="presParOf" srcId="{CBF254FA-D4E0-B74E-A18D-AE53AEBD67CD}" destId="{098F0226-B690-1B45-B506-7C933BFB7998}" srcOrd="1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D5E3D8-47D8-1A4C-9387-6DE60324DF6F}">
      <dsp:nvSpPr>
        <dsp:cNvPr id="0" name=""/>
        <dsp:cNvSpPr/>
      </dsp:nvSpPr>
      <dsp:spPr>
        <a:xfrm>
          <a:off x="5175" y="487487"/>
          <a:ext cx="2262701" cy="1357621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Scope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Goals, Actions, Data, Analysis, Ethics</a:t>
          </a:r>
        </a:p>
      </dsp:txBody>
      <dsp:txXfrm>
        <a:off x="44938" y="527250"/>
        <a:ext cx="2183175" cy="1278095"/>
      </dsp:txXfrm>
    </dsp:sp>
    <dsp:sp modelId="{A58869D2-B78E-DD40-ACB3-9F052F33CBCE}">
      <dsp:nvSpPr>
        <dsp:cNvPr id="0" name=""/>
        <dsp:cNvSpPr/>
      </dsp:nvSpPr>
      <dsp:spPr>
        <a:xfrm>
          <a:off x="2466994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466994" y="997953"/>
        <a:ext cx="335784" cy="336690"/>
      </dsp:txXfrm>
    </dsp:sp>
    <dsp:sp modelId="{C234DD4B-5CB7-E549-AD0E-83532D584FCF}">
      <dsp:nvSpPr>
        <dsp:cNvPr id="0" name=""/>
        <dsp:cNvSpPr/>
      </dsp:nvSpPr>
      <dsp:spPr>
        <a:xfrm>
          <a:off x="3172957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Get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Store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Link Data</a:t>
          </a:r>
        </a:p>
      </dsp:txBody>
      <dsp:txXfrm>
        <a:off x="3212720" y="527250"/>
        <a:ext cx="2183175" cy="1278095"/>
      </dsp:txXfrm>
    </dsp:sp>
    <dsp:sp modelId="{16C02E65-2210-C24E-8692-38A2A70EC148}">
      <dsp:nvSpPr>
        <dsp:cNvPr id="0" name=""/>
        <dsp:cNvSpPr/>
      </dsp:nvSpPr>
      <dsp:spPr>
        <a:xfrm>
          <a:off x="5634777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634777" y="997953"/>
        <a:ext cx="335784" cy="336690"/>
      </dsp:txXfrm>
    </dsp:sp>
    <dsp:sp modelId="{FBF1C564-B2B8-4C41-BE63-B8171F8EB76E}">
      <dsp:nvSpPr>
        <dsp:cNvPr id="0" name=""/>
        <dsp:cNvSpPr/>
      </dsp:nvSpPr>
      <dsp:spPr>
        <a:xfrm>
          <a:off x="6340740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Exploration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Entities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temporal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Spatial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…</a:t>
          </a:r>
        </a:p>
      </dsp:txBody>
      <dsp:txXfrm>
        <a:off x="6380503" y="527250"/>
        <a:ext cx="2183175" cy="1278095"/>
      </dsp:txXfrm>
    </dsp:sp>
    <dsp:sp modelId="{680472FB-1DED-B043-9C18-8E9AFCBED6E9}">
      <dsp:nvSpPr>
        <dsp:cNvPr id="0" name=""/>
        <dsp:cNvSpPr/>
      </dsp:nvSpPr>
      <dsp:spPr>
        <a:xfrm>
          <a:off x="8802559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8802559" y="997953"/>
        <a:ext cx="335784" cy="336690"/>
      </dsp:txXfrm>
    </dsp:sp>
    <dsp:sp modelId="{CC8F3904-974E-2647-9B88-B6062079D1ED}">
      <dsp:nvSpPr>
        <dsp:cNvPr id="0" name=""/>
        <dsp:cNvSpPr/>
      </dsp:nvSpPr>
      <dsp:spPr>
        <a:xfrm>
          <a:off x="9508522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Modeling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Rows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Labels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Features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Models</a:t>
          </a:r>
        </a:p>
      </dsp:txBody>
      <dsp:txXfrm>
        <a:off x="9548285" y="527250"/>
        <a:ext cx="2183175" cy="1278095"/>
      </dsp:txXfrm>
    </dsp:sp>
    <dsp:sp modelId="{5383FDA3-64FA-604A-8CAF-995772572DB0}">
      <dsp:nvSpPr>
        <dsp:cNvPr id="0" name=""/>
        <dsp:cNvSpPr/>
      </dsp:nvSpPr>
      <dsp:spPr>
        <a:xfrm rot="5400000">
          <a:off x="10400027" y="2003497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0471528" y="2044226"/>
        <a:ext cx="336690" cy="335784"/>
      </dsp:txXfrm>
    </dsp:sp>
    <dsp:sp modelId="{F11F753D-D453-BC4F-BACE-C4F8A11ECEA5}">
      <dsp:nvSpPr>
        <dsp:cNvPr id="0" name=""/>
        <dsp:cNvSpPr/>
      </dsp:nvSpPr>
      <dsp:spPr>
        <a:xfrm>
          <a:off x="9508522" y="2750189"/>
          <a:ext cx="2262701" cy="135762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Selection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Train-Test Splits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Performance Metrics</a:t>
          </a:r>
        </a:p>
      </dsp:txBody>
      <dsp:txXfrm>
        <a:off x="9548285" y="2789952"/>
        <a:ext cx="2183175" cy="1278095"/>
      </dsp:txXfrm>
    </dsp:sp>
    <dsp:sp modelId="{F8E19199-589F-1946-8222-73EA4584121E}">
      <dsp:nvSpPr>
        <dsp:cNvPr id="0" name=""/>
        <dsp:cNvSpPr/>
      </dsp:nvSpPr>
      <dsp:spPr>
        <a:xfrm rot="10800000">
          <a:off x="8829712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rgbClr val="00B0F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8973620" y="3260654"/>
        <a:ext cx="335784" cy="336690"/>
      </dsp:txXfrm>
    </dsp:sp>
    <dsp:sp modelId="{529FCC09-4687-E147-80E8-2EB7609DC9CF}">
      <dsp:nvSpPr>
        <dsp:cNvPr id="0" name=""/>
        <dsp:cNvSpPr/>
      </dsp:nvSpPr>
      <dsp:spPr>
        <a:xfrm>
          <a:off x="6340740" y="2750189"/>
          <a:ext cx="2262701" cy="1357621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Interpretation</a:t>
          </a:r>
        </a:p>
      </dsp:txBody>
      <dsp:txXfrm>
        <a:off x="6380503" y="2789952"/>
        <a:ext cx="2183175" cy="1278095"/>
      </dsp:txXfrm>
    </dsp:sp>
    <dsp:sp modelId="{5381123D-2C93-3241-8E06-B77D04CAE8EC}">
      <dsp:nvSpPr>
        <dsp:cNvPr id="0" name=""/>
        <dsp:cNvSpPr/>
      </dsp:nvSpPr>
      <dsp:spPr>
        <a:xfrm rot="10800000">
          <a:off x="5661929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5805837" y="3260654"/>
        <a:ext cx="335784" cy="336690"/>
      </dsp:txXfrm>
    </dsp:sp>
    <dsp:sp modelId="{1850AAD1-4903-FE47-A71D-0B73E666CD99}">
      <dsp:nvSpPr>
        <dsp:cNvPr id="0" name=""/>
        <dsp:cNvSpPr/>
      </dsp:nvSpPr>
      <dsp:spPr>
        <a:xfrm>
          <a:off x="3172957" y="2750189"/>
          <a:ext cx="2262701" cy="1357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Dealing with Bias and Fairness</a:t>
          </a:r>
        </a:p>
      </dsp:txBody>
      <dsp:txXfrm>
        <a:off x="3212720" y="2789952"/>
        <a:ext cx="2183175" cy="1278095"/>
      </dsp:txXfrm>
    </dsp:sp>
    <dsp:sp modelId="{D7CE2DAE-ABF0-9641-AE1A-0DB79AEBD84A}">
      <dsp:nvSpPr>
        <dsp:cNvPr id="0" name=""/>
        <dsp:cNvSpPr/>
      </dsp:nvSpPr>
      <dsp:spPr>
        <a:xfrm rot="10800000">
          <a:off x="2494147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2638055" y="3260654"/>
        <a:ext cx="335784" cy="336690"/>
      </dsp:txXfrm>
    </dsp:sp>
    <dsp:sp modelId="{0538887E-FF31-324E-B401-E87E44AFF0AA}">
      <dsp:nvSpPr>
        <dsp:cNvPr id="0" name=""/>
        <dsp:cNvSpPr/>
      </dsp:nvSpPr>
      <dsp:spPr>
        <a:xfrm>
          <a:off x="5175" y="2750189"/>
          <a:ext cx="2262701" cy="135762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Field Trial Design</a:t>
          </a:r>
        </a:p>
      </dsp:txBody>
      <dsp:txXfrm>
        <a:off x="44938" y="2789952"/>
        <a:ext cx="2183175" cy="1278095"/>
      </dsp:txXfrm>
    </dsp:sp>
    <dsp:sp modelId="{92EB25B1-D4AE-754E-BD44-115E26D1FF80}">
      <dsp:nvSpPr>
        <dsp:cNvPr id="0" name=""/>
        <dsp:cNvSpPr/>
      </dsp:nvSpPr>
      <dsp:spPr>
        <a:xfrm rot="5400000">
          <a:off x="896679" y="4266199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968180" y="4306928"/>
        <a:ext cx="336690" cy="335784"/>
      </dsp:txXfrm>
    </dsp:sp>
    <dsp:sp modelId="{C225C079-1737-3742-99A0-0A7B593214FB}">
      <dsp:nvSpPr>
        <dsp:cNvPr id="0" name=""/>
        <dsp:cNvSpPr/>
      </dsp:nvSpPr>
      <dsp:spPr>
        <a:xfrm>
          <a:off x="5175" y="5012891"/>
          <a:ext cx="2262701" cy="135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Deployment</a:t>
          </a:r>
        </a:p>
      </dsp:txBody>
      <dsp:txXfrm>
        <a:off x="44938" y="5052654"/>
        <a:ext cx="2183175" cy="1278095"/>
      </dsp:txXfrm>
    </dsp:sp>
    <dsp:sp modelId="{C8297064-9915-AB4E-A9CB-FFEA8FC197B9}">
      <dsp:nvSpPr>
        <dsp:cNvPr id="0" name=""/>
        <dsp:cNvSpPr/>
      </dsp:nvSpPr>
      <dsp:spPr>
        <a:xfrm>
          <a:off x="2466994" y="5411126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466994" y="5523356"/>
        <a:ext cx="335784" cy="336690"/>
      </dsp:txXfrm>
    </dsp:sp>
    <dsp:sp modelId="{098F0226-B690-1B45-B506-7C933BFB7998}">
      <dsp:nvSpPr>
        <dsp:cNvPr id="0" name=""/>
        <dsp:cNvSpPr/>
      </dsp:nvSpPr>
      <dsp:spPr>
        <a:xfrm>
          <a:off x="3172957" y="5012891"/>
          <a:ext cx="2262701" cy="135762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Monitoring</a:t>
          </a:r>
        </a:p>
      </dsp:txBody>
      <dsp:txXfrm>
        <a:off x="3212720" y="5052654"/>
        <a:ext cx="2183175" cy="12780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3a827b83f3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3a827b83f3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8311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3a827b83f3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3a827b83f3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75196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3a827b83f3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3a827b83f3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7519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6dad9273e7_0_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g6dad9273e7_0_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g6dad9273e7_0_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6dad9273e7_0_8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g6dad9273e7_0_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dad9273e7_0_11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6dad9273e7_0_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g6dad9273e7_0_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g6dad9273e7_0_11"/>
          <p:cNvSpPr/>
          <p:nvPr/>
        </p:nvSpPr>
        <p:spPr>
          <a:xfrm>
            <a:off x="-14200" y="-36767"/>
            <a:ext cx="12220500" cy="1010161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6dad9273e7_0_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6dad9273e7_0_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g6dad9273e7_0_16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9" name="Google Shape;29;g6dad9273e7_0_1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6dad9273e7_0_53"/>
          <p:cNvSpPr txBox="1">
            <a:spLocks noGrp="1"/>
          </p:cNvSpPr>
          <p:nvPr>
            <p:ph type="body" idx="1"/>
          </p:nvPr>
        </p:nvSpPr>
        <p:spPr>
          <a:xfrm>
            <a:off x="268210" y="1588503"/>
            <a:ext cx="11666400" cy="49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 rtl="0"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 dirty="0"/>
          </a:p>
        </p:txBody>
      </p:sp>
      <p:sp>
        <p:nvSpPr>
          <p:cNvPr id="64" name="Google Shape;64;g6dad9273e7_0_53"/>
          <p:cNvSpPr txBox="1"/>
          <p:nvPr/>
        </p:nvSpPr>
        <p:spPr>
          <a:xfrm>
            <a:off x="5410" y="11929"/>
            <a:ext cx="12192000" cy="1353806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3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058E15-DEBE-0941-A587-4DF3467F6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558" y="418466"/>
            <a:ext cx="11360700" cy="763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5143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2818" y="1166412"/>
            <a:ext cx="11666363" cy="495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0" y="16619"/>
            <a:ext cx="12192000" cy="120663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 dirty="0">
              <a:latin typeface="Arial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412"/>
            <a:ext cx="12192000" cy="1143000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026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E35051-1952-58C9-5212-62210AF0122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197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5128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341489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6434064"/>
            <a:ext cx="12192000" cy="4239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 dirty="0">
              <a:latin typeface="Arial"/>
              <a:cs typeface="Arial"/>
            </a:endParaRPr>
          </a:p>
          <a:p>
            <a:pPr algn="l"/>
            <a:r>
              <a:rPr lang="en-US" sz="1400" dirty="0" err="1">
                <a:latin typeface="Arial"/>
                <a:cs typeface="Arial"/>
              </a:rPr>
              <a:t>Rayid</a:t>
            </a:r>
            <a:r>
              <a:rPr lang="en-US" sz="1400" baseline="0" dirty="0">
                <a:latin typeface="Arial"/>
                <a:cs typeface="Arial"/>
              </a:rPr>
              <a:t> </a:t>
            </a:r>
            <a:r>
              <a:rPr lang="en-US" sz="1400" baseline="0" dirty="0" err="1">
                <a:latin typeface="Arial"/>
                <a:cs typeface="Arial"/>
              </a:rPr>
              <a:t>Ghani</a:t>
            </a:r>
            <a:r>
              <a:rPr lang="en-US" sz="1400" baseline="0" dirty="0">
                <a:latin typeface="Arial"/>
                <a:cs typeface="Arial"/>
              </a:rPr>
              <a:t>															@</a:t>
            </a:r>
            <a:r>
              <a:rPr lang="en-US" sz="1400" baseline="0" dirty="0" err="1">
                <a:latin typeface="Arial"/>
                <a:cs typeface="Arial"/>
              </a:rPr>
              <a:t>rayidghani</a:t>
            </a:r>
            <a:r>
              <a:rPr lang="en-US" sz="1400" baseline="0" dirty="0">
                <a:latin typeface="Arial"/>
                <a:cs typeface="Arial"/>
              </a:rPr>
              <a:t>				</a:t>
            </a:r>
            <a:endParaRPr lang="en-US" sz="1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0919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2818" y="1166412"/>
            <a:ext cx="11666363" cy="495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0" y="16619"/>
            <a:ext cx="12192000" cy="120663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 dirty="0">
              <a:latin typeface="Arial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412"/>
            <a:ext cx="12192000" cy="1143000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144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12F8-2DE2-6B40-83C5-731724CAE2B0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A5543-5B78-C749-93A6-E6A0D0050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801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12F8-2DE2-6B40-83C5-731724CAE2B0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A5543-5B78-C749-93A6-E6A0D0050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6465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12F8-2DE2-6B40-83C5-731724CAE2B0}" type="datetimeFigureOut">
              <a:rPr lang="en-US" smtClean="0"/>
              <a:t>9/16/26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A5543-5B78-C749-93A6-E6A0D0050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933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12F8-2DE2-6B40-83C5-731724CAE2B0}" type="datetimeFigureOut">
              <a:rPr lang="en-US" smtClean="0"/>
              <a:t>9/16/26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A5543-5B78-C749-93A6-E6A0D0050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034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6dad9273e7_0_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g6dad9273e7_0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g6dad9273e7_0_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7" r:id="rId5"/>
    <p:sldLayoutId id="2147483668" r:id="rId6"/>
    <p:sldLayoutId id="2147483669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0312F8-2DE2-6B40-83C5-731724CAE2B0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1A5543-5B78-C749-93A6-E6A0D0050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103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powerpoint-polling?utm_source=powerpoint&amp;utm_medium=placeholder-slide" TargetMode="External"/><Relationship Id="rId3" Type="http://schemas.openxmlformats.org/officeDocument/2006/relationships/tags" Target="../tags/tag4.xml"/><Relationship Id="rId7" Type="http://schemas.openxmlformats.org/officeDocument/2006/relationships/image" Target="../media/image2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4.svg"/><Relationship Id="rId5" Type="http://schemas.openxmlformats.org/officeDocument/2006/relationships/tags" Target="../tags/tag6.xml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tags" Target="../tags/tag5.xml"/><Relationship Id="rId9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/>
        </p:nvSpPr>
        <p:spPr>
          <a:xfrm>
            <a:off x="0" y="648464"/>
            <a:ext cx="12192000" cy="23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 dirty="0">
                <a:solidFill>
                  <a:schemeClr val="dk1"/>
                </a:solidFill>
              </a:rPr>
              <a:t>Model Selection (and “Validation”)</a:t>
            </a:r>
            <a:endParaRPr sz="3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000000"/>
              </a:solidFill>
            </a:endParaRPr>
          </a:p>
        </p:txBody>
      </p:sp>
      <p:sp>
        <p:nvSpPr>
          <p:cNvPr id="70" name="Google Shape;70;p1"/>
          <p:cNvSpPr txBox="1"/>
          <p:nvPr/>
        </p:nvSpPr>
        <p:spPr>
          <a:xfrm>
            <a:off x="0" y="3429513"/>
            <a:ext cx="121920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595959"/>
                </a:solidFill>
              </a:rPr>
              <a:t>Rayid Ghani</a:t>
            </a:r>
            <a:endParaRPr sz="2800" dirty="0">
              <a:solidFill>
                <a:srgbClr val="595959"/>
              </a:solidFill>
            </a:endParaRPr>
          </a:p>
        </p:txBody>
      </p:sp>
      <p:pic>
        <p:nvPicPr>
          <p:cNvPr id="71" name="Google Shape;71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9638" y="4968362"/>
            <a:ext cx="5192713" cy="1813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3B702-ED77-884E-88F7-92D73313F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for the week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1BAD4-F7FB-1D48-9D37-2273592A7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you should be discussing this week within your team</a:t>
            </a:r>
          </a:p>
          <a:p>
            <a:pPr lvl="1"/>
            <a:r>
              <a:rPr lang="en-US" dirty="0"/>
              <a:t>Finalizing your goals and data</a:t>
            </a:r>
          </a:p>
          <a:p>
            <a:pPr lvl="1"/>
            <a:r>
              <a:rPr lang="en-US" dirty="0"/>
              <a:t>analytical formulation and baselines to compare against</a:t>
            </a:r>
          </a:p>
          <a:p>
            <a:pPr lvl="1"/>
            <a:endParaRPr lang="en-US" dirty="0"/>
          </a:p>
          <a:p>
            <a:r>
              <a:rPr lang="en-US" dirty="0"/>
              <a:t>What you should be building this week</a:t>
            </a:r>
          </a:p>
          <a:p>
            <a:pPr lvl="1"/>
            <a:r>
              <a:rPr lang="en-US" dirty="0"/>
              <a:t>V0 of your ML pipeline shell</a:t>
            </a:r>
          </a:p>
        </p:txBody>
      </p:sp>
    </p:spTree>
    <p:extLst>
      <p:ext uri="{BB962C8B-B14F-4D97-AF65-F5344CB8AC3E}">
        <p14:creationId xmlns:p14="http://schemas.microsoft.com/office/powerpoint/2010/main" val="2336692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Question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600BA7-FA45-884F-9820-9E5F2CB7AA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 algn="ctr">
              <a:buNone/>
            </a:pPr>
            <a:r>
              <a:rPr lang="en-US" sz="3600" dirty="0"/>
              <a:t>What model selection strategy is your group considering for the Donors Choose project?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CF60459-98F0-E844-AFCC-DC0705B0478D}"/>
              </a:ext>
            </a:extLst>
          </p:cNvPr>
          <p:cNvSpPr txBox="1">
            <a:spLocks/>
          </p:cNvSpPr>
          <p:nvPr/>
        </p:nvSpPr>
        <p:spPr>
          <a:xfrm>
            <a:off x="3652513" y="3822585"/>
            <a:ext cx="4886875" cy="279457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121900" tIns="121900" rIns="121900" bIns="12190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 algn="ctr">
              <a:buFont typeface="Arial"/>
              <a:buNone/>
            </a:pPr>
            <a:r>
              <a:rPr lang="en-US" sz="4800" dirty="0" err="1"/>
              <a:t>sli.do</a:t>
            </a:r>
            <a:r>
              <a:rPr lang="en-US" sz="4800" dirty="0"/>
              <a:t>      #10718</a:t>
            </a:r>
          </a:p>
          <a:p>
            <a:pPr algn="ctr"/>
            <a:endParaRPr lang="en-US" sz="4800" dirty="0"/>
          </a:p>
          <a:p>
            <a:pPr marL="114300" indent="0" algn="ctr">
              <a:buFont typeface="Arial"/>
              <a:buNone/>
            </a:pPr>
            <a:r>
              <a:rPr lang="en-US" sz="4800" dirty="0" err="1"/>
              <a:t>sli.do</a:t>
            </a:r>
            <a:r>
              <a:rPr lang="en-US" sz="4800" dirty="0"/>
              <a:t>/10718</a:t>
            </a:r>
          </a:p>
        </p:txBody>
      </p:sp>
    </p:spTree>
    <p:extLst>
      <p:ext uri="{BB962C8B-B14F-4D97-AF65-F5344CB8AC3E}">
        <p14:creationId xmlns:p14="http://schemas.microsoft.com/office/powerpoint/2010/main" val="584125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77A53D-8ACF-4BAF-4B38-5CE69E5F645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4F899F-FE60-6768-AB0D-FB82AA92A14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What model selection strategy is your group considering for your project?
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626887-C08E-18C9-1755-6DCB8D7E362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197C310-819F-D377-2FE1-A2AB9B6C1EE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60C27DE2-C7CD-6789-6F46-01623CF7BFF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CD1E78A-A8FA-C995-803E-129941DA4FC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23973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F2A94-A63F-6149-AA28-2E35B60E3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E902576-68A9-6E48-B0FE-5B1889953DC8}"/>
              </a:ext>
            </a:extLst>
          </p:cNvPr>
          <p:cNvGraphicFramePr/>
          <p:nvPr/>
        </p:nvGraphicFramePr>
        <p:xfrm>
          <a:off x="180467" y="0"/>
          <a:ext cx="117764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2C99BF2-C81A-5246-89D3-E49BCDCAD699}"/>
              </a:ext>
            </a:extLst>
          </p:cNvPr>
          <p:cNvSpPr/>
          <p:nvPr/>
        </p:nvSpPr>
        <p:spPr>
          <a:xfrm>
            <a:off x="9553197" y="2534144"/>
            <a:ext cx="2534195" cy="1789611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54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Here’s how we typically solve a prediction problem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Define and Create Rows (unit of prediction – what units and when?)</a:t>
            </a:r>
          </a:p>
          <a:p>
            <a:pPr>
              <a:lnSpc>
                <a:spcPct val="150000"/>
              </a:lnSpc>
            </a:pPr>
            <a:r>
              <a:rPr lang="en-US" dirty="0"/>
              <a:t>Define and Create Label (outcome/target variable – what event and when?)</a:t>
            </a:r>
          </a:p>
          <a:p>
            <a:pPr>
              <a:lnSpc>
                <a:spcPct val="150000"/>
              </a:lnSpc>
            </a:pPr>
            <a:r>
              <a:rPr lang="en-US" dirty="0"/>
              <a:t>Define and Create Features (features/predictors)</a:t>
            </a:r>
          </a:p>
          <a:p>
            <a:pPr>
              <a:lnSpc>
                <a:spcPct val="150000"/>
              </a:lnSpc>
            </a:pPr>
            <a:r>
              <a:rPr lang="en-US" dirty="0"/>
              <a:t>Create Training and Validation/Test Sets</a:t>
            </a:r>
          </a:p>
          <a:p>
            <a:pPr>
              <a:lnSpc>
                <a:spcPct val="150000"/>
              </a:lnSpc>
            </a:pPr>
            <a:r>
              <a:rPr lang="en-US" dirty="0"/>
              <a:t>Train model(s) on Training Set(s)</a:t>
            </a:r>
          </a:p>
          <a:p>
            <a:pPr>
              <a:lnSpc>
                <a:spcPct val="150000"/>
              </a:lnSpc>
            </a:pPr>
            <a:r>
              <a:rPr lang="en-US" dirty="0"/>
              <a:t>Validate model(s) on Validation/Test Set(s)</a:t>
            </a:r>
          </a:p>
          <a:p>
            <a:pPr>
              <a:lnSpc>
                <a:spcPct val="150000"/>
              </a:lnSpc>
            </a:pPr>
            <a:r>
              <a:rPr lang="en-US" dirty="0"/>
              <a:t>Select “best” model to use</a:t>
            </a:r>
          </a:p>
        </p:txBody>
      </p:sp>
    </p:spTree>
    <p:extLst>
      <p:ext uri="{BB962C8B-B14F-4D97-AF65-F5344CB8AC3E}">
        <p14:creationId xmlns:p14="http://schemas.microsoft.com/office/powerpoint/2010/main" val="1362212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5A4CE-AFDD-8742-9A6E-BE2092DF9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goal of model selection?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F1C4C-EA36-C547-9888-F6FE781841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You’ve run a large number of different types of models varying model types, hyperparameters, features, … (other decisions in the pipeline)</a:t>
            </a:r>
          </a:p>
          <a:p>
            <a:endParaRPr lang="en-US" dirty="0"/>
          </a:p>
          <a:p>
            <a:r>
              <a:rPr lang="en-US" dirty="0"/>
              <a:t>Now we need to 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978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goal of model selection?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You’ve run a large number of different types of models varying model types, hyperparameters, features, … (other decisions in the pipeline such as FMs only or FMs + Fine-tuning, etc.)</a:t>
            </a:r>
          </a:p>
          <a:p>
            <a:endParaRPr lang="en-US" sz="2800" dirty="0"/>
          </a:p>
          <a:p>
            <a:r>
              <a:rPr lang="en-US" sz="2800" dirty="0"/>
              <a:t>Now we need to </a:t>
            </a:r>
          </a:p>
          <a:p>
            <a:pPr lvl="1"/>
            <a:r>
              <a:rPr lang="en-US" sz="2800" dirty="0"/>
              <a:t>Understand what types of models are effective under what circumstances</a:t>
            </a:r>
          </a:p>
          <a:p>
            <a:pPr lvl="1"/>
            <a:r>
              <a:rPr lang="en-US" sz="2800" dirty="0"/>
              <a:t>Decide which one(s) to use in the </a:t>
            </a:r>
            <a:r>
              <a:rPr lang="en-US" sz="2800" b="1" dirty="0"/>
              <a:t>future</a:t>
            </a:r>
          </a:p>
        </p:txBody>
      </p:sp>
    </p:spTree>
    <p:extLst>
      <p:ext uri="{BB962C8B-B14F-4D97-AF65-F5344CB8AC3E}">
        <p14:creationId xmlns:p14="http://schemas.microsoft.com/office/powerpoint/2010/main" val="423896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C2C959-72F2-EF4D-80DA-F48A29D0F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we need our selected model to do?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3BAFF-48B6-9046-94F3-CBF50B2F21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poll</a:t>
            </a:r>
          </a:p>
        </p:txBody>
      </p:sp>
    </p:spTree>
    <p:extLst>
      <p:ext uri="{BB962C8B-B14F-4D97-AF65-F5344CB8AC3E}">
        <p14:creationId xmlns:p14="http://schemas.microsoft.com/office/powerpoint/2010/main" val="106807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6024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C2C959-72F2-EF4D-80DA-F48A29D0F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we need our selected model to do?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A75FF1-9EFE-0F41-92F5-3E749CFB2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3638240" cy="4555200"/>
          </a:xfrm>
        </p:spPr>
        <p:txBody>
          <a:bodyPr/>
          <a:lstStyle/>
          <a:p>
            <a:r>
              <a:rPr lang="en-US" dirty="0"/>
              <a:t>Perform well</a:t>
            </a:r>
          </a:p>
          <a:p>
            <a:pPr lvl="1"/>
            <a:r>
              <a:rPr lang="en-US" dirty="0"/>
              <a:t>What metric?</a:t>
            </a:r>
          </a:p>
          <a:p>
            <a:pPr lvl="1"/>
            <a:r>
              <a:rPr lang="en-US" dirty="0"/>
              <a:t>Compared to what?</a:t>
            </a:r>
          </a:p>
          <a:p>
            <a:endParaRPr lang="en-US" dirty="0"/>
          </a:p>
          <a:p>
            <a:r>
              <a:rPr lang="en-US" dirty="0"/>
              <a:t>Generalize</a:t>
            </a:r>
          </a:p>
          <a:p>
            <a:pPr lvl="1"/>
            <a:r>
              <a:rPr lang="en-US" dirty="0"/>
              <a:t>To what?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AA52816-075F-8FD7-C29E-A34BD83C1ABA}"/>
              </a:ext>
            </a:extLst>
          </p:cNvPr>
          <p:cNvGrpSpPr/>
          <p:nvPr/>
        </p:nvGrpSpPr>
        <p:grpSpPr>
          <a:xfrm>
            <a:off x="3952240" y="1615440"/>
            <a:ext cx="2470961" cy="1920240"/>
            <a:chOff x="3952240" y="1615440"/>
            <a:chExt cx="2470961" cy="1920240"/>
          </a:xfrm>
        </p:grpSpPr>
        <p:sp>
          <p:nvSpPr>
            <p:cNvPr id="2" name="Right Bracket 1">
              <a:extLst>
                <a:ext uri="{FF2B5EF4-FFF2-40B4-BE49-F238E27FC236}">
                  <a16:creationId xmlns:a16="http://schemas.microsoft.com/office/drawing/2014/main" id="{52EEBC2C-75C7-50D5-1640-0CCDAAB3F4A5}"/>
                </a:ext>
              </a:extLst>
            </p:cNvPr>
            <p:cNvSpPr/>
            <p:nvPr/>
          </p:nvSpPr>
          <p:spPr>
            <a:xfrm>
              <a:off x="3952240" y="1615440"/>
              <a:ext cx="386080" cy="1920240"/>
            </a:xfrm>
            <a:prstGeom prst="rightBracket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0E8F23D-7974-5FB2-3717-B3EC420FBF0B}"/>
                </a:ext>
              </a:extLst>
            </p:cNvPr>
            <p:cNvSpPr txBox="1"/>
            <p:nvPr/>
          </p:nvSpPr>
          <p:spPr>
            <a:xfrm>
              <a:off x="4500880" y="2313950"/>
              <a:ext cx="192232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Next Class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11643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5F760-7AED-6C4E-8EBB-B33C61A34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should the model we select generalize to?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6060D-EB73-4740-88AA-06B0DF950E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it for each project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38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we need to know to perform model selection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Deployment scenario</a:t>
            </a:r>
          </a:p>
          <a:p>
            <a:pPr lvl="1"/>
            <a:r>
              <a:rPr lang="en-US" dirty="0"/>
              <a:t>Model Selection Methodology</a:t>
            </a:r>
          </a:p>
          <a:p>
            <a:pPr lvl="1"/>
            <a:r>
              <a:rPr lang="en-US" dirty="0"/>
              <a:t>Metric(s) (need to match your initial goals)</a:t>
            </a:r>
          </a:p>
          <a:p>
            <a:endParaRPr lang="en-US" dirty="0"/>
          </a:p>
          <a:p>
            <a:r>
              <a:rPr lang="en-US" dirty="0"/>
              <a:t>Comparison with baselines (to know if you’re effective)</a:t>
            </a:r>
          </a:p>
        </p:txBody>
      </p:sp>
    </p:spTree>
    <p:extLst>
      <p:ext uri="{BB962C8B-B14F-4D97-AF65-F5344CB8AC3E}">
        <p14:creationId xmlns:p14="http://schemas.microsoft.com/office/powerpoint/2010/main" val="3544907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B214A-DDAD-0F43-B96B-4C37FD084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select a model that does that?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F38AB-BE42-AD40-8874-9861CDBB99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515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BBEB6-4D97-B0BE-EAE1-A0265E782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86563"/>
            <a:ext cx="11684960" cy="763500"/>
          </a:xfrm>
        </p:spPr>
        <p:txBody>
          <a:bodyPr/>
          <a:lstStyle/>
          <a:p>
            <a:r>
              <a:rPr lang="en-US" sz="2800" dirty="0"/>
              <a:t>Underlying principle: match methodology to match test/inference-time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7EE5AAC-5AE6-EE1F-EAC9-B25814C12B99}"/>
              </a:ext>
            </a:extLst>
          </p:cNvPr>
          <p:cNvSpPr txBox="1">
            <a:spLocks/>
          </p:cNvSpPr>
          <p:nvPr/>
        </p:nvSpPr>
        <p:spPr>
          <a:xfrm>
            <a:off x="415600" y="1151400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indent="0">
              <a:buFont typeface="Arial"/>
              <a:buNone/>
            </a:pPr>
            <a:r>
              <a:rPr lang="en-US" sz="3600" dirty="0"/>
              <a:t>How does the potential test-time distribution differ from training?</a:t>
            </a:r>
          </a:p>
          <a:p>
            <a:pPr marL="76200" indent="0">
              <a:buFont typeface="Arial"/>
              <a:buNone/>
            </a:pPr>
            <a:endParaRPr lang="en-US" dirty="0"/>
          </a:p>
          <a:p>
            <a:r>
              <a:rPr lang="en-US" dirty="0"/>
              <a:t>No shift: training data is IID, test data will be IID from same distribution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Time series setting: data is not IID, future will not look like resampled present</a:t>
            </a:r>
            <a:br>
              <a:rPr lang="en-US" dirty="0"/>
            </a:br>
            <a:endParaRPr lang="en-US" dirty="0"/>
          </a:p>
          <a:p>
            <a:r>
              <a:rPr lang="en-US" dirty="0"/>
              <a:t>Cluster structure, e.g. students within classrooms within schools. Test-time might be better modeled at a higher cluster level (generalizing to new schools) than within clusters (generalizing to new students within a school we’ve seen)</a:t>
            </a:r>
          </a:p>
        </p:txBody>
      </p:sp>
    </p:spTree>
    <p:extLst>
      <p:ext uri="{BB962C8B-B14F-4D97-AF65-F5344CB8AC3E}">
        <p14:creationId xmlns:p14="http://schemas.microsoft.com/office/powerpoint/2010/main" val="1205019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Selection - Methodology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In-sample</a:t>
            </a:r>
          </a:p>
          <a:p>
            <a:r>
              <a:rPr lang="en-US" dirty="0"/>
              <a:t>Out of sample</a:t>
            </a:r>
          </a:p>
          <a:p>
            <a:r>
              <a:rPr lang="en-US" dirty="0"/>
              <a:t>Multiple Out-of-sample (Hold-out) Splits</a:t>
            </a:r>
          </a:p>
          <a:p>
            <a:r>
              <a:rPr lang="en-US" dirty="0"/>
              <a:t>Cross Validation</a:t>
            </a:r>
          </a:p>
          <a:p>
            <a:pPr lvl="1"/>
            <a:r>
              <a:rPr lang="en-US" dirty="0"/>
              <a:t>Leave one out (LOO)</a:t>
            </a:r>
          </a:p>
          <a:p>
            <a:pPr lvl="1"/>
            <a:r>
              <a:rPr lang="en-US" dirty="0"/>
              <a:t>K fold</a:t>
            </a:r>
          </a:p>
          <a:p>
            <a:r>
              <a:rPr lang="en-US" dirty="0"/>
              <a:t>Temporal Holdouts</a:t>
            </a:r>
          </a:p>
          <a:p>
            <a:r>
              <a:rPr lang="en-US" dirty="0"/>
              <a:t>Spatial Holdouts</a:t>
            </a:r>
          </a:p>
          <a:p>
            <a:r>
              <a:rPr lang="en-US" dirty="0"/>
              <a:t>Other Holdouts?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3CE8EA-CE15-3C69-CACB-79436E1E5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850" y="1206500"/>
            <a:ext cx="4950049" cy="521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7269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147EA-4092-034E-8792-847E37175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07A3F-596E-1542-A461-8EE389BA1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dirty="0"/>
              <a:t>1: We want to track news coverage of epidemic related topics. We have tagged a small corpus (n=1000) of news articles from Jan 2023 to September 2025 and now have a stream of new incoming articles every day. We want to deploy a system that tracks the volume of coverage by media outlet going forward.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dirty="0"/>
              <a:t>What should our model generalize to?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dirty="0"/>
              <a:t>What is a training set?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dirty="0"/>
              <a:t>What is the corresponding validation set?</a:t>
            </a:r>
          </a:p>
        </p:txBody>
      </p:sp>
    </p:spTree>
    <p:extLst>
      <p:ext uri="{BB962C8B-B14F-4D97-AF65-F5344CB8AC3E}">
        <p14:creationId xmlns:p14="http://schemas.microsoft.com/office/powerpoint/2010/main" val="10964522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147EA-4092-034E-8792-847E37175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07A3F-596E-1542-A461-8EE389BA1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dirty="0"/>
              <a:t>2: We want to track news coverage of epidemic related topics. We have tagged a small corpus (n=1000) of news from Jan 2023 to September 2025 and now have a stream of new incoming articles every day. We want to deploy a system that tracks volume of coverage by media outlet over the last 2 years as well as going forward.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dirty="0"/>
              <a:t>What should our model generalize to?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dirty="0"/>
              <a:t>What is a training set?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dirty="0"/>
              <a:t>What is the corresponding validation set?</a:t>
            </a:r>
          </a:p>
        </p:txBody>
      </p:sp>
    </p:spTree>
    <p:extLst>
      <p:ext uri="{BB962C8B-B14F-4D97-AF65-F5344CB8AC3E}">
        <p14:creationId xmlns:p14="http://schemas.microsoft.com/office/powerpoint/2010/main" val="10744337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147EA-4092-034E-8792-847E37175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07A3F-596E-1542-A461-8EE389BA1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dirty="0"/>
              <a:t>3: We want to predict whether there will be an increase in epidemic related articles in the media during the next week. 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dirty="0"/>
              <a:t>What should our model generalize to?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dirty="0"/>
              <a:t>What is a training set?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dirty="0"/>
              <a:t>What is the corresponding validation set?</a:t>
            </a:r>
          </a:p>
        </p:txBody>
      </p:sp>
    </p:spTree>
    <p:extLst>
      <p:ext uri="{BB962C8B-B14F-4D97-AF65-F5344CB8AC3E}">
        <p14:creationId xmlns:p14="http://schemas.microsoft.com/office/powerpoint/2010/main" val="39992520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147EA-4092-034E-8792-847E37175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07A3F-596E-1542-A461-8EE389BA1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dirty="0"/>
              <a:t>4: We want to predict whether there will be an increase in epidemic related articles in the media during the next month. 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dirty="0"/>
              <a:t>What should our model generalize to?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dirty="0"/>
              <a:t>What is a training set?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dirty="0"/>
              <a:t>What is the corresponding validation set?</a:t>
            </a:r>
          </a:p>
        </p:txBody>
      </p:sp>
    </p:spTree>
    <p:extLst>
      <p:ext uri="{BB962C8B-B14F-4D97-AF65-F5344CB8AC3E}">
        <p14:creationId xmlns:p14="http://schemas.microsoft.com/office/powerpoint/2010/main" val="11474177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E49ADA-B971-3A74-683D-F7E6AB709A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3" name="Google Shape;203;p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 dirty="0"/>
              <a:t>Temporal Validation Review -- Example</a:t>
            </a:r>
            <a:endParaRPr dirty="0"/>
          </a:p>
        </p:txBody>
      </p:sp>
      <p:sp>
        <p:nvSpPr>
          <p:cNvPr id="204" name="Google Shape;204;p38"/>
          <p:cNvSpPr/>
          <p:nvPr/>
        </p:nvSpPr>
        <p:spPr>
          <a:xfrm>
            <a:off x="190320" y="1463207"/>
            <a:ext cx="3124000" cy="42044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SzPts val="1400"/>
            </a:pPr>
            <a:endParaRPr sz="1867"/>
          </a:p>
        </p:txBody>
      </p:sp>
      <p:sp>
        <p:nvSpPr>
          <p:cNvPr id="205" name="Google Shape;205;p38"/>
          <p:cNvSpPr txBox="1"/>
          <p:nvPr/>
        </p:nvSpPr>
        <p:spPr>
          <a:xfrm>
            <a:off x="3566453" y="1341573"/>
            <a:ext cx="8531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2133"/>
              </a:spcAft>
            </a:pPr>
            <a:r>
              <a:rPr lang="en" sz="3467" dirty="0">
                <a:solidFill>
                  <a:srgbClr val="FF0000"/>
                </a:solidFill>
              </a:rPr>
              <a:t>On the first day of every month</a:t>
            </a:r>
            <a:r>
              <a:rPr lang="en" sz="3467" dirty="0">
                <a:solidFill>
                  <a:srgbClr val="595959"/>
                </a:solidFill>
              </a:rPr>
              <a:t>, for </a:t>
            </a:r>
            <a:r>
              <a:rPr lang="en" sz="3467" dirty="0">
                <a:solidFill>
                  <a:srgbClr val="0000FF"/>
                </a:solidFill>
              </a:rPr>
              <a:t>all individuals residing in PA</a:t>
            </a:r>
            <a:r>
              <a:rPr lang="en" sz="3467" dirty="0">
                <a:solidFill>
                  <a:srgbClr val="595959"/>
                </a:solidFill>
              </a:rPr>
              <a:t>, can we identify </a:t>
            </a:r>
            <a:r>
              <a:rPr lang="en" sz="3467" dirty="0">
                <a:solidFill>
                  <a:srgbClr val="FF00FF"/>
                </a:solidFill>
              </a:rPr>
              <a:t>500 people </a:t>
            </a:r>
            <a:r>
              <a:rPr lang="en" sz="3467" dirty="0">
                <a:solidFill>
                  <a:srgbClr val="595959"/>
                </a:solidFill>
              </a:rPr>
              <a:t>with a </a:t>
            </a:r>
            <a:r>
              <a:rPr lang="en" sz="3467" dirty="0">
                <a:solidFill>
                  <a:srgbClr val="38761D"/>
                </a:solidFill>
              </a:rPr>
              <a:t>high risk of contracting monkeypox in the next year </a:t>
            </a:r>
            <a:r>
              <a:rPr lang="en" sz="3467" dirty="0">
                <a:solidFill>
                  <a:srgbClr val="B45F06"/>
                </a:solidFill>
              </a:rPr>
              <a:t>to prioritize for vaccine program outreach by the PA Public Health Department</a:t>
            </a:r>
            <a:r>
              <a:rPr lang="en" sz="3467" dirty="0">
                <a:solidFill>
                  <a:srgbClr val="595959"/>
                </a:solidFill>
              </a:rPr>
              <a:t>?</a:t>
            </a:r>
            <a:endParaRPr sz="3467" dirty="0">
              <a:solidFill>
                <a:srgbClr val="595959"/>
              </a:solidFill>
            </a:endParaRPr>
          </a:p>
        </p:txBody>
      </p:sp>
      <p:sp>
        <p:nvSpPr>
          <p:cNvPr id="206" name="Google Shape;206;p38"/>
          <p:cNvSpPr txBox="1"/>
          <p:nvPr/>
        </p:nvSpPr>
        <p:spPr>
          <a:xfrm>
            <a:off x="248120" y="1463207"/>
            <a:ext cx="3008400" cy="7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r>
              <a:rPr lang="en" sz="1867">
                <a:solidFill>
                  <a:srgbClr val="FF0000"/>
                </a:solidFill>
              </a:rPr>
              <a:t>When and How often is the recommendation / decision being made?</a:t>
            </a:r>
            <a:endParaRPr sz="1867">
              <a:solidFill>
                <a:srgbClr val="FF0000"/>
              </a:solidFill>
            </a:endParaRPr>
          </a:p>
        </p:txBody>
      </p:sp>
      <p:sp>
        <p:nvSpPr>
          <p:cNvPr id="207" name="Google Shape;207;p38"/>
          <p:cNvSpPr txBox="1"/>
          <p:nvPr/>
        </p:nvSpPr>
        <p:spPr>
          <a:xfrm>
            <a:off x="253253" y="2632740"/>
            <a:ext cx="3008400" cy="7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br>
              <a:rPr lang="en" sz="1867">
                <a:solidFill>
                  <a:srgbClr val="0000FF"/>
                </a:solidFill>
              </a:rPr>
            </a:br>
            <a:r>
              <a:rPr lang="en" sz="1867">
                <a:solidFill>
                  <a:srgbClr val="0000FF"/>
                </a:solidFill>
              </a:rPr>
              <a:t>Who/what is included in the cohort?</a:t>
            </a:r>
            <a:endParaRPr sz="1867">
              <a:solidFill>
                <a:srgbClr val="0000FF"/>
              </a:solidFill>
            </a:endParaRPr>
          </a:p>
        </p:txBody>
      </p:sp>
      <p:sp>
        <p:nvSpPr>
          <p:cNvPr id="208" name="Google Shape;208;p38"/>
          <p:cNvSpPr txBox="1"/>
          <p:nvPr/>
        </p:nvSpPr>
        <p:spPr>
          <a:xfrm>
            <a:off x="253253" y="3497473"/>
            <a:ext cx="3008400" cy="7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br>
              <a:rPr lang="en" sz="1867">
                <a:solidFill>
                  <a:srgbClr val="FF00FF"/>
                </a:solidFill>
              </a:rPr>
            </a:br>
            <a:r>
              <a:rPr lang="en" sz="1867">
                <a:solidFill>
                  <a:srgbClr val="FF00FF"/>
                </a:solidFill>
              </a:rPr>
              <a:t>What is the output?</a:t>
            </a:r>
            <a:endParaRPr sz="1867">
              <a:solidFill>
                <a:srgbClr val="FF00FF"/>
              </a:solidFill>
            </a:endParaRPr>
          </a:p>
        </p:txBody>
      </p:sp>
      <p:sp>
        <p:nvSpPr>
          <p:cNvPr id="209" name="Google Shape;209;p38"/>
          <p:cNvSpPr txBox="1"/>
          <p:nvPr/>
        </p:nvSpPr>
        <p:spPr>
          <a:xfrm>
            <a:off x="248120" y="4191873"/>
            <a:ext cx="3008400" cy="14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r>
              <a:rPr lang="en" sz="1867">
                <a:solidFill>
                  <a:srgbClr val="274E13"/>
                </a:solidFill>
              </a:rPr>
              <a:t>What outcome are you predicting/estimating?</a:t>
            </a:r>
            <a:endParaRPr sz="1867">
              <a:solidFill>
                <a:srgbClr val="274E13"/>
              </a:solidFill>
            </a:endParaRPr>
          </a:p>
          <a:p>
            <a:pPr>
              <a:buSzPts val="1400"/>
            </a:pPr>
            <a:endParaRPr sz="1867">
              <a:solidFill>
                <a:srgbClr val="274E13"/>
              </a:solidFill>
            </a:endParaRPr>
          </a:p>
          <a:p>
            <a:pPr>
              <a:buSzPts val="1400"/>
            </a:pPr>
            <a:r>
              <a:rPr lang="en" sz="1867">
                <a:solidFill>
                  <a:srgbClr val="B45F06"/>
                </a:solidFill>
              </a:rPr>
              <a:t>For what purpose?</a:t>
            </a:r>
            <a:endParaRPr sz="1867">
              <a:solidFill>
                <a:srgbClr val="274E1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8894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E1D2C-BA22-8563-11F3-AC15E3EF9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93BAE-E1DE-E4FA-9595-894D8AF16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Temporal validation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B8B3BF-CC16-801F-58F8-89227B56C705}"/>
              </a:ext>
            </a:extLst>
          </p:cNvPr>
          <p:cNvSpPr/>
          <p:nvPr/>
        </p:nvSpPr>
        <p:spPr>
          <a:xfrm>
            <a:off x="2971801" y="3344658"/>
            <a:ext cx="3467100" cy="5619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Training 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4885F7-175F-EEA7-9A32-94EA8AD4ABB6}"/>
              </a:ext>
            </a:extLst>
          </p:cNvPr>
          <p:cNvSpPr/>
          <p:nvPr/>
        </p:nvSpPr>
        <p:spPr>
          <a:xfrm>
            <a:off x="6467476" y="3344658"/>
            <a:ext cx="1076324" cy="5619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Validation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04B60C-A42A-2ED9-A22A-C4D9D71AF6BE}"/>
              </a:ext>
            </a:extLst>
          </p:cNvPr>
          <p:cNvSpPr/>
          <p:nvPr/>
        </p:nvSpPr>
        <p:spPr>
          <a:xfrm>
            <a:off x="7543800" y="3344658"/>
            <a:ext cx="1295400" cy="5619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Test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D87195-090D-5412-29E5-18F86AA75FFD}"/>
              </a:ext>
            </a:extLst>
          </p:cNvPr>
          <p:cNvSpPr/>
          <p:nvPr/>
        </p:nvSpPr>
        <p:spPr>
          <a:xfrm>
            <a:off x="456179" y="3344657"/>
            <a:ext cx="2515621" cy="56197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Used for features (only)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690C0C-91B9-FE37-D05A-5E08887C9ED0}"/>
              </a:ext>
            </a:extLst>
          </p:cNvPr>
          <p:cNvSpPr/>
          <p:nvPr/>
        </p:nvSpPr>
        <p:spPr>
          <a:xfrm>
            <a:off x="3771901" y="3906632"/>
            <a:ext cx="3467100" cy="5619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Training set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BBB410-F26E-BF2E-7CAD-82F985CF90FB}"/>
              </a:ext>
            </a:extLst>
          </p:cNvPr>
          <p:cNvSpPr/>
          <p:nvPr/>
        </p:nvSpPr>
        <p:spPr>
          <a:xfrm>
            <a:off x="7267576" y="3906632"/>
            <a:ext cx="1076324" cy="5619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Validation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DE5A89-4AD5-02A2-A3FC-63D49769126F}"/>
              </a:ext>
            </a:extLst>
          </p:cNvPr>
          <p:cNvSpPr/>
          <p:nvPr/>
        </p:nvSpPr>
        <p:spPr>
          <a:xfrm>
            <a:off x="8343900" y="3906632"/>
            <a:ext cx="1295400" cy="5619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Test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6DC37A-A97B-AE87-3BA4-B9A3EF18D905}"/>
              </a:ext>
            </a:extLst>
          </p:cNvPr>
          <p:cNvSpPr/>
          <p:nvPr/>
        </p:nvSpPr>
        <p:spPr>
          <a:xfrm>
            <a:off x="456179" y="3906631"/>
            <a:ext cx="3315721" cy="56197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Used for features (only)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C80CB5-366E-775B-DE6C-B19221ECA5DC}"/>
              </a:ext>
            </a:extLst>
          </p:cNvPr>
          <p:cNvSpPr/>
          <p:nvPr/>
        </p:nvSpPr>
        <p:spPr>
          <a:xfrm>
            <a:off x="4880302" y="4483456"/>
            <a:ext cx="3467100" cy="5619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Training set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5B61EA-94E9-E633-C025-C5693D980500}"/>
              </a:ext>
            </a:extLst>
          </p:cNvPr>
          <p:cNvSpPr/>
          <p:nvPr/>
        </p:nvSpPr>
        <p:spPr>
          <a:xfrm>
            <a:off x="8375977" y="4483456"/>
            <a:ext cx="1076324" cy="5619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Validation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034556-F0D6-4639-F12C-4117B2CDD0C9}"/>
              </a:ext>
            </a:extLst>
          </p:cNvPr>
          <p:cNvSpPr/>
          <p:nvPr/>
        </p:nvSpPr>
        <p:spPr>
          <a:xfrm>
            <a:off x="9452301" y="4483456"/>
            <a:ext cx="1295400" cy="5619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Test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29954D-11FC-8DBC-4E06-70798032820A}"/>
              </a:ext>
            </a:extLst>
          </p:cNvPr>
          <p:cNvSpPr/>
          <p:nvPr/>
        </p:nvSpPr>
        <p:spPr>
          <a:xfrm>
            <a:off x="456179" y="4483455"/>
            <a:ext cx="4424122" cy="56197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Used for features (only)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0FCF5E7-16DD-B9DA-E7BE-57BB2A7202BB}"/>
              </a:ext>
            </a:extLst>
          </p:cNvPr>
          <p:cNvCxnSpPr/>
          <p:nvPr/>
        </p:nvCxnSpPr>
        <p:spPr>
          <a:xfrm>
            <a:off x="11776300" y="2995405"/>
            <a:ext cx="0" cy="2202426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5941D8-D8F1-967F-8850-286A3AC91FAF}"/>
              </a:ext>
            </a:extLst>
          </p:cNvPr>
          <p:cNvCxnSpPr/>
          <p:nvPr/>
        </p:nvCxnSpPr>
        <p:spPr>
          <a:xfrm>
            <a:off x="427603" y="2995405"/>
            <a:ext cx="0" cy="2202426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1BC259D-AFED-1FA9-86F9-86EFD20384D9}"/>
              </a:ext>
            </a:extLst>
          </p:cNvPr>
          <p:cNvSpPr txBox="1"/>
          <p:nvPr/>
        </p:nvSpPr>
        <p:spPr>
          <a:xfrm>
            <a:off x="88490" y="2405149"/>
            <a:ext cx="1297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Start feature availability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5EAD24-3ECF-85BD-F4A1-3AC839AA2D6A}"/>
              </a:ext>
            </a:extLst>
          </p:cNvPr>
          <p:cNvSpPr txBox="1"/>
          <p:nvPr/>
        </p:nvSpPr>
        <p:spPr>
          <a:xfrm>
            <a:off x="11038881" y="2327344"/>
            <a:ext cx="1297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End label availability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18AD8E6-EB61-BC63-FCF2-501F81C8D421}"/>
              </a:ext>
            </a:extLst>
          </p:cNvPr>
          <p:cNvCxnSpPr/>
          <p:nvPr/>
        </p:nvCxnSpPr>
        <p:spPr>
          <a:xfrm flipV="1">
            <a:off x="324465" y="5217495"/>
            <a:ext cx="116413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2746740-1F4B-BEE1-183B-65CA78DFF90E}"/>
                  </a:ext>
                </a:extLst>
              </p:cNvPr>
              <p:cNvSpPr txBox="1"/>
              <p:nvPr/>
            </p:nvSpPr>
            <p:spPr>
              <a:xfrm>
                <a:off x="5638801" y="5345255"/>
                <a:ext cx="322268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9DD6513-60F0-E901-6BAD-EC3715021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1" y="5345255"/>
                <a:ext cx="322268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834FC888-1FCE-9D75-7FC2-CCA4D9056CBD}"/>
              </a:ext>
            </a:extLst>
          </p:cNvPr>
          <p:cNvSpPr txBox="1"/>
          <p:nvPr/>
        </p:nvSpPr>
        <p:spPr>
          <a:xfrm>
            <a:off x="88490" y="352336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1B94AA-B22F-DD10-7B83-FAAD7373BB91}"/>
              </a:ext>
            </a:extLst>
          </p:cNvPr>
          <p:cNvSpPr txBox="1"/>
          <p:nvPr/>
        </p:nvSpPr>
        <p:spPr>
          <a:xfrm>
            <a:off x="88490" y="409958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DE93DC-CB0D-8DA4-9140-570E5DA31982}"/>
              </a:ext>
            </a:extLst>
          </p:cNvPr>
          <p:cNvSpPr txBox="1"/>
          <p:nvPr/>
        </p:nvSpPr>
        <p:spPr>
          <a:xfrm>
            <a:off x="88490" y="461055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95524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64775-8FE1-8429-2683-EDDE85F75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6BE75-A239-F696-1A36-0C294C289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Temporal validation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F25B9D-E38F-C801-9B63-7DD6B2CBD8EF}"/>
              </a:ext>
            </a:extLst>
          </p:cNvPr>
          <p:cNvSpPr/>
          <p:nvPr/>
        </p:nvSpPr>
        <p:spPr>
          <a:xfrm>
            <a:off x="2971801" y="3344658"/>
            <a:ext cx="3467100" cy="5619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Training 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B8E271-9F31-04B3-B854-7836AC3E67EE}"/>
              </a:ext>
            </a:extLst>
          </p:cNvPr>
          <p:cNvSpPr/>
          <p:nvPr/>
        </p:nvSpPr>
        <p:spPr>
          <a:xfrm>
            <a:off x="6467476" y="3344658"/>
            <a:ext cx="1076324" cy="5619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Validation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462E36-748B-7242-0E00-8D47BA5D690A}"/>
              </a:ext>
            </a:extLst>
          </p:cNvPr>
          <p:cNvSpPr/>
          <p:nvPr/>
        </p:nvSpPr>
        <p:spPr>
          <a:xfrm>
            <a:off x="7543800" y="3344658"/>
            <a:ext cx="1295400" cy="5619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Test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E2524A-413C-D27F-469C-195CC9A337A6}"/>
              </a:ext>
            </a:extLst>
          </p:cNvPr>
          <p:cNvSpPr/>
          <p:nvPr/>
        </p:nvSpPr>
        <p:spPr>
          <a:xfrm>
            <a:off x="456179" y="3344657"/>
            <a:ext cx="2515621" cy="56197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Used for features (only)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225E27-5614-CE66-C76D-2A3556BCF741}"/>
              </a:ext>
            </a:extLst>
          </p:cNvPr>
          <p:cNvSpPr/>
          <p:nvPr/>
        </p:nvSpPr>
        <p:spPr>
          <a:xfrm>
            <a:off x="3771901" y="3906632"/>
            <a:ext cx="3467100" cy="5619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Training set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03CA7F-894E-CFF7-B9F5-05F71E3EEABB}"/>
              </a:ext>
            </a:extLst>
          </p:cNvPr>
          <p:cNvSpPr/>
          <p:nvPr/>
        </p:nvSpPr>
        <p:spPr>
          <a:xfrm>
            <a:off x="7267576" y="3906632"/>
            <a:ext cx="1076324" cy="5619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Validation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9734AE-D3B1-CFD5-8707-AFEA61F0B085}"/>
              </a:ext>
            </a:extLst>
          </p:cNvPr>
          <p:cNvSpPr/>
          <p:nvPr/>
        </p:nvSpPr>
        <p:spPr>
          <a:xfrm>
            <a:off x="8343900" y="3906632"/>
            <a:ext cx="1295400" cy="5619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Test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CA193E-6C77-3F11-4B65-09DEA38CCCBE}"/>
              </a:ext>
            </a:extLst>
          </p:cNvPr>
          <p:cNvSpPr/>
          <p:nvPr/>
        </p:nvSpPr>
        <p:spPr>
          <a:xfrm>
            <a:off x="456179" y="3906631"/>
            <a:ext cx="3315721" cy="56197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Used for features (only)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A609F3-AB28-C619-4412-EBBA219DDC18}"/>
              </a:ext>
            </a:extLst>
          </p:cNvPr>
          <p:cNvSpPr/>
          <p:nvPr/>
        </p:nvSpPr>
        <p:spPr>
          <a:xfrm>
            <a:off x="4880302" y="4483456"/>
            <a:ext cx="3467100" cy="5619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Training set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1EDCA1-1355-B017-6803-906ABC5F9234}"/>
              </a:ext>
            </a:extLst>
          </p:cNvPr>
          <p:cNvSpPr/>
          <p:nvPr/>
        </p:nvSpPr>
        <p:spPr>
          <a:xfrm>
            <a:off x="8375977" y="4483456"/>
            <a:ext cx="1076324" cy="5619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Validation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7F9946-0F0C-189B-64A4-F70DD29A4B92}"/>
              </a:ext>
            </a:extLst>
          </p:cNvPr>
          <p:cNvSpPr/>
          <p:nvPr/>
        </p:nvSpPr>
        <p:spPr>
          <a:xfrm>
            <a:off x="9452301" y="4483456"/>
            <a:ext cx="1295400" cy="5619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Test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9DC8FC-C5B3-913E-3E68-1FB2EA1CFB77}"/>
              </a:ext>
            </a:extLst>
          </p:cNvPr>
          <p:cNvSpPr/>
          <p:nvPr/>
        </p:nvSpPr>
        <p:spPr>
          <a:xfrm>
            <a:off x="456179" y="4483455"/>
            <a:ext cx="4424122" cy="56197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Used for features (only)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EF8B877-B633-AB9A-53E1-65203C7A888B}"/>
              </a:ext>
            </a:extLst>
          </p:cNvPr>
          <p:cNvCxnSpPr/>
          <p:nvPr/>
        </p:nvCxnSpPr>
        <p:spPr>
          <a:xfrm>
            <a:off x="11776300" y="2995405"/>
            <a:ext cx="0" cy="2202426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FCBEB36-8C76-8248-A8F6-8CAAE52DF3F6}"/>
              </a:ext>
            </a:extLst>
          </p:cNvPr>
          <p:cNvCxnSpPr/>
          <p:nvPr/>
        </p:nvCxnSpPr>
        <p:spPr>
          <a:xfrm>
            <a:off x="427603" y="2995405"/>
            <a:ext cx="0" cy="2202426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7814E0B-C656-73FF-3A24-D6E581EB8D43}"/>
              </a:ext>
            </a:extLst>
          </p:cNvPr>
          <p:cNvSpPr txBox="1"/>
          <p:nvPr/>
        </p:nvSpPr>
        <p:spPr>
          <a:xfrm>
            <a:off x="88490" y="2405149"/>
            <a:ext cx="1297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Start feature availability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3B64723-2638-9F00-9DB9-E64456D4D683}"/>
              </a:ext>
            </a:extLst>
          </p:cNvPr>
          <p:cNvSpPr txBox="1"/>
          <p:nvPr/>
        </p:nvSpPr>
        <p:spPr>
          <a:xfrm>
            <a:off x="11038881" y="2327344"/>
            <a:ext cx="1297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End label availability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E83B790-F082-D536-DFB7-F27DEF40682D}"/>
              </a:ext>
            </a:extLst>
          </p:cNvPr>
          <p:cNvCxnSpPr/>
          <p:nvPr/>
        </p:nvCxnSpPr>
        <p:spPr>
          <a:xfrm flipV="1">
            <a:off x="324465" y="5217495"/>
            <a:ext cx="116413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AE8ACF3-8694-DF28-E508-F6821BE9402E}"/>
                  </a:ext>
                </a:extLst>
              </p:cNvPr>
              <p:cNvSpPr txBox="1"/>
              <p:nvPr/>
            </p:nvSpPr>
            <p:spPr>
              <a:xfrm>
                <a:off x="5638801" y="5345255"/>
                <a:ext cx="322268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9DD6513-60F0-E901-6BAD-EC3715021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1" y="5345255"/>
                <a:ext cx="322268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2BD70B36-4472-9E11-CFAA-9E1591173516}"/>
              </a:ext>
            </a:extLst>
          </p:cNvPr>
          <p:cNvSpPr txBox="1"/>
          <p:nvPr/>
        </p:nvSpPr>
        <p:spPr>
          <a:xfrm>
            <a:off x="88490" y="352336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006BAE-1CC3-A1C5-6E4F-9C1B002CBEEB}"/>
              </a:ext>
            </a:extLst>
          </p:cNvPr>
          <p:cNvSpPr txBox="1"/>
          <p:nvPr/>
        </p:nvSpPr>
        <p:spPr>
          <a:xfrm>
            <a:off x="88490" y="409958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06D33E1-1369-B749-02D6-440BA3B681D2}"/>
              </a:ext>
            </a:extLst>
          </p:cNvPr>
          <p:cNvSpPr txBox="1"/>
          <p:nvPr/>
        </p:nvSpPr>
        <p:spPr>
          <a:xfrm>
            <a:off x="88490" y="461055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310F04C-461B-C2D9-F7BC-F5324DFE9C65}"/>
              </a:ext>
            </a:extLst>
          </p:cNvPr>
          <p:cNvCxnSpPr>
            <a:cxnSpLocks/>
          </p:cNvCxnSpPr>
          <p:nvPr/>
        </p:nvCxnSpPr>
        <p:spPr>
          <a:xfrm>
            <a:off x="2952750" y="3165062"/>
            <a:ext cx="348615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2DBB9A7-AA8A-51D7-5D1E-E3EDA216BB1A}"/>
              </a:ext>
            </a:extLst>
          </p:cNvPr>
          <p:cNvCxnSpPr/>
          <p:nvPr/>
        </p:nvCxnSpPr>
        <p:spPr>
          <a:xfrm>
            <a:off x="2971801" y="3073622"/>
            <a:ext cx="0" cy="18288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DEF3A84-4603-66E0-3B8E-21D102BF3F08}"/>
              </a:ext>
            </a:extLst>
          </p:cNvPr>
          <p:cNvCxnSpPr/>
          <p:nvPr/>
        </p:nvCxnSpPr>
        <p:spPr>
          <a:xfrm>
            <a:off x="6438901" y="3073622"/>
            <a:ext cx="0" cy="18288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44A3916-7FFC-BAE3-EB54-4C24EDB0A18A}"/>
              </a:ext>
            </a:extLst>
          </p:cNvPr>
          <p:cNvCxnSpPr>
            <a:cxnSpLocks/>
          </p:cNvCxnSpPr>
          <p:nvPr/>
        </p:nvCxnSpPr>
        <p:spPr>
          <a:xfrm>
            <a:off x="4124325" y="2143125"/>
            <a:ext cx="180975" cy="852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04B71A8-0CC6-0F08-653C-A7ABC7DD2DC6}"/>
              </a:ext>
            </a:extLst>
          </p:cNvPr>
          <p:cNvSpPr txBox="1"/>
          <p:nvPr/>
        </p:nvSpPr>
        <p:spPr>
          <a:xfrm>
            <a:off x="2800350" y="1752958"/>
            <a:ext cx="3467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Length of training window</a:t>
            </a:r>
          </a:p>
        </p:txBody>
      </p:sp>
    </p:spTree>
    <p:extLst>
      <p:ext uri="{BB962C8B-B14F-4D97-AF65-F5344CB8AC3E}">
        <p14:creationId xmlns:p14="http://schemas.microsoft.com/office/powerpoint/2010/main" val="34904465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714BA-AC7A-8BE1-454C-C6C9EA2FD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C685D-42C6-BDC8-81EF-08E701B50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Temporal validation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44B97E-14EF-DC95-B361-E73E36C83EB0}"/>
              </a:ext>
            </a:extLst>
          </p:cNvPr>
          <p:cNvSpPr/>
          <p:nvPr/>
        </p:nvSpPr>
        <p:spPr>
          <a:xfrm>
            <a:off x="2971801" y="3344658"/>
            <a:ext cx="3467100" cy="5619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Training 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49A635-F37F-2529-E428-1C4C49FB257C}"/>
              </a:ext>
            </a:extLst>
          </p:cNvPr>
          <p:cNvSpPr/>
          <p:nvPr/>
        </p:nvSpPr>
        <p:spPr>
          <a:xfrm>
            <a:off x="6467476" y="3344658"/>
            <a:ext cx="1076324" cy="5619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Validation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442EA0-3929-528B-2CD3-263D029C4C48}"/>
              </a:ext>
            </a:extLst>
          </p:cNvPr>
          <p:cNvSpPr/>
          <p:nvPr/>
        </p:nvSpPr>
        <p:spPr>
          <a:xfrm>
            <a:off x="7543800" y="3344658"/>
            <a:ext cx="1295400" cy="5619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Test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3E7BE3-69ED-9926-BA37-25A19402B1BC}"/>
              </a:ext>
            </a:extLst>
          </p:cNvPr>
          <p:cNvSpPr/>
          <p:nvPr/>
        </p:nvSpPr>
        <p:spPr>
          <a:xfrm>
            <a:off x="456179" y="3344657"/>
            <a:ext cx="2515621" cy="56197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Used for features (only)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DA7704-E570-5C3C-0E68-B1D81C523E3B}"/>
              </a:ext>
            </a:extLst>
          </p:cNvPr>
          <p:cNvSpPr/>
          <p:nvPr/>
        </p:nvSpPr>
        <p:spPr>
          <a:xfrm>
            <a:off x="3771901" y="3906632"/>
            <a:ext cx="3467100" cy="5619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Training set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AE2433-CDD4-43D0-220F-D8A00BCBAD1E}"/>
              </a:ext>
            </a:extLst>
          </p:cNvPr>
          <p:cNvSpPr/>
          <p:nvPr/>
        </p:nvSpPr>
        <p:spPr>
          <a:xfrm>
            <a:off x="7267576" y="3906632"/>
            <a:ext cx="1076324" cy="5619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Validation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C62E41-5BD3-B78B-96B4-38D0B136A2D0}"/>
              </a:ext>
            </a:extLst>
          </p:cNvPr>
          <p:cNvSpPr/>
          <p:nvPr/>
        </p:nvSpPr>
        <p:spPr>
          <a:xfrm>
            <a:off x="8343900" y="3906632"/>
            <a:ext cx="1295400" cy="5619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Test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ADD76D-F7A2-4937-7235-CDFFD4BCD2A0}"/>
              </a:ext>
            </a:extLst>
          </p:cNvPr>
          <p:cNvSpPr/>
          <p:nvPr/>
        </p:nvSpPr>
        <p:spPr>
          <a:xfrm>
            <a:off x="456179" y="3906631"/>
            <a:ext cx="3315721" cy="56197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Used for features (only)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2C9B41-5259-5869-F007-EAA27B5715C6}"/>
              </a:ext>
            </a:extLst>
          </p:cNvPr>
          <p:cNvSpPr/>
          <p:nvPr/>
        </p:nvSpPr>
        <p:spPr>
          <a:xfrm>
            <a:off x="4880302" y="4483456"/>
            <a:ext cx="3467100" cy="5619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Training set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3C7CBD-C1B7-E073-A8FA-DEA90851670C}"/>
              </a:ext>
            </a:extLst>
          </p:cNvPr>
          <p:cNvSpPr/>
          <p:nvPr/>
        </p:nvSpPr>
        <p:spPr>
          <a:xfrm>
            <a:off x="8375977" y="4483456"/>
            <a:ext cx="1076324" cy="5619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Validation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558D78-3689-7AF7-0D6F-9492DC951CE6}"/>
              </a:ext>
            </a:extLst>
          </p:cNvPr>
          <p:cNvSpPr/>
          <p:nvPr/>
        </p:nvSpPr>
        <p:spPr>
          <a:xfrm>
            <a:off x="9452301" y="4483456"/>
            <a:ext cx="1295400" cy="5619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Test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57405B-1634-59B3-0D97-CA07F1EC3A6D}"/>
              </a:ext>
            </a:extLst>
          </p:cNvPr>
          <p:cNvSpPr/>
          <p:nvPr/>
        </p:nvSpPr>
        <p:spPr>
          <a:xfrm>
            <a:off x="456179" y="4483455"/>
            <a:ext cx="4424122" cy="56197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Used for features (only)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907F190-A9B9-5E27-C6D5-6E464C08AC06}"/>
              </a:ext>
            </a:extLst>
          </p:cNvPr>
          <p:cNvCxnSpPr/>
          <p:nvPr/>
        </p:nvCxnSpPr>
        <p:spPr>
          <a:xfrm>
            <a:off x="11776300" y="2995405"/>
            <a:ext cx="0" cy="2202426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D327804-1519-DBA5-5450-5D309E30E536}"/>
              </a:ext>
            </a:extLst>
          </p:cNvPr>
          <p:cNvCxnSpPr/>
          <p:nvPr/>
        </p:nvCxnSpPr>
        <p:spPr>
          <a:xfrm>
            <a:off x="427603" y="2995405"/>
            <a:ext cx="0" cy="2202426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2205A7D-9A89-E9BA-9A7B-E0728108139F}"/>
              </a:ext>
            </a:extLst>
          </p:cNvPr>
          <p:cNvSpPr txBox="1"/>
          <p:nvPr/>
        </p:nvSpPr>
        <p:spPr>
          <a:xfrm>
            <a:off x="88490" y="2405149"/>
            <a:ext cx="1297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Start feature availability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F2DD12-1946-5AB3-240A-911DB5E53090}"/>
              </a:ext>
            </a:extLst>
          </p:cNvPr>
          <p:cNvSpPr txBox="1"/>
          <p:nvPr/>
        </p:nvSpPr>
        <p:spPr>
          <a:xfrm>
            <a:off x="11038881" y="2327344"/>
            <a:ext cx="1297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End label availability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FD13A86-D7E5-95C3-FE1C-89BDE8E50BBE}"/>
              </a:ext>
            </a:extLst>
          </p:cNvPr>
          <p:cNvCxnSpPr/>
          <p:nvPr/>
        </p:nvCxnSpPr>
        <p:spPr>
          <a:xfrm flipV="1">
            <a:off x="324465" y="5217495"/>
            <a:ext cx="116413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93D181E-5C2B-03AC-74EF-E0774AAD3E72}"/>
                  </a:ext>
                </a:extLst>
              </p:cNvPr>
              <p:cNvSpPr txBox="1"/>
              <p:nvPr/>
            </p:nvSpPr>
            <p:spPr>
              <a:xfrm>
                <a:off x="5638801" y="5345255"/>
                <a:ext cx="322268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9DD6513-60F0-E901-6BAD-EC3715021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1" y="5345255"/>
                <a:ext cx="322268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4A7397EF-5F9C-8E23-B749-4FC3B737FDAD}"/>
              </a:ext>
            </a:extLst>
          </p:cNvPr>
          <p:cNvSpPr txBox="1"/>
          <p:nvPr/>
        </p:nvSpPr>
        <p:spPr>
          <a:xfrm>
            <a:off x="88490" y="352336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BC3B47-CE8E-99E8-F25B-25E2FC54F9D1}"/>
              </a:ext>
            </a:extLst>
          </p:cNvPr>
          <p:cNvSpPr txBox="1"/>
          <p:nvPr/>
        </p:nvSpPr>
        <p:spPr>
          <a:xfrm>
            <a:off x="88490" y="409958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0DA127-9F2D-57EC-B308-365DB6A855BD}"/>
              </a:ext>
            </a:extLst>
          </p:cNvPr>
          <p:cNvSpPr txBox="1"/>
          <p:nvPr/>
        </p:nvSpPr>
        <p:spPr>
          <a:xfrm>
            <a:off x="88490" y="461055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B4ECEC7-AA13-96AF-E5B5-08AAF4411920}"/>
              </a:ext>
            </a:extLst>
          </p:cNvPr>
          <p:cNvCxnSpPr>
            <a:cxnSpLocks/>
          </p:cNvCxnSpPr>
          <p:nvPr/>
        </p:nvCxnSpPr>
        <p:spPr>
          <a:xfrm>
            <a:off x="6515101" y="3158299"/>
            <a:ext cx="96202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7ACBAD6-CD70-199D-5C74-AB524B52F799}"/>
              </a:ext>
            </a:extLst>
          </p:cNvPr>
          <p:cNvCxnSpPr/>
          <p:nvPr/>
        </p:nvCxnSpPr>
        <p:spPr>
          <a:xfrm>
            <a:off x="7505701" y="3073622"/>
            <a:ext cx="0" cy="18288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1F2C59E-5AB9-31EF-5A57-585087B43116}"/>
              </a:ext>
            </a:extLst>
          </p:cNvPr>
          <p:cNvCxnSpPr/>
          <p:nvPr/>
        </p:nvCxnSpPr>
        <p:spPr>
          <a:xfrm>
            <a:off x="6534152" y="3073622"/>
            <a:ext cx="0" cy="18288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F5AA52D-99A7-89AC-410F-7EE67A18292D}"/>
              </a:ext>
            </a:extLst>
          </p:cNvPr>
          <p:cNvCxnSpPr>
            <a:cxnSpLocks/>
          </p:cNvCxnSpPr>
          <p:nvPr/>
        </p:nvCxnSpPr>
        <p:spPr>
          <a:xfrm>
            <a:off x="7005638" y="2132538"/>
            <a:ext cx="180975" cy="809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0E3DDF0-454B-96DB-2D6F-54DBF0BBFB75}"/>
              </a:ext>
            </a:extLst>
          </p:cNvPr>
          <p:cNvSpPr txBox="1"/>
          <p:nvPr/>
        </p:nvSpPr>
        <p:spPr>
          <a:xfrm>
            <a:off x="6467476" y="1631708"/>
            <a:ext cx="3467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Amount of validation/testing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231FAE4-E38E-5D51-3F48-A78245EA3DEA}"/>
              </a:ext>
            </a:extLst>
          </p:cNvPr>
          <p:cNvCxnSpPr>
            <a:cxnSpLocks/>
          </p:cNvCxnSpPr>
          <p:nvPr/>
        </p:nvCxnSpPr>
        <p:spPr>
          <a:xfrm>
            <a:off x="7629525" y="3158299"/>
            <a:ext cx="96202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6E019B4-97A7-FACE-216E-2DE8DEDD0D1A}"/>
              </a:ext>
            </a:extLst>
          </p:cNvPr>
          <p:cNvCxnSpPr/>
          <p:nvPr/>
        </p:nvCxnSpPr>
        <p:spPr>
          <a:xfrm>
            <a:off x="8620125" y="3073622"/>
            <a:ext cx="0" cy="18288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B29BD9D-F0A2-0569-E9C6-72F8A94161F4}"/>
              </a:ext>
            </a:extLst>
          </p:cNvPr>
          <p:cNvCxnSpPr/>
          <p:nvPr/>
        </p:nvCxnSpPr>
        <p:spPr>
          <a:xfrm>
            <a:off x="7648576" y="3073622"/>
            <a:ext cx="0" cy="18288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80178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0D49B-6F73-97FE-61FC-A8681D252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B1739-4547-2915-6666-0614B38E0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Temporal validation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EE0D3D-508C-98A5-46E0-AA5679138612}"/>
              </a:ext>
            </a:extLst>
          </p:cNvPr>
          <p:cNvSpPr/>
          <p:nvPr/>
        </p:nvSpPr>
        <p:spPr>
          <a:xfrm>
            <a:off x="2971801" y="3344658"/>
            <a:ext cx="3467100" cy="5619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Training 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D840E7-1E08-CB94-3BCE-AF7353BD4268}"/>
              </a:ext>
            </a:extLst>
          </p:cNvPr>
          <p:cNvSpPr/>
          <p:nvPr/>
        </p:nvSpPr>
        <p:spPr>
          <a:xfrm>
            <a:off x="6467476" y="3344658"/>
            <a:ext cx="1076324" cy="5619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Validation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CF2154-B3B2-E83D-3BC6-BFD2532BD8C7}"/>
              </a:ext>
            </a:extLst>
          </p:cNvPr>
          <p:cNvSpPr/>
          <p:nvPr/>
        </p:nvSpPr>
        <p:spPr>
          <a:xfrm>
            <a:off x="7543800" y="3344658"/>
            <a:ext cx="1295400" cy="5619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Test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477D75-ED0A-7D1A-1EEA-FD76EF266D4E}"/>
              </a:ext>
            </a:extLst>
          </p:cNvPr>
          <p:cNvSpPr/>
          <p:nvPr/>
        </p:nvSpPr>
        <p:spPr>
          <a:xfrm>
            <a:off x="456179" y="3344657"/>
            <a:ext cx="2515621" cy="56197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Used for features (only)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7AD49B-0865-7660-CDD1-99928AC8DA4D}"/>
              </a:ext>
            </a:extLst>
          </p:cNvPr>
          <p:cNvSpPr/>
          <p:nvPr/>
        </p:nvSpPr>
        <p:spPr>
          <a:xfrm>
            <a:off x="3771901" y="3906632"/>
            <a:ext cx="3467100" cy="5619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Training set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03B1A8-A28B-BC36-264C-295EA847DE46}"/>
              </a:ext>
            </a:extLst>
          </p:cNvPr>
          <p:cNvSpPr/>
          <p:nvPr/>
        </p:nvSpPr>
        <p:spPr>
          <a:xfrm>
            <a:off x="7267576" y="3906632"/>
            <a:ext cx="1076324" cy="5619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Validation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9420AE-DBF3-D16C-40CE-A84BAF584BB7}"/>
              </a:ext>
            </a:extLst>
          </p:cNvPr>
          <p:cNvSpPr/>
          <p:nvPr/>
        </p:nvSpPr>
        <p:spPr>
          <a:xfrm>
            <a:off x="8343900" y="3906632"/>
            <a:ext cx="1295400" cy="5619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Test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F55283-3D4F-E89C-1DA1-3BACBA8B8FA6}"/>
              </a:ext>
            </a:extLst>
          </p:cNvPr>
          <p:cNvSpPr/>
          <p:nvPr/>
        </p:nvSpPr>
        <p:spPr>
          <a:xfrm>
            <a:off x="456179" y="3906631"/>
            <a:ext cx="3315721" cy="56197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Used for features (only)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97CB4D-53DC-F9D7-64BB-FE472D6584E8}"/>
              </a:ext>
            </a:extLst>
          </p:cNvPr>
          <p:cNvSpPr/>
          <p:nvPr/>
        </p:nvSpPr>
        <p:spPr>
          <a:xfrm>
            <a:off x="4880302" y="4483456"/>
            <a:ext cx="3467100" cy="5619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Training set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7CFD2E-72AE-2B36-2979-C9767D5CCECF}"/>
              </a:ext>
            </a:extLst>
          </p:cNvPr>
          <p:cNvSpPr/>
          <p:nvPr/>
        </p:nvSpPr>
        <p:spPr>
          <a:xfrm>
            <a:off x="8375977" y="4483456"/>
            <a:ext cx="1076324" cy="5619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Validation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CFE3D2-203B-DD9D-71FC-ABBB8D27002E}"/>
              </a:ext>
            </a:extLst>
          </p:cNvPr>
          <p:cNvSpPr/>
          <p:nvPr/>
        </p:nvSpPr>
        <p:spPr>
          <a:xfrm>
            <a:off x="9452301" y="4483456"/>
            <a:ext cx="1295400" cy="5619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Test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AE1DA7-BC34-B6AC-FC51-4B26E4A1BEFD}"/>
              </a:ext>
            </a:extLst>
          </p:cNvPr>
          <p:cNvSpPr/>
          <p:nvPr/>
        </p:nvSpPr>
        <p:spPr>
          <a:xfrm>
            <a:off x="456179" y="4483455"/>
            <a:ext cx="4424122" cy="56197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Used for features (only)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E323766-CB5D-29C0-EB2F-CF5D5FED35C7}"/>
              </a:ext>
            </a:extLst>
          </p:cNvPr>
          <p:cNvCxnSpPr/>
          <p:nvPr/>
        </p:nvCxnSpPr>
        <p:spPr>
          <a:xfrm>
            <a:off x="11776300" y="2995405"/>
            <a:ext cx="0" cy="2202426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8D6A7F4-C5E7-B7B8-AE9A-5AB8A5E5AD19}"/>
              </a:ext>
            </a:extLst>
          </p:cNvPr>
          <p:cNvCxnSpPr/>
          <p:nvPr/>
        </p:nvCxnSpPr>
        <p:spPr>
          <a:xfrm>
            <a:off x="427603" y="2995405"/>
            <a:ext cx="0" cy="2202426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DF95E11-FB27-3999-777C-9EEBBF9B9B40}"/>
              </a:ext>
            </a:extLst>
          </p:cNvPr>
          <p:cNvSpPr txBox="1"/>
          <p:nvPr/>
        </p:nvSpPr>
        <p:spPr>
          <a:xfrm>
            <a:off x="88490" y="2405149"/>
            <a:ext cx="1297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Start feature availability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8CBABE-FC25-4B31-F4AC-C39115BF5E0C}"/>
              </a:ext>
            </a:extLst>
          </p:cNvPr>
          <p:cNvSpPr txBox="1"/>
          <p:nvPr/>
        </p:nvSpPr>
        <p:spPr>
          <a:xfrm>
            <a:off x="11038881" y="2327344"/>
            <a:ext cx="1297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End label availability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D8F2094-9B67-08EB-7DEC-056D50A0FF2F}"/>
              </a:ext>
            </a:extLst>
          </p:cNvPr>
          <p:cNvCxnSpPr/>
          <p:nvPr/>
        </p:nvCxnSpPr>
        <p:spPr>
          <a:xfrm flipV="1">
            <a:off x="324465" y="5217495"/>
            <a:ext cx="116413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79FB73E-F9F6-59A0-6F32-4B8349E31E26}"/>
                  </a:ext>
                </a:extLst>
              </p:cNvPr>
              <p:cNvSpPr txBox="1"/>
              <p:nvPr/>
            </p:nvSpPr>
            <p:spPr>
              <a:xfrm>
                <a:off x="5638801" y="5345255"/>
                <a:ext cx="322268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9DD6513-60F0-E901-6BAD-EC3715021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1" y="5345255"/>
                <a:ext cx="322268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1A41843F-1C2F-4924-3B76-F2B8B70BDEF1}"/>
              </a:ext>
            </a:extLst>
          </p:cNvPr>
          <p:cNvSpPr txBox="1"/>
          <p:nvPr/>
        </p:nvSpPr>
        <p:spPr>
          <a:xfrm>
            <a:off x="88490" y="352336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0CAA12-5A88-558E-CCA3-A4AA618CC9AB}"/>
              </a:ext>
            </a:extLst>
          </p:cNvPr>
          <p:cNvSpPr txBox="1"/>
          <p:nvPr/>
        </p:nvSpPr>
        <p:spPr>
          <a:xfrm>
            <a:off x="88490" y="409958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E5DADA-47EB-0E1A-3418-0E673360583D}"/>
              </a:ext>
            </a:extLst>
          </p:cNvPr>
          <p:cNvSpPr txBox="1"/>
          <p:nvPr/>
        </p:nvSpPr>
        <p:spPr>
          <a:xfrm>
            <a:off x="88490" y="461055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F09BAA7-C855-0D82-85CC-F1AE114D48AF}"/>
              </a:ext>
            </a:extLst>
          </p:cNvPr>
          <p:cNvCxnSpPr>
            <a:cxnSpLocks/>
          </p:cNvCxnSpPr>
          <p:nvPr/>
        </p:nvCxnSpPr>
        <p:spPr>
          <a:xfrm>
            <a:off x="2971801" y="3906631"/>
            <a:ext cx="80962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5310334-CDE2-CDD3-6B79-0FF0AB85D665}"/>
              </a:ext>
            </a:extLst>
          </p:cNvPr>
          <p:cNvCxnSpPr/>
          <p:nvPr/>
        </p:nvCxnSpPr>
        <p:spPr>
          <a:xfrm>
            <a:off x="2952750" y="3812095"/>
            <a:ext cx="0" cy="18288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1135E3E-070F-98BF-B085-5CBE74AD0F36}"/>
              </a:ext>
            </a:extLst>
          </p:cNvPr>
          <p:cNvCxnSpPr/>
          <p:nvPr/>
        </p:nvCxnSpPr>
        <p:spPr>
          <a:xfrm>
            <a:off x="3781425" y="3831145"/>
            <a:ext cx="0" cy="18288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9237537-283D-3A5B-0BF1-476E06D1F663}"/>
              </a:ext>
            </a:extLst>
          </p:cNvPr>
          <p:cNvCxnSpPr/>
          <p:nvPr/>
        </p:nvCxnSpPr>
        <p:spPr>
          <a:xfrm flipH="1">
            <a:off x="3552825" y="2143125"/>
            <a:ext cx="571500" cy="1482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D6D2343-2332-E78A-A559-205E7C0571C8}"/>
              </a:ext>
            </a:extLst>
          </p:cNvPr>
          <p:cNvSpPr txBox="1"/>
          <p:nvPr/>
        </p:nvSpPr>
        <p:spPr>
          <a:xfrm>
            <a:off x="2800350" y="1752958"/>
            <a:ext cx="3467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Frequency of retraining model</a:t>
            </a:r>
          </a:p>
        </p:txBody>
      </p:sp>
    </p:spTree>
    <p:extLst>
      <p:ext uri="{BB962C8B-B14F-4D97-AF65-F5344CB8AC3E}">
        <p14:creationId xmlns:p14="http://schemas.microsoft.com/office/powerpoint/2010/main" val="16738472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12A27-B5C5-3A47-6837-A52A62045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CFAA3-B2E0-D98F-B8BB-C93C464C4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Temporal validation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41765A-2552-D3A3-DB57-350B3A14E8D3}"/>
              </a:ext>
            </a:extLst>
          </p:cNvPr>
          <p:cNvSpPr/>
          <p:nvPr/>
        </p:nvSpPr>
        <p:spPr>
          <a:xfrm>
            <a:off x="2971801" y="3344658"/>
            <a:ext cx="3467100" cy="5619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Training 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290B71-4553-A8FF-BD18-BB427AC294CB}"/>
              </a:ext>
            </a:extLst>
          </p:cNvPr>
          <p:cNvSpPr/>
          <p:nvPr/>
        </p:nvSpPr>
        <p:spPr>
          <a:xfrm>
            <a:off x="6467476" y="3344658"/>
            <a:ext cx="1076324" cy="5619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Validation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303902-EAA8-79B5-8171-18DBF53437E7}"/>
              </a:ext>
            </a:extLst>
          </p:cNvPr>
          <p:cNvSpPr/>
          <p:nvPr/>
        </p:nvSpPr>
        <p:spPr>
          <a:xfrm>
            <a:off x="7543800" y="3344658"/>
            <a:ext cx="1295400" cy="5619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Test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C19EA8-975A-043E-E333-D4680DC84A07}"/>
              </a:ext>
            </a:extLst>
          </p:cNvPr>
          <p:cNvSpPr/>
          <p:nvPr/>
        </p:nvSpPr>
        <p:spPr>
          <a:xfrm>
            <a:off x="456179" y="3344657"/>
            <a:ext cx="2515621" cy="56197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Used for features (only)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0F9DA4-F7AC-5497-8111-04C07A67CCCD}"/>
              </a:ext>
            </a:extLst>
          </p:cNvPr>
          <p:cNvSpPr/>
          <p:nvPr/>
        </p:nvSpPr>
        <p:spPr>
          <a:xfrm>
            <a:off x="3771901" y="3906632"/>
            <a:ext cx="3467100" cy="5619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Training set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292265-BC2F-8B14-0204-484A385F3391}"/>
              </a:ext>
            </a:extLst>
          </p:cNvPr>
          <p:cNvSpPr/>
          <p:nvPr/>
        </p:nvSpPr>
        <p:spPr>
          <a:xfrm>
            <a:off x="7267576" y="3906632"/>
            <a:ext cx="1076324" cy="5619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Validation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9A2855-06DA-F8C4-7951-AAE85A8E25E8}"/>
              </a:ext>
            </a:extLst>
          </p:cNvPr>
          <p:cNvSpPr/>
          <p:nvPr/>
        </p:nvSpPr>
        <p:spPr>
          <a:xfrm>
            <a:off x="8343900" y="3906632"/>
            <a:ext cx="1295400" cy="5619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Test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F91D94-CDB4-23FF-5C88-E7BE34F9D647}"/>
              </a:ext>
            </a:extLst>
          </p:cNvPr>
          <p:cNvSpPr/>
          <p:nvPr/>
        </p:nvSpPr>
        <p:spPr>
          <a:xfrm>
            <a:off x="456179" y="3906631"/>
            <a:ext cx="3315721" cy="56197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Used for features (only)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304B45-002D-A37F-E87A-000C28817D9F}"/>
              </a:ext>
            </a:extLst>
          </p:cNvPr>
          <p:cNvSpPr/>
          <p:nvPr/>
        </p:nvSpPr>
        <p:spPr>
          <a:xfrm>
            <a:off x="4880302" y="4483456"/>
            <a:ext cx="3467100" cy="5619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Training set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CE4E1F-6C17-81CE-04D9-EF614DEB1086}"/>
              </a:ext>
            </a:extLst>
          </p:cNvPr>
          <p:cNvSpPr/>
          <p:nvPr/>
        </p:nvSpPr>
        <p:spPr>
          <a:xfrm>
            <a:off x="8375977" y="4483456"/>
            <a:ext cx="1076324" cy="5619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Validation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B54750-3A01-D24E-2ADE-E10636F5D6DB}"/>
              </a:ext>
            </a:extLst>
          </p:cNvPr>
          <p:cNvSpPr/>
          <p:nvPr/>
        </p:nvSpPr>
        <p:spPr>
          <a:xfrm>
            <a:off x="9452301" y="4483456"/>
            <a:ext cx="1295400" cy="5619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Test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BB28CD-A2F0-09E5-B8B0-EFB80A060F09}"/>
              </a:ext>
            </a:extLst>
          </p:cNvPr>
          <p:cNvSpPr/>
          <p:nvPr/>
        </p:nvSpPr>
        <p:spPr>
          <a:xfrm>
            <a:off x="456179" y="4483455"/>
            <a:ext cx="4424122" cy="56197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Used for features (only)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C480E6A-2A81-3A28-B01E-CA54F70E86FA}"/>
              </a:ext>
            </a:extLst>
          </p:cNvPr>
          <p:cNvCxnSpPr/>
          <p:nvPr/>
        </p:nvCxnSpPr>
        <p:spPr>
          <a:xfrm>
            <a:off x="11776300" y="2995405"/>
            <a:ext cx="0" cy="2202426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E282D2D-189F-EBD4-F513-BC58F8C076DA}"/>
              </a:ext>
            </a:extLst>
          </p:cNvPr>
          <p:cNvCxnSpPr/>
          <p:nvPr/>
        </p:nvCxnSpPr>
        <p:spPr>
          <a:xfrm>
            <a:off x="427603" y="2995405"/>
            <a:ext cx="0" cy="2202426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09CD14B-9706-024D-A8BD-FAB5D9F8328B}"/>
              </a:ext>
            </a:extLst>
          </p:cNvPr>
          <p:cNvSpPr txBox="1"/>
          <p:nvPr/>
        </p:nvSpPr>
        <p:spPr>
          <a:xfrm>
            <a:off x="88490" y="2405149"/>
            <a:ext cx="1297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Start feature availability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4FFBCC-47CF-5C6E-4E58-BF934C29C16E}"/>
              </a:ext>
            </a:extLst>
          </p:cNvPr>
          <p:cNvSpPr txBox="1"/>
          <p:nvPr/>
        </p:nvSpPr>
        <p:spPr>
          <a:xfrm>
            <a:off x="11038881" y="2327344"/>
            <a:ext cx="1297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End label availability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9D47BE9-3985-266C-B254-94EB728633AE}"/>
              </a:ext>
            </a:extLst>
          </p:cNvPr>
          <p:cNvCxnSpPr/>
          <p:nvPr/>
        </p:nvCxnSpPr>
        <p:spPr>
          <a:xfrm flipV="1">
            <a:off x="324465" y="5217495"/>
            <a:ext cx="116413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D7C697F-12F3-33B2-948E-900A16D5181B}"/>
                  </a:ext>
                </a:extLst>
              </p:cNvPr>
              <p:cNvSpPr txBox="1"/>
              <p:nvPr/>
            </p:nvSpPr>
            <p:spPr>
              <a:xfrm>
                <a:off x="5638801" y="5345255"/>
                <a:ext cx="322268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9DD6513-60F0-E901-6BAD-EC3715021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1" y="5345255"/>
                <a:ext cx="322268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6A81ADC8-08B0-D14E-4C04-66C9F7F88165}"/>
              </a:ext>
            </a:extLst>
          </p:cNvPr>
          <p:cNvSpPr txBox="1"/>
          <p:nvPr/>
        </p:nvSpPr>
        <p:spPr>
          <a:xfrm>
            <a:off x="88490" y="352336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A29CE5-8913-4690-4364-CEFA90054126}"/>
              </a:ext>
            </a:extLst>
          </p:cNvPr>
          <p:cNvSpPr txBox="1"/>
          <p:nvPr/>
        </p:nvSpPr>
        <p:spPr>
          <a:xfrm>
            <a:off x="88490" y="409958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FFD93F-54FC-D347-C46F-E3825B87CBC5}"/>
              </a:ext>
            </a:extLst>
          </p:cNvPr>
          <p:cNvSpPr txBox="1"/>
          <p:nvPr/>
        </p:nvSpPr>
        <p:spPr>
          <a:xfrm>
            <a:off x="88490" y="461055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0719EA4-4D0C-0F3C-C68A-2706325ED0EF}"/>
              </a:ext>
            </a:extLst>
          </p:cNvPr>
          <p:cNvCxnSpPr>
            <a:cxnSpLocks/>
          </p:cNvCxnSpPr>
          <p:nvPr/>
        </p:nvCxnSpPr>
        <p:spPr>
          <a:xfrm>
            <a:off x="427603" y="3165062"/>
            <a:ext cx="254419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3BA5283-6BE6-A68A-701F-61D9F23F5A9A}"/>
              </a:ext>
            </a:extLst>
          </p:cNvPr>
          <p:cNvCxnSpPr>
            <a:cxnSpLocks/>
          </p:cNvCxnSpPr>
          <p:nvPr/>
        </p:nvCxnSpPr>
        <p:spPr>
          <a:xfrm>
            <a:off x="446654" y="3073622"/>
            <a:ext cx="0" cy="18288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7688A12-EBA1-9DC2-B48A-90D209CA3DCA}"/>
              </a:ext>
            </a:extLst>
          </p:cNvPr>
          <p:cNvCxnSpPr>
            <a:cxnSpLocks/>
          </p:cNvCxnSpPr>
          <p:nvPr/>
        </p:nvCxnSpPr>
        <p:spPr>
          <a:xfrm>
            <a:off x="2989830" y="3073622"/>
            <a:ext cx="0" cy="18288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ED264AC-8E41-BC8D-DB73-AD5E303B83A2}"/>
              </a:ext>
            </a:extLst>
          </p:cNvPr>
          <p:cNvCxnSpPr>
            <a:cxnSpLocks/>
          </p:cNvCxnSpPr>
          <p:nvPr/>
        </p:nvCxnSpPr>
        <p:spPr>
          <a:xfrm flipH="1">
            <a:off x="2971801" y="2143125"/>
            <a:ext cx="1152524" cy="852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886BA5D-FF04-ECD3-E7F1-2D410FF53DD6}"/>
              </a:ext>
            </a:extLst>
          </p:cNvPr>
          <p:cNvSpPr txBox="1"/>
          <p:nvPr/>
        </p:nvSpPr>
        <p:spPr>
          <a:xfrm>
            <a:off x="2800349" y="1752958"/>
            <a:ext cx="3857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Minimum time for feature collection</a:t>
            </a:r>
          </a:p>
        </p:txBody>
      </p:sp>
    </p:spTree>
    <p:extLst>
      <p:ext uri="{BB962C8B-B14F-4D97-AF65-F5344CB8AC3E}">
        <p14:creationId xmlns:p14="http://schemas.microsoft.com/office/powerpoint/2010/main" val="28633236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39D59-AED6-D05F-6DB1-861D0C6C4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C45D8-CE8E-A4A2-DA43-C06F4B9AB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Temporal validation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575F99-2A39-FFA2-058B-D65BF22EC5E5}"/>
              </a:ext>
            </a:extLst>
          </p:cNvPr>
          <p:cNvSpPr/>
          <p:nvPr/>
        </p:nvSpPr>
        <p:spPr>
          <a:xfrm>
            <a:off x="2971801" y="3344658"/>
            <a:ext cx="3467100" cy="5619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Training 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B18FD8-C39F-3A51-D2CD-21173636244B}"/>
              </a:ext>
            </a:extLst>
          </p:cNvPr>
          <p:cNvSpPr/>
          <p:nvPr/>
        </p:nvSpPr>
        <p:spPr>
          <a:xfrm>
            <a:off x="6467476" y="3344658"/>
            <a:ext cx="1076324" cy="5619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Validation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BEB1EF-F350-D316-8BAA-3BE2A93B4296}"/>
              </a:ext>
            </a:extLst>
          </p:cNvPr>
          <p:cNvSpPr/>
          <p:nvPr/>
        </p:nvSpPr>
        <p:spPr>
          <a:xfrm>
            <a:off x="7543800" y="3344658"/>
            <a:ext cx="1295400" cy="5619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Test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A26A4C-9B3F-F353-8779-165942B756C3}"/>
              </a:ext>
            </a:extLst>
          </p:cNvPr>
          <p:cNvSpPr/>
          <p:nvPr/>
        </p:nvSpPr>
        <p:spPr>
          <a:xfrm>
            <a:off x="456179" y="3344657"/>
            <a:ext cx="2515621" cy="56197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Used for features (only)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9C4980-660B-59BA-9A37-C8785742A881}"/>
              </a:ext>
            </a:extLst>
          </p:cNvPr>
          <p:cNvSpPr/>
          <p:nvPr/>
        </p:nvSpPr>
        <p:spPr>
          <a:xfrm>
            <a:off x="3771901" y="3906632"/>
            <a:ext cx="3467100" cy="5619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Training set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8B4898-7C9A-2AFE-AE18-128110DB3FD2}"/>
              </a:ext>
            </a:extLst>
          </p:cNvPr>
          <p:cNvSpPr/>
          <p:nvPr/>
        </p:nvSpPr>
        <p:spPr>
          <a:xfrm>
            <a:off x="7267576" y="3906632"/>
            <a:ext cx="1076324" cy="5619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Validation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17D8B3-FC5B-8C6C-2F0E-B917800DA044}"/>
              </a:ext>
            </a:extLst>
          </p:cNvPr>
          <p:cNvSpPr/>
          <p:nvPr/>
        </p:nvSpPr>
        <p:spPr>
          <a:xfrm>
            <a:off x="8343900" y="3906632"/>
            <a:ext cx="1295400" cy="5619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Test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7D7BE0-1ECF-1C33-C27B-8949D4AD6F25}"/>
              </a:ext>
            </a:extLst>
          </p:cNvPr>
          <p:cNvSpPr/>
          <p:nvPr/>
        </p:nvSpPr>
        <p:spPr>
          <a:xfrm>
            <a:off x="456179" y="3906631"/>
            <a:ext cx="3315721" cy="56197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Used for features (only)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08DA6B-6D21-F509-F601-0823C8F92A72}"/>
              </a:ext>
            </a:extLst>
          </p:cNvPr>
          <p:cNvSpPr/>
          <p:nvPr/>
        </p:nvSpPr>
        <p:spPr>
          <a:xfrm>
            <a:off x="4880302" y="4483456"/>
            <a:ext cx="3467100" cy="5619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Training set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F5916-66D8-3DE6-7BD7-A4D03654C63B}"/>
              </a:ext>
            </a:extLst>
          </p:cNvPr>
          <p:cNvSpPr/>
          <p:nvPr/>
        </p:nvSpPr>
        <p:spPr>
          <a:xfrm>
            <a:off x="8375977" y="4483456"/>
            <a:ext cx="1076324" cy="5619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Validation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CA7280-F921-3787-1C05-8C6234526608}"/>
              </a:ext>
            </a:extLst>
          </p:cNvPr>
          <p:cNvSpPr/>
          <p:nvPr/>
        </p:nvSpPr>
        <p:spPr>
          <a:xfrm>
            <a:off x="9452301" y="4483456"/>
            <a:ext cx="1295400" cy="5619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Test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2E41C84-BE27-51AB-A083-52A9F5BB13CC}"/>
              </a:ext>
            </a:extLst>
          </p:cNvPr>
          <p:cNvSpPr/>
          <p:nvPr/>
        </p:nvSpPr>
        <p:spPr>
          <a:xfrm>
            <a:off x="456179" y="4483455"/>
            <a:ext cx="4424122" cy="56197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Used for features (only)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34F2FED-A641-E690-A447-BBE7143160CA}"/>
              </a:ext>
            </a:extLst>
          </p:cNvPr>
          <p:cNvCxnSpPr/>
          <p:nvPr/>
        </p:nvCxnSpPr>
        <p:spPr>
          <a:xfrm>
            <a:off x="11776300" y="2995405"/>
            <a:ext cx="0" cy="2202426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3C24F1F-D4F2-8352-85F4-F5A3EDCF2138}"/>
              </a:ext>
            </a:extLst>
          </p:cNvPr>
          <p:cNvCxnSpPr/>
          <p:nvPr/>
        </p:nvCxnSpPr>
        <p:spPr>
          <a:xfrm>
            <a:off x="427603" y="2995405"/>
            <a:ext cx="0" cy="2202426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B8F3576-0272-04EB-2A4E-2198B03A54BC}"/>
              </a:ext>
            </a:extLst>
          </p:cNvPr>
          <p:cNvSpPr txBox="1"/>
          <p:nvPr/>
        </p:nvSpPr>
        <p:spPr>
          <a:xfrm>
            <a:off x="88490" y="2405149"/>
            <a:ext cx="1297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Start feature availability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DDFBED-3012-4508-8B10-270E781BD2E2}"/>
              </a:ext>
            </a:extLst>
          </p:cNvPr>
          <p:cNvSpPr txBox="1"/>
          <p:nvPr/>
        </p:nvSpPr>
        <p:spPr>
          <a:xfrm>
            <a:off x="11038881" y="2327344"/>
            <a:ext cx="1297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End label availability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B206EEA-2C0C-5BEE-4AF7-138C4C203151}"/>
              </a:ext>
            </a:extLst>
          </p:cNvPr>
          <p:cNvCxnSpPr/>
          <p:nvPr/>
        </p:nvCxnSpPr>
        <p:spPr>
          <a:xfrm flipV="1">
            <a:off x="324465" y="5217495"/>
            <a:ext cx="116413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EAB2D46-DDF1-18D8-FCAB-FD1A5F009A87}"/>
                  </a:ext>
                </a:extLst>
              </p:cNvPr>
              <p:cNvSpPr txBox="1"/>
              <p:nvPr/>
            </p:nvSpPr>
            <p:spPr>
              <a:xfrm>
                <a:off x="5638801" y="5345255"/>
                <a:ext cx="322268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9DD6513-60F0-E901-6BAD-EC3715021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1" y="5345255"/>
                <a:ext cx="322268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AD8BE003-1DF1-2045-BAB8-62590DE6F52F}"/>
              </a:ext>
            </a:extLst>
          </p:cNvPr>
          <p:cNvSpPr txBox="1"/>
          <p:nvPr/>
        </p:nvSpPr>
        <p:spPr>
          <a:xfrm>
            <a:off x="88490" y="352336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476FF7-3E5E-31A8-3149-6E4D47D30861}"/>
              </a:ext>
            </a:extLst>
          </p:cNvPr>
          <p:cNvSpPr txBox="1"/>
          <p:nvPr/>
        </p:nvSpPr>
        <p:spPr>
          <a:xfrm>
            <a:off x="88490" y="409958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4BA9E5-1B40-31A4-41DB-7178D7BB0980}"/>
              </a:ext>
            </a:extLst>
          </p:cNvPr>
          <p:cNvSpPr txBox="1"/>
          <p:nvPr/>
        </p:nvSpPr>
        <p:spPr>
          <a:xfrm>
            <a:off x="88490" y="461055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E4DC777-2339-0AA9-460F-29DD270037C0}"/>
              </a:ext>
            </a:extLst>
          </p:cNvPr>
          <p:cNvCxnSpPr>
            <a:cxnSpLocks/>
          </p:cNvCxnSpPr>
          <p:nvPr/>
        </p:nvCxnSpPr>
        <p:spPr>
          <a:xfrm>
            <a:off x="9096299" y="2772905"/>
            <a:ext cx="2133599" cy="1787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213368B-1CB2-BB9E-41C8-155736B86257}"/>
              </a:ext>
            </a:extLst>
          </p:cNvPr>
          <p:cNvSpPr txBox="1"/>
          <p:nvPr/>
        </p:nvSpPr>
        <p:spPr>
          <a:xfrm>
            <a:off x="6657974" y="2268175"/>
            <a:ext cx="3857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Minimum time for label collection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6C1771A-B153-FF8F-C234-0B4EEBA139C1}"/>
              </a:ext>
            </a:extLst>
          </p:cNvPr>
          <p:cNvCxnSpPr>
            <a:cxnSpLocks/>
          </p:cNvCxnSpPr>
          <p:nvPr/>
        </p:nvCxnSpPr>
        <p:spPr>
          <a:xfrm>
            <a:off x="10887076" y="4773406"/>
            <a:ext cx="80962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ABB4EB0-F01B-0F9A-C458-6FCEECE50C81}"/>
              </a:ext>
            </a:extLst>
          </p:cNvPr>
          <p:cNvCxnSpPr/>
          <p:nvPr/>
        </p:nvCxnSpPr>
        <p:spPr>
          <a:xfrm>
            <a:off x="10868025" y="4678870"/>
            <a:ext cx="0" cy="18288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6886D2C-9143-9EBC-743E-14A5F26D6D3A}"/>
              </a:ext>
            </a:extLst>
          </p:cNvPr>
          <p:cNvCxnSpPr/>
          <p:nvPr/>
        </p:nvCxnSpPr>
        <p:spPr>
          <a:xfrm>
            <a:off x="11696700" y="4697920"/>
            <a:ext cx="0" cy="18288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7537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5A4E3-1083-BD43-B370-9A1F90A39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Temporal Validation Parameters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61F066-C352-2344-9AFE-A7E0C820C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3189" y="1231210"/>
            <a:ext cx="11232291" cy="5404369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1800"/>
              </a:spcAft>
            </a:pPr>
            <a:r>
              <a:rPr lang="en-US" sz="3200" dirty="0"/>
              <a:t>Timespan to collect labels</a:t>
            </a:r>
          </a:p>
          <a:p>
            <a:pPr>
              <a:lnSpc>
                <a:spcPct val="100000"/>
              </a:lnSpc>
              <a:spcAft>
                <a:spcPts val="1800"/>
              </a:spcAft>
            </a:pPr>
            <a:r>
              <a:rPr lang="en-US" sz="3200" dirty="0"/>
              <a:t>“Gap” between training/validation pairs</a:t>
            </a:r>
          </a:p>
          <a:p>
            <a:pPr>
              <a:lnSpc>
                <a:spcPct val="100000"/>
              </a:lnSpc>
              <a:spcAft>
                <a:spcPts val="1800"/>
              </a:spcAft>
            </a:pPr>
            <a:r>
              <a:rPr lang="en-US" sz="3200" dirty="0"/>
              <a:t>Time window for each training set</a:t>
            </a:r>
          </a:p>
          <a:p>
            <a:pPr>
              <a:lnSpc>
                <a:spcPct val="100000"/>
              </a:lnSpc>
              <a:spcAft>
                <a:spcPts val="1800"/>
              </a:spcAft>
            </a:pPr>
            <a:r>
              <a:rPr lang="en-US" sz="3200" dirty="0"/>
              <a:t>Time window for each validation set</a:t>
            </a:r>
          </a:p>
          <a:p>
            <a:pPr>
              <a:lnSpc>
                <a:spcPct val="100000"/>
              </a:lnSpc>
              <a:spcAft>
                <a:spcPts val="1800"/>
              </a:spcAft>
            </a:pPr>
            <a:r>
              <a:rPr lang="en-US" sz="3200" dirty="0"/>
              <a:t>Sampling frequency for examples/rows</a:t>
            </a:r>
          </a:p>
          <a:p>
            <a:pPr>
              <a:lnSpc>
                <a:spcPct val="100000"/>
              </a:lnSpc>
              <a:spcAft>
                <a:spcPts val="1800"/>
              </a:spcAft>
            </a:pPr>
            <a:r>
              <a:rPr lang="en-US" sz="3200" dirty="0"/>
              <a:t>History for features (for each example/row)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304923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5A4E3-1083-BD43-B370-9A1F90A39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Temporal Validation Parameters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0F8D17-B2DE-6EEC-AB09-BFB48382A302}"/>
              </a:ext>
            </a:extLst>
          </p:cNvPr>
          <p:cNvSpPr txBox="1"/>
          <p:nvPr/>
        </p:nvSpPr>
        <p:spPr>
          <a:xfrm>
            <a:off x="517458" y="2168324"/>
            <a:ext cx="131799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100" dirty="0" err="1"/>
              <a:t>feature_start_time</a:t>
            </a:r>
            <a:endParaRPr lang="en-US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E6394D-57CC-B37F-6CF7-6CE82B1129A1}"/>
              </a:ext>
            </a:extLst>
          </p:cNvPr>
          <p:cNvSpPr txBox="1"/>
          <p:nvPr/>
        </p:nvSpPr>
        <p:spPr>
          <a:xfrm>
            <a:off x="2107121" y="2168324"/>
            <a:ext cx="118872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dirty="0" err="1"/>
              <a:t>label_start_time</a:t>
            </a:r>
            <a:endParaRPr 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5FD1AB-CAA9-1D92-107E-D9A10E1FEA7D}"/>
              </a:ext>
            </a:extLst>
          </p:cNvPr>
          <p:cNvSpPr txBox="1"/>
          <p:nvPr/>
        </p:nvSpPr>
        <p:spPr>
          <a:xfrm>
            <a:off x="3409187" y="2168324"/>
            <a:ext cx="1406154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100" dirty="0"/>
              <a:t>Max training history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4A5344-7090-2AE3-9E51-7B2DED5DF465}"/>
              </a:ext>
            </a:extLst>
          </p:cNvPr>
          <p:cNvSpPr txBox="1"/>
          <p:nvPr/>
        </p:nvSpPr>
        <p:spPr>
          <a:xfrm>
            <a:off x="5133788" y="2147177"/>
            <a:ext cx="1095172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100" dirty="0"/>
              <a:t>label timespan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1428B9-CBFE-5D4C-654B-1B68843248C5}"/>
              </a:ext>
            </a:extLst>
          </p:cNvPr>
          <p:cNvSpPr txBox="1"/>
          <p:nvPr/>
        </p:nvSpPr>
        <p:spPr>
          <a:xfrm>
            <a:off x="6897202" y="2168324"/>
            <a:ext cx="958917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100" dirty="0"/>
              <a:t>test duration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F8B4A4-EFCF-DF0E-FD1B-F5CF036C397A}"/>
              </a:ext>
            </a:extLst>
          </p:cNvPr>
          <p:cNvSpPr txBox="1"/>
          <p:nvPr/>
        </p:nvSpPr>
        <p:spPr>
          <a:xfrm>
            <a:off x="8842808" y="2168324"/>
            <a:ext cx="1095172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100" dirty="0"/>
              <a:t>label timespan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9B0DEB-2240-644D-885C-44DFE385947E}"/>
              </a:ext>
            </a:extLst>
          </p:cNvPr>
          <p:cNvSpPr txBox="1"/>
          <p:nvPr/>
        </p:nvSpPr>
        <p:spPr>
          <a:xfrm>
            <a:off x="10155223" y="1514299"/>
            <a:ext cx="128112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100" dirty="0" err="1"/>
              <a:t>feature_end_time</a:t>
            </a:r>
            <a:endParaRPr 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41D257-C6F0-9A9F-115A-941D3DF345D5}"/>
              </a:ext>
            </a:extLst>
          </p:cNvPr>
          <p:cNvSpPr txBox="1"/>
          <p:nvPr/>
        </p:nvSpPr>
        <p:spPr>
          <a:xfrm>
            <a:off x="10293081" y="1906714"/>
            <a:ext cx="1143262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100" dirty="0" err="1"/>
              <a:t>label_end_time</a:t>
            </a:r>
            <a:endParaRPr lang="en-US" sz="1100" dirty="0"/>
          </a:p>
        </p:txBody>
      </p:sp>
      <p:pic>
        <p:nvPicPr>
          <p:cNvPr id="13" name="Picture 2" descr="Time splitting config">
            <a:extLst>
              <a:ext uri="{FF2B5EF4-FFF2-40B4-BE49-F238E27FC236}">
                <a16:creationId xmlns:a16="http://schemas.microsoft.com/office/drawing/2014/main" id="{4EE4ED62-9696-36E3-84B7-CA70385886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06"/>
          <a:stretch>
            <a:fillRect/>
          </a:stretch>
        </p:blipFill>
        <p:spPr bwMode="auto">
          <a:xfrm>
            <a:off x="0" y="2483537"/>
            <a:ext cx="12192000" cy="2184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88773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E49ADA-B971-3A74-683D-F7E6AB709A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3" name="Google Shape;203;p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 dirty="0"/>
              <a:t>Temporal Validation Review -- Example</a:t>
            </a:r>
            <a:endParaRPr dirty="0"/>
          </a:p>
        </p:txBody>
      </p:sp>
      <p:sp>
        <p:nvSpPr>
          <p:cNvPr id="204" name="Google Shape;204;p38"/>
          <p:cNvSpPr/>
          <p:nvPr/>
        </p:nvSpPr>
        <p:spPr>
          <a:xfrm>
            <a:off x="190320" y="1463207"/>
            <a:ext cx="3124000" cy="42044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SzPts val="1400"/>
            </a:pPr>
            <a:endParaRPr sz="1867"/>
          </a:p>
        </p:txBody>
      </p:sp>
      <p:sp>
        <p:nvSpPr>
          <p:cNvPr id="205" name="Google Shape;205;p38"/>
          <p:cNvSpPr txBox="1"/>
          <p:nvPr/>
        </p:nvSpPr>
        <p:spPr>
          <a:xfrm>
            <a:off x="3566453" y="1341573"/>
            <a:ext cx="8531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2133"/>
              </a:spcAft>
            </a:pPr>
            <a:r>
              <a:rPr lang="en" sz="3467" dirty="0">
                <a:solidFill>
                  <a:srgbClr val="FF0000"/>
                </a:solidFill>
              </a:rPr>
              <a:t>At the time of hospital admission</a:t>
            </a:r>
            <a:r>
              <a:rPr lang="en" sz="3467" dirty="0">
                <a:solidFill>
                  <a:srgbClr val="595959"/>
                </a:solidFill>
              </a:rPr>
              <a:t>, for </a:t>
            </a:r>
            <a:r>
              <a:rPr lang="en" sz="3467" dirty="0">
                <a:solidFill>
                  <a:srgbClr val="0000FF"/>
                </a:solidFill>
              </a:rPr>
              <a:t>all every patient admitted</a:t>
            </a:r>
            <a:r>
              <a:rPr lang="en" sz="3467" dirty="0">
                <a:solidFill>
                  <a:srgbClr val="595959"/>
                </a:solidFill>
              </a:rPr>
              <a:t>, can we identify </a:t>
            </a:r>
            <a:r>
              <a:rPr lang="en" sz="3467" dirty="0">
                <a:solidFill>
                  <a:srgbClr val="FF00FF"/>
                </a:solidFill>
              </a:rPr>
              <a:t>if they will be among the 50 highest-risk individuals the hospital will see that month </a:t>
            </a:r>
            <a:r>
              <a:rPr lang="en" sz="3467" dirty="0">
                <a:solidFill>
                  <a:srgbClr val="595959"/>
                </a:solidFill>
              </a:rPr>
              <a:t>for </a:t>
            </a:r>
            <a:r>
              <a:rPr lang="en" sz="3467" dirty="0">
                <a:solidFill>
                  <a:srgbClr val="38761D"/>
                </a:solidFill>
              </a:rPr>
              <a:t>contracting monkeypox in the next year </a:t>
            </a:r>
            <a:r>
              <a:rPr lang="en" sz="3467" dirty="0">
                <a:solidFill>
                  <a:srgbClr val="B45F06"/>
                </a:solidFill>
              </a:rPr>
              <a:t>to prioritize for vaccine administration</a:t>
            </a:r>
            <a:r>
              <a:rPr lang="en" sz="3467" dirty="0">
                <a:solidFill>
                  <a:srgbClr val="595959"/>
                </a:solidFill>
              </a:rPr>
              <a:t>?</a:t>
            </a:r>
            <a:endParaRPr sz="3467" dirty="0">
              <a:solidFill>
                <a:srgbClr val="595959"/>
              </a:solidFill>
            </a:endParaRPr>
          </a:p>
        </p:txBody>
      </p:sp>
      <p:sp>
        <p:nvSpPr>
          <p:cNvPr id="206" name="Google Shape;206;p38"/>
          <p:cNvSpPr txBox="1"/>
          <p:nvPr/>
        </p:nvSpPr>
        <p:spPr>
          <a:xfrm>
            <a:off x="248120" y="1463207"/>
            <a:ext cx="3008400" cy="7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r>
              <a:rPr lang="en" sz="1867">
                <a:solidFill>
                  <a:srgbClr val="FF0000"/>
                </a:solidFill>
              </a:rPr>
              <a:t>When and How often is the recommendation / decision being made?</a:t>
            </a:r>
            <a:endParaRPr sz="1867">
              <a:solidFill>
                <a:srgbClr val="FF0000"/>
              </a:solidFill>
            </a:endParaRPr>
          </a:p>
        </p:txBody>
      </p:sp>
      <p:sp>
        <p:nvSpPr>
          <p:cNvPr id="207" name="Google Shape;207;p38"/>
          <p:cNvSpPr txBox="1"/>
          <p:nvPr/>
        </p:nvSpPr>
        <p:spPr>
          <a:xfrm>
            <a:off x="253253" y="2632740"/>
            <a:ext cx="3008400" cy="7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br>
              <a:rPr lang="en" sz="1867">
                <a:solidFill>
                  <a:srgbClr val="0000FF"/>
                </a:solidFill>
              </a:rPr>
            </a:br>
            <a:r>
              <a:rPr lang="en" sz="1867">
                <a:solidFill>
                  <a:srgbClr val="0000FF"/>
                </a:solidFill>
              </a:rPr>
              <a:t>Who/what is included in the cohort?</a:t>
            </a:r>
            <a:endParaRPr sz="1867">
              <a:solidFill>
                <a:srgbClr val="0000FF"/>
              </a:solidFill>
            </a:endParaRPr>
          </a:p>
        </p:txBody>
      </p:sp>
      <p:sp>
        <p:nvSpPr>
          <p:cNvPr id="208" name="Google Shape;208;p38"/>
          <p:cNvSpPr txBox="1"/>
          <p:nvPr/>
        </p:nvSpPr>
        <p:spPr>
          <a:xfrm>
            <a:off x="253253" y="3497473"/>
            <a:ext cx="3008400" cy="7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br>
              <a:rPr lang="en" sz="1867">
                <a:solidFill>
                  <a:srgbClr val="FF00FF"/>
                </a:solidFill>
              </a:rPr>
            </a:br>
            <a:r>
              <a:rPr lang="en" sz="1867">
                <a:solidFill>
                  <a:srgbClr val="FF00FF"/>
                </a:solidFill>
              </a:rPr>
              <a:t>What is the output?</a:t>
            </a:r>
            <a:endParaRPr sz="1867">
              <a:solidFill>
                <a:srgbClr val="FF00FF"/>
              </a:solidFill>
            </a:endParaRPr>
          </a:p>
        </p:txBody>
      </p:sp>
      <p:sp>
        <p:nvSpPr>
          <p:cNvPr id="209" name="Google Shape;209;p38"/>
          <p:cNvSpPr txBox="1"/>
          <p:nvPr/>
        </p:nvSpPr>
        <p:spPr>
          <a:xfrm>
            <a:off x="248120" y="4191873"/>
            <a:ext cx="3008400" cy="14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r>
              <a:rPr lang="en" sz="1867">
                <a:solidFill>
                  <a:srgbClr val="274E13"/>
                </a:solidFill>
              </a:rPr>
              <a:t>What outcome are you predicting/estimating?</a:t>
            </a:r>
            <a:endParaRPr sz="1867">
              <a:solidFill>
                <a:srgbClr val="274E13"/>
              </a:solidFill>
            </a:endParaRPr>
          </a:p>
          <a:p>
            <a:pPr>
              <a:buSzPts val="1400"/>
            </a:pPr>
            <a:endParaRPr sz="1867">
              <a:solidFill>
                <a:srgbClr val="274E13"/>
              </a:solidFill>
            </a:endParaRPr>
          </a:p>
          <a:p>
            <a:pPr>
              <a:buSzPts val="1400"/>
            </a:pPr>
            <a:r>
              <a:rPr lang="en" sz="1867">
                <a:solidFill>
                  <a:srgbClr val="B45F06"/>
                </a:solidFill>
              </a:rPr>
              <a:t>For what purpose?</a:t>
            </a:r>
            <a:endParaRPr sz="1867">
              <a:solidFill>
                <a:srgbClr val="274E1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12234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5A4E3-1083-BD43-B370-9A1F90A39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61F066-C352-2344-9AFE-A7E0C820C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1" y="947003"/>
            <a:ext cx="12035481" cy="5404369"/>
          </a:xfrm>
        </p:spPr>
        <p:txBody>
          <a:bodyPr/>
          <a:lstStyle/>
          <a:p>
            <a:r>
              <a:rPr lang="en-US" dirty="0"/>
              <a:t>How far back to go when training models? (max training history)</a:t>
            </a:r>
          </a:p>
          <a:p>
            <a:pPr lvl="1"/>
            <a:r>
              <a:rPr lang="en-US" dirty="0"/>
              <a:t>To the beginning of time (expanding training window)?</a:t>
            </a:r>
          </a:p>
          <a:p>
            <a:pPr lvl="1"/>
            <a:r>
              <a:rPr lang="en-US" dirty="0"/>
              <a:t>Fixed history (rolling training window)?</a:t>
            </a:r>
          </a:p>
          <a:p>
            <a:pPr lvl="1"/>
            <a:r>
              <a:rPr lang="en-US" dirty="0"/>
              <a:t>Something else?</a:t>
            </a:r>
          </a:p>
          <a:p>
            <a:pPr lvl="1"/>
            <a:r>
              <a:rPr lang="en-US" dirty="0"/>
              <a:t>How far back do you get your features from?</a:t>
            </a:r>
            <a:br>
              <a:rPr lang="en-US" dirty="0"/>
            </a:br>
            <a:endParaRPr lang="en-US" dirty="0"/>
          </a:p>
          <a:p>
            <a:r>
              <a:rPr lang="en-US" dirty="0"/>
              <a:t>How much to move forward from train-validation pair 1 to train-validation pair 2?</a:t>
            </a:r>
          </a:p>
          <a:p>
            <a:pPr lvl="1"/>
            <a:r>
              <a:rPr lang="en-US" dirty="0"/>
              <a:t>A day?</a:t>
            </a:r>
          </a:p>
          <a:p>
            <a:pPr lvl="1"/>
            <a:r>
              <a:rPr lang="en-US" dirty="0"/>
              <a:t>A month? </a:t>
            </a:r>
          </a:p>
          <a:p>
            <a:pPr lvl="1"/>
            <a:r>
              <a:rPr lang="en-US" dirty="0"/>
              <a:t>Something else?</a:t>
            </a:r>
          </a:p>
        </p:txBody>
      </p:sp>
    </p:spTree>
    <p:extLst>
      <p:ext uri="{BB962C8B-B14F-4D97-AF65-F5344CB8AC3E}">
        <p14:creationId xmlns:p14="http://schemas.microsoft.com/office/powerpoint/2010/main" val="3359709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5A4E3-1083-BD43-B370-9A1F90A39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considerations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61F066-C352-2344-9AFE-A7E0C820CF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making repeated predictions about the same entity at different times, how often should an entity be repeated in the training data?</a:t>
            </a:r>
          </a:p>
          <a:p>
            <a:pPr lvl="1"/>
            <a:r>
              <a:rPr lang="en-US" dirty="0"/>
              <a:t>In an event-based deployment setup?</a:t>
            </a:r>
          </a:p>
          <a:p>
            <a:pPr lvl="1"/>
            <a:r>
              <a:rPr lang="en-US" dirty="0"/>
              <a:t>In a “take action at regular-</a:t>
            </a:r>
            <a:r>
              <a:rPr lang="en-US" dirty="0" err="1"/>
              <a:t>ish</a:t>
            </a:r>
            <a:r>
              <a:rPr lang="en-US" dirty="0"/>
              <a:t> intervals” deployment?</a:t>
            </a:r>
          </a:p>
          <a:p>
            <a:pPr marL="565150" lvl="1" indent="0">
              <a:buNone/>
            </a:pPr>
            <a:endParaRPr lang="en-US" dirty="0"/>
          </a:p>
          <a:p>
            <a:r>
              <a:rPr lang="en-US" dirty="0"/>
              <a:t>What about in the validation set?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6820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AA672-F56C-2F41-B566-750991980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tips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B2F8AE-4F06-1B49-B482-20CE10B4D0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validation set(s) to match deployment scenarios (and constraints)</a:t>
            </a:r>
          </a:p>
          <a:p>
            <a:endParaRPr lang="en-US" dirty="0"/>
          </a:p>
          <a:p>
            <a:r>
              <a:rPr lang="en-US" dirty="0"/>
              <a:t>Set up training set(s) any way we want but match data (both features and labels) available at training time</a:t>
            </a:r>
          </a:p>
          <a:p>
            <a:pPr lvl="1"/>
            <a:r>
              <a:rPr lang="en-US" dirty="0"/>
              <a:t>Making sure labels are not censored based on label period</a:t>
            </a:r>
          </a:p>
          <a:p>
            <a:pPr lvl="1"/>
            <a:r>
              <a:rPr lang="en-US" dirty="0"/>
              <a:t>Sampling (if helpful)</a:t>
            </a:r>
          </a:p>
          <a:p>
            <a:pPr lvl="1"/>
            <a:r>
              <a:rPr lang="en-US" dirty="0"/>
              <a:t>Data collection and update lag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1480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4512CC-05C1-668B-1D07-BB5DA3F82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Slides (not covered in class)</a:t>
            </a:r>
          </a:p>
        </p:txBody>
      </p:sp>
    </p:spTree>
    <p:extLst>
      <p:ext uri="{BB962C8B-B14F-4D97-AF65-F5344CB8AC3E}">
        <p14:creationId xmlns:p14="http://schemas.microsoft.com/office/powerpoint/2010/main" val="19975049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400B3-6753-994F-884E-259FF72CF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 Validation Pairs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123CB5-A986-524E-B988-2572CA6097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7579015"/>
              </p:ext>
            </p:extLst>
          </p:nvPr>
        </p:nvGraphicFramePr>
        <p:xfrm>
          <a:off x="279699" y="1226519"/>
          <a:ext cx="10843710" cy="3558060"/>
        </p:xfrm>
        <a:graphic>
          <a:graphicData uri="http://schemas.openxmlformats.org/drawingml/2006/table">
            <a:tbl>
              <a:tblPr/>
              <a:tblGrid>
                <a:gridCol w="980624">
                  <a:extLst>
                    <a:ext uri="{9D8B030D-6E8A-4147-A177-3AD203B41FA5}">
                      <a16:colId xmlns:a16="http://schemas.microsoft.com/office/drawing/2014/main" val="1169677143"/>
                    </a:ext>
                  </a:extLst>
                </a:gridCol>
                <a:gridCol w="1236439">
                  <a:extLst>
                    <a:ext uri="{9D8B030D-6E8A-4147-A177-3AD203B41FA5}">
                      <a16:colId xmlns:a16="http://schemas.microsoft.com/office/drawing/2014/main" val="1992358054"/>
                    </a:ext>
                  </a:extLst>
                </a:gridCol>
                <a:gridCol w="1321710">
                  <a:extLst>
                    <a:ext uri="{9D8B030D-6E8A-4147-A177-3AD203B41FA5}">
                      <a16:colId xmlns:a16="http://schemas.microsoft.com/office/drawing/2014/main" val="2155224152"/>
                    </a:ext>
                  </a:extLst>
                </a:gridCol>
                <a:gridCol w="1307498">
                  <a:extLst>
                    <a:ext uri="{9D8B030D-6E8A-4147-A177-3AD203B41FA5}">
                      <a16:colId xmlns:a16="http://schemas.microsoft.com/office/drawing/2014/main" val="2488083655"/>
                    </a:ext>
                  </a:extLst>
                </a:gridCol>
                <a:gridCol w="1165379">
                  <a:extLst>
                    <a:ext uri="{9D8B030D-6E8A-4147-A177-3AD203B41FA5}">
                      <a16:colId xmlns:a16="http://schemas.microsoft.com/office/drawing/2014/main" val="3479530697"/>
                    </a:ext>
                  </a:extLst>
                </a:gridCol>
                <a:gridCol w="1208015">
                  <a:extLst>
                    <a:ext uri="{9D8B030D-6E8A-4147-A177-3AD203B41FA5}">
                      <a16:colId xmlns:a16="http://schemas.microsoft.com/office/drawing/2014/main" val="2383658884"/>
                    </a:ext>
                  </a:extLst>
                </a:gridCol>
                <a:gridCol w="1208015">
                  <a:extLst>
                    <a:ext uri="{9D8B030D-6E8A-4147-A177-3AD203B41FA5}">
                      <a16:colId xmlns:a16="http://schemas.microsoft.com/office/drawing/2014/main" val="3701120334"/>
                    </a:ext>
                  </a:extLst>
                </a:gridCol>
                <a:gridCol w="1208015">
                  <a:extLst>
                    <a:ext uri="{9D8B030D-6E8A-4147-A177-3AD203B41FA5}">
                      <a16:colId xmlns:a16="http://schemas.microsoft.com/office/drawing/2014/main" val="3497687737"/>
                    </a:ext>
                  </a:extLst>
                </a:gridCol>
                <a:gridCol w="1208015">
                  <a:extLst>
                    <a:ext uri="{9D8B030D-6E8A-4147-A177-3AD203B41FA5}">
                      <a16:colId xmlns:a16="http://schemas.microsoft.com/office/drawing/2014/main" val="4087941343"/>
                    </a:ext>
                  </a:extLst>
                </a:gridCol>
              </a:tblGrid>
              <a:tr h="580500">
                <a:tc>
                  <a:txBody>
                    <a:bodyPr/>
                    <a:lstStyle/>
                    <a:p>
                      <a:pPr fontAlgn="t"/>
                      <a:r>
                        <a:rPr lang="en-US" sz="2800" dirty="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Train Set</a:t>
                      </a:r>
                      <a:endParaRPr lang="en-US" sz="280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Validation Set</a:t>
                      </a:r>
                      <a:endParaRPr lang="en-US" sz="280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516673"/>
                  </a:ext>
                </a:extLst>
              </a:tr>
              <a:tr h="104760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Train-Validation Pair ID</a:t>
                      </a:r>
                      <a:endParaRPr lang="en-US" sz="280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Earliest project submission date </a:t>
                      </a:r>
                      <a:endParaRPr lang="en-US" sz="280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Latest project submission date </a:t>
                      </a:r>
                      <a:endParaRPr lang="en-US" sz="280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Start date for labels</a:t>
                      </a:r>
                      <a:endParaRPr lang="en-US" sz="2800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End date for labels</a:t>
                      </a:r>
                      <a:endParaRPr lang="en-US" sz="2800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Start date for rows</a:t>
                      </a:r>
                      <a:endParaRPr lang="en-US" sz="280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End date for rows</a:t>
                      </a:r>
                      <a:endParaRPr lang="en-US" sz="280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Start date for labels</a:t>
                      </a:r>
                      <a:endParaRPr lang="en-US" sz="280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End date for labels</a:t>
                      </a:r>
                      <a:endParaRPr lang="en-US" sz="280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230078"/>
                  </a:ext>
                </a:extLst>
              </a:tr>
              <a:tr h="57240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1 </a:t>
                      </a:r>
                      <a:endParaRPr lang="en-US" sz="280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 dirty="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 dirty="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315643"/>
                  </a:ext>
                </a:extLst>
              </a:tr>
              <a:tr h="57240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lang="en-US" sz="280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035906"/>
                  </a:ext>
                </a:extLst>
              </a:tr>
              <a:tr h="65880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(most recent)</a:t>
                      </a:r>
                      <a:endParaRPr lang="en-US" sz="280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 dirty="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 dirty="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47654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C3A8FBED-85E3-6543-8C9B-3BCDC1DC1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057" y="1334098"/>
            <a:ext cx="16688560" cy="6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Google Shape;75;p16">
            <a:extLst>
              <a:ext uri="{FF2B5EF4-FFF2-40B4-BE49-F238E27FC236}">
                <a16:creationId xmlns:a16="http://schemas.microsoft.com/office/drawing/2014/main" id="{88022FE4-43BB-F446-8B27-9386A69F8BEF}"/>
              </a:ext>
            </a:extLst>
          </p:cNvPr>
          <p:cNvSpPr/>
          <p:nvPr/>
        </p:nvSpPr>
        <p:spPr>
          <a:xfrm>
            <a:off x="2616653" y="4956475"/>
            <a:ext cx="2723700" cy="518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Training Examples</a:t>
            </a:r>
            <a:endParaRPr dirty="0"/>
          </a:p>
        </p:txBody>
      </p:sp>
      <p:sp>
        <p:nvSpPr>
          <p:cNvPr id="9" name="Google Shape;76;p16">
            <a:extLst>
              <a:ext uri="{FF2B5EF4-FFF2-40B4-BE49-F238E27FC236}">
                <a16:creationId xmlns:a16="http://schemas.microsoft.com/office/drawing/2014/main" id="{1CC13113-308F-0D49-A54C-F1B7D29843CB}"/>
              </a:ext>
            </a:extLst>
          </p:cNvPr>
          <p:cNvSpPr/>
          <p:nvPr/>
        </p:nvSpPr>
        <p:spPr>
          <a:xfrm>
            <a:off x="5279753" y="4956475"/>
            <a:ext cx="664200" cy="5184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Label Buffer</a:t>
            </a:r>
            <a:endParaRPr dirty="0"/>
          </a:p>
        </p:txBody>
      </p:sp>
      <p:sp>
        <p:nvSpPr>
          <p:cNvPr id="10" name="Google Shape;77;p16">
            <a:extLst>
              <a:ext uri="{FF2B5EF4-FFF2-40B4-BE49-F238E27FC236}">
                <a16:creationId xmlns:a16="http://schemas.microsoft.com/office/drawing/2014/main" id="{74B63F31-AE4A-0947-8507-1D23D6B07216}"/>
              </a:ext>
            </a:extLst>
          </p:cNvPr>
          <p:cNvSpPr/>
          <p:nvPr/>
        </p:nvSpPr>
        <p:spPr>
          <a:xfrm>
            <a:off x="5867753" y="4956475"/>
            <a:ext cx="2723700" cy="518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Validation Examples</a:t>
            </a:r>
            <a:endParaRPr/>
          </a:p>
        </p:txBody>
      </p:sp>
      <p:sp>
        <p:nvSpPr>
          <p:cNvPr id="11" name="Google Shape;78;p16">
            <a:extLst>
              <a:ext uri="{FF2B5EF4-FFF2-40B4-BE49-F238E27FC236}">
                <a16:creationId xmlns:a16="http://schemas.microsoft.com/office/drawing/2014/main" id="{B0E0B54D-C539-714F-A207-E2E53766956C}"/>
              </a:ext>
            </a:extLst>
          </p:cNvPr>
          <p:cNvSpPr/>
          <p:nvPr/>
        </p:nvSpPr>
        <p:spPr>
          <a:xfrm>
            <a:off x="8384428" y="4956475"/>
            <a:ext cx="664200" cy="5184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Label Buffer</a:t>
            </a:r>
            <a:endParaRPr/>
          </a:p>
        </p:txBody>
      </p:sp>
      <p:sp>
        <p:nvSpPr>
          <p:cNvPr id="12" name="Google Shape;79;p16">
            <a:extLst>
              <a:ext uri="{FF2B5EF4-FFF2-40B4-BE49-F238E27FC236}">
                <a16:creationId xmlns:a16="http://schemas.microsoft.com/office/drawing/2014/main" id="{FA1B9212-0C05-C34C-B9A0-7C260DAEEC4D}"/>
              </a:ext>
            </a:extLst>
          </p:cNvPr>
          <p:cNvSpPr/>
          <p:nvPr/>
        </p:nvSpPr>
        <p:spPr>
          <a:xfrm>
            <a:off x="2826203" y="5664650"/>
            <a:ext cx="2723700" cy="518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Examples</a:t>
            </a:r>
            <a:endParaRPr/>
          </a:p>
        </p:txBody>
      </p:sp>
      <p:sp>
        <p:nvSpPr>
          <p:cNvPr id="13" name="Google Shape;80;p16">
            <a:extLst>
              <a:ext uri="{FF2B5EF4-FFF2-40B4-BE49-F238E27FC236}">
                <a16:creationId xmlns:a16="http://schemas.microsoft.com/office/drawing/2014/main" id="{1FCFB2E6-799F-2642-8B0D-82FE69AF405C}"/>
              </a:ext>
            </a:extLst>
          </p:cNvPr>
          <p:cNvSpPr/>
          <p:nvPr/>
        </p:nvSpPr>
        <p:spPr>
          <a:xfrm>
            <a:off x="5489303" y="5664650"/>
            <a:ext cx="664200" cy="5184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Label Buffer</a:t>
            </a:r>
            <a:endParaRPr/>
          </a:p>
        </p:txBody>
      </p:sp>
      <p:sp>
        <p:nvSpPr>
          <p:cNvPr id="14" name="Google Shape;81;p16">
            <a:extLst>
              <a:ext uri="{FF2B5EF4-FFF2-40B4-BE49-F238E27FC236}">
                <a16:creationId xmlns:a16="http://schemas.microsoft.com/office/drawing/2014/main" id="{23524599-0A97-2941-A8B2-33CCFF497383}"/>
              </a:ext>
            </a:extLst>
          </p:cNvPr>
          <p:cNvSpPr/>
          <p:nvPr/>
        </p:nvSpPr>
        <p:spPr>
          <a:xfrm>
            <a:off x="6077303" y="5664650"/>
            <a:ext cx="2723700" cy="518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Validation Examples</a:t>
            </a:r>
            <a:endParaRPr/>
          </a:p>
        </p:txBody>
      </p:sp>
      <p:sp>
        <p:nvSpPr>
          <p:cNvPr id="15" name="Google Shape;82;p16">
            <a:extLst>
              <a:ext uri="{FF2B5EF4-FFF2-40B4-BE49-F238E27FC236}">
                <a16:creationId xmlns:a16="http://schemas.microsoft.com/office/drawing/2014/main" id="{DC3E6061-FCD2-2B4E-8D49-44222CC2D6F0}"/>
              </a:ext>
            </a:extLst>
          </p:cNvPr>
          <p:cNvSpPr/>
          <p:nvPr/>
        </p:nvSpPr>
        <p:spPr>
          <a:xfrm>
            <a:off x="8593978" y="5664650"/>
            <a:ext cx="664200" cy="5184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Label Buffer</a:t>
            </a:r>
            <a:endParaRPr/>
          </a:p>
        </p:txBody>
      </p:sp>
      <p:sp>
        <p:nvSpPr>
          <p:cNvPr id="16" name="Google Shape;83;p16">
            <a:extLst>
              <a:ext uri="{FF2B5EF4-FFF2-40B4-BE49-F238E27FC236}">
                <a16:creationId xmlns:a16="http://schemas.microsoft.com/office/drawing/2014/main" id="{3E5A93A3-DDC4-A142-86E1-4EED81ECBB34}"/>
              </a:ext>
            </a:extLst>
          </p:cNvPr>
          <p:cNvSpPr txBox="1"/>
          <p:nvPr/>
        </p:nvSpPr>
        <p:spPr>
          <a:xfrm>
            <a:off x="176178" y="4984825"/>
            <a:ext cx="23350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Train-Validation Pair 1</a:t>
            </a:r>
            <a:endParaRPr sz="3200" dirty="0"/>
          </a:p>
        </p:txBody>
      </p:sp>
      <p:sp>
        <p:nvSpPr>
          <p:cNvPr id="17" name="Google Shape;84;p16">
            <a:extLst>
              <a:ext uri="{FF2B5EF4-FFF2-40B4-BE49-F238E27FC236}">
                <a16:creationId xmlns:a16="http://schemas.microsoft.com/office/drawing/2014/main" id="{E9289A33-C4D3-8549-9067-B9295D5724D3}"/>
              </a:ext>
            </a:extLst>
          </p:cNvPr>
          <p:cNvSpPr txBox="1"/>
          <p:nvPr/>
        </p:nvSpPr>
        <p:spPr>
          <a:xfrm>
            <a:off x="176178" y="5693000"/>
            <a:ext cx="246805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Train-Validation Pair 2</a:t>
            </a:r>
            <a:endParaRPr sz="3200" dirty="0"/>
          </a:p>
        </p:txBody>
      </p:sp>
      <p:cxnSp>
        <p:nvCxnSpPr>
          <p:cNvPr id="18" name="Google Shape;85;p16">
            <a:extLst>
              <a:ext uri="{FF2B5EF4-FFF2-40B4-BE49-F238E27FC236}">
                <a16:creationId xmlns:a16="http://schemas.microsoft.com/office/drawing/2014/main" id="{2567FE36-C42B-6540-92E4-C7DBA5213BA9}"/>
              </a:ext>
            </a:extLst>
          </p:cNvPr>
          <p:cNvCxnSpPr>
            <a:cxnSpLocks/>
          </p:cNvCxnSpPr>
          <p:nvPr/>
        </p:nvCxnSpPr>
        <p:spPr>
          <a:xfrm flipH="1" flipV="1">
            <a:off x="2334409" y="3302598"/>
            <a:ext cx="291179" cy="163077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" name="Google Shape;86;p16">
            <a:extLst>
              <a:ext uri="{FF2B5EF4-FFF2-40B4-BE49-F238E27FC236}">
                <a16:creationId xmlns:a16="http://schemas.microsoft.com/office/drawing/2014/main" id="{128B2764-2EF0-AB47-82DF-3CC4C0AD7B0F}"/>
              </a:ext>
            </a:extLst>
          </p:cNvPr>
          <p:cNvCxnSpPr>
            <a:cxnSpLocks/>
          </p:cNvCxnSpPr>
          <p:nvPr/>
        </p:nvCxnSpPr>
        <p:spPr>
          <a:xfrm flipH="1" flipV="1">
            <a:off x="3313355" y="3239225"/>
            <a:ext cx="1966398" cy="170891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" name="Google Shape;87;p16">
            <a:extLst>
              <a:ext uri="{FF2B5EF4-FFF2-40B4-BE49-F238E27FC236}">
                <a16:creationId xmlns:a16="http://schemas.microsoft.com/office/drawing/2014/main" id="{7B00B6AE-0774-A04C-BD90-AA5163A87411}"/>
              </a:ext>
            </a:extLst>
          </p:cNvPr>
          <p:cNvCxnSpPr>
            <a:cxnSpLocks/>
          </p:cNvCxnSpPr>
          <p:nvPr/>
        </p:nvCxnSpPr>
        <p:spPr>
          <a:xfrm flipV="1">
            <a:off x="2655228" y="3239224"/>
            <a:ext cx="1738624" cy="170897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" name="Google Shape;88;p16">
            <a:extLst>
              <a:ext uri="{FF2B5EF4-FFF2-40B4-BE49-F238E27FC236}">
                <a16:creationId xmlns:a16="http://schemas.microsoft.com/office/drawing/2014/main" id="{C47765E1-A98E-1B4F-8F44-E2C687798D34}"/>
              </a:ext>
            </a:extLst>
          </p:cNvPr>
          <p:cNvCxnSpPr>
            <a:cxnSpLocks/>
          </p:cNvCxnSpPr>
          <p:nvPr/>
        </p:nvCxnSpPr>
        <p:spPr>
          <a:xfrm flipH="1" flipV="1">
            <a:off x="5489303" y="3239162"/>
            <a:ext cx="378450" cy="171731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" name="Google Shape;85;p16">
            <a:extLst>
              <a:ext uri="{FF2B5EF4-FFF2-40B4-BE49-F238E27FC236}">
                <a16:creationId xmlns:a16="http://schemas.microsoft.com/office/drawing/2014/main" id="{02C7722C-A353-154E-9BC4-296A2BF0FD96}"/>
              </a:ext>
            </a:extLst>
          </p:cNvPr>
          <p:cNvCxnSpPr>
            <a:cxnSpLocks/>
          </p:cNvCxnSpPr>
          <p:nvPr/>
        </p:nvCxnSpPr>
        <p:spPr>
          <a:xfrm flipV="1">
            <a:off x="5897143" y="3228203"/>
            <a:ext cx="893435" cy="170516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" name="Google Shape;86;p16">
            <a:extLst>
              <a:ext uri="{FF2B5EF4-FFF2-40B4-BE49-F238E27FC236}">
                <a16:creationId xmlns:a16="http://schemas.microsoft.com/office/drawing/2014/main" id="{491297DD-0D6D-D94F-80F4-D4CB875DFD89}"/>
              </a:ext>
            </a:extLst>
          </p:cNvPr>
          <p:cNvCxnSpPr>
            <a:cxnSpLocks/>
          </p:cNvCxnSpPr>
          <p:nvPr/>
        </p:nvCxnSpPr>
        <p:spPr>
          <a:xfrm flipV="1">
            <a:off x="5867753" y="3230949"/>
            <a:ext cx="3297762" cy="172552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" name="Google Shape;87;p16">
            <a:extLst>
              <a:ext uri="{FF2B5EF4-FFF2-40B4-BE49-F238E27FC236}">
                <a16:creationId xmlns:a16="http://schemas.microsoft.com/office/drawing/2014/main" id="{E28D42CD-1164-364E-A37D-76E6A7DC0BCE}"/>
              </a:ext>
            </a:extLst>
          </p:cNvPr>
          <p:cNvCxnSpPr>
            <a:cxnSpLocks/>
          </p:cNvCxnSpPr>
          <p:nvPr/>
        </p:nvCxnSpPr>
        <p:spPr>
          <a:xfrm flipH="1" flipV="1">
            <a:off x="7653624" y="3239224"/>
            <a:ext cx="713197" cy="170891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" name="Google Shape;88;p16">
            <a:extLst>
              <a:ext uri="{FF2B5EF4-FFF2-40B4-BE49-F238E27FC236}">
                <a16:creationId xmlns:a16="http://schemas.microsoft.com/office/drawing/2014/main" id="{B477AA2D-D7A8-0546-AE76-40F633252E5C}"/>
              </a:ext>
            </a:extLst>
          </p:cNvPr>
          <p:cNvCxnSpPr>
            <a:cxnSpLocks/>
          </p:cNvCxnSpPr>
          <p:nvPr/>
        </p:nvCxnSpPr>
        <p:spPr>
          <a:xfrm flipV="1">
            <a:off x="9048629" y="3239162"/>
            <a:ext cx="1224924" cy="169420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281409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968919" y="5069881"/>
            <a:ext cx="8229600" cy="9073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Validate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968919" y="3353368"/>
            <a:ext cx="8229600" cy="9073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Train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In-sample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968919" y="1612794"/>
            <a:ext cx="8229600" cy="9073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Data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099845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968919" y="5069881"/>
            <a:ext cx="8229600" cy="907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Validate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968919" y="3353368"/>
            <a:ext cx="8229600" cy="9073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Train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grpSp>
        <p:nvGrpSpPr>
          <p:cNvPr id="41" name="Group 40"/>
          <p:cNvGrpSpPr/>
          <p:nvPr/>
        </p:nvGrpSpPr>
        <p:grpSpPr>
          <a:xfrm>
            <a:off x="2190517" y="3350654"/>
            <a:ext cx="7823678" cy="917702"/>
            <a:chOff x="501627" y="3198043"/>
            <a:chExt cx="7823678" cy="917702"/>
          </a:xfrm>
          <a:solidFill>
            <a:schemeClr val="bg1"/>
          </a:solidFill>
        </p:grpSpPr>
        <p:sp>
          <p:nvSpPr>
            <p:cNvPr id="42" name="Rectangle 41"/>
            <p:cNvSpPr/>
            <p:nvPr/>
          </p:nvSpPr>
          <p:spPr>
            <a:xfrm>
              <a:off x="3291934" y="3203465"/>
              <a:ext cx="164592" cy="9073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8160713" y="3198514"/>
              <a:ext cx="164592" cy="9073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6171492" y="3198044"/>
              <a:ext cx="164592" cy="9073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6589295" y="3208420"/>
              <a:ext cx="164592" cy="9073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2415280" y="3208420"/>
              <a:ext cx="164592" cy="9073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1511260" y="3208420"/>
              <a:ext cx="164592" cy="9073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3019807" y="3205943"/>
              <a:ext cx="164592" cy="9073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7861575" y="3198043"/>
              <a:ext cx="164592" cy="9073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01627" y="3204705"/>
              <a:ext cx="164592" cy="9073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2190517" y="3347943"/>
            <a:ext cx="7823678" cy="917702"/>
            <a:chOff x="501627" y="3198043"/>
            <a:chExt cx="7823678" cy="917702"/>
          </a:xfrm>
          <a:solidFill>
            <a:schemeClr val="accent2"/>
          </a:solidFill>
        </p:grpSpPr>
        <p:sp>
          <p:nvSpPr>
            <p:cNvPr id="13" name="Rectangle 12"/>
            <p:cNvSpPr/>
            <p:nvPr/>
          </p:nvSpPr>
          <p:spPr>
            <a:xfrm>
              <a:off x="3291934" y="3203465"/>
              <a:ext cx="164592" cy="9073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8160713" y="3198514"/>
              <a:ext cx="164592" cy="9073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171492" y="3198044"/>
              <a:ext cx="164592" cy="9073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589295" y="3208420"/>
              <a:ext cx="164592" cy="9073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415280" y="3208420"/>
              <a:ext cx="164592" cy="9073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511260" y="3208420"/>
              <a:ext cx="164592" cy="9073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019807" y="3205943"/>
              <a:ext cx="164592" cy="9073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861575" y="3198043"/>
              <a:ext cx="164592" cy="9073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01627" y="3204705"/>
              <a:ext cx="164592" cy="9073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Out-of-Sample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968919" y="1612794"/>
            <a:ext cx="8229600" cy="9073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Data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31076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2.59259E-6 L -4.44444E-6 0.2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968919" y="5069881"/>
            <a:ext cx="8229600" cy="907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Validate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968919" y="3353368"/>
            <a:ext cx="8229600" cy="907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Train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k-fold Cross-Validation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968919" y="1612794"/>
            <a:ext cx="8229600" cy="9073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Data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68919" y="1615946"/>
            <a:ext cx="1645920" cy="9073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7088" y="1615946"/>
            <a:ext cx="1645920" cy="9073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5257" y="1615946"/>
            <a:ext cx="1645920" cy="9073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913426" y="1615946"/>
            <a:ext cx="1645920" cy="9073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4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561593" y="1615946"/>
            <a:ext cx="1645920" cy="9073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2218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3.7037E-7 L -2.77778E-7 0.2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3.7037E-7 L -1.94444E-6 0.25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7037E-7 L 0 0.2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7037E-7 L -1.66667E-6 0.25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3.7037E-7 L -0.00226 0.50926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2" y="25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2" grpId="0" animBg="1"/>
      <p:bldP spid="1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968919" y="5069881"/>
            <a:ext cx="8229600" cy="907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Validate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968919" y="3353368"/>
            <a:ext cx="8229600" cy="907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Train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k-fold Cross-Validation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968919" y="1612794"/>
            <a:ext cx="8229600" cy="9073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Data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68919" y="1615946"/>
            <a:ext cx="1645920" cy="9073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7088" y="1615946"/>
            <a:ext cx="1645920" cy="9073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5257" y="1615946"/>
            <a:ext cx="1645920" cy="9073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913426" y="1615946"/>
            <a:ext cx="1645920" cy="9073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4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561593" y="1615946"/>
            <a:ext cx="1645920" cy="9073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9112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3.7037E-7 L 0.0059 0.50278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5" y="25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2" grpId="0" animBg="1"/>
      <p:bldP spid="1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968919" y="5069881"/>
            <a:ext cx="8229600" cy="907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Validate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968919" y="3353368"/>
            <a:ext cx="8229600" cy="907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Train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k-fold Cross-Validation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968919" y="1612794"/>
            <a:ext cx="8229600" cy="9073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Data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68919" y="1615946"/>
            <a:ext cx="1645920" cy="9073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7088" y="1615946"/>
            <a:ext cx="1645920" cy="9073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5257" y="1615946"/>
            <a:ext cx="1645920" cy="9073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913426" y="1615946"/>
            <a:ext cx="1645920" cy="9073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4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561593" y="1615946"/>
            <a:ext cx="1645920" cy="9073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0577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3.7037E-7 L 0.00087 0.50278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25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2" grpId="0" animBg="1"/>
      <p:bldP spid="1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968919" y="5069881"/>
            <a:ext cx="8229600" cy="907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Validate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968919" y="3353368"/>
            <a:ext cx="8229600" cy="907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Train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k-fold Cross-Validation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968919" y="1612794"/>
            <a:ext cx="8229600" cy="9073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Data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68919" y="1615946"/>
            <a:ext cx="1645920" cy="9073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7088" y="1615946"/>
            <a:ext cx="1645920" cy="9073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5257" y="1615946"/>
            <a:ext cx="1645920" cy="9073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913426" y="1615946"/>
            <a:ext cx="1645920" cy="9073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4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561593" y="1615946"/>
            <a:ext cx="1645920" cy="9073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28496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7037E-7 L 0.00087 0.50278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25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2" grpId="0" animBg="1"/>
      <p:bldP spid="1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968919" y="5069881"/>
            <a:ext cx="8229600" cy="907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Validate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968919" y="3353368"/>
            <a:ext cx="8229600" cy="907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Train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k-fold Cross-Validation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968919" y="1612794"/>
            <a:ext cx="8229600" cy="9073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Data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68919" y="1615946"/>
            <a:ext cx="1645920" cy="9073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7088" y="1615946"/>
            <a:ext cx="1645920" cy="9073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5257" y="1615946"/>
            <a:ext cx="1645920" cy="9073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913426" y="1615946"/>
            <a:ext cx="1645920" cy="9073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4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561593" y="1615946"/>
            <a:ext cx="1645920" cy="9073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7020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7037E-7 L 0.00243 0.50486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2" y="25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2" grpId="0" animBg="1"/>
      <p:bldP spid="1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0" y="23412"/>
            <a:ext cx="9144000" cy="1143000"/>
          </a:xfrm>
        </p:spPr>
        <p:txBody>
          <a:bodyPr/>
          <a:lstStyle/>
          <a:p>
            <a:r>
              <a:rPr lang="en-US" dirty="0"/>
              <a:t>Temporal Holdouts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981200" y="1509578"/>
            <a:ext cx="8229600" cy="67411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Data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19918" y="2177063"/>
            <a:ext cx="9148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2002                                                                                                                2017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519918" y="2756264"/>
            <a:ext cx="9148082" cy="1129150"/>
            <a:chOff x="-4082" y="2756264"/>
            <a:chExt cx="9148082" cy="1129150"/>
          </a:xfrm>
        </p:grpSpPr>
        <p:sp>
          <p:nvSpPr>
            <p:cNvPr id="7" name="Rectangle 6"/>
            <p:cNvSpPr/>
            <p:nvPr/>
          </p:nvSpPr>
          <p:spPr>
            <a:xfrm>
              <a:off x="457200" y="2756264"/>
              <a:ext cx="2743200" cy="64008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  <a:sym typeface="Arial"/>
                </a:rPr>
                <a:t>Train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-4082" y="3423749"/>
              <a:ext cx="91480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2002                               2007  2008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187908" y="2756264"/>
              <a:ext cx="548640" cy="64008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 flipH="1">
              <a:off x="3477218" y="2952684"/>
              <a:ext cx="884920" cy="19728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4347148" y="2781811"/>
              <a:ext cx="11904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Validate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1524000" y="3963355"/>
            <a:ext cx="9148082" cy="1159515"/>
            <a:chOff x="0" y="3963354"/>
            <a:chExt cx="9148082" cy="1159515"/>
          </a:xfrm>
        </p:grpSpPr>
        <p:sp>
          <p:nvSpPr>
            <p:cNvPr id="14" name="Rectangle 13"/>
            <p:cNvSpPr/>
            <p:nvPr/>
          </p:nvSpPr>
          <p:spPr>
            <a:xfrm>
              <a:off x="459697" y="4025141"/>
              <a:ext cx="3330313" cy="64008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  <a:sym typeface="Arial"/>
                </a:rPr>
                <a:t>Train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790011" y="4025141"/>
              <a:ext cx="548640" cy="64008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 flipH="1">
              <a:off x="3926041" y="4286520"/>
              <a:ext cx="884920" cy="104949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4810961" y="3963354"/>
              <a:ext cx="11904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Validate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0" y="4661204"/>
              <a:ext cx="91480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2002                                       2008  2009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1571470" y="5150074"/>
            <a:ext cx="9148082" cy="1144525"/>
            <a:chOff x="47470" y="5150073"/>
            <a:chExt cx="9148082" cy="1144525"/>
          </a:xfrm>
        </p:grpSpPr>
        <p:sp>
          <p:nvSpPr>
            <p:cNvPr id="22" name="Rectangle 21"/>
            <p:cNvSpPr/>
            <p:nvPr/>
          </p:nvSpPr>
          <p:spPr>
            <a:xfrm>
              <a:off x="477186" y="5211860"/>
              <a:ext cx="3869961" cy="64008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  <a:sym typeface="Arial"/>
                </a:rPr>
                <a:t>Train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362134" y="5211860"/>
              <a:ext cx="548640" cy="64008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cxnSp>
          <p:nvCxnSpPr>
            <p:cNvPr id="24" name="Straight Arrow Connector 23"/>
            <p:cNvCxnSpPr/>
            <p:nvPr/>
          </p:nvCxnSpPr>
          <p:spPr>
            <a:xfrm flipH="1">
              <a:off x="4691919" y="5473239"/>
              <a:ext cx="691165" cy="185615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5383084" y="5150073"/>
              <a:ext cx="11904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Validate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7470" y="5832933"/>
              <a:ext cx="91480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2002                                               2009 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2010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597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5E2B7B-AB3E-FE49-BCC7-910B2DFB0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 - Time splits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0848517-62FD-AA49-B34B-0EBA6DF1CD11}"/>
              </a:ext>
            </a:extLst>
          </p:cNvPr>
          <p:cNvGrpSpPr/>
          <p:nvPr/>
        </p:nvGrpSpPr>
        <p:grpSpPr>
          <a:xfrm>
            <a:off x="2217514" y="2218030"/>
            <a:ext cx="9148082" cy="1144525"/>
            <a:chOff x="47470" y="5150073"/>
            <a:chExt cx="9148082" cy="114452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603ABDC-9084-4544-9DC5-66BAF6973545}"/>
                </a:ext>
              </a:extLst>
            </p:cNvPr>
            <p:cNvSpPr/>
            <p:nvPr/>
          </p:nvSpPr>
          <p:spPr>
            <a:xfrm>
              <a:off x="477186" y="5211860"/>
              <a:ext cx="3869961" cy="64008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  <a:sym typeface="Arial"/>
                </a:rPr>
                <a:t>Train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0332DDF-170A-054B-92B3-44DAB5C04F0A}"/>
                </a:ext>
              </a:extLst>
            </p:cNvPr>
            <p:cNvSpPr/>
            <p:nvPr/>
          </p:nvSpPr>
          <p:spPr>
            <a:xfrm>
              <a:off x="4362134" y="5211860"/>
              <a:ext cx="548640" cy="64008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F6F4BEE6-8AB7-2A4D-9BD5-73F9432A6D55}"/>
                </a:ext>
              </a:extLst>
            </p:cNvPr>
            <p:cNvCxnSpPr/>
            <p:nvPr/>
          </p:nvCxnSpPr>
          <p:spPr>
            <a:xfrm flipH="1">
              <a:off x="4691919" y="5473239"/>
              <a:ext cx="691165" cy="185615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B333397-9692-BC4E-BD2E-BE71E8EBCEF5}"/>
                </a:ext>
              </a:extLst>
            </p:cNvPr>
            <p:cNvSpPr txBox="1"/>
            <p:nvPr/>
          </p:nvSpPr>
          <p:spPr>
            <a:xfrm>
              <a:off x="5383084" y="5150073"/>
              <a:ext cx="11904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Validate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1DCE91A-5C2E-3D44-A5F5-781F52EFDC0E}"/>
                </a:ext>
              </a:extLst>
            </p:cNvPr>
            <p:cNvSpPr txBox="1"/>
            <p:nvPr/>
          </p:nvSpPr>
          <p:spPr>
            <a:xfrm>
              <a:off x="47470" y="5832933"/>
              <a:ext cx="91480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2002                                               2009  2010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B3B7AF97-37C9-2D49-92DE-9CE9AD7F778A}"/>
              </a:ext>
            </a:extLst>
          </p:cNvPr>
          <p:cNvSpPr/>
          <p:nvPr/>
        </p:nvSpPr>
        <p:spPr>
          <a:xfrm>
            <a:off x="2647230" y="3799700"/>
            <a:ext cx="3869961" cy="64008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Train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0BE481-E2C8-CA42-A477-1C946D2543B3}"/>
              </a:ext>
            </a:extLst>
          </p:cNvPr>
          <p:cNvSpPr txBox="1"/>
          <p:nvPr/>
        </p:nvSpPr>
        <p:spPr>
          <a:xfrm>
            <a:off x="2203923" y="4604671"/>
            <a:ext cx="9148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2002                                               2009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257041-1804-994A-A8BF-6A95F48BBDA8}"/>
              </a:ext>
            </a:extLst>
          </p:cNvPr>
          <p:cNvSpPr/>
          <p:nvPr/>
        </p:nvSpPr>
        <p:spPr>
          <a:xfrm>
            <a:off x="5949322" y="3799700"/>
            <a:ext cx="548640" cy="6400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8D17EFF-CF0B-7F47-9242-A83503B40BDD}"/>
              </a:ext>
            </a:extLst>
          </p:cNvPr>
          <p:cNvCxnSpPr/>
          <p:nvPr/>
        </p:nvCxnSpPr>
        <p:spPr>
          <a:xfrm flipH="1">
            <a:off x="6234274" y="4069205"/>
            <a:ext cx="691165" cy="18561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E8BC5E6-6780-664B-B250-9BB44CBB989B}"/>
              </a:ext>
            </a:extLst>
          </p:cNvPr>
          <p:cNvSpPr txBox="1"/>
          <p:nvPr/>
        </p:nvSpPr>
        <p:spPr>
          <a:xfrm>
            <a:off x="6871531" y="3820541"/>
            <a:ext cx="29433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We only use this time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to get outcomes </a:t>
            </a:r>
          </a:p>
        </p:txBody>
      </p:sp>
    </p:spTree>
    <p:extLst>
      <p:ext uri="{BB962C8B-B14F-4D97-AF65-F5344CB8AC3E}">
        <p14:creationId xmlns:p14="http://schemas.microsoft.com/office/powerpoint/2010/main" val="21762115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E6277-B134-CD89-B382-8FECED210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46D3F-B58E-5ACC-4412-F2CEFC776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11360700" cy="4968942"/>
          </a:xfrm>
        </p:spPr>
        <p:txBody>
          <a:bodyPr/>
          <a:lstStyle/>
          <a:p>
            <a:pPr marL="76200" indent="0" rtl="0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24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On the first day of every semester</a:t>
            </a:r>
            <a:r>
              <a:rPr lang="en-US" sz="24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, for </a:t>
            </a:r>
            <a:r>
              <a:rPr lang="en-US" sz="2400" b="0" i="0" u="none" strike="noStrike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all the students who are currently enrolled in an undergraduate degree program</a:t>
            </a:r>
            <a:r>
              <a:rPr lang="en-US" sz="24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, can we identify the </a:t>
            </a:r>
            <a:r>
              <a:rPr lang="en-US" sz="2400" dirty="0">
                <a:solidFill>
                  <a:srgbClr val="FF00FF"/>
                </a:solidFill>
                <a:latin typeface="Arial" panose="020B0604020202020204" pitchFamily="34" charset="0"/>
              </a:rPr>
              <a:t>1</a:t>
            </a:r>
            <a:r>
              <a:rPr lang="en-US" sz="2400" b="0" i="0" u="none" strike="noStrike" dirty="0">
                <a:solidFill>
                  <a:srgbClr val="FF00FF"/>
                </a:solidFill>
                <a:effectLst/>
                <a:latin typeface="Arial" panose="020B0604020202020204" pitchFamily="34" charset="0"/>
              </a:rPr>
              <a:t>00 highest risk students</a:t>
            </a:r>
            <a:r>
              <a:rPr lang="en-US" sz="24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 who are </a:t>
            </a:r>
            <a:r>
              <a:rPr lang="en-US" sz="2400" b="0" i="0" u="none" strike="noStrike" dirty="0">
                <a:solidFill>
                  <a:srgbClr val="38761D"/>
                </a:solidFill>
                <a:effectLst/>
                <a:latin typeface="Arial" panose="020B0604020202020204" pitchFamily="34" charset="0"/>
              </a:rPr>
              <a:t>likely to </a:t>
            </a:r>
            <a:r>
              <a:rPr lang="en-US" sz="2400" dirty="0">
                <a:solidFill>
                  <a:srgbClr val="38761D"/>
                </a:solidFill>
                <a:latin typeface="Arial" panose="020B0604020202020204" pitchFamily="34" charset="0"/>
              </a:rPr>
              <a:t>not graduate college within 5 years of their college start </a:t>
            </a:r>
            <a:r>
              <a:rPr lang="en-US" sz="2400" b="0" i="0" u="none" strike="noStrike" dirty="0">
                <a:solidFill>
                  <a:srgbClr val="B45F06"/>
                </a:solidFill>
                <a:effectLst/>
                <a:latin typeface="Arial" panose="020B0604020202020204" pitchFamily="34" charset="0"/>
              </a:rPr>
              <a:t>to prioritize for proactive academic or other interventions</a:t>
            </a:r>
            <a:r>
              <a:rPr lang="en-US" sz="24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marL="76200" indent="0" rtl="0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b="1" dirty="0">
                <a:solidFill>
                  <a:srgbClr val="595959"/>
                </a:solidFill>
                <a:latin typeface="Arial" panose="020B0604020202020204" pitchFamily="34" charset="0"/>
              </a:rPr>
              <a:t>Suppose that our training set is all students from the last five years, and we randomly split students into the train and test sets. Is this most likely to over/under/correctly estimate our model’s accuracy for next year?</a:t>
            </a:r>
          </a:p>
        </p:txBody>
      </p:sp>
    </p:spTree>
    <p:extLst>
      <p:ext uri="{BB962C8B-B14F-4D97-AF65-F5344CB8AC3E}">
        <p14:creationId xmlns:p14="http://schemas.microsoft.com/office/powerpoint/2010/main" val="9606852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C5E763-78CE-2D73-96D6-96B6DD330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 train/validation/test set: simple to implement and interpret</a:t>
            </a:r>
          </a:p>
          <a:p>
            <a:r>
              <a:rPr lang="en-US" dirty="0"/>
              <a:t>K-fold CV: more work/computation time, but reduces noise, especially when dataset is somewhat smaller. Can get away with a smaller test set, leaving more for training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0BE269-45B5-B436-7048-906F5AE4A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and cons</a:t>
            </a:r>
          </a:p>
        </p:txBody>
      </p:sp>
    </p:spTree>
    <p:extLst>
      <p:ext uri="{BB962C8B-B14F-4D97-AF65-F5344CB8AC3E}">
        <p14:creationId xmlns:p14="http://schemas.microsoft.com/office/powerpoint/2010/main" val="24354192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FB220-BB3C-1793-079F-928BF53A4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Temporal validation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AA4C66-28CF-34F5-B32D-8174B304E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2387"/>
            <a:ext cx="11360700" cy="4555200"/>
          </a:xfrm>
        </p:spPr>
        <p:txBody>
          <a:bodyPr/>
          <a:lstStyle/>
          <a:p>
            <a:r>
              <a:rPr lang="en-US" dirty="0"/>
              <a:t>Making predictions about entities that arrive over time</a:t>
            </a:r>
          </a:p>
          <a:p>
            <a:r>
              <a:rPr lang="en-US" dirty="0"/>
              <a:t>Time series forecasting</a:t>
            </a:r>
          </a:p>
          <a:p>
            <a:r>
              <a:rPr lang="en-US" dirty="0"/>
              <a:t>Typically, your model will be periodically retrained using more recent data</a:t>
            </a:r>
          </a:p>
          <a:p>
            <a:r>
              <a:rPr lang="en-US" dirty="0"/>
              <a:t>Idea: mimic this process by creating train/validation/test sets that roll forward in time </a:t>
            </a:r>
          </a:p>
        </p:txBody>
      </p:sp>
    </p:spTree>
    <p:extLst>
      <p:ext uri="{BB962C8B-B14F-4D97-AF65-F5344CB8AC3E}">
        <p14:creationId xmlns:p14="http://schemas.microsoft.com/office/powerpoint/2010/main" val="28402418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E49ADA-B971-3A74-683D-F7E6AB709A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3" name="Google Shape;203;p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 dirty="0"/>
              <a:t>Temporal Validation Review -- Example</a:t>
            </a:r>
            <a:endParaRPr dirty="0"/>
          </a:p>
        </p:txBody>
      </p:sp>
      <p:sp>
        <p:nvSpPr>
          <p:cNvPr id="204" name="Google Shape;204;p38"/>
          <p:cNvSpPr/>
          <p:nvPr/>
        </p:nvSpPr>
        <p:spPr>
          <a:xfrm>
            <a:off x="190320" y="1463207"/>
            <a:ext cx="3124000" cy="42044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SzPts val="1400"/>
            </a:pPr>
            <a:endParaRPr sz="1867"/>
          </a:p>
        </p:txBody>
      </p:sp>
      <p:sp>
        <p:nvSpPr>
          <p:cNvPr id="205" name="Google Shape;205;p38"/>
          <p:cNvSpPr txBox="1"/>
          <p:nvPr/>
        </p:nvSpPr>
        <p:spPr>
          <a:xfrm>
            <a:off x="3566453" y="1341573"/>
            <a:ext cx="8531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2133"/>
              </a:spcAft>
            </a:pPr>
            <a:r>
              <a:rPr lang="en" sz="3467" dirty="0">
                <a:solidFill>
                  <a:srgbClr val="FF0000"/>
                </a:solidFill>
              </a:rPr>
              <a:t>At the time of hospital admission</a:t>
            </a:r>
            <a:r>
              <a:rPr lang="en" sz="3467" dirty="0">
                <a:solidFill>
                  <a:srgbClr val="595959"/>
                </a:solidFill>
              </a:rPr>
              <a:t>, for </a:t>
            </a:r>
            <a:r>
              <a:rPr lang="en" sz="3467" dirty="0">
                <a:solidFill>
                  <a:srgbClr val="0000FF"/>
                </a:solidFill>
              </a:rPr>
              <a:t>all every patient admitted</a:t>
            </a:r>
            <a:r>
              <a:rPr lang="en" sz="3467" dirty="0">
                <a:solidFill>
                  <a:srgbClr val="595959"/>
                </a:solidFill>
              </a:rPr>
              <a:t>, can we identify </a:t>
            </a:r>
            <a:r>
              <a:rPr lang="en" sz="3467" dirty="0">
                <a:solidFill>
                  <a:srgbClr val="FF00FF"/>
                </a:solidFill>
              </a:rPr>
              <a:t>if they will be among the 50 highest-risk individuals the hospital will see that month </a:t>
            </a:r>
            <a:r>
              <a:rPr lang="en" sz="3467" dirty="0">
                <a:solidFill>
                  <a:srgbClr val="595959"/>
                </a:solidFill>
              </a:rPr>
              <a:t>for </a:t>
            </a:r>
            <a:r>
              <a:rPr lang="en" sz="3467" dirty="0">
                <a:solidFill>
                  <a:srgbClr val="38761D"/>
                </a:solidFill>
              </a:rPr>
              <a:t>contracting monkeypox in the next year </a:t>
            </a:r>
            <a:r>
              <a:rPr lang="en" sz="3467" dirty="0">
                <a:solidFill>
                  <a:srgbClr val="B45F06"/>
                </a:solidFill>
              </a:rPr>
              <a:t>to prioritize for vaccine administration</a:t>
            </a:r>
            <a:r>
              <a:rPr lang="en" sz="3467" dirty="0">
                <a:solidFill>
                  <a:srgbClr val="595959"/>
                </a:solidFill>
              </a:rPr>
              <a:t>?</a:t>
            </a:r>
            <a:endParaRPr sz="3467" dirty="0">
              <a:solidFill>
                <a:srgbClr val="595959"/>
              </a:solidFill>
            </a:endParaRPr>
          </a:p>
        </p:txBody>
      </p:sp>
      <p:sp>
        <p:nvSpPr>
          <p:cNvPr id="206" name="Google Shape;206;p38"/>
          <p:cNvSpPr txBox="1"/>
          <p:nvPr/>
        </p:nvSpPr>
        <p:spPr>
          <a:xfrm>
            <a:off x="248120" y="1463207"/>
            <a:ext cx="3008400" cy="7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r>
              <a:rPr lang="en" sz="1867">
                <a:solidFill>
                  <a:srgbClr val="FF0000"/>
                </a:solidFill>
              </a:rPr>
              <a:t>When and How often is the recommendation / decision being made?</a:t>
            </a:r>
            <a:endParaRPr sz="1867">
              <a:solidFill>
                <a:srgbClr val="FF0000"/>
              </a:solidFill>
            </a:endParaRPr>
          </a:p>
        </p:txBody>
      </p:sp>
      <p:sp>
        <p:nvSpPr>
          <p:cNvPr id="207" name="Google Shape;207;p38"/>
          <p:cNvSpPr txBox="1"/>
          <p:nvPr/>
        </p:nvSpPr>
        <p:spPr>
          <a:xfrm>
            <a:off x="253253" y="2632740"/>
            <a:ext cx="3008400" cy="7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br>
              <a:rPr lang="en" sz="1867">
                <a:solidFill>
                  <a:srgbClr val="0000FF"/>
                </a:solidFill>
              </a:rPr>
            </a:br>
            <a:r>
              <a:rPr lang="en" sz="1867">
                <a:solidFill>
                  <a:srgbClr val="0000FF"/>
                </a:solidFill>
              </a:rPr>
              <a:t>Who/what is included in the cohort?</a:t>
            </a:r>
            <a:endParaRPr sz="1867">
              <a:solidFill>
                <a:srgbClr val="0000FF"/>
              </a:solidFill>
            </a:endParaRPr>
          </a:p>
        </p:txBody>
      </p:sp>
      <p:sp>
        <p:nvSpPr>
          <p:cNvPr id="208" name="Google Shape;208;p38"/>
          <p:cNvSpPr txBox="1"/>
          <p:nvPr/>
        </p:nvSpPr>
        <p:spPr>
          <a:xfrm>
            <a:off x="253253" y="3497473"/>
            <a:ext cx="3008400" cy="7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br>
              <a:rPr lang="en" sz="1867">
                <a:solidFill>
                  <a:srgbClr val="FF00FF"/>
                </a:solidFill>
              </a:rPr>
            </a:br>
            <a:r>
              <a:rPr lang="en" sz="1867">
                <a:solidFill>
                  <a:srgbClr val="FF00FF"/>
                </a:solidFill>
              </a:rPr>
              <a:t>What is the output?</a:t>
            </a:r>
            <a:endParaRPr sz="1867">
              <a:solidFill>
                <a:srgbClr val="FF00FF"/>
              </a:solidFill>
            </a:endParaRPr>
          </a:p>
        </p:txBody>
      </p:sp>
      <p:sp>
        <p:nvSpPr>
          <p:cNvPr id="209" name="Google Shape;209;p38"/>
          <p:cNvSpPr txBox="1"/>
          <p:nvPr/>
        </p:nvSpPr>
        <p:spPr>
          <a:xfrm>
            <a:off x="248120" y="4191873"/>
            <a:ext cx="3008400" cy="14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r>
              <a:rPr lang="en" sz="1867">
                <a:solidFill>
                  <a:srgbClr val="274E13"/>
                </a:solidFill>
              </a:rPr>
              <a:t>What outcome are you predicting/estimating?</a:t>
            </a:r>
            <a:endParaRPr sz="1867">
              <a:solidFill>
                <a:srgbClr val="274E13"/>
              </a:solidFill>
            </a:endParaRPr>
          </a:p>
          <a:p>
            <a:pPr>
              <a:buSzPts val="1400"/>
            </a:pPr>
            <a:endParaRPr sz="1867">
              <a:solidFill>
                <a:srgbClr val="274E13"/>
              </a:solidFill>
            </a:endParaRPr>
          </a:p>
          <a:p>
            <a:pPr>
              <a:buSzPts val="1400"/>
            </a:pPr>
            <a:r>
              <a:rPr lang="en" sz="1867">
                <a:solidFill>
                  <a:srgbClr val="B45F06"/>
                </a:solidFill>
              </a:rPr>
              <a:t>For what purpose?</a:t>
            </a:r>
            <a:endParaRPr sz="1867">
              <a:solidFill>
                <a:srgbClr val="274E1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6777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B791A-E806-996D-C941-5FC104A10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D6D4B-2629-8C4E-C310-7CEF0D7468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Related to clustering and temporal structure</a:t>
            </a:r>
          </a:p>
          <a:p>
            <a:r>
              <a:rPr lang="en-US" dirty="0"/>
              <a:t>We often believe that nearby places are correlated</a:t>
            </a:r>
          </a:p>
          <a:p>
            <a:r>
              <a:rPr lang="en-US" dirty="0"/>
              <a:t>What do we care about in deployment? </a:t>
            </a:r>
          </a:p>
          <a:p>
            <a:pPr lvl="1"/>
            <a:r>
              <a:rPr lang="en-US" dirty="0"/>
              <a:t>Generalization to new locations?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Allocate large spatial blocks to train/test set</a:t>
            </a:r>
          </a:p>
          <a:p>
            <a:pPr lvl="1"/>
            <a:r>
              <a:rPr lang="en-US" dirty="0"/>
              <a:t>Filling in between places seen during training </a:t>
            </a:r>
            <a:r>
              <a:rPr lang="en-US" dirty="0">
                <a:sym typeface="Wingdings" panose="05000000000000000000" pitchFamily="2" charset="2"/>
              </a:rPr>
              <a:t> Allocate smaller patches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608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50507a95-7a63-4367-8c97-db53aaefbe10"/>
  <p:tag name="SLIDO_EVENT_UUID" val="6b8f259d-64a0-4275-9f95-7c545980aae7"/>
  <p:tag name="SLIDO_EVENT_SECTION_UUID" val="caea6fdf-73fa-44cd-8326-d8eb13d1beb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c1985364-9222-4031-ab2b-9330b6ee8641"/>
  <p:tag name="SLIDO_TIMELINE" val="W3sic2hvd1Jlc3VsdHMiOmZhbHNlLCJwb2xsUXVlc3Rpb25VdWlkIjoiZDNhYTBkYWUtYmM1Yi00YWY4LWE3M2QtNzcxODc2ZjZhY2Q1In0seyJzaG93UmVzdWx0cyI6dHJ1ZSwicG9sbFF1ZXN0aW9uVXVpZCI6ImQzYWEwZGFlLWJjNWItNGFmOC1hNzNkLTc3MTg3NmY2YWNkNSJ9XQ=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OpenTex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corner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hani uofc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6740</TotalTime>
  <Words>2073</Words>
  <Application>Microsoft Macintosh PowerPoint</Application>
  <PresentationFormat>Widescreen</PresentationFormat>
  <Paragraphs>453</Paragraphs>
  <Slides>49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49</vt:i4>
      </vt:variant>
    </vt:vector>
  </HeadingPairs>
  <TitlesOfParts>
    <vt:vector size="55" baseType="lpstr">
      <vt:lpstr>Arial</vt:lpstr>
      <vt:lpstr>Calibri</vt:lpstr>
      <vt:lpstr>Cambria Math</vt:lpstr>
      <vt:lpstr>Wingdings</vt:lpstr>
      <vt:lpstr>Simple Light</vt:lpstr>
      <vt:lpstr>ghani uofc template</vt:lpstr>
      <vt:lpstr>PowerPoint Presentation</vt:lpstr>
      <vt:lpstr>Plan for the week</vt:lpstr>
      <vt:lpstr>Discussion Question</vt:lpstr>
      <vt:lpstr>PowerPoint Presentation</vt:lpstr>
      <vt:lpstr>PowerPoint Presentation</vt:lpstr>
      <vt:lpstr>Here’s how we typically solve a prediction problem</vt:lpstr>
      <vt:lpstr>What is the goal of model selection?</vt:lpstr>
      <vt:lpstr>What is the goal of model selection?</vt:lpstr>
      <vt:lpstr>What do we need our selected model to do?</vt:lpstr>
      <vt:lpstr>PowerPoint Presentation</vt:lpstr>
      <vt:lpstr>What do we need our selected model to do?</vt:lpstr>
      <vt:lpstr>What should the model we select generalize to?</vt:lpstr>
      <vt:lpstr>What do we need to know to perform model selection</vt:lpstr>
      <vt:lpstr>How do we select a model that does that?</vt:lpstr>
      <vt:lpstr>Underlying principle: match methodology to match test/inference-time</vt:lpstr>
      <vt:lpstr>Model Selection - Methodology</vt:lpstr>
      <vt:lpstr>Scenarios</vt:lpstr>
      <vt:lpstr>Scenarios</vt:lpstr>
      <vt:lpstr>Scenarios</vt:lpstr>
      <vt:lpstr>Scenarios</vt:lpstr>
      <vt:lpstr>Temporal Validation Review -- Example</vt:lpstr>
      <vt:lpstr>Temporal validation</vt:lpstr>
      <vt:lpstr>Temporal validation</vt:lpstr>
      <vt:lpstr>Temporal validation</vt:lpstr>
      <vt:lpstr>Temporal validation</vt:lpstr>
      <vt:lpstr>Temporal validation</vt:lpstr>
      <vt:lpstr>Temporal validation</vt:lpstr>
      <vt:lpstr>Temporal Validation Parameters</vt:lpstr>
      <vt:lpstr>Temporal Validation Parameters</vt:lpstr>
      <vt:lpstr>Temporal Validation Review -- Example</vt:lpstr>
      <vt:lpstr>Parameters</vt:lpstr>
      <vt:lpstr>Other considerations</vt:lpstr>
      <vt:lpstr>Some tips</vt:lpstr>
      <vt:lpstr>Extra Slides (not covered in class)</vt:lpstr>
      <vt:lpstr>Train Validation Pairs</vt:lpstr>
      <vt:lpstr>In-sample</vt:lpstr>
      <vt:lpstr>Out-of-Sample</vt:lpstr>
      <vt:lpstr>k-fold Cross-Validation</vt:lpstr>
      <vt:lpstr>k-fold Cross-Validation</vt:lpstr>
      <vt:lpstr>k-fold Cross-Validation</vt:lpstr>
      <vt:lpstr>k-fold Cross-Validation</vt:lpstr>
      <vt:lpstr>k-fold Cross-Validation</vt:lpstr>
      <vt:lpstr>Temporal Holdouts</vt:lpstr>
      <vt:lpstr>Training  - Time splits</vt:lpstr>
      <vt:lpstr>Question</vt:lpstr>
      <vt:lpstr>Pros and cons</vt:lpstr>
      <vt:lpstr>Temporal validation</vt:lpstr>
      <vt:lpstr>Temporal Validation Review -- Example</vt:lpstr>
      <vt:lpstr>Spatial structure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Ghani Rayid</cp:lastModifiedBy>
  <cp:revision>85</cp:revision>
  <dcterms:created xsi:type="dcterms:W3CDTF">2020-01-14T19:43:43Z</dcterms:created>
  <dcterms:modified xsi:type="dcterms:W3CDTF">2026-09-17T02:58:20Z</dcterms:modified>
</cp:coreProperties>
</file>