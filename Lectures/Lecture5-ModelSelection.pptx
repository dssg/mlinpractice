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53"/>
  </p:notesMasterIdLst>
  <p:sldIdLst>
    <p:sldId id="256" r:id="rId3"/>
    <p:sldId id="471" r:id="rId4"/>
    <p:sldId id="492" r:id="rId5"/>
    <p:sldId id="497" r:id="rId6"/>
    <p:sldId id="486" r:id="rId7"/>
    <p:sldId id="323" r:id="rId8"/>
    <p:sldId id="286" r:id="rId9"/>
    <p:sldId id="472" r:id="rId10"/>
    <p:sldId id="287" r:id="rId11"/>
    <p:sldId id="478" r:id="rId12"/>
    <p:sldId id="468" r:id="rId13"/>
    <p:sldId id="473" r:id="rId14"/>
    <p:sldId id="288" r:id="rId15"/>
    <p:sldId id="474" r:id="rId16"/>
    <p:sldId id="555" r:id="rId17"/>
    <p:sldId id="297" r:id="rId18"/>
    <p:sldId id="479" r:id="rId19"/>
    <p:sldId id="480" r:id="rId20"/>
    <p:sldId id="481" r:id="rId21"/>
    <p:sldId id="482" r:id="rId22"/>
    <p:sldId id="493" r:id="rId23"/>
    <p:sldId id="544" r:id="rId24"/>
    <p:sldId id="546" r:id="rId25"/>
    <p:sldId id="547" r:id="rId26"/>
    <p:sldId id="545" r:id="rId27"/>
    <p:sldId id="548" r:id="rId28"/>
    <p:sldId id="549" r:id="rId29"/>
    <p:sldId id="494" r:id="rId30"/>
    <p:sldId id="495" r:id="rId31"/>
    <p:sldId id="496" r:id="rId32"/>
    <p:sldId id="483" r:id="rId33"/>
    <p:sldId id="489" r:id="rId34"/>
    <p:sldId id="487" r:id="rId35"/>
    <p:sldId id="557" r:id="rId36"/>
    <p:sldId id="556" r:id="rId37"/>
    <p:sldId id="488" r:id="rId38"/>
    <p:sldId id="289" r:id="rId39"/>
    <p:sldId id="290" r:id="rId40"/>
    <p:sldId id="291" r:id="rId41"/>
    <p:sldId id="292" r:id="rId42"/>
    <p:sldId id="293" r:id="rId43"/>
    <p:sldId id="469" r:id="rId44"/>
    <p:sldId id="470" r:id="rId45"/>
    <p:sldId id="296" r:id="rId46"/>
    <p:sldId id="454" r:id="rId47"/>
    <p:sldId id="550" r:id="rId48"/>
    <p:sldId id="533" r:id="rId49"/>
    <p:sldId id="543" r:id="rId50"/>
    <p:sldId id="554" r:id="rId51"/>
    <p:sldId id="531" r:id="rId52"/>
  </p:sldIdLst>
  <p:sldSz cx="12192000" cy="6858000"/>
  <p:notesSz cx="6858000" cy="9144000"/>
  <p:custDataLst>
    <p:tags r:id="rId5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122D811-96CB-9F49-A8AB-CD2D1B40ED98}">
          <p14:sldIdLst>
            <p14:sldId id="256"/>
            <p14:sldId id="471"/>
            <p14:sldId id="492"/>
            <p14:sldId id="497"/>
            <p14:sldId id="486"/>
            <p14:sldId id="323"/>
            <p14:sldId id="286"/>
            <p14:sldId id="472"/>
            <p14:sldId id="287"/>
            <p14:sldId id="478"/>
            <p14:sldId id="468"/>
            <p14:sldId id="473"/>
            <p14:sldId id="288"/>
            <p14:sldId id="474"/>
            <p14:sldId id="555"/>
            <p14:sldId id="297"/>
            <p14:sldId id="479"/>
            <p14:sldId id="480"/>
            <p14:sldId id="481"/>
            <p14:sldId id="482"/>
            <p14:sldId id="493"/>
            <p14:sldId id="544"/>
            <p14:sldId id="546"/>
            <p14:sldId id="547"/>
            <p14:sldId id="545"/>
            <p14:sldId id="548"/>
            <p14:sldId id="549"/>
            <p14:sldId id="494"/>
            <p14:sldId id="495"/>
            <p14:sldId id="496"/>
            <p14:sldId id="483"/>
            <p14:sldId id="489"/>
            <p14:sldId id="487"/>
            <p14:sldId id="557"/>
          </p14:sldIdLst>
        </p14:section>
        <p14:section name="extra slides" id="{D89B9D84-8AED-794E-B826-66350CFCD900}">
          <p14:sldIdLst>
            <p14:sldId id="556"/>
            <p14:sldId id="488"/>
            <p14:sldId id="289"/>
            <p14:sldId id="290"/>
            <p14:sldId id="291"/>
            <p14:sldId id="292"/>
            <p14:sldId id="293"/>
            <p14:sldId id="469"/>
            <p14:sldId id="470"/>
            <p14:sldId id="296"/>
            <p14:sldId id="454"/>
            <p14:sldId id="550"/>
            <p14:sldId id="533"/>
            <p14:sldId id="543"/>
            <p14:sldId id="554"/>
            <p14:sldId id="531"/>
          </p14:sldIdLst>
        </p14:section>
      </p14:sectionLst>
    </p:ex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68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90"/>
    <p:restoredTop sz="93173"/>
  </p:normalViewPr>
  <p:slideViewPr>
    <p:cSldViewPr snapToGrid="0" snapToObjects="1">
      <p:cViewPr>
        <p:scale>
          <a:sx n="125" d="100"/>
          <a:sy n="125" d="100"/>
        </p:scale>
        <p:origin x="1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68" Type="http://customschemas.google.com/relationships/presentationmetadata" Target="metadata"/><Relationship Id="rId7" Type="http://schemas.openxmlformats.org/officeDocument/2006/relationships/slide" Target="slides/slide5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9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gs" Target="tags/tag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2151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831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75196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7519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95143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026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091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144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801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6465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9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034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  <p:sldLayoutId id="2147483667" r:id="rId6"/>
    <p:sldLayoutId id="214748366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3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13" Type="http://schemas.openxmlformats.org/officeDocument/2006/relationships/image" Target="../media/image7.svg"/><Relationship Id="rId3" Type="http://schemas.openxmlformats.org/officeDocument/2006/relationships/tags" Target="../tags/tag4.xml"/><Relationship Id="rId7" Type="http://schemas.openxmlformats.org/officeDocument/2006/relationships/image" Target="../media/image3.svg"/><Relationship Id="rId12" Type="http://schemas.openxmlformats.org/officeDocument/2006/relationships/image" Target="../media/image6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hyperlink" Target="https://www.slido.com/support/ppi/how-to-change-the-design" TargetMode="External"/><Relationship Id="rId5" Type="http://schemas.openxmlformats.org/officeDocument/2006/relationships/notesSlide" Target="../notesSlides/notesSlide2.xml"/><Relationship Id="rId10" Type="http://schemas.openxmlformats.org/officeDocument/2006/relationships/image" Target="../media/image5.svg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11.svg"/><Relationship Id="rId11" Type="http://schemas.openxmlformats.org/officeDocument/2006/relationships/image" Target="../media/image6.png"/><Relationship Id="rId5" Type="http://schemas.openxmlformats.org/officeDocument/2006/relationships/image" Target="../media/image10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5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“Validation”)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pPr marL="76200" indent="0">
              <a:buNone/>
            </a:pPr>
            <a:endParaRPr lang="en-US" b="1" dirty="0"/>
          </a:p>
          <a:p>
            <a:r>
              <a:rPr lang="en-US" dirty="0"/>
              <a:t>Monday: Project Update 2</a:t>
            </a:r>
          </a:p>
          <a:p>
            <a:pPr lvl="1"/>
            <a:r>
              <a:rPr lang="en-US" sz="2000" dirty="0"/>
              <a:t>Also see feedback in update 1 slides (in the next couple of days)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Tuesday: Weekly Feedback Form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model selection strategy is your group considering for the Donors Choose project?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652513" y="3822585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#10718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/10718</a:t>
            </a:r>
          </a:p>
        </p:txBody>
      </p:sp>
    </p:spTree>
    <p:extLst>
      <p:ext uri="{BB962C8B-B14F-4D97-AF65-F5344CB8AC3E}">
        <p14:creationId xmlns:p14="http://schemas.microsoft.com/office/powerpoint/2010/main" val="584125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4F718-8738-88A4-E1D4-CFD3EB1D23D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AA0375-A7E3-904A-036E-8D3EE2850AF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700" b="1">
                <a:solidFill>
                  <a:srgbClr val="000000"/>
                </a:solidFill>
              </a:rPr>
              <a:t>What model selection strategy is your group considering for the Donors Choose project?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CE8261-B973-7486-7CA8-49BF3178EB3B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22A0AC7-B4E5-99C3-395B-0C2A9E11CBD6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139E3585-2076-D5F6-D46E-15BE2332FA3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 dirty="0">
                <a:solidFill>
                  <a:srgbClr val="198038"/>
                </a:solidFill>
              </a:rPr>
              <a:t>Do not edit
</a:t>
            </a:r>
            <a:r>
              <a:rPr lang="en-US" sz="2200" dirty="0">
                <a:solidFill>
                  <a:srgbClr val="198038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 dirty="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43D7BBD-4F5A-B35D-283F-AE01D08F9261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02054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Finalizing your analytical formulation and baselines to compare against</a:t>
            </a:r>
          </a:p>
          <a:p>
            <a:pPr lvl="1"/>
            <a:r>
              <a:rPr lang="en-US" dirty="0"/>
              <a:t>Validation strategy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V0 of your ML pipeline</a:t>
            </a:r>
          </a:p>
          <a:p>
            <a:pPr lvl="1"/>
            <a:r>
              <a:rPr lang="en-US" dirty="0"/>
              <a:t>Training/validation logic</a:t>
            </a:r>
          </a:p>
          <a:p>
            <a:pPr lvl="1"/>
            <a:r>
              <a:rPr lang="en-US" dirty="0"/>
              <a:t>Implemented Baselines</a:t>
            </a:r>
          </a:p>
        </p:txBody>
      </p:sp>
    </p:spTree>
    <p:extLst>
      <p:ext uri="{BB962C8B-B14F-4D97-AF65-F5344CB8AC3E}">
        <p14:creationId xmlns:p14="http://schemas.microsoft.com/office/powerpoint/2010/main" val="2336692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Here’s how we typically solve a prediction problem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Define and Create Rows (unit of prediction – what units and when?)</a:t>
            </a:r>
          </a:p>
          <a:p>
            <a:pPr>
              <a:lnSpc>
                <a:spcPct val="150000"/>
              </a:lnSpc>
            </a:pPr>
            <a:r>
              <a:rPr lang="en-US" dirty="0"/>
              <a:t>Define and Create Label (outcome/target variable – what event and when?)</a:t>
            </a:r>
          </a:p>
          <a:p>
            <a:pPr>
              <a:lnSpc>
                <a:spcPct val="150000"/>
              </a:lnSpc>
            </a:pPr>
            <a:r>
              <a:rPr lang="en-US" dirty="0"/>
              <a:t>Define and Create Features (features/predictors)</a:t>
            </a:r>
          </a:p>
          <a:p>
            <a:pPr>
              <a:lnSpc>
                <a:spcPct val="150000"/>
              </a:lnSpc>
            </a:pPr>
            <a:r>
              <a:rPr lang="en-US" dirty="0"/>
              <a:t>Create Training and Validation/Test Sets</a:t>
            </a:r>
          </a:p>
          <a:p>
            <a:pPr>
              <a:lnSpc>
                <a:spcPct val="150000"/>
              </a:lnSpc>
            </a:pPr>
            <a:r>
              <a:rPr lang="en-US" dirty="0"/>
              <a:t>Train model(s) on Training Set(s)</a:t>
            </a:r>
          </a:p>
          <a:p>
            <a:pPr>
              <a:lnSpc>
                <a:spcPct val="150000"/>
              </a:lnSpc>
            </a:pPr>
            <a:r>
              <a:rPr lang="en-US" dirty="0"/>
              <a:t>Validate model(s) on Validation/Test Set(s)</a:t>
            </a:r>
          </a:p>
          <a:p>
            <a:pPr>
              <a:lnSpc>
                <a:spcPct val="150000"/>
              </a:lnSpc>
            </a:pPr>
            <a:r>
              <a:rPr lang="en-US" dirty="0"/>
              <a:t>Select “best” model to use</a:t>
            </a:r>
          </a:p>
        </p:txBody>
      </p:sp>
    </p:spTree>
    <p:extLst>
      <p:ext uri="{BB962C8B-B14F-4D97-AF65-F5344CB8AC3E}">
        <p14:creationId xmlns:p14="http://schemas.microsoft.com/office/powerpoint/2010/main" val="1362212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A4CE-AFDD-8742-9A6E-BE2092DF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C4C-EA36-C547-9888-F6FE78184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978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model types, hyperparameters, features, … (other decisions in the pipeline)</a:t>
            </a:r>
          </a:p>
          <a:p>
            <a:endParaRPr lang="en-US" sz="2800" dirty="0"/>
          </a:p>
          <a:p>
            <a:r>
              <a:rPr lang="en-US" sz="2800" dirty="0"/>
              <a:t>Now we need to </a:t>
            </a:r>
          </a:p>
          <a:p>
            <a:pPr lvl="1"/>
            <a:r>
              <a:rPr lang="en-US" sz="2800" dirty="0"/>
              <a:t>Understand what types of models are effective under what circumstances</a:t>
            </a:r>
          </a:p>
          <a:p>
            <a:pPr lvl="1"/>
            <a:r>
              <a:rPr lang="en-US" sz="2800" dirty="0"/>
              <a:t>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3BAFF-48B6-9046-94F3-CBF50B2F2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3638240" cy="4555200"/>
          </a:xfrm>
        </p:spPr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52816-075F-8FD7-C29E-A34BD83C1ABA}"/>
              </a:ext>
            </a:extLst>
          </p:cNvPr>
          <p:cNvGrpSpPr/>
          <p:nvPr/>
        </p:nvGrpSpPr>
        <p:grpSpPr>
          <a:xfrm>
            <a:off x="3952240" y="1615440"/>
            <a:ext cx="2470961" cy="1920240"/>
            <a:chOff x="3952240" y="1615440"/>
            <a:chExt cx="2470961" cy="1920240"/>
          </a:xfrm>
        </p:grpSpPr>
        <p:sp>
          <p:nvSpPr>
            <p:cNvPr id="2" name="Right Bracket 1">
              <a:extLst>
                <a:ext uri="{FF2B5EF4-FFF2-40B4-BE49-F238E27FC236}">
                  <a16:creationId xmlns:a16="http://schemas.microsoft.com/office/drawing/2014/main" id="{52EEBC2C-75C7-50D5-1640-0CCDAAB3F4A5}"/>
                </a:ext>
              </a:extLst>
            </p:cNvPr>
            <p:cNvSpPr/>
            <p:nvPr/>
          </p:nvSpPr>
          <p:spPr>
            <a:xfrm>
              <a:off x="3952240" y="1615440"/>
              <a:ext cx="386080" cy="1920240"/>
            </a:xfrm>
            <a:prstGeom prst="rightBracket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E8F23D-7974-5FB2-3717-B3EC420FBF0B}"/>
                </a:ext>
              </a:extLst>
            </p:cNvPr>
            <p:cNvSpPr txBox="1"/>
            <p:nvPr/>
          </p:nvSpPr>
          <p:spPr>
            <a:xfrm>
              <a:off x="4500880" y="2313950"/>
              <a:ext cx="1922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Next Class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generalize to?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initial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BBEB6-4D97-B0BE-EAE1-A0265E782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86563"/>
            <a:ext cx="11684960" cy="763500"/>
          </a:xfrm>
        </p:spPr>
        <p:txBody>
          <a:bodyPr/>
          <a:lstStyle/>
          <a:p>
            <a:r>
              <a:rPr lang="en-US" sz="2800" dirty="0"/>
              <a:t>Underlying principle: match methodology to match test/inference-time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7EE5AAC-5AE6-EE1F-EAC9-B25814C12B99}"/>
              </a:ext>
            </a:extLst>
          </p:cNvPr>
          <p:cNvSpPr txBox="1">
            <a:spLocks/>
          </p:cNvSpPr>
          <p:nvPr/>
        </p:nvSpPr>
        <p:spPr>
          <a:xfrm>
            <a:off x="415600" y="1151400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>
              <a:buFont typeface="Arial"/>
              <a:buNone/>
            </a:pPr>
            <a:r>
              <a:rPr lang="en-US" sz="3600" dirty="0"/>
              <a:t>How does the potential test-time distribution differ from training?</a:t>
            </a:r>
          </a:p>
          <a:p>
            <a:pPr marL="76200" indent="0">
              <a:buFont typeface="Arial"/>
              <a:buNone/>
            </a:pPr>
            <a:endParaRPr lang="en-US" dirty="0"/>
          </a:p>
          <a:p>
            <a:r>
              <a:rPr lang="en-US" dirty="0"/>
              <a:t>No shift: training data is IID, test data will be IID from same distribution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Time series setting: data is not IID, future will not look like resampled present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Cluster structure, e.g. students within classrooms within schools. Test-time might be better modeled at a higher cluster level (generalizing to new schools) than within clusters (generalizing to new students within a school we’ve seen)</a:t>
            </a:r>
          </a:p>
        </p:txBody>
      </p:sp>
    </p:spTree>
    <p:extLst>
      <p:ext uri="{BB962C8B-B14F-4D97-AF65-F5344CB8AC3E}">
        <p14:creationId xmlns:p14="http://schemas.microsoft.com/office/powerpoint/2010/main" val="1205019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3CE8EA-CE15-3C69-CACB-79436E1E5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2023 to September 2025 and now have a stream of new incoming articles every day. We want to deploy a system that tracks the volume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from Jan 2023 to September 2025 and now have a stream of new incoming articles every day. We want to deploy a system that tracks volume of coverage by media outlet over the last 2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On the first day of every month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individuals residing in PA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500 people </a:t>
            </a:r>
            <a:r>
              <a:rPr lang="en" sz="3467" dirty="0">
                <a:solidFill>
                  <a:srgbClr val="595959"/>
                </a:solidFill>
              </a:rPr>
              <a:t>with a </a:t>
            </a:r>
            <a:r>
              <a:rPr lang="en" sz="3467" dirty="0">
                <a:solidFill>
                  <a:srgbClr val="38761D"/>
                </a:solidFill>
              </a:rPr>
              <a:t>high risk of 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program outreach by the PA Public Health Department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2889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E1D2C-BA22-8563-11F3-AC15E3EF9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93BAE-E1DE-E4FA-9595-894D8AF16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B8B3BF-CC16-801F-58F8-89227B56C705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4885F7-175F-EEA7-9A32-94EA8AD4ABB6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04B60C-A42A-2ED9-A22A-C4D9D71AF6BE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D87195-090D-5412-29E5-18F86AA75FFD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690C0C-91B9-FE37-D05A-5E08887C9ED0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BBB410-F26E-BF2E-7CAD-82F985CF90FB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DE5A89-4AD5-02A2-A3FC-63D49769126F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6DC37A-A97B-AE87-3BA4-B9A3EF18D905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C80CB5-366E-775B-DE6C-B19221ECA5DC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5B61EA-94E9-E633-C025-C5693D980500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34556-F0D6-4639-F12C-4117B2CDD0C9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29954D-11FC-8DBC-4E06-70798032820A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FCF5E7-16DD-B9DA-E7BE-57BB2A7202BB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5941D8-D8F1-967F-8850-286A3AC91FAF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1BC259D-AFED-1FA9-86F9-86EFD20384D9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5EAD24-3ECF-85BD-F4A1-3AC839AA2D6A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18AD8E6-EB61-BC63-FCF2-501F81C8D421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2746740-1F4B-BEE1-183B-65CA78DFF90E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834FC888-1FCE-9D75-7FC2-CCA4D9056CBD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1B94AA-B22F-DD10-7B83-FAAD7373BB9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DE93DC-CB0D-8DA4-9140-570E5DA31982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9552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4775-8FE1-8429-2683-EDDE85F75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BE75-A239-F696-1A36-0C294C289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F25B9D-E38F-C801-9B63-7DD6B2CBD8EF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B8E271-9F31-04B3-B854-7836AC3E67EE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462E36-748B-7242-0E00-8D47BA5D690A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2524A-413C-D27F-469C-195CC9A337A6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25E27-5614-CE66-C76D-2A3556BCF741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03CA7F-894E-CFF7-B9F5-05F71E3EEABB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9734AE-D3B1-CFD5-8707-AFEA61F0B085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CA193E-6C77-3F11-4B65-09DEA38CCCBE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A609F3-AB28-C619-4412-EBBA219DDC18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1EDCA1-1355-B017-6803-906ABC5F9234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7F9946-0F0C-189B-64A4-F70DD29A4B92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DC8FC-C5B3-913E-3E68-1FB2EA1CFB77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F8B877-B633-AB9A-53E1-65203C7A888B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CBEB36-8C76-8248-A8F6-8CAAE52DF3F6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7814E0B-C656-73FF-3A24-D6E581EB8D43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B64723-2638-9F00-9DB9-E64456D4D683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83B790-F082-D536-DFB7-F27DEF40682D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E8ACF3-8694-DF28-E508-F6821BE9402E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BD70B36-4472-9E11-CFAA-9E1591173516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006BAE-1CC3-A1C5-6E4F-9C1B002CBEEB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6D33E1-1369-B749-02D6-440BA3B681D2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310F04C-461B-C2D9-F7BC-F5324DFE9C65}"/>
              </a:ext>
            </a:extLst>
          </p:cNvPr>
          <p:cNvCxnSpPr>
            <a:cxnSpLocks/>
          </p:cNvCxnSpPr>
          <p:nvPr/>
        </p:nvCxnSpPr>
        <p:spPr>
          <a:xfrm>
            <a:off x="2952750" y="3165062"/>
            <a:ext cx="348615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DBB9A7-AA8A-51D7-5D1E-E3EDA216BB1A}"/>
              </a:ext>
            </a:extLst>
          </p:cNvPr>
          <p:cNvCxnSpPr/>
          <p:nvPr/>
        </p:nvCxnSpPr>
        <p:spPr>
          <a:xfrm>
            <a:off x="29718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DEF3A84-4603-66E0-3B8E-21D102BF3F08}"/>
              </a:ext>
            </a:extLst>
          </p:cNvPr>
          <p:cNvCxnSpPr/>
          <p:nvPr/>
        </p:nvCxnSpPr>
        <p:spPr>
          <a:xfrm>
            <a:off x="64389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4A3916-7FFC-BAE3-EB54-4C24EDB0A18A}"/>
              </a:ext>
            </a:extLst>
          </p:cNvPr>
          <p:cNvCxnSpPr>
            <a:cxnSpLocks/>
          </p:cNvCxnSpPr>
          <p:nvPr/>
        </p:nvCxnSpPr>
        <p:spPr>
          <a:xfrm>
            <a:off x="4124325" y="2143125"/>
            <a:ext cx="180975" cy="852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04B71A8-0CC6-0F08-653C-A7ABC7DD2DC6}"/>
              </a:ext>
            </a:extLst>
          </p:cNvPr>
          <p:cNvSpPr txBox="1"/>
          <p:nvPr/>
        </p:nvSpPr>
        <p:spPr>
          <a:xfrm>
            <a:off x="2800350" y="175295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Length of training window</a:t>
            </a:r>
          </a:p>
        </p:txBody>
      </p:sp>
    </p:spTree>
    <p:extLst>
      <p:ext uri="{BB962C8B-B14F-4D97-AF65-F5344CB8AC3E}">
        <p14:creationId xmlns:p14="http://schemas.microsoft.com/office/powerpoint/2010/main" val="3490446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714BA-AC7A-8BE1-454C-C6C9EA2F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C685D-42C6-BDC8-81EF-08E701B50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4B97E-14EF-DC95-B361-E73E36C83EB0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49A635-F37F-2529-E428-1C4C49FB257C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442EA0-3929-528B-2CD3-263D029C4C48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3E7BE3-69ED-9926-BA37-25A19402B1BC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DA7704-E570-5C3C-0E68-B1D81C523E3B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AE2433-CDD4-43D0-220F-D8A00BCBAD1E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C62E41-5BD3-B78B-96B4-38D0B136A2D0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ADD76D-F7A2-4937-7235-CDFFD4BCD2A0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2C9B41-5259-5869-F007-EAA27B5715C6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3C7CBD-C1B7-E073-A8FA-DEA90851670C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8D78-3689-7AF7-0D6F-9492DC951CE6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57405B-1634-59B3-0D97-CA07F1EC3A6D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907F190-A9B9-5E27-C6D5-6E464C08AC06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D327804-1519-DBA5-5450-5D309E30E536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205A7D-9A89-E9BA-9A7B-E0728108139F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F2DD12-1946-5AB3-240A-911DB5E53090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D13A86-D7E5-95C3-FE1C-89BDE8E50BBE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93D181E-5C2B-03AC-74EF-E0774AAD3E72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A7397EF-5F9C-8E23-B749-4FC3B737FDAD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BC3B47-CE8E-99E8-F25B-25E2FC54F9D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0DA127-9F2D-57EC-B308-365DB6A855BD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B4ECEC7-AA13-96AF-E5B5-08AAF4411920}"/>
              </a:ext>
            </a:extLst>
          </p:cNvPr>
          <p:cNvCxnSpPr>
            <a:cxnSpLocks/>
          </p:cNvCxnSpPr>
          <p:nvPr/>
        </p:nvCxnSpPr>
        <p:spPr>
          <a:xfrm>
            <a:off x="6515101" y="3158299"/>
            <a:ext cx="9620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CBAD6-CD70-199D-5C74-AB524B52F799}"/>
              </a:ext>
            </a:extLst>
          </p:cNvPr>
          <p:cNvCxnSpPr/>
          <p:nvPr/>
        </p:nvCxnSpPr>
        <p:spPr>
          <a:xfrm>
            <a:off x="7505701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1F2C59E-5AB9-31EF-5A57-585087B43116}"/>
              </a:ext>
            </a:extLst>
          </p:cNvPr>
          <p:cNvCxnSpPr/>
          <p:nvPr/>
        </p:nvCxnSpPr>
        <p:spPr>
          <a:xfrm>
            <a:off x="6534152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F5AA52D-99A7-89AC-410F-7EE67A18292D}"/>
              </a:ext>
            </a:extLst>
          </p:cNvPr>
          <p:cNvCxnSpPr>
            <a:cxnSpLocks/>
          </p:cNvCxnSpPr>
          <p:nvPr/>
        </p:nvCxnSpPr>
        <p:spPr>
          <a:xfrm>
            <a:off x="7005638" y="2132538"/>
            <a:ext cx="180975" cy="809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0E3DDF0-454B-96DB-2D6F-54DBF0BBFB75}"/>
              </a:ext>
            </a:extLst>
          </p:cNvPr>
          <p:cNvSpPr txBox="1"/>
          <p:nvPr/>
        </p:nvSpPr>
        <p:spPr>
          <a:xfrm>
            <a:off x="6467476" y="16317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Amount of validation/testing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231FAE4-E38E-5D51-3F48-A78245EA3DEA}"/>
              </a:ext>
            </a:extLst>
          </p:cNvPr>
          <p:cNvCxnSpPr>
            <a:cxnSpLocks/>
          </p:cNvCxnSpPr>
          <p:nvPr/>
        </p:nvCxnSpPr>
        <p:spPr>
          <a:xfrm>
            <a:off x="7629525" y="3158299"/>
            <a:ext cx="9620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6E019B4-97A7-FACE-216E-2DE8DEDD0D1A}"/>
              </a:ext>
            </a:extLst>
          </p:cNvPr>
          <p:cNvCxnSpPr/>
          <p:nvPr/>
        </p:nvCxnSpPr>
        <p:spPr>
          <a:xfrm>
            <a:off x="8620125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B29BD9D-F0A2-0569-E9C6-72F8A94161F4}"/>
              </a:ext>
            </a:extLst>
          </p:cNvPr>
          <p:cNvCxnSpPr/>
          <p:nvPr/>
        </p:nvCxnSpPr>
        <p:spPr>
          <a:xfrm>
            <a:off x="7648576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017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0D49B-6F73-97FE-61FC-A8681D25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1739-4547-2915-6666-0614B38E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EE0D3D-508C-98A5-46E0-AA5679138612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D840E7-1E08-CB94-3BCE-AF7353BD4268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F2154-B3B2-E83D-3BC6-BFD2532BD8C7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477D75-ED0A-7D1A-1EEA-FD76EF266D4E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7AD49B-0865-7660-CDD1-99928AC8DA4D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03B1A8-A28B-BC36-264C-295EA847DE46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420AE-DBF3-D16C-40CE-A84BAF584BB7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F55283-3D4F-E89C-1DA1-3BACBA8B8FA6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CB4D-53DC-F9D7-64BB-FE472D6584E8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7CFD2E-72AE-2B36-2979-C9767D5CCECF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CFE3D2-203B-DD9D-71FC-ABBB8D27002E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AE1DA7-BC34-B6AC-FC51-4B26E4A1BEFD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E323766-CB5D-29C0-EB2F-CF5D5FED35C7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D6A7F4-C5E7-B7B8-AE9A-5AB8A5E5AD19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DF95E11-FB27-3999-777C-9EEBBF9B9B40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8CBABE-FC25-4B31-F4AC-C39115BF5E0C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D8F2094-9B67-08EB-7DEC-056D50A0FF2F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79FB73E-F9F6-59A0-6F32-4B8349E31E26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1A41843F-1C2F-4924-3B76-F2B8B70BDEF1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0CAA12-5A88-558E-CCA3-A4AA618CC9AB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E5DADA-47EB-0E1A-3418-0E673360583D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F09BAA7-C855-0D82-85CC-F1AE114D48AF}"/>
              </a:ext>
            </a:extLst>
          </p:cNvPr>
          <p:cNvCxnSpPr>
            <a:cxnSpLocks/>
          </p:cNvCxnSpPr>
          <p:nvPr/>
        </p:nvCxnSpPr>
        <p:spPr>
          <a:xfrm>
            <a:off x="2971801" y="3906631"/>
            <a:ext cx="8096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310334-CDE2-CDD3-6B79-0FF0AB85D665}"/>
              </a:ext>
            </a:extLst>
          </p:cNvPr>
          <p:cNvCxnSpPr/>
          <p:nvPr/>
        </p:nvCxnSpPr>
        <p:spPr>
          <a:xfrm>
            <a:off x="2952750" y="3812095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135E3E-070F-98BF-B085-5CBE74AD0F36}"/>
              </a:ext>
            </a:extLst>
          </p:cNvPr>
          <p:cNvCxnSpPr/>
          <p:nvPr/>
        </p:nvCxnSpPr>
        <p:spPr>
          <a:xfrm>
            <a:off x="3781425" y="3831145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9237537-283D-3A5B-0BF1-476E06D1F663}"/>
              </a:ext>
            </a:extLst>
          </p:cNvPr>
          <p:cNvCxnSpPr/>
          <p:nvPr/>
        </p:nvCxnSpPr>
        <p:spPr>
          <a:xfrm flipH="1">
            <a:off x="3552825" y="2143125"/>
            <a:ext cx="571500" cy="1482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D6D2343-2332-E78A-A559-205E7C0571C8}"/>
              </a:ext>
            </a:extLst>
          </p:cNvPr>
          <p:cNvSpPr txBox="1"/>
          <p:nvPr/>
        </p:nvSpPr>
        <p:spPr>
          <a:xfrm>
            <a:off x="2800350" y="175295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Frequency of retraining model</a:t>
            </a:r>
          </a:p>
        </p:txBody>
      </p:sp>
    </p:spTree>
    <p:extLst>
      <p:ext uri="{BB962C8B-B14F-4D97-AF65-F5344CB8AC3E}">
        <p14:creationId xmlns:p14="http://schemas.microsoft.com/office/powerpoint/2010/main" val="1673847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2A27-B5C5-3A47-6837-A52A62045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CFAA3-B2E0-D98F-B8BB-C93C464C4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41765A-2552-D3A3-DB57-350B3A14E8D3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290B71-4553-A8FF-BD18-BB427AC294CB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303902-EAA8-79B5-8171-18DBF53437E7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C19EA8-975A-043E-E333-D4680DC84A07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0F9DA4-F7AC-5497-8111-04C07A67CCCD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292265-BC2F-8B14-0204-484A385F3391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9A2855-06DA-F8C4-7951-AAE85A8E25E8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F91D94-CDB4-23FF-5C88-E7BE34F9D647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304B45-002D-A37F-E87A-000C28817D9F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CE4E1F-6C17-81CE-04D9-EF614DEB1086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B54750-3A01-D24E-2ADE-E10636F5D6DB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BB28CD-A2F0-09E5-B8B0-EFB80A060F09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480E6A-2A81-3A28-B01E-CA54F70E86FA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E282D2D-189F-EBD4-F513-BC58F8C076DA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09CD14B-9706-024D-A8BD-FAB5D9F8328B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4FFBCC-47CF-5C6E-4E58-BF934C29C16E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47BE9-3985-266C-B254-94EB728633AE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7C697F-12F3-33B2-948E-900A16D5181B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6A81ADC8-08B0-D14E-4C04-66C9F7F88165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A29CE5-8913-4690-4364-CEFA90054126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FFD93F-54FC-D347-C46F-E3825B87CBC5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719EA4-4D0C-0F3C-C68A-2706325ED0EF}"/>
              </a:ext>
            </a:extLst>
          </p:cNvPr>
          <p:cNvCxnSpPr>
            <a:cxnSpLocks/>
          </p:cNvCxnSpPr>
          <p:nvPr/>
        </p:nvCxnSpPr>
        <p:spPr>
          <a:xfrm>
            <a:off x="427603" y="3165062"/>
            <a:ext cx="254419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3BA5283-6BE6-A68A-701F-61D9F23F5A9A}"/>
              </a:ext>
            </a:extLst>
          </p:cNvPr>
          <p:cNvCxnSpPr>
            <a:cxnSpLocks/>
          </p:cNvCxnSpPr>
          <p:nvPr/>
        </p:nvCxnSpPr>
        <p:spPr>
          <a:xfrm>
            <a:off x="446654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688A12-EBA1-9DC2-B48A-90D209CA3DCA}"/>
              </a:ext>
            </a:extLst>
          </p:cNvPr>
          <p:cNvCxnSpPr>
            <a:cxnSpLocks/>
          </p:cNvCxnSpPr>
          <p:nvPr/>
        </p:nvCxnSpPr>
        <p:spPr>
          <a:xfrm>
            <a:off x="2989830" y="3073622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D264AC-8E41-BC8D-DB73-AD5E303B83A2}"/>
              </a:ext>
            </a:extLst>
          </p:cNvPr>
          <p:cNvCxnSpPr>
            <a:cxnSpLocks/>
          </p:cNvCxnSpPr>
          <p:nvPr/>
        </p:nvCxnSpPr>
        <p:spPr>
          <a:xfrm flipH="1">
            <a:off x="2971801" y="2143125"/>
            <a:ext cx="1152524" cy="852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886BA5D-FF04-ECD3-E7F1-2D410FF53DD6}"/>
              </a:ext>
            </a:extLst>
          </p:cNvPr>
          <p:cNvSpPr txBox="1"/>
          <p:nvPr/>
        </p:nvSpPr>
        <p:spPr>
          <a:xfrm>
            <a:off x="2800349" y="1752958"/>
            <a:ext cx="3857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Minimum time for feature collection</a:t>
            </a:r>
          </a:p>
        </p:txBody>
      </p:sp>
    </p:spTree>
    <p:extLst>
      <p:ext uri="{BB962C8B-B14F-4D97-AF65-F5344CB8AC3E}">
        <p14:creationId xmlns:p14="http://schemas.microsoft.com/office/powerpoint/2010/main" val="28633236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9D59-AED6-D05F-6DB1-861D0C6C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45D8-CE8E-A4A2-DA43-C06F4B9A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75F99-2A39-FFA2-058B-D65BF22EC5E5}"/>
              </a:ext>
            </a:extLst>
          </p:cNvPr>
          <p:cNvSpPr/>
          <p:nvPr/>
        </p:nvSpPr>
        <p:spPr>
          <a:xfrm>
            <a:off x="2971801" y="3344658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B18FD8-C39F-3A51-D2CD-21173636244B}"/>
              </a:ext>
            </a:extLst>
          </p:cNvPr>
          <p:cNvSpPr/>
          <p:nvPr/>
        </p:nvSpPr>
        <p:spPr>
          <a:xfrm>
            <a:off x="6467476" y="3344658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BEB1EF-F350-D316-8BAA-3BE2A93B4296}"/>
              </a:ext>
            </a:extLst>
          </p:cNvPr>
          <p:cNvSpPr/>
          <p:nvPr/>
        </p:nvSpPr>
        <p:spPr>
          <a:xfrm>
            <a:off x="7543800" y="3344658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A26A4C-9B3F-F353-8779-165942B756C3}"/>
              </a:ext>
            </a:extLst>
          </p:cNvPr>
          <p:cNvSpPr/>
          <p:nvPr/>
        </p:nvSpPr>
        <p:spPr>
          <a:xfrm>
            <a:off x="456179" y="3344657"/>
            <a:ext cx="25156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9C4980-660B-59BA-9A37-C8785742A881}"/>
              </a:ext>
            </a:extLst>
          </p:cNvPr>
          <p:cNvSpPr/>
          <p:nvPr/>
        </p:nvSpPr>
        <p:spPr>
          <a:xfrm>
            <a:off x="3771901" y="3906632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8B4898-7C9A-2AFE-AE18-128110DB3FD2}"/>
              </a:ext>
            </a:extLst>
          </p:cNvPr>
          <p:cNvSpPr/>
          <p:nvPr/>
        </p:nvSpPr>
        <p:spPr>
          <a:xfrm>
            <a:off x="7267576" y="3906632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17D8B3-FC5B-8C6C-2F0E-B917800DA044}"/>
              </a:ext>
            </a:extLst>
          </p:cNvPr>
          <p:cNvSpPr/>
          <p:nvPr/>
        </p:nvSpPr>
        <p:spPr>
          <a:xfrm>
            <a:off x="8343900" y="3906632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D7BE0-1ECF-1C33-C27B-8949D4AD6F25}"/>
              </a:ext>
            </a:extLst>
          </p:cNvPr>
          <p:cNvSpPr/>
          <p:nvPr/>
        </p:nvSpPr>
        <p:spPr>
          <a:xfrm>
            <a:off x="456179" y="3906631"/>
            <a:ext cx="3315721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8DA6B-6D21-F509-F601-0823C8F92A72}"/>
              </a:ext>
            </a:extLst>
          </p:cNvPr>
          <p:cNvSpPr/>
          <p:nvPr/>
        </p:nvSpPr>
        <p:spPr>
          <a:xfrm>
            <a:off x="4880302" y="4483456"/>
            <a:ext cx="3467100" cy="5619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set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F5916-66D8-3DE6-7BD7-A4D03654C63B}"/>
              </a:ext>
            </a:extLst>
          </p:cNvPr>
          <p:cNvSpPr/>
          <p:nvPr/>
        </p:nvSpPr>
        <p:spPr>
          <a:xfrm>
            <a:off x="8375977" y="4483456"/>
            <a:ext cx="1076324" cy="56197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CA7280-F921-3787-1C05-8C6234526608}"/>
              </a:ext>
            </a:extLst>
          </p:cNvPr>
          <p:cNvSpPr/>
          <p:nvPr/>
        </p:nvSpPr>
        <p:spPr>
          <a:xfrm>
            <a:off x="9452301" y="4483456"/>
            <a:ext cx="1295400" cy="5619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E41C84-BE27-51AB-A083-52A9F5BB13CC}"/>
              </a:ext>
            </a:extLst>
          </p:cNvPr>
          <p:cNvSpPr/>
          <p:nvPr/>
        </p:nvSpPr>
        <p:spPr>
          <a:xfrm>
            <a:off x="456179" y="4483455"/>
            <a:ext cx="4424122" cy="56197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Used for features (only)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4F2FED-A641-E690-A447-BBE7143160CA}"/>
              </a:ext>
            </a:extLst>
          </p:cNvPr>
          <p:cNvCxnSpPr/>
          <p:nvPr/>
        </p:nvCxnSpPr>
        <p:spPr>
          <a:xfrm>
            <a:off x="11776300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3C24F1F-D4F2-8352-85F4-F5A3EDCF2138}"/>
              </a:ext>
            </a:extLst>
          </p:cNvPr>
          <p:cNvCxnSpPr/>
          <p:nvPr/>
        </p:nvCxnSpPr>
        <p:spPr>
          <a:xfrm>
            <a:off x="427603" y="2995405"/>
            <a:ext cx="0" cy="220242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8F3576-0272-04EB-2A4E-2198B03A54BC}"/>
              </a:ext>
            </a:extLst>
          </p:cNvPr>
          <p:cNvSpPr txBox="1"/>
          <p:nvPr/>
        </p:nvSpPr>
        <p:spPr>
          <a:xfrm>
            <a:off x="88490" y="2405149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feature availability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DDFBED-3012-4508-8B10-270E781BD2E2}"/>
              </a:ext>
            </a:extLst>
          </p:cNvPr>
          <p:cNvSpPr txBox="1"/>
          <p:nvPr/>
        </p:nvSpPr>
        <p:spPr>
          <a:xfrm>
            <a:off x="11038881" y="2327344"/>
            <a:ext cx="1297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label availability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B206EEA-2C0C-5BEE-4AF7-138C4C203151}"/>
              </a:ext>
            </a:extLst>
          </p:cNvPr>
          <p:cNvCxnSpPr/>
          <p:nvPr/>
        </p:nvCxnSpPr>
        <p:spPr>
          <a:xfrm flipV="1">
            <a:off x="324465" y="5217495"/>
            <a:ext cx="11641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AB2D46-DDF1-18D8-FCAB-FD1A5F009A87}"/>
                  </a:ext>
                </a:extLst>
              </p:cNvPr>
              <p:cNvSpPr txBox="1"/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DD6513-60F0-E901-6BAD-EC3715021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1" y="5345255"/>
                <a:ext cx="32226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D8BE003-1DF1-2045-BAB8-62590DE6F52F}"/>
              </a:ext>
            </a:extLst>
          </p:cNvPr>
          <p:cNvSpPr txBox="1"/>
          <p:nvPr/>
        </p:nvSpPr>
        <p:spPr>
          <a:xfrm>
            <a:off x="88490" y="352336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476FF7-3E5E-31A8-3149-6E4D47D30861}"/>
              </a:ext>
            </a:extLst>
          </p:cNvPr>
          <p:cNvSpPr txBox="1"/>
          <p:nvPr/>
        </p:nvSpPr>
        <p:spPr>
          <a:xfrm>
            <a:off x="88490" y="409958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4BA9E5-1B40-31A4-41DB-7178D7BB0980}"/>
              </a:ext>
            </a:extLst>
          </p:cNvPr>
          <p:cNvSpPr txBox="1"/>
          <p:nvPr/>
        </p:nvSpPr>
        <p:spPr>
          <a:xfrm>
            <a:off x="88490" y="461055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E4DC777-2339-0AA9-460F-29DD270037C0}"/>
              </a:ext>
            </a:extLst>
          </p:cNvPr>
          <p:cNvCxnSpPr>
            <a:cxnSpLocks/>
          </p:cNvCxnSpPr>
          <p:nvPr/>
        </p:nvCxnSpPr>
        <p:spPr>
          <a:xfrm>
            <a:off x="9096299" y="2772905"/>
            <a:ext cx="2133599" cy="1787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213368B-1CB2-BB9E-41C8-155736B86257}"/>
              </a:ext>
            </a:extLst>
          </p:cNvPr>
          <p:cNvSpPr txBox="1"/>
          <p:nvPr/>
        </p:nvSpPr>
        <p:spPr>
          <a:xfrm>
            <a:off x="6657974" y="2268175"/>
            <a:ext cx="3857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Minimum time for label collection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C1771A-B153-FF8F-C234-0B4EEBA139C1}"/>
              </a:ext>
            </a:extLst>
          </p:cNvPr>
          <p:cNvCxnSpPr>
            <a:cxnSpLocks/>
          </p:cNvCxnSpPr>
          <p:nvPr/>
        </p:nvCxnSpPr>
        <p:spPr>
          <a:xfrm>
            <a:off x="10887076" y="4773406"/>
            <a:ext cx="8096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BB4EB0-F01B-0F9A-C458-6FCEECE50C81}"/>
              </a:ext>
            </a:extLst>
          </p:cNvPr>
          <p:cNvCxnSpPr/>
          <p:nvPr/>
        </p:nvCxnSpPr>
        <p:spPr>
          <a:xfrm>
            <a:off x="10868025" y="4678870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6886D2C-9143-9EBC-743E-14A5F26D6D3A}"/>
              </a:ext>
            </a:extLst>
          </p:cNvPr>
          <p:cNvCxnSpPr/>
          <p:nvPr/>
        </p:nvCxnSpPr>
        <p:spPr>
          <a:xfrm>
            <a:off x="11696700" y="4697920"/>
            <a:ext cx="0" cy="18288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53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3189" y="1231210"/>
            <a:ext cx="11232291" cy="5404369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Timespan to collect labels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“Gap” between training/validation pairs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 window for each training set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Time window for each validation set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Sampling frequency for examples/rows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r>
              <a:rPr lang="en-US" sz="3200" dirty="0"/>
              <a:t>History for features (for each example/row)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04923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 Parameters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0F8D17-B2DE-6EEC-AB09-BFB48382A302}"/>
              </a:ext>
            </a:extLst>
          </p:cNvPr>
          <p:cNvSpPr txBox="1"/>
          <p:nvPr/>
        </p:nvSpPr>
        <p:spPr>
          <a:xfrm>
            <a:off x="517458" y="2168324"/>
            <a:ext cx="131799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feature_start_time</a:t>
            </a:r>
            <a:endParaRPr 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E6394D-57CC-B37F-6CF7-6CE82B1129A1}"/>
              </a:ext>
            </a:extLst>
          </p:cNvPr>
          <p:cNvSpPr txBox="1"/>
          <p:nvPr/>
        </p:nvSpPr>
        <p:spPr>
          <a:xfrm>
            <a:off x="2107121" y="2168324"/>
            <a:ext cx="118872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100" dirty="0" err="1"/>
              <a:t>label_start_time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FD1AB-CAA9-1D92-107E-D9A10E1FEA7D}"/>
              </a:ext>
            </a:extLst>
          </p:cNvPr>
          <p:cNvSpPr txBox="1"/>
          <p:nvPr/>
        </p:nvSpPr>
        <p:spPr>
          <a:xfrm>
            <a:off x="3409187" y="2168324"/>
            <a:ext cx="140615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Max training history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4A5344-7090-2AE3-9E51-7B2DED5DF465}"/>
              </a:ext>
            </a:extLst>
          </p:cNvPr>
          <p:cNvSpPr txBox="1"/>
          <p:nvPr/>
        </p:nvSpPr>
        <p:spPr>
          <a:xfrm>
            <a:off x="5133788" y="2147177"/>
            <a:ext cx="109517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label timespan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1428B9-CBFE-5D4C-654B-1B68843248C5}"/>
              </a:ext>
            </a:extLst>
          </p:cNvPr>
          <p:cNvSpPr txBox="1"/>
          <p:nvPr/>
        </p:nvSpPr>
        <p:spPr>
          <a:xfrm>
            <a:off x="6897202" y="2168324"/>
            <a:ext cx="958917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test duration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F8B4A4-EFCF-DF0E-FD1B-F5CF036C397A}"/>
              </a:ext>
            </a:extLst>
          </p:cNvPr>
          <p:cNvSpPr txBox="1"/>
          <p:nvPr/>
        </p:nvSpPr>
        <p:spPr>
          <a:xfrm>
            <a:off x="8842808" y="2168324"/>
            <a:ext cx="109517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/>
              <a:t>label timespan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B0DEB-2240-644D-885C-44DFE385947E}"/>
              </a:ext>
            </a:extLst>
          </p:cNvPr>
          <p:cNvSpPr txBox="1"/>
          <p:nvPr/>
        </p:nvSpPr>
        <p:spPr>
          <a:xfrm>
            <a:off x="10155223" y="1514299"/>
            <a:ext cx="128112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feature_end_time</a:t>
            </a:r>
            <a:endParaRPr lang="en-US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1D257-C6F0-9A9F-115A-941D3DF345D5}"/>
              </a:ext>
            </a:extLst>
          </p:cNvPr>
          <p:cNvSpPr txBox="1"/>
          <p:nvPr/>
        </p:nvSpPr>
        <p:spPr>
          <a:xfrm>
            <a:off x="10293081" y="1906714"/>
            <a:ext cx="1143262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100" dirty="0" err="1"/>
              <a:t>label_end_time</a:t>
            </a:r>
            <a:endParaRPr lang="en-US" sz="1100" dirty="0"/>
          </a:p>
        </p:txBody>
      </p:sp>
      <p:pic>
        <p:nvPicPr>
          <p:cNvPr id="13" name="Picture 2" descr="Time splitting config">
            <a:extLst>
              <a:ext uri="{FF2B5EF4-FFF2-40B4-BE49-F238E27FC236}">
                <a16:creationId xmlns:a16="http://schemas.microsoft.com/office/drawing/2014/main" id="{4EE4ED62-9696-36E3-84B7-CA70385886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106"/>
          <a:stretch>
            <a:fillRect/>
          </a:stretch>
        </p:blipFill>
        <p:spPr bwMode="auto">
          <a:xfrm>
            <a:off x="0" y="2483537"/>
            <a:ext cx="12192000" cy="218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88773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At the time of hospital admission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every patient admitted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if they will be among the 50 highest-risk individuals the hospital will see that month </a:t>
            </a:r>
            <a:r>
              <a:rPr lang="en" sz="3467" dirty="0">
                <a:solidFill>
                  <a:srgbClr val="595959"/>
                </a:solidFill>
              </a:rPr>
              <a:t>for </a:t>
            </a:r>
            <a:r>
              <a:rPr lang="en" sz="3467" dirty="0">
                <a:solidFill>
                  <a:srgbClr val="38761D"/>
                </a:solidFill>
              </a:rPr>
              <a:t>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administration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223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" y="947003"/>
            <a:ext cx="12035481" cy="5404369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33597091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1480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44B930-4FEE-20EF-3726-D9053835C9B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537AA0-9B56-E0B1-ECD5-CF11333DDF9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what’s your experience with using git and GitHub?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630FCC-55CC-024B-E375-EF807A6A104A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EDB4B62-1C11-7250-77B1-FE4EB35EB7F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742D59CB-A46C-1EF3-84FF-B1E1FEAF84D0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06B25FB-C9AD-D6F8-7022-D20B71126CA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1077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512CC-05C1-668B-1D07-BB5DA3F8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 Slides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9975049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7579015"/>
              </p:ext>
            </p:extLst>
          </p:nvPr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Label Buffer</a:t>
            </a:r>
            <a:endParaRPr dirty="0"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99845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90517" y="3350654"/>
            <a:ext cx="7823678" cy="917702"/>
            <a:chOff x="501627" y="3198043"/>
            <a:chExt cx="7823678" cy="917702"/>
          </a:xfrm>
          <a:solidFill>
            <a:schemeClr val="bg1"/>
          </a:solidFill>
        </p:grpSpPr>
        <p:sp>
          <p:nvSpPr>
            <p:cNvPr id="42" name="Rectangle 41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90517" y="3347943"/>
            <a:ext cx="7823678" cy="917702"/>
            <a:chOff x="501627" y="3198043"/>
            <a:chExt cx="7823678" cy="917702"/>
          </a:xfrm>
          <a:solidFill>
            <a:schemeClr val="accent2"/>
          </a:solidFill>
        </p:grpSpPr>
        <p:sp>
          <p:nvSpPr>
            <p:cNvPr id="13" name="Rectangle 12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107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2.59259E-6 L -4.44444E-6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21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-2.77778E-7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-1.94444E-6 0.2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1.66667E-6 0.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3.7037E-7 L -0.00226 0.5092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25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911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0.0059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057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849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70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0.00243 0.5048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2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E6277-B134-CD89-B382-8FECED21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46D3F-B58E-5ACC-4412-F2CEFC776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700" cy="4968942"/>
          </a:xfrm>
        </p:spPr>
        <p:txBody>
          <a:bodyPr/>
          <a:lstStyle/>
          <a:p>
            <a:pPr marL="76200" indent="0"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24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On the first day of every semester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for </a:t>
            </a:r>
            <a:r>
              <a:rPr lang="en-US" sz="24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all the students who are currently enrolled in an undergraduate degree program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can we identify the </a:t>
            </a:r>
            <a:r>
              <a:rPr lang="en-US" sz="2400" dirty="0">
                <a:solidFill>
                  <a:srgbClr val="FF00FF"/>
                </a:solidFill>
                <a:latin typeface="Arial" panose="020B0604020202020204" pitchFamily="34" charset="0"/>
              </a:rPr>
              <a:t>1</a:t>
            </a:r>
            <a:r>
              <a:rPr lang="en-US" sz="24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00 highest risk students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who are </a:t>
            </a:r>
            <a:r>
              <a:rPr lang="en-US" sz="2400" b="0" i="0" u="none" strike="noStrike" dirty="0">
                <a:solidFill>
                  <a:srgbClr val="38761D"/>
                </a:solidFill>
                <a:effectLst/>
                <a:latin typeface="Arial" panose="020B0604020202020204" pitchFamily="34" charset="0"/>
              </a:rPr>
              <a:t>likely to </a:t>
            </a:r>
            <a:r>
              <a:rPr lang="en-US" sz="2400" dirty="0">
                <a:solidFill>
                  <a:srgbClr val="38761D"/>
                </a:solidFill>
                <a:latin typeface="Arial" panose="020B0604020202020204" pitchFamily="34" charset="0"/>
              </a:rPr>
              <a:t>not graduate college within 5 years of their college start </a:t>
            </a:r>
            <a:r>
              <a:rPr lang="en-US" sz="24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to prioritize for proactive academic or other interventions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?</a:t>
            </a:r>
          </a:p>
          <a:p>
            <a:pPr marL="76200" indent="0"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</a:rPr>
              <a:t>Suppose that our training set is all students from the last five years, and we randomly split students into the train and test sets. Is this most likely to over/under/correctly estimate our model’s accuracy for next year?</a:t>
            </a:r>
          </a:p>
        </p:txBody>
      </p:sp>
    </p:spTree>
    <p:extLst>
      <p:ext uri="{BB962C8B-B14F-4D97-AF65-F5344CB8AC3E}">
        <p14:creationId xmlns:p14="http://schemas.microsoft.com/office/powerpoint/2010/main" val="960685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C5E763-78CE-2D73-96D6-96B6DD330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train/validation/test set: simple to implement and interpret</a:t>
            </a:r>
          </a:p>
          <a:p>
            <a:r>
              <a:rPr lang="en-US" dirty="0"/>
              <a:t>K-fold CV: more work/computation time, but reduces noise, especially when dataset is somewhat smaller. Can get away with a smaller test set, leaving more for training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0BE269-45B5-B436-7048-906F5AE4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4354192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FB220-BB3C-1793-079F-928BF53A4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validation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A4C66-28CF-34F5-B32D-8174B304E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432387"/>
            <a:ext cx="11360700" cy="4555200"/>
          </a:xfrm>
        </p:spPr>
        <p:txBody>
          <a:bodyPr/>
          <a:lstStyle/>
          <a:p>
            <a:r>
              <a:rPr lang="en-US" dirty="0"/>
              <a:t>Making predictions about entities that arrive over time</a:t>
            </a:r>
          </a:p>
          <a:p>
            <a:r>
              <a:rPr lang="en-US" dirty="0"/>
              <a:t>Time series forecasting</a:t>
            </a:r>
          </a:p>
          <a:p>
            <a:r>
              <a:rPr lang="en-US" dirty="0"/>
              <a:t>Typically, your model will be periodically retrained using more recent data</a:t>
            </a:r>
          </a:p>
          <a:p>
            <a:r>
              <a:rPr lang="en-US" dirty="0"/>
              <a:t>Idea: mimic this process by creating train/validation/test sets that roll forward in time </a:t>
            </a:r>
          </a:p>
        </p:txBody>
      </p:sp>
    </p:spTree>
    <p:extLst>
      <p:ext uri="{BB962C8B-B14F-4D97-AF65-F5344CB8AC3E}">
        <p14:creationId xmlns:p14="http://schemas.microsoft.com/office/powerpoint/2010/main" val="28402418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 dirty="0"/>
              <a:t>Temporal Validation Review -- Example</a:t>
            </a:r>
            <a:endParaRPr dirty="0"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At the time of hospital admission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every patient admitted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if they will be among the 50 highest-risk individuals the hospital will see that month </a:t>
            </a:r>
            <a:r>
              <a:rPr lang="en" sz="3467" dirty="0">
                <a:solidFill>
                  <a:srgbClr val="595959"/>
                </a:solidFill>
              </a:rPr>
              <a:t>for </a:t>
            </a:r>
            <a:r>
              <a:rPr lang="en" sz="3467" dirty="0">
                <a:solidFill>
                  <a:srgbClr val="38761D"/>
                </a:solidFill>
              </a:rPr>
              <a:t>contracting monkeypox in the next year </a:t>
            </a:r>
            <a:r>
              <a:rPr lang="en" sz="3467" dirty="0">
                <a:solidFill>
                  <a:srgbClr val="B45F06"/>
                </a:solidFill>
              </a:rPr>
              <a:t>to prioritize for vaccine administration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6777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B791A-E806-996D-C941-5FC104A1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D6D4B-2629-8C4E-C310-7CEF0D746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Related to clustering and temporal structure</a:t>
            </a:r>
          </a:p>
          <a:p>
            <a:r>
              <a:rPr lang="en-US" dirty="0"/>
              <a:t>We often believe that nearby places are correlated</a:t>
            </a:r>
          </a:p>
          <a:p>
            <a:r>
              <a:rPr lang="en-US" dirty="0"/>
              <a:t>What do we care about in deployment? </a:t>
            </a:r>
          </a:p>
          <a:p>
            <a:pPr lvl="1"/>
            <a:r>
              <a:rPr lang="en-US" dirty="0"/>
              <a:t>Generalization to new locations?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Allocate large spatial blocks to train/test set</a:t>
            </a:r>
          </a:p>
          <a:p>
            <a:pPr lvl="1"/>
            <a:r>
              <a:rPr lang="en-US" dirty="0"/>
              <a:t>Filling in between places seen during training </a:t>
            </a:r>
            <a:r>
              <a:rPr lang="en-US" dirty="0">
                <a:sym typeface="Wingdings" panose="05000000000000000000" pitchFamily="2" charset="2"/>
              </a:rPr>
              <a:t> Allocate smaller patches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08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50507a95-7a63-4367-8c97-db53aaefbe10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b292296-726c-49bc-ac75-c7dbd83efea8"/>
  <p:tag name="SLIDO_TIMELINE" val="W3sic2hvd1Jlc3VsdHMiOmZhbHNlLCJwb2xsUXVlc3Rpb25VdWlkIjoiNjMwNWVlNGItZmJmZS00YTQ2LWE3MGItMGM0NWMwMmJmMzFiIn0seyJwb2xsUXVlc3Rpb25VdWlkIjoiNjMwNWVlNGItZmJmZS00YTQ2LWE3MGItMGM0NWMwMmJmMzFi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7fdb6c13-66a1-4811-a773-de0bd8a0aa08"/>
  <p:tag name="SLIDO_TIMELINE" val="W3sicG9sbFF1ZXN0aW9uVXVpZCI6ImI0YWJiMTI0LTk3MjMtNGExMy1iMDQ4LTlkNTIxYmMwMGM5NyIsInNob3dSZXN1bHRzIjpmYWxzZX0seyJwb2xsUXVlc3Rpb25VdWlkIjoiYjRhYmIxMjQtOTcyMy00YTEzLWIwNDgtOWQ1MjFiYzAwYzk3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6003</TotalTime>
  <Words>2095</Words>
  <Application>Microsoft Macintosh PowerPoint</Application>
  <PresentationFormat>Widescreen</PresentationFormat>
  <Paragraphs>460</Paragraphs>
  <Slides>50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Cambria Math</vt:lpstr>
      <vt:lpstr>Wingdings</vt:lpstr>
      <vt:lpstr>Simple Light</vt:lpstr>
      <vt:lpstr>ghani uofc template</vt:lpstr>
      <vt:lpstr>PowerPoint Presentation</vt:lpstr>
      <vt:lpstr>Reminders</vt:lpstr>
      <vt:lpstr>Discussion Question</vt:lpstr>
      <vt:lpstr>PowerPoint Presentation</vt:lpstr>
      <vt:lpstr>Plan for the week</vt:lpstr>
      <vt:lpstr>PowerPoint Presentation</vt:lpstr>
      <vt:lpstr>Here’s how we typically solve a prediction problem</vt:lpstr>
      <vt:lpstr>What is the goal of model selection?</vt:lpstr>
      <vt:lpstr>What is the goal of model selection?</vt:lpstr>
      <vt:lpstr>What do we need our selected model to do?</vt:lpstr>
      <vt:lpstr>What do we need our selected model to do?</vt:lpstr>
      <vt:lpstr>What should the model we select generalize to?</vt:lpstr>
      <vt:lpstr>What do need to know to perform model selection</vt:lpstr>
      <vt:lpstr>How do we select a model that does that?</vt:lpstr>
      <vt:lpstr>Underlying principle: match methodology to match test/inference-time</vt:lpstr>
      <vt:lpstr>Model Selection - Methodology</vt:lpstr>
      <vt:lpstr>Scenarios</vt:lpstr>
      <vt:lpstr>Scenarios</vt:lpstr>
      <vt:lpstr>Scenarios</vt:lpstr>
      <vt:lpstr>Scenarios</vt:lpstr>
      <vt:lpstr>Temporal Validation Review -- Example</vt:lpstr>
      <vt:lpstr>Temporal validation</vt:lpstr>
      <vt:lpstr>Temporal validation</vt:lpstr>
      <vt:lpstr>Temporal validation</vt:lpstr>
      <vt:lpstr>Temporal validation</vt:lpstr>
      <vt:lpstr>Temporal validation</vt:lpstr>
      <vt:lpstr>Temporal validation</vt:lpstr>
      <vt:lpstr>Temporal Validation Parameters</vt:lpstr>
      <vt:lpstr>Temporal Validation Parameters</vt:lpstr>
      <vt:lpstr>Temporal Validation Review -- Example</vt:lpstr>
      <vt:lpstr>Parameters</vt:lpstr>
      <vt:lpstr>Other considerations</vt:lpstr>
      <vt:lpstr>Some tips</vt:lpstr>
      <vt:lpstr>PowerPoint Presentation</vt:lpstr>
      <vt:lpstr>Extra Slides (not covered in class)</vt:lpstr>
      <vt:lpstr>Train Validation Pairs</vt:lpstr>
      <vt:lpstr>In-sample</vt:lpstr>
      <vt:lpstr>Out-of-Sample</vt:lpstr>
      <vt:lpstr>k-fold Cross-Validation</vt:lpstr>
      <vt:lpstr>k-fold Cross-Validation</vt:lpstr>
      <vt:lpstr>k-fold Cross-Validation</vt:lpstr>
      <vt:lpstr>k-fold Cross-Validation</vt:lpstr>
      <vt:lpstr>k-fold Cross-Validation</vt:lpstr>
      <vt:lpstr>Temporal Holdouts</vt:lpstr>
      <vt:lpstr>Training  - Time splits</vt:lpstr>
      <vt:lpstr>Question</vt:lpstr>
      <vt:lpstr>Pros and cons</vt:lpstr>
      <vt:lpstr>Temporal validation</vt:lpstr>
      <vt:lpstr>Temporal Validation Review -- Example</vt:lpstr>
      <vt:lpstr>Spatial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83</cp:revision>
  <dcterms:created xsi:type="dcterms:W3CDTF">2020-01-14T19:43:43Z</dcterms:created>
  <dcterms:modified xsi:type="dcterms:W3CDTF">2025-09-16T20:40:46Z</dcterms:modified>
</cp:coreProperties>
</file>